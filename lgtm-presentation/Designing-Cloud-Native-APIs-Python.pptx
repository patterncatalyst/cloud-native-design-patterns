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65"/>
    <p:sldId id="505" r:id="rId266"/>
    <p:sldId id="506" r:id="rId267"/>
    <p:sldId id="507" r:id="rId268"/>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Lst>
  <p:sldSz cy="6858000" cx="12191675"/>
  <p:notesSz cx="6858000" cy="12191675"/>
  <p:embeddedFontLst>
    <p:embeddedFont>
      <p:font typeface="Overpass SemiBold"/>
      <p:regular r:id="rId253"/>
      <p:bold r:id="rId254"/>
      <p:italic r:id="rId255"/>
      <p:boldItalic r:id="rId256"/>
    </p:embeddedFont>
    <p:embeddedFont>
      <p:font typeface="Red Hat Text"/>
      <p:regular r:id="rId257"/>
      <p:bold r:id="rId258"/>
      <p:italic r:id="rId259"/>
      <p:boldItalic r:id="rId260"/>
    </p:embeddedFont>
    <p:embeddedFont>
      <p:font typeface="Red Hat Mono"/>
      <p:regular r:id="rId261"/>
      <p:bold r:id="rId262"/>
      <p:italic r:id="rId263"/>
      <p:boldItalic r:id="rId2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font" Target="fonts/OverpassSemiBold-regular.fntdata"/><Relationship Id="rId254" Type="http://schemas.openxmlformats.org/officeDocument/2006/relationships/font" Target="fonts/OverpassSemiBold-bold.fntdata"/><Relationship Id="rId255" Type="http://schemas.openxmlformats.org/officeDocument/2006/relationships/font" Target="fonts/OverpassSemiBold-italic.fntdata"/><Relationship Id="rId256" Type="http://schemas.openxmlformats.org/officeDocument/2006/relationships/font" Target="fonts/OverpassSemiBold-boldItalic.fntdata"/><Relationship Id="rId257" Type="http://schemas.openxmlformats.org/officeDocument/2006/relationships/font" Target="fonts/RedHatText-regular.fntdata"/><Relationship Id="rId258" Type="http://schemas.openxmlformats.org/officeDocument/2006/relationships/font" Target="fonts/RedHatText-bold.fntdata"/><Relationship Id="rId259" Type="http://schemas.openxmlformats.org/officeDocument/2006/relationships/font" Target="fonts/RedHatText-italic.fntdata"/><Relationship Id="rId260" Type="http://schemas.openxmlformats.org/officeDocument/2006/relationships/font" Target="fonts/RedHatText-boldItalic.fntdata"/><Relationship Id="rId261" Type="http://schemas.openxmlformats.org/officeDocument/2006/relationships/font" Target="fonts/RedHatMono-regular.fntdata"/><Relationship Id="rId262" Type="http://schemas.openxmlformats.org/officeDocument/2006/relationships/font" Target="fonts/RedHatMono-bold.fntdata"/><Relationship Id="rId263" Type="http://schemas.openxmlformats.org/officeDocument/2006/relationships/font" Target="fonts/RedHatMono-italic.fntdata"/><Relationship Id="rId264" Type="http://schemas.openxmlformats.org/officeDocument/2006/relationships/font" Target="fonts/RedHatMono-boldItalic.fntdata"/><Relationship Id="rId265" Type="http://schemas.openxmlformats.org/officeDocument/2006/relationships/slide" Target="slides/slide249.xml"/><Relationship Id="rId266" Type="http://schemas.openxmlformats.org/officeDocument/2006/relationships/slide" Target="slides/slide250.xml"/><Relationship Id="rId267" Type="http://schemas.openxmlformats.org/officeDocument/2006/relationships/slide" Target="slides/slide251.xml"/><Relationship Id="rId268" Type="http://schemas.openxmlformats.org/officeDocument/2006/relationships/slide" Target="slides/slide252.xml"/><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and framing. This is a working architect's tour of designing cloud-native APIs: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Python/FastAPI, gRPC, GraphQL, Kafka, Kubernetes.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367aadf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367aadf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367aadf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367aadf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367aadf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367aadf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367aadf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367aadf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367aadf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367aadf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367aadf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it's the warning at the heart of using AI tooling well.</a:t>
            </a:r>
            <a:endParaRPr/>
          </a:p>
        </p:txBody>
      </p:sp>
      <p:sp>
        <p:nvSpPr>
          <p:cNvPr id="56" name="Google Shape;56;g3e54367aadf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367aadf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367aadf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not a uniform surface. Promise the audience we'll return to this picture a dozen times.</a:t>
            </a:r>
            <a:endParaRPr/>
          </a:p>
        </p:txBody>
      </p:sp>
      <p:sp>
        <p:nvSpPr>
          <p:cNvPr id="66" name="Google Shape;66;g3e54367aadf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367aadf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367aadf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but if your service isn't written to lean on them, no platform can rescue it.</a:t>
            </a:r>
            <a:endParaRPr/>
          </a:p>
        </p:txBody>
      </p:sp>
      <p:sp>
        <p:nvSpPr>
          <p:cNvPr id="77" name="Google Shape;77;g3e54367aadf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367aadf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367aadf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367aadf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367aadf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367aadf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367aadf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367aadf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367aadf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a:t>
            </a:r>
            <a:endParaRPr/>
          </a:p>
        </p:txBody>
      </p:sp>
      <p:sp>
        <p:nvSpPr>
          <p:cNvPr id="108" name="Google Shape;108;g3e54367aadf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367aadf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367aadf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367aadf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367aadf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367aadf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4367aadf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367aadf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367aadf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which is exactly what 'cloud-native' buys you.</a:t>
            </a:r>
            <a:endParaRPr/>
          </a:p>
        </p:txBody>
      </p:sp>
      <p:sp>
        <p:nvSpPr>
          <p:cNvPr id="139" name="Google Shape;139;g3e54367aadf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367aadf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367aadf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through pydantic-settings (factor III), never from baked-in files, and pyproject.toml pins every direct dependency with == while uv.lock records the full resolved set, so the image build (uv sync --locked) is reproducible. The version on the FastAPI app comes from SERVICE_VERSION and shows up in OpenAPI and the registry.</a:t>
            </a:r>
            <a:endParaRPr/>
          </a:p>
          <a:p>
            <a:pPr indent="0" lvl="0" marL="0" rtl="0" algn="l">
              <a:spcBef>
                <a:spcPts val="0"/>
              </a:spcBef>
              <a:spcAft>
                <a:spcPts val="0"/>
              </a:spcAft>
              <a:buNone/>
            </a:pPr>
            <a:r>
              <a:rPr lang="en-US"/>
              <a:t>The two probes are the contract with Kubernetes. /healthz is liveness (is the process alive? if not, restart it) and never checks dependencies. /readyz is readiness (can it serve?): it runs SELECT 1 on the database pool and, when that fails, answers 503 with status down, which takes the pod out of rotation without killing it. The probe reads the status code, not the body: Kubernetes treats any answer from 200 to 399 as ready. Getting liveness and readiness wrong is a top cause of cascading restarts, so stress the distinction.</a:t>
            </a:r>
            <a:endParaRPr/>
          </a:p>
        </p:txBody>
      </p:sp>
      <p:sp>
        <p:nvSpPr>
          <p:cNvPr id="150" name="Google Shape;150;g3e54367aadf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367aadf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367aadf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there is a right protocol per interaction. Resist the urge to standardize on one wire for everything. The section gives a decision rule and then shows each protocol in code against the running system.</a:t>
            </a:r>
            <a:endParaRPr/>
          </a:p>
        </p:txBody>
      </p:sp>
      <p:sp>
        <p:nvSpPr>
          <p:cNvPr id="163" name="Google Shape;163;g3e54367aadf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367aadf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367aadf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the skill is matching each call to the right one. Note the sync/async chips at the bottom. This slide is the map for the whole section.</a:t>
            </a:r>
            <a:endParaRPr/>
          </a:p>
        </p:txBody>
      </p:sp>
      <p:sp>
        <p:nvSpPr>
          <p:cNvPr id="173" name="Google Shape;173;g3e54367aadf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367aadf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367aadf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and response contracts validated by Pydantic so bad input never reaches your logic; (3) correct status codes: 201 on create, not 200; (4) cursor pagination, not offset, because offset breaks under concurrent writes and gets slow at depth. FastAPI emits the OpenAPI spec from the handlers without extra code, and that spec is what we register and gate. Test this surface with curl and Postman.</a:t>
            </a:r>
            <a:endParaRPr/>
          </a:p>
        </p:txBody>
      </p:sp>
      <p:sp>
        <p:nvSpPr>
          <p:cNvPr id="184" name="Google Shape;184;g3e54367aadf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367aadf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367aadf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Highlight that the field numbers (=1, =2) are the wire contract: we return to exactly why in Appendix B. Generated stubs (via protoc or buf) mean both sides share types; no hand-written JSON parsing. It's binary and multiplexed over HTTP/2, so it's fast and supports streaming. The right default for chatty service-to-service calls where you control both ends. Load-test it with ghz.</a:t>
            </a:r>
            <a:endParaRPr/>
          </a:p>
        </p:txBody>
      </p:sp>
      <p:sp>
        <p:nvSpPr>
          <p:cNvPr id="197" name="Google Shape;197;g3e54367aadf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367aadf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367aadf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367aadf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367aadf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367aadf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4367aadf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367aadf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367aadf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367aadf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367aadf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367aadf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never by services calling each other in deep chains. That chaining is how you accidentally rebuild a monolith over the network.</a:t>
            </a:r>
            <a:endParaRPr/>
          </a:p>
        </p:txBody>
      </p:sp>
      <p:sp>
        <p:nvSpPr>
          <p:cNvPr id="245" name="Google Shape;245;g3e54367aadf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367aadf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367aadf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4367aadf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367aadf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367aadf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Order type's stock field resolves on demand by calling inventory-service over gRPC; the top-level order query calls order-service over REST. Each field resolves against its owning service: the gateway is just the composition layer. Mention the N+1 risk: naive per-field resolution can explode into many back-end calls, so production gateways use DataLoader-style batching. Strawberry is the modern code-first choice; Graphene is the alternative if you need its broader ecosystem. The schema's SDL is exported to the registry.</a:t>
            </a:r>
            <a:endParaRPr/>
          </a:p>
        </p:txBody>
      </p:sp>
      <p:sp>
        <p:nvSpPr>
          <p:cNvPr id="266" name="Google Shape;266;g3e54367aadf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367aadf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367aadf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web vs mobile), and GraphQL federation (a distributed graph). All three push aggregation outward to the edge. The anti-pattern to call out explicitly: service-to-service call chains, where order calls inventory calls pricing calls...: synchronous, deeply coupled, and impossible to reason about. That rebuilds the monolith with network latency between the pieces.</a:t>
            </a:r>
            <a:endParaRPr/>
          </a:p>
        </p:txBody>
      </p:sp>
      <p:sp>
        <p:nvSpPr>
          <p:cNvPr id="279" name="Google Shape;279;g3e54367aadf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367aadf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367aadf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367aadf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367aadf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367aadf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367aadf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367aadf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367aadf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367aadf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367aadf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367aadf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Python shape. The write side is a normal POST handler in an existing transaction (we already saw the outbox pattern). The read side is a separate GET that queries a denormalised 'order_summary' table that holds the JOINed, aggregated view the UI needs. The projection (bottom of the slide) is a Kafka consumer that subscribes to order events and upserts into the read model: the upsert must be idempotent because Kafka delivery is at-least-once. The read-model table is denormalised, not 3NF: it holds customer_name (denormalised from customers), line_count (aggregated from order_lines), and any other field the query needs without a JOIN. Different teams can own the read side and the write side. Different scaling: the read store can be scaled horizontally (read replicas, search index) without affecting writes. CQRS adds complexity: use it when the read and write shapes have diverged, not as a default.</a:t>
            </a:r>
            <a:endParaRPr/>
          </a:p>
        </p:txBody>
      </p:sp>
      <p:sp>
        <p:nvSpPr>
          <p:cNvPr id="322" name="Google Shape;322;g3e54367aadf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367aadf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367aadf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367aadf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367aadf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367aadf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4367aadf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367aadf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367aadf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single `async with db.transaction()` block: the order insert and the outbox insert commit together or not at all. The request path never awaits Kafka: if the broker is down, the order still commits and the event ships later when CDC catches up. This decouples your request latency and availability from Kafka's. Debezium tails the write-ahead log and publishes outbox rows in commit order, giving you a guaranteed, ordered event stream. This pattern shows up again implicitly in the saga appendix, where the state transition and outbound command must commit together.</a:t>
            </a:r>
            <a:endParaRPr/>
          </a:p>
        </p:txBody>
      </p:sp>
      <p:sp>
        <p:nvSpPr>
          <p:cNvPr id="356" name="Google Shape;356;g3e54367aadf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367aadf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367aadf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367aadf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367aadf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367aadf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367aadf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367aadf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367aadf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367aadf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367aadf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367aadf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things to drill home from this code. First, enable_auto_commit=False, and commit only once the side-effect (send_email) has succeeded: commit first and then crash, and the work is lost. Second, because we commit after, a crash mid-handler means the message is redelivered, so delivery is at-least-once and your handlers must be idempotent (dedupe by message key or an idempotency key). Exactly-once is a marketing term that mostly means at-least-once plus idempotency. The schema-aware serde line leads into schemas and the registry.</a:t>
            </a:r>
            <a:endParaRPr/>
          </a:p>
        </p:txBody>
      </p:sp>
      <p:sp>
        <p:nvSpPr>
          <p:cNvPr id="401" name="Google Shape;401;g3e54367aadf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367aadf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367aadf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367aadf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367aadf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367aadf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367aadf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367aadf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367aadf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367aadf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367aadf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367aadf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367aadf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367aadf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367aadf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367aadf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367aadf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367aadf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unlike a simple consumer, these processors keep local state (running totals, window buffers) that must survive restarts. That state-management problem is what the next code slide and KEDA slide address.</a:t>
            </a:r>
            <a:endParaRPr/>
          </a:p>
        </p:txBody>
      </p:sp>
      <p:sp>
        <p:nvSpPr>
          <p:cNvPr id="468" name="Google Shape;468;g3e54367aadf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367aadf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367aadf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faust-streaming 0.15.3 is the maintained fork of Faust; the import name is still faust. The Table is the key idea: local state, a running revenue total per merchant and window, backed by a Kafka changelog topic, so when the pod dies the state rebuilds by replaying the changelog. The store is memory:// because every write is mirrored to the changelog: fault-tolerant local state without an external database in the hot path.</a:t>
            </a:r>
            <a:endParaRPr/>
          </a:p>
          <a:p>
            <a:pPr indent="0" lvl="0" marL="0" rtl="0" algn="l">
              <a:spcBef>
                <a:spcPts val="0"/>
              </a:spcBef>
              <a:spcAft>
                <a:spcPts val="0"/>
              </a:spcAft>
              <a:buNone/>
            </a:pPr>
            <a:r>
              <a:rPr lang="en-US"/>
              <a:t>The windows are tumbling five-minute windows with no grace, placed by each record's own timestamp (relative_to_stream). Every update goes to revenue.by-merchant, a derived stream other services consume. The example keeps the same contract as the Kafka Streams, Streamiz and goka versions; mention Flink as the cluster-scale alternative if asked.</a:t>
            </a:r>
            <a:endParaRPr/>
          </a:p>
        </p:txBody>
      </p:sp>
      <p:sp>
        <p:nvSpPr>
          <p:cNvPr id="479" name="Google Shape;479;g3e54367aadf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367aadf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367aadf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4367aadf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367aadf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367aadf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367aadf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367aadf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367aadf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a:t>
            </a:r>
            <a:endParaRPr/>
          </a:p>
        </p:txBody>
      </p:sp>
      <p:sp>
        <p:nvSpPr>
          <p:cNvPr id="516" name="Google Shape;516;g3e54367aadf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367aadf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367aadf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4367aadf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367aadf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367aadf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367aadf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367aadf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367aadf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long, batch or periodic work never belongs on the request path. Hand it to a Job or a worker and return immediately, ideally with a status URL the client can poll.</a:t>
            </a:r>
            <a:endParaRPr/>
          </a:p>
        </p:txBody>
      </p:sp>
      <p:sp>
        <p:nvSpPr>
          <p:cNvPr id="552" name="Google Shape;552;g3e54367aadf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367aadf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367aadf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367aadf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367aadf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367aadf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367aadf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367aadf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367aadf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367aadf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367aadf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367aadf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versioned, compatibility-checked, and gated in CI. This is the difference between 'we have contracts somewhere in git' and 'contracts are enforced before code ships'.</a:t>
            </a:r>
            <a:endParaRPr/>
          </a:p>
        </p:txBody>
      </p:sp>
      <p:sp>
        <p:nvSpPr>
          <p:cNvPr id="594" name="Google Shape;594;g3e54367aadf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367aadf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367aadf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4367aadf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367aadf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367aadf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The CI pipeline posts the new schema version to Apicurio; if it violates the artifact's compatibility rule, Apicurio returns 400 and the script fails the build, blocking the merge. The point to make: the contract is enforced before code ships, not discovered broken in production by a downstream team. The rule (e.g. BACKWARD: new consumers can read old data) is set once per artifact and then enforced automatically forever. Tie it back: this is design-first, now mechanized.</a:t>
            </a:r>
            <a:endParaRPr/>
          </a:p>
        </p:txBody>
      </p:sp>
      <p:sp>
        <p:nvSpPr>
          <p:cNvPr id="615" name="Google Shape;615;g3e54367aadf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367aadf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367aadf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and your boundary erodes.</a:t>
            </a:r>
            <a:endParaRPr/>
          </a:p>
        </p:txBody>
      </p:sp>
      <p:sp>
        <p:nvSpPr>
          <p:cNvPr id="628" name="Google Shape;628;g3e54367aadf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367aadf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367aadf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4367aadf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367aadf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367aadf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which is also what your compliance team needs. The throughline of sections 9–10: a contract is only as good as your ability to find it, trust it, and know who owns it.</a:t>
            </a:r>
            <a:endParaRPr/>
          </a:p>
        </p:txBody>
      </p:sp>
      <p:sp>
        <p:nvSpPr>
          <p:cNvPr id="649" name="Google Shape;649;g3e54367aadf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367aadf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367aadf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367aadf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367aadf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367aadf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4367aadf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367aadf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367aadf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aggregate rates, errors, latencies over time (the RED method: Rate, Errors, Duration; the USE method: Utilisation, Saturation, Errors). Logs answer what exactly happened in one component. Baggage is the signal most people miss: it's key-value context (tenant_id, user_tier, feature_flag) that propagates along the whole trace, so a value set at the edge is readable in a Kafka consumer three hops downstream. Profiles are the newest signal: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367aadf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367aadf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367aadf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367aadf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367aadf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367aadf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they layer into one trace.</a:t>
            </a:r>
            <a:endParaRPr/>
          </a:p>
        </p:txBody>
      </p:sp>
      <p:sp>
        <p:nvSpPr>
          <p:cNvPr id="701" name="Google Shape;701;g3e54367aadf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367aadf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367aadf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instrument_app(app) makes every FastAPI request a span automatically; the aiokafka instrumentor propagates trace context onto the event so the trace continues into consumers. You only hand-write spans for custom business operations worth measuring, like reserve_stock. The crucial behaviour is the last comment: the trace_id flows REST → gRPC → Kafka → consumer with no manual plumbing, because the instrumentors inject and extract context at each hop. The Collector ships everything to the backends keyed by that trace_id. Instrument once, correlate everything.</a:t>
            </a:r>
            <a:endParaRPr/>
          </a:p>
        </p:txBody>
      </p:sp>
      <p:sp>
        <p:nvSpPr>
          <p:cNvPr id="711" name="Google Shape;711;g3e54367aadf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367aadf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367aadf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it's the trace context physically travelling with the request, in-band, at every hop. The W3C traceparent header is the standard: version-traceid-parentspanid-flags. The trace_id (16 bytes) is constant across every hop of the request: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automatically, which is why auto-instrumentation 'just works' across services. This propagated context is exactly why the same trace_id shows up on the trace waterfall, on every structured log line, and as an exemplar on your metrics: they all read it from the same in-band context.</a:t>
            </a:r>
            <a:endParaRPr/>
          </a:p>
        </p:txBody>
      </p:sp>
      <p:sp>
        <p:nvSpPr>
          <p:cNvPr id="724" name="Google Shape;724;g3e54367aadf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367aadf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367aadf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is the W3C-standard way to carry request-scoped key-values along the whole trace. Here we set tenant_id and user_tier in an HTTP middleware at the edge; the OTel SDK serialises them into the W3C baggage header and propagates them on every downstream call (HTTP, gRPC, Kafka) automatically. Three hops later, a Kafka consumer reads baggage.get_baggage('tenant_id') without anyone having passed it explicitly. The common idiom is to also set it as a span attribute (set_attribute) so the value is queryable in the trace UI: 'show me all slow traces for tenant acme.' Caution: baggage travels on the wire to every downstream service, including third parties if you call them, so never put secrets or PII in baggage.</a:t>
            </a:r>
            <a:endParaRPr/>
          </a:p>
        </p:txBody>
      </p:sp>
      <p:sp>
        <p:nvSpPr>
          <p:cNvPr id="735" name="Google Shape;735;g3e54367aadf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367aadf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367aadf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367aadf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367aadf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367aadf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367aadf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367aadf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367aadf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keep 10%, predictable volume. Rate-limiting is better when traffic is bursty because it caps absolute volume. Parent-based is non-negotiable in a distributed system: without it, service A samples a trace but service B independently drops it, and you get a broken trace with holes: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use a trace-ID-aware load balancer). The recommended setup combines head (for a cheap representative baseline) and tail (for guaranteed capture of the interesting traces). The sub-bullet is the reminder: traces, metrics and logs are sampled differently: you never sample a metric counter, and logs typically follow their own retention or are sampled to match their parent trace.</a:t>
            </a:r>
            <a:endParaRPr/>
          </a:p>
        </p:txBody>
      </p:sp>
      <p:sp>
        <p:nvSpPr>
          <p:cNvPr id="770" name="Google Shape;770;g3e54367aadf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367aadf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367aadf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GraphQL Playground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367aadf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367aadf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367aadf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367aadf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367aadf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367aadf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4367aadf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367aadf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367aadf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4367aadf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367aadf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367aadf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4367aadf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367aadf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367aadf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367aadf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367aadf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367aadf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only allow inbound traffic on the sidecar's mTLS port, never the app's container port directly. With both the sidecar and the NetworkPolicy, the app can fully trust the headers and become much simpler: no crypto code, no JWT parsing library, just header reads.</a:t>
            </a:r>
            <a:endParaRPr/>
          </a:p>
        </p:txBody>
      </p:sp>
      <p:sp>
        <p:nvSpPr>
          <p:cNvPr id="842" name="Google Shape;842;g3e54367aadf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367aadf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367aadf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4367aadf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367aadf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367aadf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(hmac.new with hashlib.sha256).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hmac.compare_digest,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367aadf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367aadf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367aadf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4367aadf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367aadf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367aadf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367aadf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367aadf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367aadf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they authenticate against your IdP (Keycloak, or Dex federating an existing directory), the IAP issues a session, every request from then on carries identity. Inside the cluster, SPIFFE is the service-identity mechanism that makes mTLS work without manual cert management: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367aadf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367aadf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367aadf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367aadf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367aadf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367aadf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367aadf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367aadf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367aadf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4367aadf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367aadf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367aadf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 asyncio the standard library is the idiomatic tool: one Semaphore of five permits per tenant, created on first use. Before taking a permit the handler checks locked(); a tenant that already has five orders in flight gets a 429 at once instead of waiting in a queue, while every other tenant keeps its own five.</a:t>
            </a:r>
            <a:endParaRPr/>
          </a:p>
          <a:p>
            <a:pPr indent="0" lvl="0" marL="0" rtl="0" algn="l">
              <a:spcBef>
                <a:spcPts val="0"/>
              </a:spcBef>
              <a:spcAft>
                <a:spcPts val="0"/>
              </a:spcAft>
              <a:buNone/>
            </a:pPr>
            <a:r>
              <a:rPr lang="en-US"/>
              <a:t>The in-flight counter feeds the bulkhead-state endpoint without reading the semaphore's private state. Per-tenant HTTP connection pools are a separate bulkhead at the socket level: the semaphore caps concurrent work, the pool caps sockets. At the platform layer, Istio's per-destination connection-pool limits complement both.</a:t>
            </a:r>
            <a:endParaRPr/>
          </a:p>
        </p:txBody>
      </p:sp>
      <p:sp>
        <p:nvSpPr>
          <p:cNvPr id="940" name="Google Shape;940;g3e54367aadf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367aadf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367aadf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367aadf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367aadf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367aadf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_mint_valet (900 seconds), and publishes only a small claim (order id, URI and the ticket) to order.documents with aiokafka's send_and_wait.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4367aadf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367aadf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367aadf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367aadf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367aadf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367aadf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367aadf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367aadf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367aadf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367aadf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367aadf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367aadf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4367aadf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367aadf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367aadf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no shared tables. (3) Push aggregation to a gateway or BFF and forbid synchronous call chains deeper than one hop. (4) No contract in the registry, no merge, and every retry has a timeout and a bound. (5) If you can't trace it, you can't run it: observability is a launch requirement, not a follow-up. Offer these as a checklist the team can literally paste into a PR template.</a:t>
            </a:r>
            <a:endParaRPr/>
          </a:p>
        </p:txBody>
      </p:sp>
      <p:sp>
        <p:nvSpPr>
          <p:cNvPr id="1016" name="Google Shape;1016;g3e54367aadf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367aadf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367aadf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367aadf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367aadf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367aadf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4367aadf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367aadf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367aadf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367aadf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367aadf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367aadf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CDC tails the WAL. Call out the ACL ambiguity: in the DDD/data sections ACL means Anti-Corruption Layer; in the security section it means Access Control List.</a:t>
            </a:r>
            <a:endParaRPr/>
          </a:p>
        </p:txBody>
      </p:sp>
      <p:sp>
        <p:nvSpPr>
          <p:cNvPr id="1055" name="Google Shape;1055;g3e54367aadf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367aadf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367aadf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99% of requests are faster than this; it's what you alert on, not the average. The runtime row is tailored to this deck's language.</a:t>
            </a:r>
            <a:endParaRPr/>
          </a:p>
        </p:txBody>
      </p:sp>
      <p:sp>
        <p:nvSpPr>
          <p:cNvPr id="1065" name="Google Shape;1065;g3e54367aadf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367aadf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367aadf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choosing a protocol.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367aadf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367aadf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367aadf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367aadf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367aadf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367aadf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367aadf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367aadf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367aadf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367aadf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367aadf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367aadf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367aadf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367aadf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367aadf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the same leaky-internal-models anti-pattern.</a:t>
            </a:r>
            <a:endParaRPr/>
          </a:p>
        </p:txBody>
      </p:sp>
      <p:sp>
        <p:nvSpPr>
          <p:cNvPr id="1128" name="Google Shape;1128;g3e54367aadf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367aadf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367aadf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367aadf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367aadf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367aadf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4367aadf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367aadf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367aadf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There's one URL for the order resource: it never changes. The client signals which representation it wants via the Accept header; the server negotiates and responds with the matching Content-Type. New clients ask for the v2 media type and get the new currency field; old clients send nothing, default to v1, and are completely unaffected. Contrast with /v2/orders, where you've now got two URLs for the same underlying thing. Mention that you'd normally structure this with response models per version rather than hand-building dicts, but the negotiation mechanism is the point.</a:t>
            </a:r>
            <a:endParaRPr/>
          </a:p>
        </p:txBody>
      </p:sp>
      <p:sp>
        <p:nvSpPr>
          <p:cNvPr id="1159" name="Google Shape;1159;g3e54367aadf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367aadf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367aadf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367aadf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367aadf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367aadf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367aadf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367aadf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367aadf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367aadf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367aadf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367aadf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Strawberry. We add total_minor additively and mark the old total field with a deprecation_reason. The field keeps working and nothing breaks, but the deprecation shows up in introspection and in tools like Playground, nudging client developers. The crucial operational piece is the comment: you instrument field-level usage on the server, and you only remove total when its usage drops to zero. That's the whole GraphQL philosophy: evolution governed by data, with the breaking removal deferred until it's provably safe. Compare and contrast with REST's media types and gRPC's tag rules: each protocol answers the same problem differently.</a:t>
            </a:r>
            <a:endParaRPr/>
          </a:p>
        </p:txBody>
      </p:sp>
      <p:sp>
        <p:nvSpPr>
          <p:cNvPr id="1207" name="Google Shape;1207;g3e54367aadf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367aadf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367aadf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the registry treats an Avro schema and an OpenAPI spec identically. Versioning data and versioning APIs are the same discipline.</a:t>
            </a:r>
            <a:endParaRPr/>
          </a:p>
        </p:txBody>
      </p:sp>
      <p:sp>
        <p:nvSpPr>
          <p:cNvPr id="1220" name="Google Shape;1220;g3e54367aadf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367aadf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367aadf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the opposite of the stateless request model the platform assumes. We'll build one in FastAPI, see why it fights scaling, fix it with a backplane, make it fast and versioned with protobuf, and make it survivable with reconnection.</a:t>
            </a:r>
            <a:endParaRPr/>
          </a:p>
        </p:txBody>
      </p:sp>
      <p:sp>
        <p:nvSpPr>
          <p:cNvPr id="1230" name="Google Shape;1230;g3e54367aadf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367aadf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367aadf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FastAPI makes the endpoint trivial: accept, then loop receiving and handling messages full-duplex until disconnect. But point hard at the clients dict: it lives in this pod's memory. That one design fact drives everything in this appendix: the connection and the knowledge of who's connected live on exactly one pod. Everything stateless about HTTP (any replica can serve any request) is now false. The scaling problem follows from that.</a:t>
            </a:r>
            <a:endParaRPr/>
          </a:p>
        </p:txBody>
      </p:sp>
      <p:sp>
        <p:nvSpPr>
          <p:cNvPr id="1240" name="Google Shape;1240;g3e54367aadf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367aadf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367aadf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367aadf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367aadf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367aadf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4367aadf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367aadf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367aadf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connections can land anywhere and still receive everything. Redis is the common default; Kafka if you already run it and want the durability.</a:t>
            </a:r>
            <a:endParaRPr/>
          </a:p>
        </p:txBody>
      </p:sp>
      <p:sp>
        <p:nvSpPr>
          <p:cNvPr id="1274" name="Google Shape;1274;g3e54367aadf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367aadf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367aadf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over send_bytes are markedly smaller and cheaper to parse than JSON text: meaningful when you're pushing high-frequency updates to many sockets. Versioning: because WebSocket messages have no URL to hang a version on, you version the envelope. A version field lets the client detect an incompatible payload format and renegotiate or reconnect; the type field dispatches to the right protobuf message; and a monotonic seq number per connection is what makes reconnection and replay possible, the basis of resume-don't-restart failure handling. So the envelope solves both 'make it fast' and 'how do I version a socket message' at once.</a:t>
            </a:r>
            <a:endParaRPr/>
          </a:p>
        </p:txBody>
      </p:sp>
      <p:sp>
        <p:nvSpPr>
          <p:cNvPr id="1285" name="Google Shape;1285;g3e54367aadf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367aadf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367aadf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so the whole thing is at-least-once and idempotent. The principle on screen: resume, don't restart. A reconnect should be invisible to the user, not a full state reload.</a:t>
            </a:r>
            <a:endParaRPr/>
          </a:p>
        </p:txBody>
      </p:sp>
      <p:sp>
        <p:nvSpPr>
          <p:cNvPr id="1298" name="Google Shape;1298;g3e54367aadf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367aadf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367aadf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367aadf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367aadf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367aadf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367aadf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367aadf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367aadf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a pod restart would strand every in-flight saga with no idea what to compensate. Three real options. A DB-backed state machine: one row per saga instance holding its status and a context blob; you own the transitions: simplest, and great for most cases. Event-sourced: append each step as an event and rebuild state by replay: full audit history, fits naturally with the Kafka log. A workflow engine like Temporal or Camunda: durable execution with retries and timers built in: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4367aadf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367aadf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367aadf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and the default choice for a bounded saga. Key ideas: one row per saga, selected FOR UPDATE so two workers can't advance the same saga concurrently. The status guard makes advance() idempotent: calling it on a finished saga is a no-op, which matters because retries and redeliveries will call it again. Each successful step accumulates its result into the context blob, which is what lets a later step read data an earlier step produced, and bumps the step index; the row is saved durably after every step inside the same transaction as the work record. Recovery needs no special path: after a crash, a sweeper loads RUNNING sagas and calls advance() again. No special crash logic.</a:t>
            </a:r>
            <a:endParaRPr/>
          </a:p>
        </p:txBody>
      </p:sp>
      <p:sp>
        <p:nvSpPr>
          <p:cNvPr id="1340" name="Google Shape;1340;g3e54367aadf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367aadf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367aadf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367aadf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367aadf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367aadf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simple map gives each forward step its inverse. We iterate reversed(STEPS[:step_index]), only the steps that completed, newest first, and invoke each compensation. The idempotency_key built from saga_id plus step is the line that prevents the nightmare scenario: a retry double-refunding a customer. The compensating service dedupes on that key. In a production version you'd track per-step compensation status too, so if compensation itself crashes halfway you resume from the right place rather than re-running already-done compensations, but the idempotency key makes even naive re-runs safe. This is why compensations are designed up front, as part of each step, not bolted on after.</a:t>
            </a:r>
            <a:endParaRPr/>
          </a:p>
        </p:txBody>
      </p:sp>
      <p:sp>
        <p:nvSpPr>
          <p:cNvPr id="1364" name="Google Shape;1364;g3e54367aadf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367aadf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367aadf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but B needs a value that only A produced (say A returns a reservation_id and a warehouse region that B requires to proceed). The tempting wrong answer is to have B call A directly: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that 's.context[step] = result' line is exactly this.</a:t>
            </a:r>
            <a:endParaRPr/>
          </a:p>
        </p:txBody>
      </p:sp>
      <p:sp>
        <p:nvSpPr>
          <p:cNvPr id="1377" name="Google Shape;1377;g3e54367aadf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367aadf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367aadf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the resume question directly. Because step A persisted its output into the saga context (committed durably with the state transition), step B reads reservation_id and region out of context: it calls shipping.book with data that originated in A, but it never calls A. Now the crash scenario you raised: the orchestrator dies between A completing and B starting. On restart, the sweeper reloads the saga row; step_index already points at book_shipping and the context already contains A's result, both committed before the crash. It calls advance(), B runs with A's data, and A is never re-invoked: no lost data, no duplicate reservation. The persisted context is simultaneously the answer to 'how does B get A's data' and 'how do I resume cleanly': one mechanism, both problems. That's the payoff of persisting state every step.</a:t>
            </a:r>
            <a:endParaRPr/>
          </a:p>
        </p:txBody>
      </p:sp>
      <p:sp>
        <p:nvSpPr>
          <p:cNvPr id="1388" name="Google Shape;1388;g3e54367aadf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4367aadf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4367aadf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4367aadf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4367aadf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4367aadf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a retryable flag (with retry-after when known), and structured field-level details. The four protocols just encode those same five facts differently: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4367aadf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367aadf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367aadf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4367aadf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367aadf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367aadf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single exception handler is the right pattern: domain code raises a typed exception, and one place maps it to the wire format, so you never scatter ad-hoc error JSON across endpoints. Note the media type is application/problem+json (RFC 9457), the status matches the category (409 here: a conflict the client can act on), and the body carries the stable code and the traceId for correlation. What's absent: any stack trace, exception class name, or SQL; those leak internals and are an attack surface. In FastAPI you'd register one handler per error family, or a base-class handler that switches on a code.</a:t>
            </a:r>
            <a:endParaRPr/>
          </a:p>
        </p:txBody>
      </p:sp>
      <p:sp>
        <p:nvSpPr>
          <p:cNvPr id="1433" name="Google Shape;1433;g3e54367aadf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367aadf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367aadf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4367aadf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4367aadf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4367aadf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rich-error model in Python via the grpcio-status package. The canonical code UNAVAILABLE tells the client and the mesh this is transient and retryable; the google.rpc.Status carries structured details: ErrorInfo with a machine reason and domain, and RetryInfo telling the client exactly how long to wait before retrying. abort_with_status puts all of it in the trailers. The key discipline: don't overload a generic INTERNAL code for everything: the code is how automated clients decide whether and when to retry, so getting it right is what prevents both lost work and retry storms.</a:t>
            </a:r>
            <a:endParaRPr/>
          </a:p>
        </p:txBody>
      </p:sp>
      <p:sp>
        <p:nvSpPr>
          <p:cNvPr id="1457" name="Google Shape;1457;g3e54367aadf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4367aadf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4367aadf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The DLQ record carries the original payload plus error and trace headers.</a:t>
            </a:r>
            <a:endParaRPr/>
          </a:p>
        </p:txBody>
      </p:sp>
      <p:sp>
        <p:nvSpPr>
          <p:cNvPr id="1470" name="Google Shape;1470;g3e54367aadf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4367aadf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4367aadf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point is the final commit in the except branch: whether the record succeeded, got routed to a retry topic, or landed in the DLQ, we commit the offset so the partition keeps moving. The retries header tracks attempts and is incremented on each delayed-retry hop; after MAX_RETRIES the record goes to the DLQ with its payload and a traceId header for investigation. This is the manual version of what a framework gives you declaratively, and it's the pattern that stops one bad message from taking down a consumer group. Make handle() idempotent, because at-least-once delivery means retried records may have partially applied.</a:t>
            </a:r>
            <a:endParaRPr/>
          </a:p>
        </p:txBody>
      </p:sp>
      <p:sp>
        <p:nvSpPr>
          <p:cNvPr id="1481" name="Google Shape;1481;g3e54367aadf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4367aadf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4367aadf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that throws away useful data the client already asked for. Partial success is a feature; let the client decide whether to retry just the failed field.</a:t>
            </a:r>
            <a:endParaRPr/>
          </a:p>
        </p:txBody>
      </p:sp>
      <p:sp>
        <p:nvSpPr>
          <p:cNvPr id="1494" name="Google Shape;1494;g3e54367aadf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4367aadf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4367aadf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Raising a GraphQLError from a single field's resolver is exactly right: Strawberry catches it, sets that field to null, and appends an entry to the errors[] array with the message, the path, and your extensions: while every other field in the query resolves and returns normally. The extensions object is where the shared error contract lives in GraphQL: code, retryable, traceId. Resist the urge to let the exception bubble to the top and fail the whole operation; that's the blanket-failure anti-pattern. The client sees the order and total, sees stock is null, reads extensions.code, and decides whether to retry just stock.</a:t>
            </a:r>
            <a:endParaRPr/>
          </a:p>
        </p:txBody>
      </p:sp>
      <p:sp>
        <p:nvSpPr>
          <p:cNvPr id="1505" name="Google Shape;1505;g3e54367aadf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4367aadf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4367aadf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The Istio mesh config provides several of these at the mesh layer without code changes.</a:t>
            </a:r>
            <a:endParaRPr/>
          </a:p>
        </p:txBody>
      </p:sp>
      <p:sp>
        <p:nvSpPr>
          <p:cNvPr id="1518" name="Google Shape;1518;g3e54367aadf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4367aadf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4367aadf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that's both a security issue and a coupling issue. And the bold line is the one that prevents outages: every retry is bounded and spaced, protected by a circuit breaker and a retry budget, and every handler is idempotent so a redelivered or retried request is safe. Get these right and your failure paths become as boring as your happy paths.</a:t>
            </a:r>
            <a:endParaRPr/>
          </a:p>
        </p:txBody>
      </p:sp>
      <p:sp>
        <p:nvSpPr>
          <p:cNvPr id="1529" name="Google Shape;1529;g3e54367aadf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367aadf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367aadf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4367aadf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4367aadf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4367aadf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4367aadf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4367aadf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4367aadf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4367aadf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4367aadf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4367aadf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4367aadf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4367aadf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4367aadf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high coupling, use sparingly; Partnership means two contexts co-evolve; Separate Ways means don't integrate. The starred three are the ones to design explicitly.</a:t>
            </a:r>
            <a:endParaRPr/>
          </a:p>
        </p:txBody>
      </p:sp>
      <p:sp>
        <p:nvSpPr>
          <p:cNvPr id="1580" name="Google Shape;1580;g3e54367aadf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4367aadf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4367aadf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4367aadf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4367aadf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4367aadf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4367aadf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4367aadf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4367aadf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three blocks. Ports: the domain declares plain interfaces (Protocols) for what it needs, a repository and an event publisher, and depends on nothing else. The application service PlaceOrder is pure: it creates the aggregate, saves via the port, publishes a domain event via the port, and never imports FastAPI, asyncpg or Kafka. The REST adapter is trivial: it turns an HTTP body into a command and calls the use case; a gRPC or GraphQL adapter would be the same three lines. The outbound ports are implemented by adapters (a Postgres repository, a Kafka publisher) injected at startup. This is dependency inversion in service of the boundary: the protocols are replaceable, the domain is stable.</a:t>
            </a:r>
            <a:endParaRPr/>
          </a:p>
        </p:txBody>
      </p:sp>
      <p:sp>
        <p:nvSpPr>
          <p:cNvPr id="1612" name="Google Shape;1612;g3e54367aadf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367aadf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367aadf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ties the aggregate, the outbox, and the saga design together. The aggregate is the consistency boundary: invariants hold within it and one transaction commits it, and it typically maps to a single API resource. Because it's the transaction boundary, it's also the outbox boundary: state plus event commit atomically. Domain events are the DDD concept that becomes your Kafka topic payloads, enabling choreography across contexts. And the small-aggregate rule (one per transaction, reference others by id, connect via events) is precisely why cross-aggregate consistency needs a saga. This slide is where DDD stops being abstract and visibly underpins the data, event and saga designs.</a:t>
            </a:r>
            <a:endParaRPr/>
          </a:p>
        </p:txBody>
      </p:sp>
      <p:sp>
        <p:nvSpPr>
          <p:cNvPr id="1625" name="Google Shape;1625;g3e54367aadf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4367aadf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4367aadf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4367aadf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4367aadf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4367aadf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back to one model.</a:t>
            </a:r>
            <a:endParaRPr/>
          </a:p>
        </p:txBody>
      </p:sp>
      <p:sp>
        <p:nvSpPr>
          <p:cNvPr id="1645" name="Google Shape;1645;g3e54367aadf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4367aadf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4367aadf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it's necessary, and the real skill is balancing it. Credit Khononov's Balancing Coupling model and stress that it measures the connection between components, not the components, along three dimensions. The headline sentence is the whole model in one line: pain needs all three of strength, distance and volatility to be high. The bold line is the cautionary tale that resonates with anyone burned by microservices: splitting strongly- and volatile-coupled code across a network doesn't remove the coupling, it just adds distance to it: the distributed monolith.</a:t>
            </a:r>
            <a:endParaRPr/>
          </a:p>
        </p:txBody>
      </p:sp>
      <p:sp>
        <p:nvSpPr>
          <p:cNvPr id="1655" name="Google Shape;1655;g3e54367aadf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4367aadf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4367aadf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4367aadf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4367aadf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4367aadf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the further apart, the more it costs to change across the seam. Volatility is the clever part of the model: you can't know the future, but you can predict change-rate from DDD subdomain type (core changes a lot, generic barely changes), which connects this appendix straight back to the DDD subdomain model.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4367aadf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4367aadf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4367aadf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the classic case is two services on one database, where either can break the other invisibly. Functional coupling: they share business logic or rules and must change together for functional reasons. Model coupling: they share a data model or DTOs: a shared library of types. Contract coupling: they integrate only through an explicit, stable, versioned contract,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4367aadf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4367aadf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4367aadf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4367aadf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4367aadf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4367aadf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perfectly healthy, keep it local. Low strength and distant is healthy microservices: services integrating through contracts. Low strength and close is needless indirection: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4367aadf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4367aadf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4367aadf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it multiplies cost. Volatility decides whether a less-than-ideal coupling matters: a textbook-ugly coupling on frozen code is a non-problem; a textbook-fine coupling on hot, ever-changing core code can still hurt. The DDD connection is the practical tool: subdomain type predicts volatility, so you route your strongest couplings away from core and toward stable, generic areas. The bold formula is Khononov's balance condition, worth writing on a whiteboard in a design review.</a:t>
            </a:r>
            <a:endParaRPr/>
          </a:p>
        </p:txBody>
      </p:sp>
      <p:sp>
        <p:nvSpPr>
          <p:cNvPr id="1718" name="Google Shape;1718;g3e54367aadf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4367aadf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4367aadf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that's what a breaking change is. Mention connascence as the finer-grained classical model (Page-Jones) that versioning manages: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4367aadf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4367aadf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4367aadf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and Balancing Coupling in Software Design for this model, the two references that underpin both appendices.</a:t>
            </a:r>
            <a:endParaRPr/>
          </a:p>
        </p:txBody>
      </p:sp>
      <p:sp>
        <p:nvSpPr>
          <p:cNvPr id="1738" name="Google Shape;1738;g3e54367aadf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4367aadf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4367aadf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stop new traffic, finish in-flight work, drain consumers and sockets, then exit before the grace period runs out.</a:t>
            </a:r>
            <a:endParaRPr/>
          </a:p>
        </p:txBody>
      </p:sp>
      <p:sp>
        <p:nvSpPr>
          <p:cNvPr id="1748" name="Google Shape;1748;g3e54367aadf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4367aadf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4367aadf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it's a sequence the app and Kubernetes perform together, on a clock. This appendix walks that sequence, then shows the code on both sides of it.</a:t>
            </a:r>
            <a:endParaRPr/>
          </a:p>
        </p:txBody>
      </p:sp>
      <p:sp>
        <p:nvSpPr>
          <p:cNvPr id="1758" name="Google Shape;1758;g3e54367aadf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4367aadf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4367aadf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ideally well before the grace period ends. The red arrows are the whole point: readiness + preStop are what keep new traffic off your dying pod during the race.</a:t>
            </a:r>
            <a:endParaRPr/>
          </a:p>
        </p:txBody>
      </p:sp>
      <p:sp>
        <p:nvSpPr>
          <p:cNvPr id="1768" name="Google Shape;1768;g3e54367aadf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4367aadf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4367aadf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4367aadf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4367aadf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4367aadf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because a hard SIGKILL is always possible, idempotent handlers make a redelivered request or message harmless.</a:t>
            </a:r>
            <a:endParaRPr/>
          </a:p>
        </p:txBody>
      </p:sp>
      <p:sp>
        <p:nvSpPr>
          <p:cNvPr id="1789" name="Google Shape;1789;g3e54367aadf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4367aadf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4367aadf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moving parts, all started by one SIGTERM, the only signal Kubernetes sends before SIGKILL. First, the handler flips a readiness flag so /readyz returns 503 at once; this is the 'stop new traffic' step, and the process keeps serving while the load balancer stops routing to it. Second, after DRAIN_DELAY_SECONDS (5 s in Example 21; it plays the part of a preStop sleep) the handler chains to uvicorn's own: uvicorn installs its signal handlers before it imports the app and runs the lifespan, so a handler that replaces them without chaining means uvicorn never starts its drain and the process waits for SIGKILL. uvicorn then stops accepting and finishes in-flight HTTP; --timeout-graceful-shutdown 20 bounds that wait, so delay plus drain stays inside the 30-second grace period. Third, FastAPI's lifespan shutdown block (after the yield) runs once HTTP has drained: that is where you stop consumers (an aiokafka consumer commits offsets and leaves the group) and close pools, and the process exits 0. The order matters: readiness down, drain HTTP, then drain everything else. Pair this with the preStop hook and the termination grace period in the pod spec.</a:t>
            </a:r>
            <a:endParaRPr/>
          </a:p>
        </p:txBody>
      </p:sp>
      <p:sp>
        <p:nvSpPr>
          <p:cNvPr id="1800" name="Google Shape;1800;g3e54367aadf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367aadf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367aadf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4367aadf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4367aadf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4367aadf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4367aadf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4367aadf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4367aadf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exactly how the referenced Quarkus write-up proves its recipe.</a:t>
            </a:r>
            <a:endParaRPr/>
          </a:p>
        </p:txBody>
      </p:sp>
      <p:sp>
        <p:nvSpPr>
          <p:cNvPr id="1836" name="Google Shape;1836;g3e54367aadf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4367aadf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4367aadf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FastAPI + durable-rules, then circle back to east/west, where most routing decisions happen.</a:t>
            </a:r>
            <a:endParaRPr/>
          </a:p>
        </p:txBody>
      </p:sp>
      <p:sp>
        <p:nvSpPr>
          <p:cNvPr id="1846" name="Google Shape;1846;g3e54367aadf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4367aadf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4367aadf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4367aadf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4367aadf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4367aadf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4367aadf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4367aadf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4367aadf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the guidance on avoiding retry storms: the mesh implements many of them by default, but you still need bounded retries and budgets to prevent amplification.</a:t>
            </a:r>
            <a:endParaRPr/>
          </a:p>
        </p:txBody>
      </p:sp>
      <p:sp>
        <p:nvSpPr>
          <p:cNvPr id="1877" name="Google Shape;1877;g3e54367aadf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4367aadf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4367aadf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every internal call gets mTLS, retries, outlier detection and locality-aware load balancing. Finally, when L7 decisions need to consider business rules the platform doesn't know about, you push routing into the app itself (FastAPI + durable-rules + aiokafka). Each layer is the right place for a different type of decision; every topic in this appendix maps to one of them.</a:t>
            </a:r>
            <a:endParaRPr/>
          </a:p>
        </p:txBody>
      </p:sp>
      <p:sp>
        <p:nvSpPr>
          <p:cNvPr id="1887" name="Google Shape;1887;g3e54367aadf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4367aadf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4367aadf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viewed through the L7 lens.</a:t>
            </a:r>
            <a:endParaRPr/>
          </a:p>
        </p:txBody>
      </p:sp>
      <p:sp>
        <p:nvSpPr>
          <p:cNvPr id="1898" name="Google Shape;1898;g3e54367aadf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4367aadf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4367aadf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4367aadf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4367aadf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4367aadf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it can drain old workers while new ones take traffic, which matters for graceful-shutdown discipline.</a:t>
            </a:r>
            <a:endParaRPr/>
          </a:p>
        </p:txBody>
      </p:sp>
      <p:sp>
        <p:nvSpPr>
          <p:cNvPr id="1919" name="Google Shape;1919;g3e54367aadf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367aadf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367aadf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you express the routing table declaratively, then point a single location at the variable. Location blocks split HTTP from gRPC (grpc_pass) so you can run both protocols through one server. The X-Request-Id injection is a tiny example of payload modification: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4367aadf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4367aadf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4367aadf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declarative, GitOps-managed, distributed across thousands of pods.</a:t>
            </a:r>
            <a:endParaRPr/>
          </a:p>
        </p:txBody>
      </p:sp>
      <p:sp>
        <p:nvSpPr>
          <p:cNvPr id="1945" name="Google Shape;1945;g3e54367aadf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4367aadf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4367aadf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route by SNI only). cert-manager is the standard cluster-side answer for public certificates; SPIFFE-style identity and Envoy's SDS handle service-to-service certs automatically inside the mesh. Mention the CPU cost briefly so the L7 latency budget makes sense: a TLS handshake is milliseconds, and you want to amortise it via session resumption, TLS 1.3 and HTTP/2 multiplexing.</a:t>
            </a:r>
            <a:endParaRPr/>
          </a:p>
        </p:txBody>
      </p:sp>
      <p:sp>
        <p:nvSpPr>
          <p:cNvPr id="1958" name="Google Shape;1958;g3e54367aadf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4367aadf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4367aadf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4367aadf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4367aadf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4367aadf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elastic scaling, fast restarts, graceful shutdown. The bold final point is the architectural fix: externalise the state. Redis for session data, JWT claims for user identity, the WebSocket backplane for fan-out. With that done, your LB is back to no-affinity and the platform works the way it wants to.</a:t>
            </a:r>
            <a:endParaRPr/>
          </a:p>
        </p:txBody>
      </p:sp>
      <p:sp>
        <p:nvSpPr>
          <p:cNvPr id="1979" name="Google Shape;1979;g3e54367aadf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4367aadf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4367aadf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4367aadf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4367aadf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4367aadf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the only thing that changes is which subsets you target and what the weights are.</a:t>
            </a:r>
            <a:endParaRPr/>
          </a:p>
        </p:txBody>
      </p:sp>
      <p:sp>
        <p:nvSpPr>
          <p:cNvPr id="2000" name="Google Shape;2000;g3e54367aadf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367aadf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367aadf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4367aadf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4367aadf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4367aadf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4367aadf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4367aadf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4367aadf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4367aadf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4367aadf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4367aadf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4367aadf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4367aadf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4367aadf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in-app routing pattern in Python, and it mirrors what enterprise integration frameworks do on other platforms, just composed from smaller pieces. Inputs arrive over REST (or WebSocket, or Kafka). They hit a FastAPI (or Starlette) endpoint, which gathers any extra context with an enrich step, hands the merged fact to durable-rules to evaluate the ruleset, and dispatches the result to one or more destinations via an aiokafka producer (or an HTTP client). The durable-rules box on the right is the rule engine: a Rete-based forward-chaining engine written in C with a Python ruleset DSL, and the part domain experts edit. The 'data, not code' principle still applies: the routing logic lives in the ruleset, separate from the dispatcher, and can change without redeploying the FastAPI service.</a:t>
            </a:r>
            <a:endParaRPr/>
          </a:p>
        </p:txBody>
      </p:sp>
      <p:sp>
        <p:nvSpPr>
          <p:cNvPr id="2059" name="Google Shape;2059;g3e54367aadf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4367aadf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4367aadf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these as 'when ... then ...' statements. The 'when' is a pattern match on facts in the rule engine's working memory (durable-rules implements Rete forward chaining); the 'then' is the action: here, setting a where_to list of destination URIs that the dispatcher will consume. Two real rules and a default. Domain experts own this file (the same people who define what 'VIP' or 'high-value' mean), and it can be redeployed without a developer touching the FastAPI dispatcher code. For more complex decision tables, swap durable-rules for Open Policy Agent (Rego) or business-rules; the shape stays the same.</a:t>
            </a:r>
            <a:endParaRPr/>
          </a:p>
        </p:txBody>
      </p:sp>
      <p:sp>
        <p:nvSpPr>
          <p:cNvPr id="2070" name="Google Shape;2070;g3e54367aadf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4367aadf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4367aadf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dispatcher is small by design. Enrich gathers any extra context the rules need (a DB lookup, an HTTP call to a customer service); the merged fact goes to post() which fires the durable-rules ruleset; each destination in the resulting where_to list is dispatched via the right transport. Note the protocol prefix in destinations ("kafka:" or "http:"): it's a tiny convention that lets one ruleset drive multiple transports. For event-shaped flows, swap the FastAPI endpoint for a faust-streaming agent or an aiokafka consumer loop; the ruleset and dispatch logic stay the same. This is the in-app L7 router in maybe 20 lines of code.</a:t>
            </a:r>
            <a:endParaRPr/>
          </a:p>
        </p:txBody>
      </p:sp>
      <p:sp>
        <p:nvSpPr>
          <p:cNvPr id="2083" name="Google Shape;2083;g3e54367aadf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4367aadf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4367aadf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applies here too: timeouts must account for the total L7 budget plus the service's own work, or retries will pile up.</a:t>
            </a:r>
            <a:endParaRPr/>
          </a:p>
        </p:txBody>
      </p:sp>
      <p:sp>
        <p:nvSpPr>
          <p:cNvPr id="2096" name="Google Shape;2096;g3e54367aadf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4367aadf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4367aadf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the lesson is identical: bound retries, align timeouts top-down, give the deepest layer the strictest budget.</a:t>
            </a:r>
            <a:endParaRPr/>
          </a:p>
        </p:txBody>
      </p:sp>
      <p:sp>
        <p:nvSpPr>
          <p:cNvPr id="2107" name="Google Shape;2107;g3e54367aadf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4367aadf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4367aadf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4367aadf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367aadf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367aadf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you cannot canary internal services through an edge LB.</a:t>
            </a:r>
            <a:endParaRPr/>
          </a:p>
        </p:txBody>
      </p:sp>
      <p:sp>
        <p:nvSpPr>
          <p:cNvPr id="2128" name="Google Shape;2128;g3e54367aadf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4367aadf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4367aadf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4367aadf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4367aadf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4367aadf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a few long-running streams can starve other backends if you round-robin connections instead of requests. Be careful with retries on streaming RPCs: the mesh can retry a UNARY call safely if it's idempotent, but retrying a half-completed streaming RPC will replay half the work: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4367aadf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4367aadf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4367aadf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if it's a business rule, it belongs in a rule engine inside a service, not in a network CRD.</a:t>
            </a:r>
            <a:endParaRPr/>
          </a:p>
        </p:txBody>
      </p:sp>
      <p:sp>
        <p:nvSpPr>
          <p:cNvPr id="2161" name="Google Shape;2161;g3e54367aadf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4367aadf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4367aadf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a cluster ends up running three ingress controllers because three teams each picked one. Pick one and standardise. The cert-rotation point is the one teams underestimate: expired certs are still a top-3 outage cause in many shops. GitOps for routing is the operational discipline that makes the whole thing reviewable. Observability and the load/failure-test point are non-negotiable. The references sub-bullet is the reading list: the durable-rules project on PyPI, Open Policy Agent (OPA) docs for declarative policy, and the FastAPI and Starlette middleware guides.</a:t>
            </a:r>
            <a:endParaRPr/>
          </a:p>
        </p:txBody>
      </p:sp>
      <p:sp>
        <p:nvSpPr>
          <p:cNvPr id="2171" name="Google Shape;2171;g3e54367aadf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4367aadf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4367aadf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is FastAPI + httpx, but the patterns are language-neutral.</a:t>
            </a:r>
            <a:endParaRPr/>
          </a:p>
        </p:txBody>
      </p:sp>
      <p:sp>
        <p:nvSpPr>
          <p:cNvPr id="2181" name="Google Shape;2181;g3e54367aadf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4367aadf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4367aadf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and that's when these patterns earn their keep.</a:t>
            </a:r>
            <a:endParaRPr/>
          </a:p>
        </p:txBody>
      </p:sp>
      <p:sp>
        <p:nvSpPr>
          <p:cNvPr id="2191" name="Google Shape;2191;g3e54367aadf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4367aadf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4367aadf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Python, this is import-linter or modulegraph rules in CI that fail the build if Orders.internals is imported outside the orders package; in larger codebases you might split into separate sub-packages or even separate distributions with pyproject.toml dependencies. Modules can share a database, but each owns a schema and no cross-schema joins are allowed (also enforced in CI by query analysis or just convention). Why this is often the destination: you get most of the benefits of microservices (clear boundaries, replaceable modules, independent reasoning) at a fraction of the operational cost (one deployment, one log stream, one debugger session). If you need to split later for different scaling profiles, teams or release cadences, you have a small refactor, not a rewrite. The cost of being wrong about decomposition is also much lower: rename the public API, move the file, ship.</a:t>
            </a:r>
            <a:endParaRPr/>
          </a:p>
        </p:txBody>
      </p:sp>
      <p:sp>
        <p:nvSpPr>
          <p:cNvPr id="2202" name="Google Shape;2202;g3e54367aadf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4367aadf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4367aadf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schema dependencies, cross-table joins, and reporting queries all create coupling that stays invisible until you try to move data. The insight of this pattern: do that work while you're still one process. Each module gets its own Postgres / Mongo / whatever, its own connection pool, its own migration history. Cross-module data is now async or event-driven: you replace a JOIN with a service call or an event subscription. Same discipline microservices require, but with one operational target instead of N. Once this is done, promoting a module to a separate service is a refactor of the deployment topology, not a data-migration project. (Many teams discover at this point that they don't need separate services: the modular monolith with decomposed data is enough.) Practical tip: start with the highest-coupling module first; the second hardest is the database that the reporting layer joins across, so do that one early.</a:t>
            </a:r>
            <a:endParaRPr/>
          </a:p>
        </p:txBody>
      </p:sp>
      <p:sp>
        <p:nvSpPr>
          <p:cNvPr id="2213" name="Google Shape;2213;g3e54367aadf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4367aadf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4367aadf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and the vine stands on its own. The three steps are the unit of work you repeat. Identify: pick a bounded asset: not 'the orders subsystem,' but 'order creation' or 'order status query' specifically. The smaller and more bounded, the safer the move. Move: build the new service alongside the monolith, replicate the behaviour, test it in parallel without production traffic. REDIRECT: switch callers to the new service. Each cycle is independently reversible: if the new service is wrong, redirect back and try again. There are three ways to do the redirect: via a proxy, via a proxy plus partial routing, or via a shared database. The proxy is the foundation for the rest; almost everything starts with that step.</a:t>
            </a:r>
            <a:endParaRPr/>
          </a:p>
        </p:txBody>
      </p:sp>
      <p:sp>
        <p:nvSpPr>
          <p:cNvPr id="2224" name="Google Shape;2224;g3e54367aadf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4367aadf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4367aadf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the proxy is where you'll later route 1% of /orders/* traffic to the extracted service, then 5%, then 100%. Without this step, every cutover requires coordinated client releases. With it, every cutover is a proxy config change. As a bonus, the proxy is also the right place for TLS termination, auth, rate-limiting, and observability: things you wanted regardless. For Python shops this is typically nginx or Envoy as a Kubernetes Service ahead of the app Pods; you could also use Traefik or HAProxy. The strangler-fig literature calls this an 'event interception': you intercept the request before it gets to the legacy system, giving yourself a place to redirect later.</a:t>
            </a:r>
            <a:endParaRPr/>
          </a:p>
        </p:txBody>
      </p:sp>
      <p:sp>
        <p:nvSpPr>
          <p:cNvPr id="2235" name="Google Shape;2235;g3e54367aadf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4367aadf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4367aadf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does the routing work: by path (/orders/* → new service), by header (X-Tenant: acme → new service), by percentage (1% of all traffic → new service), or by feature flag (users in the beta group → new service). The new service handles its slice; the monolith handles everything else. Clients still see one URL, one auth boundary, one TLS cert. Roll forward by widening the new-service route in the proxy config; roll back by narrowing it. The new service can fail completely and the monolith picks up: the bounded blast radius is the entire point of this pattern. Production observability matters here: instrument both paths so you can verify the new service is producing the same outcomes as the monolith before you widen the route. For Python deployments this is typically encoded in nginx server blocks, Envoy route configs, or Istio VirtualService rules: same patterns, used for migration instead of canary release.</a:t>
            </a:r>
            <a:endParaRPr/>
          </a:p>
        </p:txBody>
      </p:sp>
      <p:sp>
        <p:nvSpPr>
          <p:cNvPr id="2246" name="Google Shape;2246;g3e54367aadf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4367aadf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4367aadf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you let the new service and the monolith share the database for a while. Both apps read and write the same tables; the new service owns the API but not the data. This pattern is useful for two cases: extracting reads first (the new service is a read replica with a nicer API), and as a stepping stone when the data migration is a separate project. But this is not a destination: every schema change now needs both apps to agree, and schema migrations become a coordination tax that grows with every team that owns part of the same database. The bold red caption is the rule: this is a transition state. The next step is to give the new service its own store, which means CDC out of the monolith's DB into the new service's DB, or dual-writing during a brief sync window, or event-sourcing the data into the new service.</a:t>
            </a:r>
            <a:endParaRPr/>
          </a:p>
        </p:txBody>
      </p:sp>
      <p:sp>
        <p:nvSpPr>
          <p:cNvPr id="2257" name="Google Shape;2257;g3e54367aadf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4367aadf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4367aadf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middleware shape. Reading the body costs CPU on every routed request (and you must be careful: once consumed, you must hand the bytes through to the upstream). The decision is by payload content: tenant, region, feature flag, user segment: not by URL pattern (the URL is the same). This makes the pattern more flexible than path-based proxying: you can roll out the new service to one tenant at a time, see how it behaves under real traffic, then widen. The httpx.AsyncClient is reused across requests so the connection pool is warm. For Python applications running behind a real proxy (nginx, Envoy, Istio), you'd express the same logic in Lua / WASM filters or an EnvoyFilter; the FastAPI middleware version shows the conceptual shape. The CPU cost is the only real downside: if your migration window is months, that body parse adds up; if it's days, the cost is irrelevant compared to the migration risk it controls.</a:t>
            </a:r>
            <a:endParaRPr/>
          </a:p>
        </p:txBody>
      </p:sp>
      <p:sp>
        <p:nvSpPr>
          <p:cNvPr id="2268" name="Google Shape;2268;g3e54367aadf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4367aadf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4367aadf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shape from the proxy patterns: the decorator owns behaviour, not just routing. The new service sits in front of the legacy API and adds cross-cutting capability: caching, audit, validation, enrichment, fan-out to Kafka, rate-limiting, metrics. The legacy service is unaware it has been wrapped. Clients now talk to the decorator's API, which delegates to the legacy service for the underlying work but contributes everything else. Over time, the decorator can take ownership of more behaviour: once the decorator owns enough, the legacy service can be replaced without clients noticing. This is particularly useful when the legacy system is a 3rd-party product, a vendor system, or a piece of code so fragile that touching it is forbidden. The decorator is a real microservice (with its own data, its own deploy, its own scaling): not just a router. Common Python implementations: a FastAPI app that proxies to a SOAP or legacy REST service while emitting Kafka events and caching responses.</a:t>
            </a:r>
            <a:endParaRPr/>
          </a:p>
        </p:txBody>
      </p:sp>
      <p:sp>
        <p:nvSpPr>
          <p:cNvPr id="2281" name="Google Shape;2281;g3e54367aadf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4367aadf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4367aadf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Tight, complete. The decorator is a real FastAPI app. The GET path adds a Redis cache with a 60-second TTL: a capability the legacy service didn't have. The POST path delegates the actual write to the legacy service (it's still the source of truth), then emits a Kafka event so downstream systems can subscribe to the new event stream, then invalidates the cache. The legacy service has no idea it's been wrapped; clients have no idea they're talking to a decorator. Over time you can move more behaviour into the decorator: validation rules, idempotency keys, dedup, multi-source reads. When you're ready to retire the legacy service, you implement the order storage inside the decorator (or in a clean new service it calls) and stop forwarding: the API stays the same for clients. This is also the right shape for adding capabilities your vendor can't provide, such as PII redaction, retention policies or multi-region failover, to a system you can't modify. The cost is one extra hop in the request path; the benefit is owning behaviour you couldn't own before.</a:t>
            </a:r>
            <a:endParaRPr/>
          </a:p>
        </p:txBody>
      </p:sp>
      <p:sp>
        <p:nvSpPr>
          <p:cNvPr id="2292" name="Google Shape;2292;g3e54367aadf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4367aadf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4367aadf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do it early, while still one process, when it's cheaper to redo if you got the boundaries wrong. The third point is the platform discipline: no proxy, no incremental migration; every cutover is a coordinated client release; every rollback is the same. The fourth point is the schedule discipline: shared-database strangler is OK as a means but never as an end: if you don't plan its dissolution, it becomes the new monolith. The fifth and sixth are about choosing the right pattern: content-based routing for fine-grained progress, decorator for capability addition.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4367aadf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4367aadf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4367aadf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then six patterns to do it well. The patterns differ in who reads/writes the cache, when, and who owns the consistency story. We use Redis as the canonical cache because it's the default open-source choice on Kubernetes: same patterns apply to in-memory caches, Memcached, or any KV store. CDN and HTTP-layer caching is mentioned in passing but isn't this appendix's focus.</a:t>
            </a:r>
            <a:endParaRPr/>
          </a:p>
        </p:txBody>
      </p:sp>
      <p:sp>
        <p:nvSpPr>
          <p:cNvPr id="2315" name="Google Shape;2315;g3e54367aadf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4367aadf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4367aadf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the user-facing speedup is the visible win. Backend load matters more in steady state: shielding the database is what lets your DB tier stay smaller and cheaper than your app tier. Throughput follows from both: the same Pods serve more requests when they're not blocked on I/O. Predictable performance is the operational win that is hard to measure but real: a cache layer flattens p99 because most requests don't contend for DB locks. Database cost is the financial win that often pays for the entire caching infrastructure. The sub-bullet at the end is what trips teams up: every cache adds complexity. This appendix covers the six standard patterns; pick the one that matches the consistency story you need, not the one that sounds best.</a:t>
            </a:r>
            <a:endParaRPr/>
          </a:p>
        </p:txBody>
      </p:sp>
      <p:sp>
        <p:nvSpPr>
          <p:cNvPr id="2325" name="Google Shape;2325;g3e54367aadf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4367aadf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4367aadf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application is in charge: try the cache first, on a miss read the database, populate the cache on the way back, return the value. Every other pattern in this appendix differs from this one in who does the work: cache-aside is the baseline where the app does it all. Pros: explicit, debuggable, no magic. The cache is just a key-value store; the app decides what to cache and when. Cons: every read has the if/else; cache miss costs two round trips (cache check + DB read); cache logic is repeated across services if you don't extract it. The TTL is the consistency knob: longer = fewer DB hits, more stale-read risk. Use this when you want explicit control and your reads dominate writes. The cache-aside code is two functions; the discipline is to remember to invalidate on writes (covered in write-through and write-around).</a:t>
            </a:r>
            <a:endParaRPr/>
          </a:p>
        </p:txBody>
      </p:sp>
      <p:sp>
        <p:nvSpPr>
          <p:cNvPr id="2335" name="Google Shape;2335;g3e54367aadf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4367aadf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4367aadf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minimal cache-aside implementation. Three things to point out. First, the connection pool: redis.asyncio.Redis from_url returns a pool by default, so concurrent requests share connections: don't create a Redis client per request. Second, the key shape: 'product:{pid}' is a namespace convention; common practice is 'entity:type:id' so you can SCAN and delete by pattern when you need to mass-invalidate. Third, the invalidate-on-write step (step 4): if you don't invalidate, the cache will serve stale data for the full TTL. Choose: invalidate (this code) or set the new value directly (write-through). For cache failures, wrap the cache.get() in a try/except so a Redis outage doesn't take down your reads: fall back to the DB and log. For high-cardinality keys, set a maxmemory policy on Redis (allkeys-lru typical) so the cache doesn't grow unbounded.</a:t>
            </a:r>
            <a:endParaRPr/>
          </a:p>
        </p:txBody>
      </p:sp>
      <p:sp>
        <p:nvSpPr>
          <p:cNvPr id="2346" name="Google Shape;2346;g3e54367aadf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4367aadf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4367aadf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library, not the application, calls the database on a miss. The app calls cache.get() and gets the value back: doesn't know or care whether the cache had it or had to fetch. Implementation requires a cache library that supports loaders (typically a callback you register at cache creation time). Pros: cleaner application code, single read interface. Cons: less control over what triggers a DB hit; the cache library must be told how to read the underlying source. For Python with Redis specifically, you don't get this out of the box from the redis client: you wrap it. Higher-level libraries like aiocache or cachetools support read-through patterns natively, or you write a thin loader wrapper. Use this pattern when read paths are repetitive across the codebase and you want to eliminate the if/else from every caller.</a:t>
            </a:r>
            <a:endParaRPr/>
          </a:p>
        </p:txBody>
      </p:sp>
      <p:sp>
        <p:nvSpPr>
          <p:cNvPr id="2359" name="Google Shape;2359;g3e54367aadf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367aadf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367aadf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wrapper is small but the discipline is significant. Callers can't accidentally bypass the cache or forget to populate it: they call products.get(pid) and get the right behaviour. Different entity types get different ReadThrough instances with different loaders and TTLs. For libraries that give you this out of the box: aiocache supports cached() decorators that work this way, and cachetools.func has TTL-based wrappers (though without async support natively). The trade vs cache-aside: you trade a few lines of if/else per caller for a wrapper layer that callers must use. In a large codebase that's worth it; in a small one it's overengineering. Note: a loader-style cache makes thundering-herd protection easier: add a Redis lock in the loader so only one caller does the DB fetch when many callers miss the same key at once (the 'cache stampede' problem).</a:t>
            </a:r>
            <a:endParaRPr/>
          </a:p>
        </p:txBody>
      </p:sp>
      <p:sp>
        <p:nvSpPr>
          <p:cNvPr id="2370" name="Google Shape;2370;g3e54367aadf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4367aadf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4367aadf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atomically (or as close to atomically as you can manage). The application calls cache.set(...) and db.update(...)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there's no two-phase commit in this world. The usual discipline: write the DB first, write the cache second, accept that a failure between them means the cache may briefly hold the new value while the DB doesn't (or vice versa, depending on your order). Pair with a short TTL so any inconsistency self-heals.</a:t>
            </a:r>
            <a:endParaRPr/>
          </a:p>
        </p:txBody>
      </p:sp>
      <p:sp>
        <p:nvSpPr>
          <p:cNvPr id="2383" name="Google Shape;2383;g3e54367aadf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4367aadf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4367aadf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flavours of write-through. The first reads back the row from the DB after update and caches that row: the canonical value, including any server-side defaults, triggers, or computed columns. The second writes the request body directly to the cache, which is faster (one less DB round trip) but the cached value may diverge from the DB if the DB applies server-side modifications you didn't replicate. Pick by your DB schema's complexity. Either way, the DB write goes first because the DB is the source of truth: if the cache write fails, you've lost cache freshness but not data. If the DB write fails, you return an error and don't touch the cache. The TTL is your safety net: even if cache and DB diverge briefly, they'll re-converge when the cache entry expires and the next read re-populates from the DB.</a:t>
            </a:r>
            <a:endParaRPr/>
          </a:p>
        </p:txBody>
      </p:sp>
      <p:sp>
        <p:nvSpPr>
          <p:cNvPr id="2394" name="Google Shape;2394;g3e54367aadf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4367aadf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4367aadf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the cache holds only what is being read. Cons: the first read after every write is slow (cache miss); reads of recently-written data are slower than under cache-aside. Pair with cache-aside or read-through on the read side. Common use: any 'append-only' or 'mostly-written' workload: events, log lines, audit entries, IoT telemetry where you read summaries, not individual entries.</a:t>
            </a:r>
            <a:endParaRPr/>
          </a:p>
        </p:txBody>
      </p:sp>
      <p:sp>
        <p:nvSpPr>
          <p:cNvPr id="2407" name="Google Shape;2407;g3e54367aadf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4367aadf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4367aadf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 variants and the standard cache-aside read for context. The pure write-around just inserts to the DB: the cache isn't touched at all. The defensive variant deletes any sibling entry in case some concurrent process populated the cache between the start of the write and its completion: cheap insurance for high-contention paths. The read side is plain cache-aside. The pattern shines for workloads where the write-to-re-read ratio is high: a security event log might see 10,000 writes a minute and 100 reads a day for active alerts: caching every write would just churn entries. Compare to a product catalog where every read is a probable cache hit: there, write-through makes more sense because you do want the writer's update to appear immediately in subsequent reads.</a:t>
            </a:r>
            <a:endParaRPr/>
          </a:p>
        </p:txBody>
      </p:sp>
      <p:sp>
        <p:nvSpPr>
          <p:cNvPr id="2418" name="Google Shape;2418;g3e54367aadf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4367aadf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4367aadf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client writes to the cache and gets an immediate ack: the cache is the source of truth for that window. A background process drains the cache to the DB, batching writes for efficiency. Pros: write latency equals cache latency: microseconds, not milliseconds; massive throughput on write-heavy workloads. Cons: a cache crash before the flusher catches up loses unflushed writes; the cache must be configured for persistence (Redis AOF or RDB snapshots), and even then you might lose seconds of data. Reads from outside the cache (analytics, BI) lag by the flush interval. Use this pattern only when (a) write throughput is the constraint, (b) eventual durability is acceptable, and (c) you've worked out what 'lost the last 5 seconds of writes' means for your business. Common: real-time gaming state, IoT telemetry with a downstream aggregator, write-heavy buffering before a slower backing store.</a:t>
            </a:r>
            <a:endParaRPr/>
          </a:p>
        </p:txBody>
      </p:sp>
      <p:sp>
        <p:nvSpPr>
          <p:cNvPr id="2431" name="Google Shape;2431;g3e54367aadf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4367aadf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4367aadf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Write-back has more moving parts than the other patterns; the slide shows the shape of Example 25. (1) PUT /write-back/metrics/{mid} writes the metric to a Redis hash, adds the id to a 'dirty set', which tells the flusher which ids still have to reach the database, and answers 202 Accepted: the value is queued, not yet durable. (2) The flusher runs as a background asyncio task: it SPOPs up to FLUSH_BATCH dirty ids and writes them in one executemany upsert (ON CONFLICT (id) DO UPDATE), so an id flushed twice stays one row. SPOP is atomic, so two flusher instances each get a distinct subset of ids and the flusher scales out. (3) When the flush fails, each id's count in the metric:attempts hash goes up and the id goes back on the dirty set; after five attempts it moves to metric:failed with its value still in the cache and the failure in the log, so an outage never loses a write without a trace. The sleep between cycles doubles after each failed flush, from one second to at most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42" name="Google Shape;2442;g3e54367aadf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4367aadf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4367aadf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before expiry; you need a way to identify which keys are hot. Use this when miss latency matters more than DB throughput on the affected keys.</a:t>
            </a:r>
            <a:endParaRPr/>
          </a:p>
        </p:txBody>
      </p:sp>
      <p:sp>
        <p:nvSpPr>
          <p:cNvPr id="2455" name="Google Shape;2455;g3e54367aadf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4367aadf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4367aadf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implementation uses a Redis sorted set (ZADD) to track which keys are 'hot': scored by the last-access timestamp. The background refresher periodically checks each hot key's TTL; when it falls under REFRESH_BEFORE_S, the refresher re-reads the DB and re-populates the cache before the user-facing path would see a miss. Keys not accessed in the last 5 minutes are removed from the hot set (so we don't refresh products no one is asking for). Two tuning knobs: REFRESH_BEFORE_S (how early to refresh; longer = more safety, more DB load) and the hot-key window (how recent counts as hot). Variants: instead of tracking hot keys explicitly, you can use Redis's keyspace notifications to subscribe to TTL-expiry events and refresh reactively: cleaner but more setup. This pattern shines for read-heavy workloads where a small set of keys serves most traffic (the 80/20 product page, the top tweets, the trending articles) and miss latency is user-visible. For low-skew read patterns where every key is equally likely, refresh-ahead is wasted effort.</a:t>
            </a:r>
            <a:endParaRPr/>
          </a:p>
        </p:txBody>
      </p:sp>
      <p:sp>
        <p:nvSpPr>
          <p:cNvPr id="2466" name="Google Shape;2466;g3e54367aadf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4367aadf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4367aadf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stated as a rule: profile first. The third is operational: an unbounded Redis with no eviction policy will OOM-kill itself; allkeys-lru is the typical default. The fourth is the cache stampede problem: hot key expires → 100 concurrent readers all miss → 100 simultaneous DB reads → DB tips over. Mitigations: distributed lock per key (only one fetches, the rest wait); refresh-ahead; TTL jitter (add random ms to TTL so similar keys don't expire together). The fifth is the most common stale-data bug in production.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4367aadf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4367aadf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4367aadf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is the default and the right pattern for most reads. Read-through is the same semantics with cleaner code if you have a wrapper library.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4367aadf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367aadf_0_2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367aadf_0_2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observability, security bulkheads, and graceful shutdown; it is the place where those threads are tied together. If this runs long in your session, it stands alone and can be presented on its own.</a:t>
            </a:r>
            <a:endParaRPr/>
          </a:p>
        </p:txBody>
      </p:sp>
      <p:sp>
        <p:nvSpPr>
          <p:cNvPr id="2499" name="Google Shape;2499;g3e54367aadf_0_2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367aadf_0_2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367aadf_0_2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367aadf_0_2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367aadf_0_22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367aadf_0_22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timeouts and deadlines, retry with backoff and jitter, circuit breakers, bulkheads, load shedding, fallback/degradation, quorum/consensus, Istio mesh policies, graceful shutdown, and observability. Every pattern addresses specific failure modes; the closing matrix maps which to which. Reconnect to the opening maxim: all management is risk management: you manage the distribution of failures, not their existence.</a:t>
            </a:r>
            <a:endParaRPr/>
          </a:p>
        </p:txBody>
      </p:sp>
      <p:sp>
        <p:nvSpPr>
          <p:cNvPr id="2519" name="Google Shape;2519;g3e54367aadf_0_22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367aadf_0_22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367aadf_0_22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367aadf_0_22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367aadf_0_22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367aadf_0_22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367aadf_0_22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367aadf_0_22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367aadf_0_22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367aadf_0_22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367aadf_0_2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367aadf_0_2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observability.</a:t>
            </a:r>
            <a:endParaRPr/>
          </a:p>
        </p:txBody>
      </p:sp>
      <p:sp>
        <p:nvSpPr>
          <p:cNvPr id="2563" name="Google Shape;2563;g3e54367aadf_0_2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367aadf_0_23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367aadf_0_23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367aadf_0_23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367aadf_0_23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367aadf_0_23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were invented for.</a:t>
            </a:r>
            <a:endParaRPr/>
          </a:p>
        </p:txBody>
      </p:sp>
      <p:sp>
        <p:nvSpPr>
          <p:cNvPr id="2585" name="Google Shape;2585;g3e54367aadf_0_23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367aadf_0_23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367aadf_0_23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367aadf_0_23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367aadf_0_23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367aadf_0_23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367aadf_0_23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367aadf_0_23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367aadf_0_23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from examples/26. httpx has no default timeout, so the one AsyncClient the service opens in its lifespan sets 2 seconds for every call and half a second to connect. The deadline endpoint subtracts the edge's overhead from the caller's budget, refuses at once when too little remains, and otherwise overrides the timeout for this one call with the remaining budget and sends the same number in the X-Deadline-Ms header, so the backend can refuse work it cannot finish.</a:t>
            </a:r>
            <a:endParaRPr/>
          </a:p>
        </p:txBody>
      </p:sp>
      <p:sp>
        <p:nvSpPr>
          <p:cNvPr id="2617" name="Google Shape;2617;g3e54367aadf_0_23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367aadf_0_2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367aadf_0_2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367aadf_0_2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367aadf_0_23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367aadf_0_23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tenacity's AsyncRetrying works as an async for loop around the call, so the attempt number is available inside it. raise_for_status turns a 5xx into HTTPStatusError, which is retried along with transport errors; three attempts in all, with exponentially growing waits from 100 ms to 2 seconds plus jitter, and reraise hands the last real error back once the attempts run out. Retry only idempotent calls, and pair the retry with a circuit breaker.</a:t>
            </a:r>
            <a:endParaRPr/>
          </a:p>
        </p:txBody>
      </p:sp>
      <p:sp>
        <p:nvSpPr>
          <p:cNvPr id="2640" name="Google Shape;2640;g3e54367aadf_0_23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367aadf_0_23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367aadf_0_23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367aadf_0_23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367aadf_0_2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367aadf_0_2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pybreaker counts consecutive failures: five open the breaker for ten seconds, and two successful trial calls in half-open close it. Its calling() context manager checks the state on entry and records the outcome on exit, so it works around an awaited httpx call; an open breaker raises CircuitBreakerError before the backend is touched. throw_new_error_on_trip=False keeps the real cause on the call that trips it, so the fallback reason stays accurate. One breaker per dependency.</a:t>
            </a:r>
            <a:endParaRPr/>
          </a:p>
        </p:txBody>
      </p:sp>
      <p:sp>
        <p:nvSpPr>
          <p:cNvPr id="2663" name="Google Shape;2663;g3e54367aadf_0_2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367aadf_0_24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367aadf_0_24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earlier as a security pattern, so here we just re-frame it in the failure-mode context and cross-reference. The key insight to land: a bulkhead bounds concurrency, but concurrency-bounding alone doesn't help if the bounded calls block forever: you must combine bulkhead (limit how many) with timeout (limit how long). The per-language code is not repeated here to save slides; the Istio slide covers mesh-level bulkheading via connectionPool limits.</a:t>
            </a:r>
            <a:endParaRPr/>
          </a:p>
        </p:txBody>
      </p:sp>
      <p:sp>
        <p:nvSpPr>
          <p:cNvPr id="2675" name="Google Shape;2675;g3e54367aadf_0_24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367aadf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367aadf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367aadf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367aadf_0_24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367aadf_0_24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typically: timeouts and outlier detection at the mesh, business-aware retries and fallbacks in the app.</a:t>
            </a:r>
            <a:endParaRPr/>
          </a:p>
        </p:txBody>
      </p:sp>
      <p:sp>
        <p:nvSpPr>
          <p:cNvPr id="2695" name="Google Shape;2695;g3e54367aadf_0_24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367aadf_0_2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367aadf_0_2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shutdown sequence that prevents dropped requests during a rolling deploy, from Example 21. One SIGTERM starts it: (1) the handler flips a flag so /readyz returns 503 and Kubernetes stops sending new traffic, while /healthz stays 200; (2) the service keeps serving for DRAIN_DELAY_SECONDS so the load balancer's removal propagates; (3) the handler then hands over to uvicorn, which stops accepting and finishes in-flight requests within --timeout-graceful-shutdown; (4) the lifespan exit closes the pools and the process exits 0. The ordering matters: stop taking new work before draining existing work. This is the application half; the Kubernetes half (preStop hook, terminationGracePeriodSeconds) is its counterpart. Together they give zero-downtime rollouts.</a:t>
            </a:r>
            <a:endParaRPr/>
          </a:p>
        </p:txBody>
      </p:sp>
      <p:sp>
        <p:nvSpPr>
          <p:cNvPr id="2706" name="Google Shape;2706;g3e54367aadf_0_2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367aadf_0_2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367aadf_0_2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observability.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applied to incident response.</a:t>
            </a:r>
            <a:endParaRPr/>
          </a:p>
        </p:txBody>
      </p:sp>
      <p:sp>
        <p:nvSpPr>
          <p:cNvPr id="2718" name="Google Shape;2718;g3e54367aadf_0_2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367aadf_0_2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367aadf_0_2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367aadf_0_2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367aadf_0_24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367aadf_0_24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367aadf_0_24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Python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Python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That's the Python edition end to end. Take it with you: on the left, the site, the cloud-native design patterns with runnable examples; on the right, the Workshops and Tutorials hub, every workshop, tutorial, and deck in the series in one place. Both are public on the Pattern Catalyst GitHub organization.</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49.png"/><Relationship Id="rId4"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3.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4" Type="http://schemas.openxmlformats.org/officeDocument/2006/relationships/image" Target="../media/image11.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3.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1.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60.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3.png"/><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5.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43.png"/><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1.png"/><Relationship Id="rId5"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1.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4.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43.pn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3.png"/><Relationship Id="rId4" Type="http://schemas.openxmlformats.org/officeDocument/2006/relationships/image" Target="../media/image1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1.png"/><Relationship Id="rId5"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1.png"/><Relationship Id="rId5"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71.png"/><Relationship Id="rId4"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43.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4" Type="http://schemas.openxmlformats.org/officeDocument/2006/relationships/image" Target="../media/image11.png"/><Relationship Id="rId5"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5.png"/><Relationship Id="rId4" Type="http://schemas.openxmlformats.org/officeDocument/2006/relationships/image" Target="../media/image1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43.png"/><Relationship Id="rId4" Type="http://schemas.openxmlformats.org/officeDocument/2006/relationships/image" Target="../media/image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70.png"/><Relationship Id="rId4" Type="http://schemas.openxmlformats.org/officeDocument/2006/relationships/image" Target="../media/image1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68.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43.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84.png"/><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43.png"/><Relationship Id="rId4" Type="http://schemas.openxmlformats.org/officeDocument/2006/relationships/image" Target="../media/image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9.png"/><Relationship Id="rId4" Type="http://schemas.openxmlformats.org/officeDocument/2006/relationships/image" Target="../media/image1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43.png"/><Relationship Id="rId4" Type="http://schemas.openxmlformats.org/officeDocument/2006/relationships/image" Target="../media/image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81.png"/><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43.png"/><Relationship Id="rId4" Type="http://schemas.openxmlformats.org/officeDocument/2006/relationships/image" Target="../media/image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96.pn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90.png"/><Relationship Id="rId4" Type="http://schemas.openxmlformats.org/officeDocument/2006/relationships/image" Target="../media/image1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3.png"/><Relationship Id="rId4" Type="http://schemas.openxmlformats.org/officeDocument/2006/relationships/image" Target="../media/image1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6.png"/><Relationship Id="rId4" Type="http://schemas.openxmlformats.org/officeDocument/2006/relationships/image" Target="../media/image1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8.png"/><Relationship Id="rId4" Type="http://schemas.openxmlformats.org/officeDocument/2006/relationships/image" Target="../media/image1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43.png"/><Relationship Id="rId4" Type="http://schemas.openxmlformats.org/officeDocument/2006/relationships/image" Target="../media/image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2.png"/><Relationship Id="rId4" Type="http://schemas.openxmlformats.org/officeDocument/2006/relationships/image" Target="../media/image1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1.png"/><Relationship Id="rId5" Type="http://schemas.openxmlformats.org/officeDocument/2006/relationships/image" Target="../media/image1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1.png"/><Relationship Id="rId5"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18.png"/><Relationship Id="rId4" Type="http://schemas.openxmlformats.org/officeDocument/2006/relationships/image" Target="../media/image1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4.png"/><Relationship Id="rId4" Type="http://schemas.openxmlformats.org/officeDocument/2006/relationships/image" Target="../media/image1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6.png"/><Relationship Id="rId4"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43.png"/><Relationship Id="rId4" Type="http://schemas.openxmlformats.org/officeDocument/2006/relationships/image" Target="../media/image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1.png"/><Relationship Id="rId5" Type="http://schemas.openxmlformats.org/officeDocument/2006/relationships/image" Target="../media/image8.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43.png"/><Relationship Id="rId4"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43.png"/><Relationship Id="rId4" Type="http://schemas.openxmlformats.org/officeDocument/2006/relationships/image" Target="../media/image9.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42.png"/><Relationship Id="rId4" Type="http://schemas.openxmlformats.org/officeDocument/2006/relationships/image" Target="../media/image1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46.png"/><Relationship Id="rId4" Type="http://schemas.openxmlformats.org/officeDocument/2006/relationships/image" Target="../media/image1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61.png"/><Relationship Id="rId4" Type="http://schemas.openxmlformats.org/officeDocument/2006/relationships/image" Target="../media/image1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43.png"/><Relationship Id="rId4" Type="http://schemas.openxmlformats.org/officeDocument/2006/relationships/image" Target="../media/image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52.png"/><Relationship Id="rId4" Type="http://schemas.openxmlformats.org/officeDocument/2006/relationships/image" Target="../media/image1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58.png"/><Relationship Id="rId4" Type="http://schemas.openxmlformats.org/officeDocument/2006/relationships/image" Target="../media/image1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59.png"/><Relationship Id="rId4" Type="http://schemas.openxmlformats.org/officeDocument/2006/relationships/image" Target="../media/image1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43.png"/><Relationship Id="rId4" Type="http://schemas.openxmlformats.org/officeDocument/2006/relationships/image" Target="../media/image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68.png"/><Relationship Id="rId4" Type="http://schemas.openxmlformats.org/officeDocument/2006/relationships/image" Target="../media/image1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78.png"/><Relationship Id="rId4" Type="http://schemas.openxmlformats.org/officeDocument/2006/relationships/image" Target="../media/image1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5.png"/><Relationship Id="rId4" Type="http://schemas.openxmlformats.org/officeDocument/2006/relationships/image" Target="../media/image1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43.png"/><Relationship Id="rId4" Type="http://schemas.openxmlformats.org/officeDocument/2006/relationships/image" Target="../media/image9.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5.png"/><Relationship Id="rId4" Type="http://schemas.openxmlformats.org/officeDocument/2006/relationships/image" Target="../media/image1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79.png"/><Relationship Id="rId4" Type="http://schemas.openxmlformats.org/officeDocument/2006/relationships/image" Target="../media/image1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184.png"/><Relationship Id="rId4" Type="http://schemas.openxmlformats.org/officeDocument/2006/relationships/image" Target="../media/image1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43.png"/><Relationship Id="rId4" Type="http://schemas.openxmlformats.org/officeDocument/2006/relationships/image" Target="../media/image9.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89.png"/><Relationship Id="rId4" Type="http://schemas.openxmlformats.org/officeDocument/2006/relationships/image" Target="../media/image1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90.png"/><Relationship Id="rId4" Type="http://schemas.openxmlformats.org/officeDocument/2006/relationships/image" Target="../media/image1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3.png"/><Relationship Id="rId4" Type="http://schemas.openxmlformats.org/officeDocument/2006/relationships/image" Target="../media/image1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6.png"/><Relationship Id="rId4" Type="http://schemas.openxmlformats.org/officeDocument/2006/relationships/image" Target="../media/image1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2.png"/><Relationship Id="rId4" Type="http://schemas.openxmlformats.org/officeDocument/2006/relationships/image" Target="../media/image1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5.png"/><Relationship Id="rId4" Type="http://schemas.openxmlformats.org/officeDocument/2006/relationships/image" Target="../media/image1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43.png"/><Relationship Id="rId4" Type="http://schemas.openxmlformats.org/officeDocument/2006/relationships/image" Target="../media/image9.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0.png"/><Relationship Id="rId4" Type="http://schemas.openxmlformats.org/officeDocument/2006/relationships/image" Target="../media/image1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13.png"/><Relationship Id="rId4" Type="http://schemas.openxmlformats.org/officeDocument/2006/relationships/image" Target="../media/image1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5.png"/><Relationship Id="rId4" Type="http://schemas.openxmlformats.org/officeDocument/2006/relationships/image" Target="../media/image1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43.png"/><Relationship Id="rId4" Type="http://schemas.openxmlformats.org/officeDocument/2006/relationships/image" Target="../media/image9.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24.png"/><Relationship Id="rId4" Type="http://schemas.openxmlformats.org/officeDocument/2006/relationships/image" Target="../media/image1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6.png"/><Relationship Id="rId4" Type="http://schemas.openxmlformats.org/officeDocument/2006/relationships/image" Target="../media/image1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1.png"/><Relationship Id="rId5" Type="http://schemas.openxmlformats.org/officeDocument/2006/relationships/image" Target="../media/image2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43.png"/><Relationship Id="rId4" Type="http://schemas.openxmlformats.org/officeDocument/2006/relationships/image" Target="../media/image9.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39.png"/><Relationship Id="rId4" Type="http://schemas.openxmlformats.org/officeDocument/2006/relationships/image" Target="../media/image1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3.png"/><Relationship Id="rId4" Type="http://schemas.openxmlformats.org/officeDocument/2006/relationships/image" Target="../media/image9.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51.png"/><Relationship Id="rId4" Type="http://schemas.openxmlformats.org/officeDocument/2006/relationships/image" Target="../media/image1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1.png"/><Relationship Id="rId5" Type="http://schemas.openxmlformats.org/officeDocument/2006/relationships/image" Target="../media/image20.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1.png"/><Relationship Id="rId5" Type="http://schemas.openxmlformats.org/officeDocument/2006/relationships/image" Target="../media/image10.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4.png"/><Relationship Id="rId4" Type="http://schemas.openxmlformats.org/officeDocument/2006/relationships/image" Target="../media/image1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1.png"/><Relationship Id="rId4" Type="http://schemas.openxmlformats.org/officeDocument/2006/relationships/image" Target="../media/image1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278.png"/><Relationship Id="rId4" Type="http://schemas.openxmlformats.org/officeDocument/2006/relationships/image" Target="../media/image1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8.png"/><Relationship Id="rId4" Type="http://schemas.openxmlformats.org/officeDocument/2006/relationships/image" Target="../media/image1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1.png"/><Relationship Id="rId5" Type="http://schemas.openxmlformats.org/officeDocument/2006/relationships/image" Target="../media/image13.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3.png"/><Relationship Id="rId4" Type="http://schemas.openxmlformats.org/officeDocument/2006/relationships/image" Target="../media/image9.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2.png"/><Relationship Id="rId4" Type="http://schemas.openxmlformats.org/officeDocument/2006/relationships/image" Target="../media/image1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3.png"/><Relationship Id="rId4" Type="http://schemas.openxmlformats.org/officeDocument/2006/relationships/image" Target="../media/image1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295.png"/><Relationship Id="rId4" Type="http://schemas.openxmlformats.org/officeDocument/2006/relationships/image" Target="../media/image1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97.png"/><Relationship Id="rId4" Type="http://schemas.openxmlformats.org/officeDocument/2006/relationships/image" Target="../media/image1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2.png"/><Relationship Id="rId4" Type="http://schemas.openxmlformats.org/officeDocument/2006/relationships/image" Target="../media/image1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11.png"/><Relationship Id="rId4" Type="http://schemas.openxmlformats.org/officeDocument/2006/relationships/image" Target="../media/image1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1.png"/><Relationship Id="rId5" Type="http://schemas.openxmlformats.org/officeDocument/2006/relationships/image" Target="../media/image15.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4.png"/><Relationship Id="rId4" Type="http://schemas.openxmlformats.org/officeDocument/2006/relationships/image" Target="../media/image1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43.png"/><Relationship Id="rId4" Type="http://schemas.openxmlformats.org/officeDocument/2006/relationships/image" Target="../media/image9.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4.png"/><Relationship Id="rId4" Type="http://schemas.openxmlformats.org/officeDocument/2006/relationships/image" Target="../media/image1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6.png"/><Relationship Id="rId4" Type="http://schemas.openxmlformats.org/officeDocument/2006/relationships/image" Target="../media/image1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18.png"/><Relationship Id="rId4" Type="http://schemas.openxmlformats.org/officeDocument/2006/relationships/image" Target="../media/image1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1.png"/><Relationship Id="rId4" Type="http://schemas.openxmlformats.org/officeDocument/2006/relationships/image" Target="../media/image1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6.png"/><Relationship Id="rId4" Type="http://schemas.openxmlformats.org/officeDocument/2006/relationships/image" Target="../media/image1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61.png"/><Relationship Id="rId4" Type="http://schemas.openxmlformats.org/officeDocument/2006/relationships/image" Target="../media/image1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43.png"/><Relationship Id="rId4" Type="http://schemas.openxmlformats.org/officeDocument/2006/relationships/image" Target="../media/image9.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1.png"/><Relationship Id="rId5" Type="http://schemas.openxmlformats.org/officeDocument/2006/relationships/image" Target="../media/image17.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40.png"/><Relationship Id="rId4" Type="http://schemas.openxmlformats.org/officeDocument/2006/relationships/image" Target="../media/image1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6.png"/><Relationship Id="rId4" Type="http://schemas.openxmlformats.org/officeDocument/2006/relationships/image" Target="../media/image1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2.png"/><Relationship Id="rId4" Type="http://schemas.openxmlformats.org/officeDocument/2006/relationships/image" Target="../media/image1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1.png"/><Relationship Id="rId5" Type="http://schemas.openxmlformats.org/officeDocument/2006/relationships/image" Target="../media/image23.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5.png"/><Relationship Id="rId4" Type="http://schemas.openxmlformats.org/officeDocument/2006/relationships/image" Target="../media/image1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50.png"/><Relationship Id="rId4" Type="http://schemas.openxmlformats.org/officeDocument/2006/relationships/image" Target="../media/image1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6.png"/><Relationship Id="rId4" Type="http://schemas.openxmlformats.org/officeDocument/2006/relationships/image" Target="../media/image1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1.png"/><Relationship Id="rId4" Type="http://schemas.openxmlformats.org/officeDocument/2006/relationships/image" Target="../media/image1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7.png"/><Relationship Id="rId4" Type="http://schemas.openxmlformats.org/officeDocument/2006/relationships/image" Target="../media/image1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6.png"/><Relationship Id="rId4" Type="http://schemas.openxmlformats.org/officeDocument/2006/relationships/image" Target="../media/image1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1.png"/></Relationships>
</file>

<file path=ppt/slides/_rels/slide249.xml.rels><?xml version='1.0' encoding='UTF-8' standalone='yes'?>
<Relationships xmlns="http://schemas.openxmlformats.org/package/2006/relationships"><Relationship Id="rId1" Type="http://schemas.openxmlformats.org/officeDocument/2006/relationships/image" Target="../media/image367.png"/><Relationship Id="rId2" Type="http://schemas.openxmlformats.org/officeDocument/2006/relationships/image" Target="../media/image368.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69.png"/><Relationship Id="rId2" Type="http://schemas.openxmlformats.org/officeDocument/2006/relationships/image" Target="../media/image370.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3.png"/><Relationship Id="rId2" Type="http://schemas.openxmlformats.org/officeDocument/2006/relationships/image" Target="../media/image374.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5.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image" Target="../media/image383.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4.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image" Target="../media/image387.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image" Target="../media/image389.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397.png"/><Relationship Id="rId2" Type="http://schemas.openxmlformats.org/officeDocument/2006/relationships/image" Target="../media/image398.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0.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3.png"/></Relationships>
</file>

<file path=ppt/slides/_rels/slide271.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4.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6.png"/><Relationship Id="rId3" Type="http://schemas.openxmlformats.org/officeDocument/2006/relationships/image" Target="../media/image387.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6.xml"/><Relationship Id="rId5" Type="http://schemas.openxmlformats.org/officeDocument/2006/relationships/image" Target="../media/image2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9.xml"/><Relationship Id="rId5" Type="http://schemas.openxmlformats.org/officeDocument/2006/relationships/image" Target="../media/image22.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29.png"/><Relationship Id="rId4" Type="http://schemas.openxmlformats.org/officeDocument/2006/relationships/image" Target="../media/image11.png"/><Relationship Id="rId5" Type="http://schemas.openxmlformats.org/officeDocument/2006/relationships/notesSlide" Target="../notesSlides/notesSlide28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Red Hat Display"/>
              <a:buNone/>
            </a:pPr>
            <a:r>
              <a:rPr b="1" i="0" lang="en-US" sz="4400" u="none" cap="none" strike="noStrike">
                <a:solidFill>
                  <a:srgbClr val="151515"/>
                </a:solidFill>
                <a:latin typeface="Red Hat Display"/>
                <a:ea typeface="Red Hat Display"/>
                <a:cs typeface="Red Hat Display"/>
                <a:sym typeface="Red Hat Display"/>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Red Hat Display"/>
              <a:buNone/>
            </a:pPr>
            <a:r>
              <a:rPr b="1" i="0" lang="en-US" sz="4400" u="none" cap="none" strike="noStrike">
                <a:solidFill>
                  <a:srgbClr val="151515"/>
                </a:solidFill>
                <a:latin typeface="Red Hat Display"/>
                <a:ea typeface="Red Hat Display"/>
                <a:cs typeface="Red Hat Display"/>
                <a:sym typeface="Red Hat Display"/>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sp>
        <p:nvSpPr>
          <p:cNvPr id="20" name="Google Shape;20;p3"/>
          <p:cNvSpPr/>
          <p:nvPr/>
        </p:nvSpPr>
        <p:spPr>
          <a:xfrm>
            <a:off x="5486400" y="5007611"/>
            <a:ext cx="6126480" cy="467359"/>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300">
              <a:solidFill>
                <a:srgbClr val="151515"/>
              </a:solidFill>
              <a:latin typeface="Red Hat Text"/>
              <a:ea typeface="Red Hat Text"/>
              <a:cs typeface="Red Hat Text"/>
              <a:sym typeface="Red Hat Text"/>
            </a:endParaRPr>
          </a:p>
        </p:txBody>
      </p:sp>
      <p:pic>
        <p:nvPicPr>
          <p:cNvPr descr="/home/claude/work/assets/rh-logo.png" id="21" name="Google Shape;21;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py/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py/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py/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uv with exact pins in pyproject.toml and a uv.lock for reproducible Python builds; FastAPI emits OpenAPI; buf / protoc for gRPC; Strawberry exports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py/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py/42-twelve-factor-map-py.png" id="143" name="Google Shape;143;p15"/>
          <p:cNvPicPr preferRelativeResize="0"/>
          <p:nvPr/>
        </p:nvPicPr>
        <p:blipFill rotWithShape="1">
          <a:blip r:embed="rId5">
            <a:alphaModFix/>
          </a:blip>
          <a:stretch/>
        </p:blipFill>
        <p:spPr>
          <a:xfrm>
            <a:off x="1788310" y="1663419"/>
            <a:ext cx="8615076" cy="4399842"/>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 12-factor FastAPI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main.py (excerpt); pyproject.toml pins every package with ==; uv.lock locks the rest</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class Settings(BaseSettings):           # config from env — factor III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database_url: str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kafka_bootstrap: str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service_version: str = "0.0.0"</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settings = Settings()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 = FastAPI(title="order-service", version=settings.service_version, lifespan=lifespan)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@app.get("/healthz")                     # liveness — the process is up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def healthz(): return {"status": "ok"}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@app.get("/readyz")                      # readiness — dependencies are reachable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async def readyz():</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try: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async with pool.acquire() as conn: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await conn.fetchval("SELECT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except Exception: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return JSONResponse({"status": "down", "checks": {"database": "unreachable"}}, 503)</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return {"status": "ready", "checks": {"database": "ok"}}</a:t>
            </a:r>
            <a:endParaRPr b="0" i="0" sz="13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py/03-comm-protocol-matrix.png" id="177" name="Google Shape;177;p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REST at the edge with FastAPI</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fastapi import FastAPI, HTTPException, Query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pydantic import BaseModel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OrderIn(BaseModel):           </a:t>
            </a:r>
            <a:r>
              <a:rPr b="0" i="0" lang="en-US" sz="1200" u="none" cap="none" strike="noStrike">
                <a:solidFill>
                  <a:srgbClr val="8FB98F"/>
                </a:solidFill>
                <a:latin typeface="Red Hat Mono"/>
                <a:ea typeface="Red Hat Mono"/>
                <a:cs typeface="Red Hat Mono"/>
                <a:sym typeface="Red Hat Mono"/>
              </a:rPr>
              <a:t># request contract, validated by Pydantic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sku: str; quantity: int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Order(BaseModel):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 str; sku: str; quantity: int; status: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@app.post("/orders", response_model=Order, status_code=201)</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place_order(body: OrderIn) -&gt;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order = await orders.create(body)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events.publish("order.placed", order)   # emit the fact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@app.get("/orders")                  # cursor pagination, not offset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list_orders(after: str | None = Query(None), limit: int = 50):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await orders.page(after=after, limit=limit)</a:t>
            </a:r>
            <a:endParaRPr b="0" i="0" sz="12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validated contracts, correct status codes, cursor pagination: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python ·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inventory.proto — the contract, registered in Apicurio</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service Inventory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rpc ReserveStock (ReserveRequest) returns (ReserveReply);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ReserveRequest { string sku = 1; int32 quantity = 2;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ReserveReply   { bool reserved = 1; int32 remaining = 2;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server.py — generated stubs from protoc / buf</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class InventoryServicer(inventory_pb2_grpc.InventoryServicer):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def ReserveStock(self, request, context):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remaining = stock.reserve(request.sku, request.quantity)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inventory_pb2.ReserveReply(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reserved=remaining &gt;= 0, remaining=max(remaining, 0))</a:t>
            </a:r>
            <a:endParaRPr b="0" i="0" sz="12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py/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py/05-comm-service-mesh.png" id="225" name="Google Shape;225;p2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py/06-composition-federation.png" id="259" name="Google Shape;259;p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 composing resolver in Strawberry</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strawberry                            # modern, code-first GraphQL for Python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@strawberry.type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 str; sku: str; status: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@strawberry.field                        # resolved on demand, from another service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def stock(self) -&gt; int: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reply = await inventory_client.reserve_stock_view(self.sku)  # gRPC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reply.remaining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@strawberry.type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Query: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@strawberry.field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def order(self, id: str) -&gt;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await order_client.get(id)    # REST call to order-service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schema = strawberry.Schema(query=Query)      # SDL exported to the registry</a:t>
            </a:r>
            <a:endParaRPr b="0" i="0" sz="120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Graphene is the alternative if you need its ecosystem.</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Three ways to compose, and where each belongs</a:t>
            </a:r>
            <a:endParaRPr b="0" i="0" sz="3000" u="none" cap="none" strike="noStrike">
              <a:solidFill>
                <a:schemeClr val="dk1"/>
              </a:solidFill>
              <a:latin typeface="Calibri"/>
              <a:ea typeface="Calibri"/>
              <a:cs typeface="Calibri"/>
              <a:sym typeface="Calibri"/>
            </a:endParaRPr>
          </a:p>
        </p:txBody>
      </p:sp>
      <p:pic>
        <p:nvPicPr>
          <p:cNvPr descr="/home/claude/work/png-py/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py/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CQRS: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py/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asyncpg + aiokafka</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Write side  —  command handler  (one transaction, outbox row, no broker call)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@app.post("/orders")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create_order(body: OrderIn) -&gt;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async with db.transaction():                    </a:t>
            </a:r>
            <a:r>
              <a:rPr b="0" i="0" lang="en-US" sz="1000" u="none" cap="none" strike="noStrike">
                <a:solidFill>
                  <a:srgbClr val="8FB98F"/>
                </a:solidFill>
                <a:latin typeface="Red Hat Mono"/>
                <a:ea typeface="Red Hat Mono"/>
                <a:cs typeface="Red Hat Mono"/>
                <a:sym typeface="Red Hat Mono"/>
              </a:rPr>
              <a:t># one local transaction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 = await write_db.execute(insert_order_query,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write_db.execute(insert_outbox_query,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topic="order.placed", payload=order.model_dump_json())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                                    </a:t>
            </a:r>
            <a:r>
              <a:rPr b="0" i="0" lang="en-US" sz="1000" u="none" cap="none" strike="noStrike">
                <a:solidFill>
                  <a:srgbClr val="8FB98F"/>
                </a:solidFill>
                <a:latin typeface="Red Hat Mono"/>
                <a:ea typeface="Red Hat Mono"/>
                <a:cs typeface="Red Hat Mono"/>
                <a:sym typeface="Red Hat Mono"/>
              </a:rPr>
              <a:t># commit → CDC publishes the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Read side  —  query handler reads from a different, denormalised store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@app.get("/orders/{oid}/summary")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order_summary(oid: str) -&gt; OrderSummary: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row = await read_db.fetch_one(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"SELECT * FROM order_summary WHERE order_id = $1", oid)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not row: raise HTTPException(404)</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OrderSummary(**row)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Projection  —  consumes events, upserts the read model (idempotent)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for msg in consumer:                          </a:t>
            </a:r>
            <a:r>
              <a:rPr b="0" i="0" lang="en-US" sz="1000" u="none" cap="none" strike="noStrike">
                <a:solidFill>
                  <a:srgbClr val="8FB98F"/>
                </a:solidFill>
                <a:latin typeface="Red Hat Mono"/>
                <a:ea typeface="Red Hat Mono"/>
                <a:cs typeface="Red Hat Mono"/>
                <a:sym typeface="Red Hat Mono"/>
              </a:rPr>
              <a:t># subscribes to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 = deserialize(msg.value)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read_db.execute(upsert_order_summary,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consumer.commit()                          </a:t>
            </a:r>
            <a:r>
              <a:rPr b="0" i="0" lang="en-US" sz="1000" u="none" cap="none" strike="noStrike">
                <a:solidFill>
                  <a:srgbClr val="8FB98F"/>
                </a:solidFill>
                <a:latin typeface="Red Hat Mono"/>
                <a:ea typeface="Red Hat Mono"/>
                <a:cs typeface="Red Hat Mono"/>
                <a:sym typeface="Red Hat Mono"/>
              </a:rPr>
              <a:t># at-least-once delivery</a:t>
            </a:r>
            <a:endParaRPr b="0" i="0" sz="10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Log tailing: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py/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Dual-write is unsafe: use the outbox</a:t>
            </a:r>
            <a:endParaRPr b="0" i="0" sz="3000" u="none" cap="none" strike="noStrike">
              <a:solidFill>
                <a:schemeClr val="dk1"/>
              </a:solidFill>
              <a:latin typeface="Calibri"/>
              <a:ea typeface="Calibri"/>
              <a:cs typeface="Calibri"/>
              <a:sym typeface="Calibri"/>
            </a:endParaRPr>
          </a:p>
        </p:txBody>
      </p:sp>
      <p:pic>
        <p:nvPicPr>
          <p:cNvPr descr="/home/claude/work/png-py/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outbox write: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create(body: OrderIn) -&gt; Order: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async with db.transaction():             # single local transaction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order = await db.execute(insert_order, body)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db.execute(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insert_outbox,                   # same txn -&gt; atomic with the state change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topic="order.placed",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key=order.id,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payload=order.model_dump_json(),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order                             # Debezium tails the WAL and publishes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No await-kafka on the request path: if the broker is down, the order still</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commits and the event is delivered when CDC catches up.</a:t>
            </a:r>
            <a:endParaRPr b="0" i="0" sz="125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py/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event backbone: one fact, many reactions</a:t>
            </a:r>
            <a:endParaRPr b="0" i="0" sz="3000" u="none" cap="none" strike="noStrike">
              <a:solidFill>
                <a:schemeClr val="dk1"/>
              </a:solidFill>
              <a:latin typeface="Calibri"/>
              <a:ea typeface="Calibri"/>
              <a:cs typeface="Calibri"/>
              <a:sym typeface="Calibri"/>
            </a:endParaRPr>
          </a:p>
        </p:txBody>
      </p:sp>
      <p:pic>
        <p:nvPicPr>
          <p:cNvPr descr="/home/claude/work/png-py/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Producing and consuming with aiokafka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aiokafka import AIOKafkaProducer, AIOKafkaConsumer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producer — order-service (called by the CDC relay or directly)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publish(topic: str, order: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producer.send_and_wait(topic, key=order.id.encode(),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value=serialize(order))   </a:t>
            </a:r>
            <a:r>
              <a:rPr b="0" i="0" lang="en-US" sz="1200" u="none" cap="none" strike="noStrike">
                <a:solidFill>
                  <a:srgbClr val="8FB98F"/>
                </a:solidFill>
                <a:latin typeface="Red Hat Mono"/>
                <a:ea typeface="Red Hat Mono"/>
                <a:cs typeface="Red Hat Mono"/>
                <a:sym typeface="Red Hat Mono"/>
              </a:rPr>
              <a:t># schema-aware serde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consumer — notification-service, Kafka-only by design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consumer = AIOKafkaConsumer("order.placed",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bootstrap_servers=settings.kafka_bootstrap,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group_id="notification-group",           # offset tracked per group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enable_auto_commit=False)                </a:t>
            </a:r>
            <a:r>
              <a:rPr b="0" i="0" lang="en-US" sz="1200" u="none" cap="none" strike="noStrike">
                <a:solidFill>
                  <a:srgbClr val="8FB98F"/>
                </a:solidFill>
                <a:latin typeface="Red Hat Mono"/>
                <a:ea typeface="Red Hat Mono"/>
                <a:cs typeface="Red Hat Mono"/>
                <a:sym typeface="Red Hat Mono"/>
              </a:rPr>
              <a:t># commit after side-effect succeeds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for msg in consumer: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send_email(deserialize(msg.value))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consumer.commit()                  </a:t>
            </a:r>
            <a:r>
              <a:rPr b="0" i="0" lang="en-US" sz="1200" u="none" cap="none" strike="noStrike">
                <a:solidFill>
                  <a:srgbClr val="8FB98F"/>
                </a:solidFill>
                <a:latin typeface="Red Hat Mono"/>
                <a:ea typeface="Red Hat Mono"/>
                <a:cs typeface="Red Hat Mono"/>
                <a:sym typeface="Red Hat Mono"/>
              </a:rPr>
              <a:t># at-least-once; handlers idempotent</a:t>
            </a:r>
            <a:endParaRPr b="0" i="0" sz="120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offsets after the side-effect, and make handlers idempotent: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Schemas are the contract: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py/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py/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Event-driven tools landscape: Kafka, Pulsar, Flink, NiFi</a:t>
            </a:r>
            <a:endParaRPr b="0" i="0" sz="3000" u="none" cap="none" strike="noStrike">
              <a:solidFill>
                <a:schemeClr val="dk1"/>
              </a:solidFill>
              <a:latin typeface="Calibri"/>
              <a:ea typeface="Calibri"/>
              <a:cs typeface="Calibri"/>
              <a:sym typeface="Calibri"/>
            </a:endParaRPr>
          </a:p>
        </p:txBody>
      </p:sp>
      <p:pic>
        <p:nvPicPr>
          <p:cNvPr descr="/home/claude/work/png-py/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py/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py/14-stream-topology.png" id="472" name="Google Shape;472;p44"/>
          <p:cNvPicPr preferRelativeResize="0"/>
          <p:nvPr/>
        </p:nvPicPr>
        <p:blipFill rotWithShape="1">
          <a:blip r:embed="rId5">
            <a:alphaModFix/>
          </a:blip>
          <a:stretch/>
        </p:blipFill>
        <p:spPr>
          <a:xfrm>
            <a:off x="1149305" y="2439442"/>
            <a:ext cx="9893084" cy="2847794"/>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 windowed aggregation with faust-streaming</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faust-streaming</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faust                       # faust-streaming 0.15.3; the import name is faust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datetime import timedelta</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 = faust.App("stream-processor", broker="kafka://my-cluster-kafka-bootstrap",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store="memory://")      # state is rebuilt from the changelog topic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orders_topic = app.topic("order.placed", value_type=Order)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revenue_topic = app.topic("revenue.by-merchant", value_type=Revenue)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table = local, changelog-backed state: tumbling windows, no grace, by record time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revenue = app.Table("revenue", default=float)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.tumbling(300, expires=timedelta(seconds=300))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.relative_to_stream()</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@app.agent(orders_topic)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aggregate(stream):</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for order in stream.group_by(Order.merchant_id):   # repartition by merchant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revenue[order.merchant_id] += order.total            # stateful, per key and window</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start = int(faust.current_event().message.timestamp // 300) * 300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revenue_topic.send(key=order.merchant_id, value=Revenue(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window_start=start, window_end=start + 300, merchant_id=order.merchant_id,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revenue=revenue[order.merchant_id].value()))     # derived stream out</a:t>
            </a:r>
            <a:endParaRPr b="0" i="0" sz="12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py/15-stream-keda-scaling.png" id="496" name="Google Shape;496;p4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FastAPI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py/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Red Hat Display"/>
              <a:buNone/>
            </a:pPr>
            <a:r>
              <a:rPr b="1" i="0" lang="en-US" sz="1900" u="none" cap="none" strike="noStrike">
                <a:solidFill>
                  <a:srgbClr val="1A3A6A"/>
                </a:solidFill>
                <a:latin typeface="Red Hat Display"/>
                <a:ea typeface="Red Hat Display"/>
                <a:cs typeface="Red Hat Display"/>
                <a:sym typeface="Red Hat Display"/>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Red Hat Display"/>
              <a:buNone/>
            </a:pPr>
            <a:r>
              <a:rPr b="1" i="0" lang="en-US" sz="1900" u="none" cap="none" strike="noStrike">
                <a:solidFill>
                  <a:srgbClr val="8A2424"/>
                </a:solidFill>
                <a:latin typeface="Red Hat Display"/>
                <a:ea typeface="Red Hat Display"/>
                <a:cs typeface="Red Hat Display"/>
                <a:sym typeface="Red Hat Display"/>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py/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py/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py/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Gate breaking changes in CI</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Apicurio v3</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registry_client.py — register a new version; the registry enforces the rule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requests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REGISTRY = "http://apicurio.registry.svc/apis/registry/v3"</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def publish(group: str, artifact_id: str, schema: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body = {"content": {"content": schema,              # v3 CreateVersion body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"contentType": "application/json"}}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 = requests.post(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f"{REGISTRY}/groups/{group}/artifacts/{artifact_id}/versions",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json=body, timeout=10,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if r.status_code == 400:            # RuleViolationException: the rule rejected it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raise SystemExit("Incompatible schema change: blocking the merge")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r.raise_for_status()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rule set once per artifact, e.g. BACKWARD: new consumers can read old data</a:t>
            </a:r>
            <a:endParaRPr b="0" i="0" sz="12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CI job fails the build on an incompatible change: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py/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py/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signals in depth: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py/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What each signal answers,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Auto-injection vs. instrumentation: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you write the spans. tracer.start_span(...), span.set_attribute(...), span.add_event(...).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a library / agent wraps known frameworks for you. HTTP servers and clients, gRPC, JDBC / database drivers, Kafka, Redis: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the platform puts the auto-instrumentation agent into the pod for you. The OpenTelemetry Operator watches for an annotation (instrumentation.opentelemetry.io/inject) and mutates the pod at admission: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Auto-instrument FastAPI with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opentelemetry.instrumentation.fastapi import FastAPIInstrumentor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opentelemetry.instrumentation.aiokafka import AIOKafkaInstrumentor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 import trace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FastAPIInstrumentor.instrument_app(app)      </a:t>
            </a:r>
            <a:r>
              <a:rPr b="0" i="0" lang="en-US" sz="1250" u="none" cap="none" strike="noStrike">
                <a:solidFill>
                  <a:srgbClr val="8FB98F"/>
                </a:solidFill>
                <a:latin typeface="Red Hat Mono"/>
                <a:ea typeface="Red Hat Mono"/>
                <a:cs typeface="Red Hat Mono"/>
                <a:sym typeface="Red Hat Mono"/>
              </a:rPr>
              <a:t># every request becomes a span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AIOKafkaInstrumentor().instrument()          </a:t>
            </a:r>
            <a:r>
              <a:rPr b="0" i="0" lang="en-US" sz="1250" u="none" cap="none" strike="noStrike">
                <a:solidFill>
                  <a:srgbClr val="8FB98F"/>
                </a:solidFill>
                <a:latin typeface="Red Hat Mono"/>
                <a:ea typeface="Red Hat Mono"/>
                <a:cs typeface="Red Hat Mono"/>
                <a:sym typeface="Red Hat Mono"/>
              </a:rPr>
              <a:t># context propagates onto the event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tracer = trace.get_tracer("order-service")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@app.post("/orders")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place_order(body: OrderIn):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with tracer.start_as_current_span("reserve_stock"):   # custom span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inventory.ReserveStock(body.sku, body.quantity)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t>
            </a:r>
            <a:r>
              <a:rPr b="0" i="0" lang="en-US" sz="1250" u="none" cap="none" strike="noStrike">
                <a:solidFill>
                  <a:srgbClr val="8FB98F"/>
                </a:solidFill>
                <a:latin typeface="Red Hat Mono"/>
                <a:ea typeface="Red Hat Mono"/>
                <a:cs typeface="Red Hat Mono"/>
                <a:sym typeface="Red Hat Mono"/>
              </a:rPr>
              <a:t># trace_id flows: REST -&gt; gRPC -&gt; Kafka -&gt; consumer, automatically</a:t>
            </a:r>
            <a:endParaRPr b="0" i="0" sz="125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Collector exports traces to Tempo, metrics to Mimir/Prometheus, logs to Loki: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How correlation works: context propagation</a:t>
            </a:r>
            <a:endParaRPr b="0" i="0" sz="3000" u="none" cap="none" strike="noStrike">
              <a:solidFill>
                <a:schemeClr val="dk1"/>
              </a:solidFill>
              <a:latin typeface="Calibri"/>
              <a:ea typeface="Calibri"/>
              <a:cs typeface="Calibri"/>
              <a:sym typeface="Calibri"/>
            </a:endParaRPr>
          </a:p>
        </p:txBody>
      </p:sp>
      <p:pic>
        <p:nvPicPr>
          <p:cNvPr descr="/home/claude/work/png-py/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Baggage in practice: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OpenTelemetry baggage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opentelemetry import baggage,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opentelemetry.trace import get_current_span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Set baggage at the edge  —  it rides the whole trace, every downstream hop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@app.middleware("http")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add_baggage(request: Request, call_next):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ctx = baggage.set_baggage("tenant_id", request.headers.get("X-Tenant", "unknown"))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ctx = baggage.set_baggage("user_tier", lookup_tier(request), context=ctx)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token = context.attach(ctx)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await call_next(request)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finally: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context.detach(token)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Read baggage anywhere downstream  —  even in a Kafka consumer three hops away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handle_event(msg):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tenant = baggage.get_baggage("tenant_id")          # propagated automatically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r>
              <a:rPr b="0" i="0" lang="en-US" sz="1100" u="none" cap="none" strike="noStrike">
                <a:solidFill>
                  <a:srgbClr val="8FB98F"/>
                </a:solidFill>
                <a:latin typeface="Red Hat Mono"/>
                <a:ea typeface="Red Hat Mono"/>
                <a:cs typeface="Red Hat Mono"/>
                <a:sym typeface="Red Hat Mono"/>
              </a:rPr>
              <a:t># also pin it on the current span so you can filter traces by tenant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get_current_span().set_attribute("tenant_id", tenant or "unknown")</a:t>
            </a:r>
            <a:endParaRPr b="0" i="0" sz="110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to filter traces by tenant_id.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py/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Sampling: head vs. tail</a:t>
            </a:r>
            <a:endParaRPr b="0" i="0" sz="3000" u="none" cap="none" strike="noStrike">
              <a:solidFill>
                <a:schemeClr val="dk1"/>
              </a:solidFill>
              <a:latin typeface="Calibri"/>
              <a:ea typeface="Calibri"/>
              <a:cs typeface="Calibri"/>
              <a:sym typeface="Calibri"/>
            </a:endParaRPr>
          </a:p>
        </p:txBody>
      </p:sp>
      <p:pic>
        <p:nvPicPr>
          <p:cNvPr descr="/home/claude/work/png-py/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Playground: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py/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4 C's: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Sidecar pattern: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py/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Valet key pattern: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py/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Valet key: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hmac (stdlib)</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main.py (excerpt), examples/12-security/python: an HMAC-SHA256 valet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class Settings(BaseSettings):             # VALET_SECRET from the environment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valet_secret: str = "demo-secret-do-not-use-in-prod"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settings = Settings()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_mint_valet(resource: str, operation: str, ttl: int = 300) -&gt; dict: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expires = int(time.time()) + ttl                        # time-bound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payload = f"{resource}:{operation}:{expires}"           # one object, one operation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key = settings.valet_secret.encode()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sig = hmac.new(key, payload.encode(), hashlib.sha256).hexdigest()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{"resource": resource, "operation": operation, "expires": expires, "token": sig}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_verify_valet(resource: str, operation: str, expires: int, token: str) -&gt; bool: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time.time() &gt; expires: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False                                        # expired: worthless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payload = f"{resource}:{operation}:{expires}"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expected = hmac.new(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settings.valet_secret.encode(), payload.encode(), hashlib.sha256</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).hexdigest()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hmac.compare_digest(token, expected)             # constant-time compare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@app.post("/valet-key")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mint_key(resource: str, operation: str = "GET"):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_mint_valet(resource, operation)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GET /verify-valet answers 403 for an expired or tampered key</a:t>
            </a:r>
            <a:endParaRPr b="0" i="0" sz="11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py/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Policy-as-Code: security gates in Git</a:t>
            </a:r>
            <a:endParaRPr b="0" i="0" sz="3000" u="none" cap="none" strike="noStrike">
              <a:solidFill>
                <a:schemeClr val="dk1"/>
              </a:solidFill>
              <a:latin typeface="Calibri"/>
              <a:ea typeface="Calibri"/>
              <a:cs typeface="Calibri"/>
              <a:sym typeface="Calibri"/>
            </a:endParaRPr>
          </a:p>
        </p:txBody>
      </p:sp>
      <p:pic>
        <p:nvPicPr>
          <p:cNvPr descr="/home/claude/work/png-py/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Bulkhead: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py/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Per-tenant bulkheads in asyncio</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asyncio</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examples/12-security/python/order-service/main.py (condensed excerpts)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One semaphore of 5 permits per tenant; a request that finds them all taken is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refused at once (429) instead of waiting.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BULKHEAD_LIMIT =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_sems: dict[str, asyncio.Semaphore]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_in_flight: Counter[str] = Counter()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def _tenant_sem(tenant: str) -&gt; asyncio.Semaphore: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_sems.setdefault(tenant, asyncio.Semaphore(BULKHEAD_LIMIT))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@app.post("/orders", status_code=201)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create_order(body: OrderIn, request: 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sem = _tenant_sem(body.tenant)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sem.locked():  # the tenant's 5 permits are taken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JSONResponse(status_code=429, content={"detail": "tenant bulkhead full"})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with sem:  # A's storm can't drain B's capacity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_in_flight[body.tenant] += 1  # read by /bulkhead-state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create the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finally: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_in_flight[body.tenant] -= 1</a:t>
            </a:r>
            <a:endParaRPr b="0" i="0" sz="9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Claim-check: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py/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9133267" y="1700784"/>
            <a:ext cx="24000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 + valet key</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publish_with_claim(producer: AIOKafkaProducer, order_id: str, body: bytes):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key = f"payloads/{order_id}"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store.put(key, body, encrypt=True)                # encrypted at rest, ACL'd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claim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"order_id": order_id,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f"https://objects.internal/{key}",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**_mint_valet(key, "GET", ttl=900),                  # resource, op, expires, token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producer.send_and_wait(                           # only the claim goes on the 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"order.documents", json.dumps(claim).encode(), key=order_id.encode())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consumer: read the claim, fetch the body out of band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for msg in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claim = json.loads(msg.value)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body = await store.get(claim["uri"], token=claim["token"])   # the store checks the ticket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handle(body)                                      # PII never touched the 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 after the side effect</a:t>
            </a:r>
            <a:endParaRPr b="0" i="0" sz="11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py/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Red Hat Display"/>
              <a:buNone/>
            </a:pPr>
            <a:r>
              <a:rPr b="1" i="0" lang="en-US" sz="4600" u="none" cap="none" strike="noStrike">
                <a:solidFill>
                  <a:srgbClr val="FFFFFF"/>
                </a:solidFill>
                <a:latin typeface="Red Hat Display"/>
                <a:ea typeface="Red Hat Display"/>
                <a:cs typeface="Red Hat Display"/>
                <a:sym typeface="Red Hat Display"/>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Glossary of acronyms (1 of 2):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asyncpg (Python's async Postgres driver); Pydantic (Python validation / serialisation library,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Glossary of acronyms (2 of 2):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WSGI / ASGI (Web / Asynchronous Server Gateway Interface: Python's sync / async web server contracts); GIL (Global Interpreter Lock); venv (virtual environment); DI (Dependency Injection); DTO (Data Transfer Object); GC (Garbage Collection).</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py/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py/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py/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py/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Media-type versioning with FastAPI</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fastapi import FastAPI, Header, Response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 = FastAPI()</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V1 = "application/vnd.acme.order+json"          # default / legacy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V2 = "application/vnd.acme.order.v2+json"       # adds 'currency'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@app.get("/orders/{oid}")                        # one stable URL — the resource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get_order(oid: str, accept: str = Header(default=V1)):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order = await orders.get(oid)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if accept == V2:                             </a:t>
            </a:r>
            <a:r>
              <a:rPr b="0" i="0" lang="en-US" sz="1250" u="none" cap="none" strike="noStrike">
                <a:solidFill>
                  <a:srgbClr val="8FB98F"/>
                </a:solidFill>
                <a:latin typeface="Red Hat Mono"/>
                <a:ea typeface="Red Hat Mono"/>
                <a:cs typeface="Red Hat Mono"/>
                <a:sym typeface="Red Hat Mono"/>
              </a:rPr>
              <a:t># negotiate the representation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body = {**order.model_dump(), "currency": order.currency}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Response(content=dumps(body), media_type=V2)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body = order.model_dump()                          </a:t>
            </a:r>
            <a:r>
              <a:rPr b="0" i="0" lang="en-US" sz="1250" u="none" cap="none" strike="noStrike">
                <a:solidFill>
                  <a:srgbClr val="8FB98F"/>
                </a:solidFill>
                <a:latin typeface="Red Hat Mono"/>
                <a:ea typeface="Red Hat Mono"/>
                <a:cs typeface="Red Hat Mono"/>
                <a:sym typeface="Red Hat Mono"/>
              </a:rPr>
              <a:t># v1 shape, unchanged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Response(content=dumps(body), media_type=V1)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the URL never changes; clients opt into a representation via Accept</a:t>
            </a:r>
            <a:endParaRPr b="0" i="0" sz="125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py/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py/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Deprecating a field in Strawberry</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import strawberry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@strawberry.type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class Order: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id: str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total: float = strawberry.field(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deprecation_reason="Use totalMinor (integer cents) instead.",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                                      </a:t>
            </a:r>
            <a:r>
              <a:rPr b="0" i="0" lang="en-US" sz="1250" u="none" cap="none" strike="noStrike">
                <a:solidFill>
                  <a:srgbClr val="8FB98F"/>
                </a:solidFill>
                <a:latin typeface="Red Hat Mono"/>
                <a:ea typeface="Red Hat Mono"/>
                <a:cs typeface="Red Hat Mono"/>
                <a:sym typeface="Red Hat Mono"/>
              </a:rPr>
              <a:t># still served; shows in introspection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total_minor: int                       </a:t>
            </a:r>
            <a:r>
              <a:rPr b="0" i="0" lang="en-US" sz="1250" u="none" cap="none" strike="noStrike">
                <a:solidFill>
                  <a:srgbClr val="8FB98F"/>
                </a:solidFill>
                <a:latin typeface="Red Hat Mono"/>
                <a:ea typeface="Red Hat Mono"/>
                <a:cs typeface="Red Hat Mono"/>
                <a:sym typeface="Red Hat Mono"/>
              </a:rPr>
              <a:t># the replacement field, added additively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Clients see the deprecation in the schema and in tooling (Playground).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Server-side field usage metrics tell you when total has zero callers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only then do you remove it. No /v2 endpoint ever exists.</a:t>
            </a:r>
            <a:endParaRPr b="0" i="0" sz="125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FastAPI,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 WebSocket endpoint in FastAPI</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fastapi import FastAPI, WebSocket, WebSocketDisconnect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 = FastAPI()</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clients: dict[str, WebSocket] = {}          </a:t>
            </a:r>
            <a:r>
              <a:rPr b="0" i="0" lang="en-US" sz="1250" u="none" cap="none" strike="noStrike">
                <a:solidFill>
                  <a:srgbClr val="8FB98F"/>
                </a:solidFill>
                <a:latin typeface="Red Hat Mono"/>
                <a:ea typeface="Red Hat Mono"/>
                <a:cs typeface="Red Hat Mono"/>
                <a:sym typeface="Red Hat Mono"/>
              </a:rPr>
              <a:t># per-pod state — not shared!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@app.websocket("/ws/{user_id}")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ws(sock: WebSocket, user_id: str):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sock.accept()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clients[user_id] = sock                  </a:t>
            </a:r>
            <a:r>
              <a:rPr b="0" i="0" lang="en-US" sz="1250" u="none" cap="none" strike="noStrike">
                <a:solidFill>
                  <a:srgbClr val="8FB98F"/>
                </a:solidFill>
                <a:latin typeface="Red Hat Mono"/>
                <a:ea typeface="Red Hat Mono"/>
                <a:cs typeface="Red Hat Mono"/>
                <a:sym typeface="Red Hat Mono"/>
              </a:rPr>
              <a:t># this pod now owns this connection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try: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while True: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msg = await sock.receive_json()  </a:t>
            </a:r>
            <a:r>
              <a:rPr b="0" i="0" lang="en-US" sz="1250" u="none" cap="none" strike="noStrike">
                <a:solidFill>
                  <a:srgbClr val="8FB98F"/>
                </a:solidFill>
                <a:latin typeface="Red Hat Mono"/>
                <a:ea typeface="Red Hat Mono"/>
                <a:cs typeface="Red Hat Mono"/>
                <a:sym typeface="Red Hat Mono"/>
              </a:rPr>
              <a:t># full-duplex, long-lived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handle(user_id, msg)</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except WebSocketDisconnect: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clients.pop(user_id, None)           </a:t>
            </a:r>
            <a:r>
              <a:rPr b="0" i="0" lang="en-US" sz="1250" u="none" cap="none" strike="noStrike">
                <a:solidFill>
                  <a:srgbClr val="8FB98F"/>
                </a:solidFill>
                <a:latin typeface="Red Hat Mono"/>
                <a:ea typeface="Red Hat Mono"/>
                <a:cs typeface="Red Hat Mono"/>
                <a:sym typeface="Red Hat Mono"/>
              </a:rPr>
              <a:t># clean up on disconnect</a:t>
            </a:r>
            <a:endParaRPr b="0" i="0" sz="12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Short to write, but clients{} is per-pod. That single line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py/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py/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Binary framing with protobuf: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python</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envelope.proto — one versioned wrapper for every WebSocket message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message Envelope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uint32 version = 1;   // bump for an incompatible payload change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uint64 seq     = 2;   // per-connection monotonic counter — drives resume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type    = 3;   // payload discriminator, e.g. "OrderPlaced"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bytes  payload = 4;   // a nested protobuf message, already serialised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server: one binary frame per event instead of JSON text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push(sock: WebSocket, seq: int, event: 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env = Envelope(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version=2, seq=seq, type="OrderPlaced",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payload=event.SerializeToString())            # nested protobuf</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sock.send_bytes(env.SerializeToString())     # one binary frame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client checks env.version; unknown major version -&gt; reconnect &amp; renegotiate</a:t>
            </a:r>
            <a:endParaRPr b="0" i="0" sz="12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py/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Where a Python saga keeps its state</a:t>
            </a:r>
            <a:endParaRPr b="0" i="0" sz="3000" u="none" cap="none" strike="noStrike">
              <a:solidFill>
                <a:schemeClr val="dk1"/>
              </a:solidFill>
              <a:latin typeface="Calibri"/>
              <a:ea typeface="Calibri"/>
              <a:cs typeface="Calibri"/>
              <a:sym typeface="Calibri"/>
            </a:endParaRPr>
          </a:p>
        </p:txBody>
      </p:sp>
      <p:pic>
        <p:nvPicPr>
          <p:cNvPr descr="/home/claude/work/png-py/33-appD-state-options.png" id="1333" name="Google Shape;1333;p1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 persisted saga state machine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STEPS = ["charge_payment", "reserve_stock", "book_shipping"]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advance(saga_id: str):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async with db.transaction():                 </a:t>
            </a:r>
            <a:r>
              <a:rPr b="0" i="0" lang="en-US" sz="1150" u="none" cap="none" strike="noStrike">
                <a:solidFill>
                  <a:srgbClr val="8FB98F"/>
                </a:solidFill>
                <a:latin typeface="Red Hat Mono"/>
                <a:ea typeface="Red Hat Mono"/>
                <a:cs typeface="Red Hat Mono"/>
                <a:sym typeface="Red Hat Mono"/>
              </a:rPr>
              <a:t># state + command commit together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 = await db.get_saga(saga_id, for_update=True)   </a:t>
            </a:r>
            <a:r>
              <a:rPr b="0" i="0" lang="en-US" sz="1150" u="none" cap="none" strike="noStrike">
                <a:solidFill>
                  <a:srgbClr val="8FB98F"/>
                </a:solidFill>
                <a:latin typeface="Red Hat Mono"/>
                <a:ea typeface="Red Hat Mono"/>
                <a:cs typeface="Red Hat Mono"/>
                <a:sym typeface="Red Hat Mono"/>
              </a:rPr>
              <a:t># row lock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s.status != "RUNNING":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a:t>
            </a:r>
            <a:r>
              <a:rPr b="0" i="0" lang="en-US" sz="1150" u="none" cap="none" strike="noStrike">
                <a:solidFill>
                  <a:srgbClr val="8FB98F"/>
                </a:solidFill>
                <a:latin typeface="Red Hat Mono"/>
                <a:ea typeface="Red Hat Mono"/>
                <a:cs typeface="Red Hat Mono"/>
                <a:sym typeface="Red Hat Mono"/>
              </a:rPr>
              <a:t># idempotent: already done/failed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step = STEPS[s.step_index]</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result = await invoke(step, s.context)        </a:t>
            </a:r>
            <a:r>
              <a:rPr b="0" i="0" lang="en-US" sz="1150" u="none" cap="none" strike="noStrike">
                <a:solidFill>
                  <a:srgbClr val="8FB98F"/>
                </a:solidFill>
                <a:latin typeface="Red Hat Mono"/>
                <a:ea typeface="Red Hat Mono"/>
                <a:cs typeface="Red Hat Mono"/>
                <a:sym typeface="Red Hat Mono"/>
              </a:rPr>
              <a:t># call the 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s.context[step] = result                      </a:t>
            </a:r>
            <a:r>
              <a:rPr b="0" i="0" lang="en-US" sz="1150" u="none" cap="none" strike="noStrike">
                <a:solidFill>
                  <a:srgbClr val="8FB98F"/>
                </a:solidFill>
                <a:latin typeface="Red Hat Mono"/>
                <a:ea typeface="Red Hat Mono"/>
                <a:cs typeface="Red Hat Mono"/>
                <a:sym typeface="Red Hat Mono"/>
              </a:rPr>
              <a:t># accumulate output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s.step_index += 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s.step_index == len(STEPS): s.status = "COMPLETED"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except StepError: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s.status = "COMPENSATING"             # hand off to the unwinder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await db.save_saga(s)                     </a:t>
            </a:r>
            <a:r>
              <a:rPr b="0" i="0" lang="en-US" sz="1150" u="none" cap="none" strike="noStrike">
                <a:solidFill>
                  <a:srgbClr val="8FB98F"/>
                </a:solidFill>
                <a:latin typeface="Red Hat Mono"/>
                <a:ea typeface="Red Hat Mono"/>
                <a:cs typeface="Red Hat Mono"/>
                <a:sym typeface="Red Hat Mono"/>
              </a:rPr>
              <a:t># durable after every step</a:t>
            </a:r>
            <a:endParaRPr b="0" i="0" sz="115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py/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COMPENSATIONS = {                                </a:t>
            </a:r>
            <a:r>
              <a:rPr b="0" i="0" lang="en-US" sz="1200" u="none" cap="none" strike="noStrike">
                <a:solidFill>
                  <a:srgbClr val="8FB98F"/>
                </a:solidFill>
                <a:latin typeface="Red Hat Mono"/>
                <a:ea typeface="Red Hat Mono"/>
                <a:cs typeface="Red Hat Mono"/>
                <a:sym typeface="Red Hat Mono"/>
              </a:rPr>
              <a:t># inverse for each forward step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"charge_payment":  "refund_payment",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"reserve_stock":   "release_stock",</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"book_shipping":   "cancel_shipping",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compensate(saga_id: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with db.transaction():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 = await db.get_saga(saga_id, for_update=True)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r>
              <a:rPr b="0" i="0" lang="en-US" sz="1200" u="none" cap="none" strike="noStrike">
                <a:solidFill>
                  <a:srgbClr val="8FB98F"/>
                </a:solidFill>
                <a:latin typeface="Red Hat Mono"/>
                <a:ea typeface="Red Hat Mono"/>
                <a:cs typeface="Red Hat Mono"/>
                <a:sym typeface="Red Hat Mono"/>
              </a:rPr>
              <a:t># undo only the steps that actually completed, newest first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for step in reversed(STEPS[: s.step_index]):</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invoke(COMPENSATIONS[step], s.context,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idempotency_key=f"{saga_id}:{step}")  # safe to retry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s.status = "COMPENSATED"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db.save_saga(s)</a:t>
            </a:r>
            <a:endParaRPr b="0" i="0" sz="12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py/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Carrying context forward, and resuming after a crash</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After A runs, its output is in s.context['reserve_stock'], e.g.: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{'reservation_id': 'r-77', 'region': 'eu-1'}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invoke(step, context):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step == "book_shipping":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 = context["reserve_stock"]            # B reads A's output from context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await shipping.book(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reservation_id=res["reservation_id"],  # data that only A produced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region=res["region"],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Crash between A and B?  The sweeper reloads the saga row, sees step_index</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points at book_shipping and context already holds A's result, and calls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advance() — B proceeds with A's data. A is never re-called; nothing is lost.</a:t>
            </a:r>
            <a:endParaRPr b="0" i="0" sz="115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 reads A's result from the persisted context, never from A. Resume = reload the row and continue at the next step.</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py/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py/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REST errors with FastAPI</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from fastapi import Request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from fastapi.responses import JSONResponse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class StockError(Exception):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def __init__(self, detail): self.detail = detail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@app.exception_handler(StockError)          </a:t>
            </a:r>
            <a:r>
              <a:rPr b="0" i="0" lang="en-US" sz="1150" u="none" cap="none" strike="noStrike">
                <a:solidFill>
                  <a:srgbClr val="8FB98F"/>
                </a:solidFill>
                <a:latin typeface="Red Hat Mono"/>
                <a:ea typeface="Red Hat Mono"/>
                <a:cs typeface="Red Hat Mono"/>
                <a:sym typeface="Red Hat Mono"/>
              </a:rPr>
              <a:t># one place: domain -&gt; wire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on_stock_error(request: Request, exc: StockError):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JSONResponse(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status_code=409,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media_type="application/problem+json",   # RFC 9457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content={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"type":   "https://errors.acme.io/stock",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"title":  "Insufficient stock",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"status": 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"detail": exc.detail,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"code":   "STOCK_UNAVAILABLE",        # stable machine code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"traceId": current_trace_id(),         # correlate w/ the trace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handler: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py/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089817" y="1700784"/>
            <a:ext cx="2443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grpc + grpcio-status</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grpc_status import rpc_status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google.rpc import status_pb2, code_pb2, error_details_pb2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google.protobuf import any_pb2, duration_pb2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ReserveStock(self, request,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inventory_down: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info = error_details_pb2.ErrorInfo(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reason="STOCK_DOWN", domain="inventory")   # machine detail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 = error_details_pb2.RetryInfo(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retry_delay=duration_pb2.Duration(seconds=2))  </a:t>
            </a:r>
            <a:r>
              <a:rPr b="0" i="0" lang="en-US" sz="1100" u="none" cap="none" strike="noStrike">
                <a:solidFill>
                  <a:srgbClr val="8FB98F"/>
                </a:solidFill>
                <a:latin typeface="Red Hat Mono"/>
                <a:ea typeface="Red Hat Mono"/>
                <a:cs typeface="Red Hat Mono"/>
                <a:sym typeface="Red Hat Mono"/>
              </a:rPr>
              <a:t># back off 2s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status = status_pb2.Status(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code=code_pb2.UNAVAILABLE,                  </a:t>
            </a:r>
            <a:r>
              <a:rPr b="0" i="0" lang="en-US" sz="1100" u="none" cap="none" strike="noStrike">
                <a:solidFill>
                  <a:srgbClr val="8FB98F"/>
                </a:solidFill>
                <a:latin typeface="Red Hat Mono"/>
                <a:ea typeface="Red Hat Mono"/>
                <a:cs typeface="Red Hat Mono"/>
                <a:sym typeface="Red Hat Mono"/>
              </a:rPr>
              <a:t># canonical 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message="inventory temporarily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details=[_pack(info), _pack(retry)])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context.abort_with_status(rpc_status.to_status(status))</a:t>
            </a:r>
            <a:endParaRPr b="0" i="0" sz="110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py/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Kafka retry + DLQ with aiokafka</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bounded in-place retries, then a delayed-retry topic, then a DLQ</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for msg in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handle(msg)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a:t>
            </a:r>
            <a:r>
              <a:rPr b="0" i="0" lang="en-US" sz="1100" u="none" cap="none" strike="noStrike">
                <a:solidFill>
                  <a:srgbClr val="8FB98F"/>
                </a:solidFill>
                <a:latin typeface="Red Hat Mono"/>
                <a:ea typeface="Red Hat Mono"/>
                <a:cs typeface="Red Hat Mono"/>
                <a:sym typeface="Red Hat Mono"/>
              </a:rPr>
              <a:t># success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PoisonError: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int(header(msg, "retries",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attempts &lt; MAX_RETRIES: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producer.send("orders.retry.30s",    # delayed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value=msg.value,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headers=[("retries", str(attempts + 1).encode())])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else: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producer.send("orders.DLQ", value=msg.value,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headers=[("error", b"poison"), ("traceId", 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a:t>
            </a:r>
            <a:r>
              <a:rPr b="0" i="0" lang="en-US" sz="1100" u="none" cap="none" strike="noStrike">
                <a:solidFill>
                  <a:srgbClr val="8FB98F"/>
                </a:solidFill>
                <a:latin typeface="Red Hat Mono"/>
                <a:ea typeface="Red Hat Mono"/>
                <a:cs typeface="Red Hat Mono"/>
                <a:sym typeface="Red Hat Mono"/>
              </a:rPr>
              <a:t># commit so head-of-line is free</a:t>
            </a:r>
            <a:endParaRPr b="0" i="0" sz="11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a bounded number of times, then DLQ, and always commit, so one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py/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GraphQL field errors with Strawberry</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strawberry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graphql import GraphQLError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@strawberry.type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class Order: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id: str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total: float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@strawberry.field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def stock(self) -&gt; int | None:        </a:t>
            </a:r>
            <a:r>
              <a:rPr b="0" i="0" lang="en-US" sz="1100" u="none" cap="none" strike="noStrike">
                <a:solidFill>
                  <a:srgbClr val="8FB98F"/>
                </a:solidFill>
                <a:latin typeface="Red Hat Mono"/>
                <a:ea typeface="Red Hat Mono"/>
                <a:cs typeface="Red Hat Mono"/>
                <a:sym typeface="Red Hat Mono"/>
              </a:rPr>
              <a:t># one field's resolver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await inventory.remaining(self.sku)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Unavailable: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raise GraphQLError(                  </a:t>
            </a:r>
            <a:r>
              <a:rPr b="0" i="0" lang="en-US" sz="1100" u="none" cap="none" strike="noStrike">
                <a:solidFill>
                  <a:srgbClr val="8FB98F"/>
                </a:solidFill>
                <a:latin typeface="Red Hat Mono"/>
                <a:ea typeface="Red Hat Mono"/>
                <a:cs typeface="Red Hat Mono"/>
                <a:sym typeface="Red Hat Mono"/>
              </a:rPr>
              <a:t># nulls this field only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"inventory unavailable",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extensions={"code": "UNAVAILABLE",   # machine 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"retryable": 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"traceId": current_trace_id()})</a:t>
            </a:r>
            <a:endParaRPr b="0" i="0" sz="110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Raise from the field resolver: Strawberry nulls just that field and adds it to errors[] with your extensions: the rest of data still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How a retry storm forms, and how to stop it</a:t>
            </a:r>
            <a:endParaRPr b="0" i="0" sz="3000" u="none" cap="none" strike="noStrike">
              <a:solidFill>
                <a:schemeClr val="dk1"/>
              </a:solidFill>
              <a:latin typeface="Calibri"/>
              <a:ea typeface="Calibri"/>
              <a:cs typeface="Calibri"/>
              <a:sym typeface="Calibri"/>
            </a:endParaRPr>
          </a:p>
        </p:txBody>
      </p:sp>
      <p:pic>
        <p:nvPicPr>
          <p:cNvPr descr="/home/claude/work/png-py/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small max, backoff + jitter, circuit 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py/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py/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py/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domain/ports.py — the domain declares the interfaces it needs (ports)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OrderRepository(Protocol):              </a:t>
            </a:r>
            <a:r>
              <a:rPr b="0" i="0" lang="en-US" sz="1050" u="none" cap="none" strike="noStrike">
                <a:solidFill>
                  <a:srgbClr val="8FB98F"/>
                </a:solidFill>
                <a:latin typeface="Red Hat Mono"/>
                <a:ea typeface="Red Hat Mono"/>
                <a:cs typeface="Red Hat Mono"/>
                <a:sym typeface="Red Hat Mono"/>
              </a:rPr>
              <a:t># outbound port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save(self, order: Order) -&gt; None: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EventPublisher(Protocol):               </a:t>
            </a:r>
            <a:r>
              <a:rPr b="0" i="0" lang="en-US" sz="1050" u="none" cap="none" strike="noStrike">
                <a:solidFill>
                  <a:srgbClr val="8FB98F"/>
                </a:solidFill>
                <a:latin typeface="Red Hat Mono"/>
                <a:ea typeface="Red Hat Mono"/>
                <a:cs typeface="Red Hat Mono"/>
                <a:sym typeface="Red Hat Mono"/>
              </a:rPr>
              <a:t># outbound port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publish(self, e: DomainEvent) -&gt; None: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domain/service.py — pure application logic: no framework, no I/O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PlaceOrder: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def __init__(self, repo: OrderRepository, events: EventPublisher):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self.repo, self.events = repo, events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__call__(self, cmd: PlaceOrderCmd) -&gt;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order = Order.create(cmd)             </a:t>
            </a:r>
            <a:r>
              <a:rPr b="0" i="0" lang="en-US" sz="1050" u="none" cap="none" strike="noStrike">
                <a:solidFill>
                  <a:srgbClr val="8FB98F"/>
                </a:solidFill>
                <a:latin typeface="Red Hat Mono"/>
                <a:ea typeface="Red Hat Mono"/>
                <a:cs typeface="Red Hat Mono"/>
                <a:sym typeface="Red Hat Mono"/>
              </a:rPr>
              <a:t># aggregate enforces invariants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self.repo.save(order)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self.events.publish(OrderPlaced(order.id))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adapters/rest.py — a driving adapter; gRPC/GraphQL look the same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@app.post("/orders")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place_order(body: OrderIn, uc: PlaceOrder = Depends(build_uc)):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await uc(body.to_cmd())            </a:t>
            </a:r>
            <a:r>
              <a:rPr b="0" i="0" lang="en-US" sz="1050" u="none" cap="none" strike="noStrike">
                <a:solidFill>
                  <a:srgbClr val="8FB98F"/>
                </a:solidFill>
                <a:latin typeface="Red Hat Mono"/>
                <a:ea typeface="Red Hat Mono"/>
                <a:cs typeface="Red Hat Mono"/>
                <a:sym typeface="Red Hat Mono"/>
              </a:rPr>
              <a:t># protocol -&gt; domain, nothing more</a:t>
            </a:r>
            <a:endParaRPr b="0" i="0" sz="105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REST/gRPC/Kafka are adapters wired in at the edge. Swap or add one without touching PlaceOrder.</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which is exactly the saga story.</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Coupling is necessary: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py/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py/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py/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py/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py/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Graceful shutdown in FastAPI / uvicorn</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uvicorn</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main.py (excerpt), examples/21-graceful-shutdown/python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asyncio, signal          # (contextlib and fastapi imports elided)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DRAIN_DELAY_SECONDS = 5        # lets endpoint removal propagate (the preStop sleep)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shutting_down, uvicorn_sigterm, loop = False, None, None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def handle_sigterm(signum, frame):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global shutting_down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shutting_down: return     # one SIGTERM drives the whole drain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shutting_down = True         # fail readiness now, keep serving for the 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loop.call_soon_threadsafe(loop.call_later, DRAIN_DELAY_SECONDS,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uvicorn_sigterm, signum, frame)   # then uvicorn drains HTTP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@asynccontextmanager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lifespan(app):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global uvicorn_sigterm, loop # uvicorn's handler is already installed: chain to it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loop = asyncio.get_running_loop()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uvicorn_sigterm = signal.signal(signal.SIGTERM, handle_sigterm)</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yield                        # --- runs after uvicorn has drained HTTP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db_pool.close()        # close pools, flush, release resources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 = FastAPI(lifespan=lifespan)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@app.get("/readyz")</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readyz(): return JSONResponse({}, 503 if shutting_down else 200)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run: uvicorn main:app --timeout-graceful-shutdown 20   # bounds the HTTP drain</a:t>
            </a:r>
            <a:endParaRPr b="0" i="0" sz="105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DRAIN_DELAY_SECONDS the handler hands over to uvicorn, which drains in-flight HTTP within 20 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uvicorn: --timeout-graceful-shutdown.</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FastAPI, durable-rules, Open Policy Agent: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py/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the same toolkit,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py/54-appI-stack-py.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py/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FastAPI / Starlette + durable-rules: when the routing logic is a business rule, push it into the app: a Rete-based rule engine in pure Python.</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py/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py/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protocol translation, redaction, format conversion (Envoy filters, Starlette middleware).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(FastAPI middleware, a custom dispatcher, or a faust-streaming agent for streams) calls a rule engine (durable-rules, Open Policy Agent)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FastAPI + durable-rules: routing by business rules</a:t>
            </a:r>
            <a:endParaRPr b="0" i="0" sz="3000" u="none" cap="none" strike="noStrike">
              <a:solidFill>
                <a:schemeClr val="dk1"/>
              </a:solidFill>
              <a:latin typeface="Calibri"/>
              <a:ea typeface="Calibri"/>
              <a:cs typeface="Calibri"/>
              <a:sym typeface="Calibri"/>
            </a:endParaRPr>
          </a:p>
        </p:txBody>
      </p:sp>
      <p:pic>
        <p:nvPicPr>
          <p:cNvPr descr="/home/claude/work/png-py/61-appI-python-router.png" id="2063" name="Google Shape;2063;p18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FastAPI is the HTTP front; durable-rules is the engine; aiokafka does the dispatch.</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rules, externalised: durable-rules</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durable-rules</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orders_rules.py  —  edited by domain experts, not developers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durable.lang import ruleset, when_all, 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with ruleset("orders"):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@when_all((m.amount_cents &gt; 50_000) &amp; (m.tier == "VIP"))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vip(c):                              </a:t>
            </a:r>
            <a:r>
              <a:rPr b="0" i="0" lang="en-US" sz="1100" u="none" cap="none" strike="noStrike">
                <a:solidFill>
                  <a:srgbClr val="8FB98F"/>
                </a:solidFill>
                <a:latin typeface="Red Hat Mono"/>
                <a:ea typeface="Red Hat Mono"/>
                <a:cs typeface="Red Hat Mono"/>
                <a:sym typeface="Red Hat Mono"/>
              </a:rPr>
              <a:t># high-value VIP 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["kafka:orders.priority", "http:notify-vip"]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@when_all(m.region == "EU")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eu(c):                               </a:t>
            </a:r>
            <a:r>
              <a:rPr b="0" i="0" lang="en-US" sz="1100" u="none" cap="none" strike="noStrike">
                <a:solidFill>
                  <a:srgbClr val="8FB98F"/>
                </a:solidFill>
                <a:latin typeface="Red Hat Mono"/>
                <a:ea typeface="Red Hat Mono"/>
                <a:cs typeface="Red Hat Mono"/>
                <a:sym typeface="Red Hat Mono"/>
              </a:rPr>
              <a:t># European orders → EU region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["kafka:orders.eu"]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@when_all(+m.order_id)                   </a:t>
            </a:r>
            <a:r>
              <a:rPr b="0" i="0" lang="en-US" sz="1100" u="none" cap="none" strike="noStrike">
                <a:solidFill>
                  <a:srgbClr val="8FB98F"/>
                </a:solidFill>
                <a:latin typeface="Red Hat Mono"/>
                <a:ea typeface="Red Hat Mono"/>
                <a:cs typeface="Red Hat Mono"/>
                <a:sym typeface="Red Hat Mono"/>
              </a:rPr>
              <a:t># catch-all (lowest priority)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default(c):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not getattr(c.m, "where_to", None):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["kafka:orders.default"]</a:t>
            </a:r>
            <a:endParaRPr b="0" i="0" sz="11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@when_all is a small business statement: when X is true, set where_to to Y. Owned and reviewed by domain experts.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dispatcher, in FastAPI</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aiokafka</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durable.lang import post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fastapi import FastAPI, Depends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aiokafka import AIOKafkaProducer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import httpx, 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import orders_rules                          </a:t>
            </a:r>
            <a:r>
              <a:rPr b="0" i="0" lang="en-US" sz="1000" u="none" cap="none" strike="noStrike">
                <a:solidFill>
                  <a:srgbClr val="8FB98F"/>
                </a:solidFill>
                <a:latin typeface="Red Hat Mono"/>
                <a:ea typeface="Red Hat Mono"/>
                <a:cs typeface="Red Hat Mono"/>
                <a:sym typeface="Red Hat Mono"/>
              </a:rPr>
              <a:t># registers the ruleset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 = FastAPI()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@app.post("/orders/route")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route(order: dict,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producer: AIOKafkaProducer = Depends(kafka_producer),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 httpx.AsyncClient    = Depends(http_client)):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ctx  = await enrich(order)               </a:t>
            </a:r>
            <a:r>
              <a:rPr b="0" i="0" lang="en-US" sz="1000" u="none" cap="none" strike="noStrike">
                <a:solidFill>
                  <a:srgbClr val="8FB98F"/>
                </a:solidFill>
                <a:latin typeface="Red Hat Mono"/>
                <a:ea typeface="Red Hat Mono"/>
                <a:cs typeface="Red Hat Mono"/>
                <a:sym typeface="Red Hat Mono"/>
              </a:rPr>
              <a:t># gather context (DB /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fact = post("orders", order | ctx)       # evaluate the ruleset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for dest in fact["where_to"]:            # dispatch per destination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proto, target = dest.split(":", 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proto == "kafka":</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producer.send(target, json.dumps(order).encode())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elif proto ==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http.post(target, json=order)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{"routed_to": fact["where_to"]}</a:t>
            </a:r>
            <a:endParaRPr b="0" i="0" sz="100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evaluate → dispatch: the same content-based-router pattern the EIP literature describes, in plain async Python.</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py/59-appI-latency-py.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a 30s gateway timeout + 3 mesh retries with 10s each = a retry storm at the bottom.</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py/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the request lifecycle,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(FastAPI + durable-rules):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durable-rules (PyPI); Open Policy Agent (OPA) and Rego docs; FastAPI / Starlette middleware docs.</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py/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modular monolith: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py/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py/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py/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With a proxy: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py/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py/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With a shared database: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py/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httpx</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FastAPI middleware that routes by request content during cutover.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fastapi import FastAPI, 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httpx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MONOLITH = "http://monolith.svc.cluster.local:8080"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NEW_SVC  = "http://orders.svc.cluster.local:8080"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EU_SVC   = "http://orders-eu.svc.cluster.local:8080"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client = httpx.AsyncClient(timeout=5.0)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@app.middleware("http")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content_router(request: Request, call_next):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request.url.path.startswith("/orders"):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 = await request.body()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json_or_empty(body)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decide by payload content, not URL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payload.get("tenant") == "acme":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NEW_SVC                       </a:t>
            </a:r>
            <a:r>
              <a:rPr b="0" i="0" lang="en-US" sz="900" u="none" cap="none" strike="noStrike">
                <a:solidFill>
                  <a:srgbClr val="8FB98F"/>
                </a:solidFill>
                <a:latin typeface="Red Hat Mono"/>
                <a:ea typeface="Red Hat Mono"/>
                <a:cs typeface="Red Hat Mono"/>
                <a:sym typeface="Red Hat Mono"/>
              </a:rPr>
              <a:t># cut Acme over to new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elif payload.get("region") == "EU":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EU_SVC                        </a:t>
            </a:r>
            <a:r>
              <a:rPr b="0" i="0" lang="en-US" sz="900" u="none" cap="none" strike="noStrike">
                <a:solidFill>
                  <a:srgbClr val="8FB98F"/>
                </a:solidFill>
                <a:latin typeface="Red Hat Mono"/>
                <a:ea typeface="Red Hat Mono"/>
                <a:cs typeface="Red Hat Mono"/>
                <a:sym typeface="Red Hat Mono"/>
              </a:rPr>
              <a:t># EU traffic to regional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MONOLITH                      </a:t>
            </a:r>
            <a:r>
              <a:rPr b="0" i="0" lang="en-US" sz="900" u="none" cap="none" strike="noStrike">
                <a:solidFill>
                  <a:srgbClr val="8FB98F"/>
                </a:solidFill>
                <a:latin typeface="Red Hat Mono"/>
                <a:ea typeface="Red Hat Mono"/>
                <a:cs typeface="Red Hat Mono"/>
                <a:sym typeface="Red Hat Mono"/>
              </a:rPr>
              <a:t># default: legacy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forward(upstream, request,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call_next(request)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forward(): replays the request to upstream with httpx and streams the reply</a:t>
            </a:r>
            <a:endParaRPr b="0" i="0" sz="9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Reads the body, decides by content (tenant / region / feature flag), forwards to monolith or new service.</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py/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 decorating collaborator in Python</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httpx + redis + aiokafka</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FastAPI app that wraps a legacy /orders API and adds: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(1) Redis caching of GET responses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(2) Kafka event emission on writes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(3) request/response auditing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imports: FastAPI, redis.asyncio.Redis, aiokafka.AIOKafkaProducer, httpx, 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legacy = httpx.AsyncClient(base_url="http://legacy.svc:8080", timeout=5.0)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  = Redis.from_url("redis://redis:6379")</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audit  = AIOKafkaProducer(bootstrap_servers="kafka:9092")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@app.get("/orders/{oid}")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get_order(oid: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cache.get(f"order:{oid}"):           # 1. cache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 = await legacy.get(f"/orders/{oid}")                  # 2. legacy call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r.json()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cache.setex(f"order:{oid}", 60, json.dumps(order))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place_order(body: dict):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 = await legacy.post("/orders", json=body)             # 1. legacy first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r.json()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audit.send_and_wait("order.placed", json.dumps(order).encode())  # 2. emit event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cache.delete(f"order:{order['id']}")              # 3. invalidate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and (if you wire it up) auditing: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the cheapest decomposition is often inside one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in one process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Cache-aside (look-aside): the default</a:t>
            </a:r>
            <a:endParaRPr b="0" i="0" sz="3000" u="none" cap="none" strike="noStrike">
              <a:solidFill>
                <a:schemeClr val="dk1"/>
              </a:solidFill>
              <a:latin typeface="Calibri"/>
              <a:ea typeface="Calibri"/>
              <a:cs typeface="Calibri"/>
              <a:sym typeface="Calibri"/>
            </a:endParaRPr>
          </a:p>
        </p:txBody>
      </p:sp>
      <p:pic>
        <p:nvPicPr>
          <p:cNvPr descr="/home/claude/work/png-py/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Cache-aside in Python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redis.asyncio + Postgres</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redis.asyncio import Redis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fastapi import FastAPI, HTTPException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 = Redis.from_url("redis://redis:6379")           # connection pool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TTL   = 60                                              </a:t>
            </a:r>
            <a:r>
              <a:rPr b="0" i="0" lang="en-US" sz="900" u="none" cap="none" strike="noStrike">
                <a:solidFill>
                  <a:srgbClr val="8FB98F"/>
                </a:solidFill>
                <a:latin typeface="Red Hat Mono"/>
                <a:ea typeface="Red Hat Mono"/>
                <a:cs typeface="Red Hat Mono"/>
                <a:sym typeface="Red Hat Mono"/>
              </a:rPr>
              <a:t># 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cache.get(key):                  </a:t>
            </a:r>
            <a:r>
              <a:rPr b="0" i="0" lang="en-US" sz="900" u="none" cap="none" strike="noStrike">
                <a:solidFill>
                  <a:srgbClr val="8FB98F"/>
                </a:solidFill>
                <a:latin typeface="Red Hat Mono"/>
                <a:ea typeface="Red Hat Mono"/>
                <a:cs typeface="Red Hat Mono"/>
                <a:sym typeface="Red Hat Mono"/>
              </a:rPr>
              <a:t># 1. cache lookup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                       </a:t>
            </a:r>
            <a:r>
              <a:rPr b="0" i="0" lang="en-US" sz="900" u="none" cap="none" strike="noStrike">
                <a:solidFill>
                  <a:srgbClr val="8FB98F"/>
                </a:solidFill>
                <a:latin typeface="Red Hat Mono"/>
                <a:ea typeface="Red Hat Mono"/>
                <a:cs typeface="Red Hat Mono"/>
                <a:sym typeface="Red Hat Mono"/>
              </a:rPr>
              <a:t># —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 await db.fetch_one(                       </a:t>
            </a:r>
            <a:r>
              <a:rPr b="0" i="0" lang="en-US" sz="900" u="none" cap="none" strike="noStrike">
                <a:solidFill>
                  <a:srgbClr val="8FB98F"/>
                </a:solidFill>
                <a:latin typeface="Red Hat Mono"/>
                <a:ea typeface="Red Hat Mono"/>
                <a:cs typeface="Red Hat Mono"/>
                <a:sym typeface="Red Hat Mono"/>
              </a:rPr>
              <a:t># 2. DB on miss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id, name, price_cents FROM products WHERE id = $1",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not 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HTTPException(404)</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json.dumps(dict(product)))  </a:t>
            </a:r>
            <a:r>
              <a:rPr b="0" i="0" lang="en-US" sz="900" u="none" cap="none" strike="noStrike">
                <a:solidFill>
                  <a:srgbClr val="8FB98F"/>
                </a:solidFill>
                <a:latin typeface="Red Hat Mono"/>
                <a:ea typeface="Red Hat Mono"/>
                <a:cs typeface="Red Hat Mono"/>
                <a:sym typeface="Red Hat Mono"/>
              </a:rPr>
              <a:t>#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dict(product)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 = $1, price_cents = $2 WHERE id = $3",</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cache.delete(f"product:{pid}")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hit DB and populate. Invalidate on write. Three operations: the rest is conventions about TTL and naming.</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Read-through: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py/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Read-through in Python: a tiny loader wrapper</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read-through wrapper on redis.asyncio</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imports: redis.asyncio.Redis, typing, json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def __init__(self, redis: Redis, loader: Callable[[str], Awaitable[dict]],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int = 60, prefix: str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keeps redis, loader (called on cache miss), ttl and prefix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def get(self, id: str) -&gt; Optional[dict]: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f"{self.prefix}{id}"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self.redis.get(key):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         </a:t>
            </a:r>
            <a:r>
              <a:rPr b="0" i="0" lang="en-US" sz="900" u="none" cap="none" strike="noStrike">
                <a:solidFill>
                  <a:srgbClr val="8FB98F"/>
                </a:solidFill>
                <a:latin typeface="Red Hat Mono"/>
                <a:ea typeface="Red Hat Mono"/>
                <a:cs typeface="Red Hat Mono"/>
                <a:sym typeface="Red Hat Mono"/>
              </a:rPr>
              <a:t>#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value = await self.loader(id)         </a:t>
            </a:r>
            <a:r>
              <a:rPr b="0" i="0" lang="en-US" sz="900" u="none" cap="none" strike="noStrike">
                <a:solidFill>
                  <a:srgbClr val="8FB98F"/>
                </a:solidFill>
                <a:latin typeface="Red Hat Mono"/>
                <a:ea typeface="Red Hat Mono"/>
                <a:cs typeface="Red Hat Mono"/>
                <a:sym typeface="Red Hat Mono"/>
              </a:rPr>
              <a:t># miss → loader fetches from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value is not None: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self.redis.setex(key, self.ttl, json.dumps(value))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value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Wire it up once at startup — callers don't see Redis at all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products =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redis  = Redis.from_url("redis://redis:6379"),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loader = lambda pid: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 60, prefix = "product:",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products.get(pid)            </a:t>
            </a:r>
            <a:r>
              <a:rPr b="0" i="0" lang="en-US" sz="900" u="none" cap="none" strike="noStrike">
                <a:solidFill>
                  <a:srgbClr val="8FB98F"/>
                </a:solidFill>
                <a:latin typeface="Red Hat Mono"/>
                <a:ea typeface="Red Hat Mono"/>
                <a:cs typeface="Red Hat Mono"/>
                <a:sym typeface="Red Hat Mono"/>
              </a:rPr>
              <a:t># one interface; no if/else</a:t>
            </a:r>
            <a:endParaRPr b="0" i="0" sz="90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loader is registered once; every caller sees one .get() method. The cache miss path is invisible.</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Write-through: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py/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Write-through in Python</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write-through with redis.asyncio + Postgres</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1. write the DB first  —  it's the source of truth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name=$1, price_cents=$2 WHERE id=$3",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2. write the cache second  —  set, don't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updated = await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json.dumps(dict(updated)))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Alternative: write cache from the request body if you trust it to be complete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update_product_fast(pid: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name=$1, price_cents=$2 WHERE id=$3",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cache the body directly  —  faster, but the cached value may diverge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from the DB if there are server-side defaults / triggers / computed fields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json.dumps({**body, "id":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(read-back the canonical row, or trust the body for speed).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Write-around: writes skip the cache</a:t>
            </a:r>
            <a:endParaRPr b="0" i="0" sz="3000" u="none" cap="none" strike="noStrike">
              <a:solidFill>
                <a:schemeClr val="dk1"/>
              </a:solidFill>
              <a:latin typeface="Calibri"/>
              <a:ea typeface="Calibri"/>
              <a:cs typeface="Calibri"/>
              <a:sym typeface="Calibri"/>
            </a:endParaRPr>
          </a:p>
        </p:txBody>
      </p:sp>
      <p:pic>
        <p:nvPicPr>
          <p:cNvPr descr="/home/claude/work/png-py/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Write-around in Python</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write-around with selective read-side caching</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Common with append-heavy data: events, logs, telemetry.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Writes go straight to the DB. The cache is irrelevant on writes.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Reads use cache-aside (next-read populates).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record_event(body: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"INSERT INTO events (id, type, payload, ts) VALUES ($1, $2, $3,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body["id"], body["type"], json.dumps(body["payload"]))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no cache write here  —  most events are never read again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optional variant: the same INSERT, then cache.delete(f"event:{id}")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@app.get("/events/{eid}")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get_event(eid: str):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standard cache-aside on the read 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f"event:{eid}"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 = await db.fetch_one("SELECT * FROM events WHERE id=$1", 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is None: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HTTPException(404)</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60, json.dumps(dict(row)))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dict(row)</a:t>
            </a:r>
            <a:endParaRPr b="0" i="0" sz="90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entirely; the first read populates it.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Write-back (write-behind):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py/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Write-back with a background flusher in Python</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write-back with asyncio background task</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MAX_FLUSH_ATTEMPTS, MAX_FLUSH_BACKOFF = 5, 8   # excerpt, examples/25-caching/python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flusher():                                  # 2. drain the dirty set to the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True:                                       # back off after a failed flush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asyncio.sleep(min(FLUSH_PERIOD * 2**failures, MAX_FLUSH_BACKOFF))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ids = await cache.spop("metric:dirty", FLUSH_BATCH)  # cache: decode_responses=True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not ids: continue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rows = [(m, json.dumps(d)) for m in ids if (d := await cache.hgetall(f"metric:{m}"))]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upsert: an id flushed twice is one 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with pool.acquire() as conn: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conn.executemany("INSERT INTO metrics (id, payload) VALUES ($1, $2)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 CONFLICT (id) DO UPDATE SET payload = $2, ts = NOW()", rows)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 Exception:                             # 3. re-queue, bounded by attempts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log.exception("flusher error: flush failed"); failures +=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mid in ids: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 = await cache.hincrby("metric:attempts", mid,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"metric:failed" if n &gt;= MAX_FLUSH_ATTEMPTS else "metric:dirty"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cache.sadd(key, mid)              # parked after 5 tries, never dropped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@app.put("/write-back/metrics/{mid}")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write_back_write(mid: str, body: MetricIn):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mapping = {"value": str(body.value), "tags": json.dumps(body.tags)}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cache.hset(f"metric:{mid}", mapping=mapping)   # 1. cache only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cache.sadd("metric:dirty", mid)                # mark for flush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JSONResponse(status_code=202, content={"ok": True, "action": "cached-for-flush"})</a:t>
            </a:r>
            <a:endParaRPr b="0" i="0" sz="90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Refresh-ahead: keep hot keys warm</a:t>
            </a:r>
            <a:endParaRPr b="0" i="0" sz="3000" u="none" cap="none" strike="noStrike">
              <a:solidFill>
                <a:schemeClr val="dk1"/>
              </a:solidFill>
              <a:latin typeface="Calibri"/>
              <a:ea typeface="Calibri"/>
              <a:cs typeface="Calibri"/>
              <a:sym typeface="Calibri"/>
            </a:endParaRPr>
          </a:p>
        </p:txBody>
      </p:sp>
      <p:pic>
        <p:nvPicPr>
          <p:cNvPr descr="/home/claude/work/png-py/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Refresh-ahead in Python</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refresh-ahead with Redis sorted set</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refresh-ahead (excerpt): cache, db, time and asyncio as in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TTL_S = 60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REFRESH_BEFORE_S = 10              # refresh when TTL drops below this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asyncio.sleep(5)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cutoff = time.time() - 300                       # keys touched in last 5 min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cache.zremrangebyscore("product:hot",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pid_b in await cache.zrange("product:hot", 0,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pid = pid_b.decode()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 await cache.ttl(f"product:{pid}")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0 &lt; ttl &lt; REFRESH_BEFORE_S:               # refresh window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 = await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cache.setex(f"product:{pid}", TTL_S, json.dumps(dict(row)))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@asynccontextmanager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lifespan(app):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 = asyncio.create_task(refresher())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yield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task.cancel()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FastAPI(lifespan=lifespan)                         # created once, with the 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cache.zadd("product:hot", {pid: time.time()})  # touch hot-list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then cache-aside on the key</a:t>
            </a:r>
            <a:endParaRPr b="0" i="0" sz="90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Track 'hot' keys in a Redis sorted set scored by last-access time. Refresh those keys when their TTL falls under a threshold.</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the cheapest cache is no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an explicit TTL or maxmemory-policy on Redis (allkeys-lru typical).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Avoid cache stampedes (thundering herd): when a hot key expires and many concurrent readers all miss at once, they all hit the DB simultaneously. Mitigate with per-key locks in the loader, or with refresh-ahead, or by jittering TTLs slightly per-entry.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Watch for cache aside + write-around without invalidation: the write goes to the DB, but a stale cached value can persist for the full TTL. Invalidate on every write, or use a shorter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the cache as a performance optimisation, never as the source of truth. A cache outage must mean slower reads, not data loss: always have a DB fallback path. Test this by stopping Redis in staging.</a:t>
            </a:r>
            <a:endParaRPr b="0" i="0" sz="17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use when the read path is repetitive across the codebase and you want to factor out the if/else.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use only when extreme write throughput is the constraint, eventual durability is acceptable and your cache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use when a small set of hot keys serves most traffic and miss latency is unacceptable. Adds DB load for the hot set; eliminates user-visible misses on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systems use cache-aside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Red Hat Display"/>
              <a:buNone/>
            </a:pPr>
            <a:r>
              <a:rPr b="1" i="0" lang="en-US" sz="2200" u="none" cap="none" strike="noStrike">
                <a:solidFill>
                  <a:srgbClr val="FFFFFF"/>
                </a:solidFill>
                <a:latin typeface="Red Hat Display"/>
                <a:ea typeface="Red Hat Display"/>
                <a:cs typeface="Red Hat Display"/>
                <a:sym typeface="Red Hat Display"/>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Red Hat Display"/>
              <a:buNone/>
            </a:pPr>
            <a:r>
              <a:rPr b="1" i="0" lang="en-US" sz="4000" u="none" cap="none" strike="noStrike">
                <a:solidFill>
                  <a:srgbClr val="FFFFFF"/>
                </a:solidFill>
                <a:latin typeface="Red Hat Display"/>
                <a:ea typeface="Red Hat Display"/>
                <a:cs typeface="Red Hat Display"/>
                <a:sym typeface="Red Hat Display"/>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py/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Network partition</a:t>
            </a:r>
            <a:endParaRPr b="0" i="0" sz="3000" u="none" cap="none" strike="noStrike">
              <a:solidFill>
                <a:schemeClr val="dk1"/>
              </a:solidFill>
              <a:latin typeface="Calibri"/>
              <a:ea typeface="Calibri"/>
              <a:cs typeface="Calibri"/>
              <a:sym typeface="Calibri"/>
            </a:endParaRPr>
          </a:p>
        </p:txBody>
      </p:sp>
      <p:pic>
        <p:nvPicPr>
          <p:cNvPr descr="/home/claude/work/png-py/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Split-brain</a:t>
            </a:r>
            <a:endParaRPr b="0" i="0" sz="3000" u="none" cap="none" strike="noStrike">
              <a:solidFill>
                <a:schemeClr val="dk1"/>
              </a:solidFill>
              <a:latin typeface="Calibri"/>
              <a:ea typeface="Calibri"/>
              <a:cs typeface="Calibri"/>
              <a:sym typeface="Calibri"/>
            </a:endParaRPr>
          </a:p>
        </p:txBody>
      </p:sp>
      <p:pic>
        <p:nvPicPr>
          <p:cNvPr descr="/home/claude/work/png-py/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Partial failure</a:t>
            </a:r>
            <a:endParaRPr b="0" i="0" sz="3000" u="none" cap="none" strike="noStrike">
              <a:solidFill>
                <a:schemeClr val="dk1"/>
              </a:solidFill>
              <a:latin typeface="Calibri"/>
              <a:ea typeface="Calibri"/>
              <a:cs typeface="Calibri"/>
              <a:sym typeface="Calibri"/>
            </a:endParaRPr>
          </a:p>
        </p:txBody>
      </p:sp>
      <p:pic>
        <p:nvPicPr>
          <p:cNvPr descr="/home/claude/work/png-py/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Gray failure</a:t>
            </a:r>
            <a:endParaRPr b="0" i="0" sz="3000" u="none" cap="none" strike="noStrike">
              <a:solidFill>
                <a:schemeClr val="dk1"/>
              </a:solidFill>
              <a:latin typeface="Calibri"/>
              <a:ea typeface="Calibri"/>
              <a:cs typeface="Calibri"/>
              <a:sym typeface="Calibri"/>
            </a:endParaRPr>
          </a:p>
        </p:txBody>
      </p:sp>
      <p:pic>
        <p:nvPicPr>
          <p:cNvPr descr="/home/claude/work/png-py/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py/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Cascading failure</a:t>
            </a:r>
            <a:endParaRPr b="0" i="0" sz="3000" u="none" cap="none" strike="noStrike">
              <a:solidFill>
                <a:schemeClr val="dk1"/>
              </a:solidFill>
              <a:latin typeface="Calibri"/>
              <a:ea typeface="Calibri"/>
              <a:cs typeface="Calibri"/>
              <a:sym typeface="Calibri"/>
            </a:endParaRPr>
          </a:p>
        </p:txBody>
      </p:sp>
      <p:pic>
        <p:nvPicPr>
          <p:cNvPr descr="/home/claude/work/png-py/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The defensive toolkit: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py/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httpx + asyncio</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examples/26-failure-modes/python/edge-service/main.py (condensed excerpts)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One client for the process; every call gives up after 2 s (0.5 s to connect).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@asynccontextmanager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lifespan(app: FastAPI):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with httpx.AsyncClient(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base_url=settings.backend_url, timeout=httpx.Timeout(2.0, connect=0.5)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as 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app.state.client = 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yield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@app.get("/with-deadline")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with_deadline(budget_ms: int = Query(default=1000)):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remaining = budget_ms - 50  # edge overhead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remaining &lt; 50: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{"error": "deadline_exceeded", "reason": "insufficient budget at edge"}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headers={"X-Deadline-Ms": str(remaining)},             # propagate the budget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timeout=httpx.Timeout(remaining / 1000.0, connect=0.5),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{"status": r.status_code, "body": r.json()}</a:t>
            </a:r>
            <a:endParaRPr b="0" i="0" sz="11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py/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tenacity</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examples/26-failure-modes/python/edge-service/main.py (condensed excerpt)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tenacity: 3 attempts, 100 ms doubling to 2 s with jitter; a 5xx or transport error retries.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@app.get("/with-retry")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with_retry():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for attempt in AsyncRetrying(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stop=stop_after_attempt(3),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wait=wait_exponential_jitter(initial=0.1, max=2.0, jitter=0.05),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retry=retry_if_exception_type((httpx.HTTPStatusError, httpx.TransportError)),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reraise=True,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 attempt: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attempt.retry_state.attempt_number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client().get("/process")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{"status": r.status_code, "attempts": attempts, "body": r.json()}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(httpx.HTTPStatusError, httpx.TransportError):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{"attempts": attempts, "pattern": "retry-exhausted"}</a:t>
            </a:r>
            <a:endParaRPr b="0" i="0" sz="1100" u="none" cap="none" strike="noStrike">
              <a:solidFill>
                <a:schemeClr val="dk1"/>
              </a:solidFill>
              <a:latin typeface="Calibri"/>
              <a:ea typeface="Calibri"/>
              <a:cs typeface="Calibri"/>
              <a:sym typeface="Calibri"/>
            </a:endParaRP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Circuit breaker: the state machine</a:t>
            </a:r>
            <a:endParaRPr b="0" i="0" sz="3000" u="none" cap="none" strike="noStrike">
              <a:solidFill>
                <a:schemeClr val="dk1"/>
              </a:solidFill>
              <a:latin typeface="Calibri"/>
              <a:ea typeface="Calibri"/>
              <a:cs typeface="Calibri"/>
              <a:sym typeface="Calibri"/>
            </a:endParaRPr>
          </a:p>
        </p:txBody>
      </p:sp>
      <p:pic>
        <p:nvPicPr>
          <p:cNvPr descr="/home/claude/work/png-py/117-failure-circuit-breaker.png" id="2656" name="Google Shape;2656;p2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pybreaker</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examples/26-failure-modes/python/edge-service/main.py (condensed excerpts)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pybreaker: 5 failed calls open it, it stays open 10 s, 2 successful trials close 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breaker = pybreaker.CircuitBreaker(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fail_max=5, reset_timeout=10, success_threshold=2,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throw_new_error_on_trip=False, name="backend",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@app.get("/with-breaker")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with_breaker():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 breaker.calling():                 # wraps an awaited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client().get("/process")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                # a 5xx counts as a failure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{"source": "live", "body": r.json(), "breaker": breaker.current_state}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pybreaker.CircuitBreakerError: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 = "circuit_open"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httpx.HTTPStatusError as 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 = f"upstream_{e.response.status_code}"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httpx.TransportError: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 = "upstream_unreachable"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{"source": "fallback", "reason": reason, "breaker": breaker.current_state}</a:t>
            </a:r>
            <a:endParaRPr b="0" i="0" sz="1100" u="none" cap="none" strike="noStrike">
              <a:solidFill>
                <a:schemeClr val="dk1"/>
              </a:solidFill>
              <a:latin typeface="Calibri"/>
              <a:ea typeface="Calibri"/>
              <a:cs typeface="Calibri"/>
              <a:sym typeface="Calibri"/>
            </a:endParaRP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Bulkhead: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as a security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asyncio.Semaphore plus per-tenant aiohttp/httpx connection pools, lightweight in-process bulkheads paired with per-call timeouts.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observability tie-in: you cannot shed or degrade intelligently without it;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Istio: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py/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lifespan</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main.py (excerpt), examples/21-graceful-shutdown/python: one SIGTERM, four steps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def handle_sigterm(signum, frame):            # installed in the lifespan, chained to uvicorn's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global shutting_down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shutting_down: return                  # already draining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shutting_down = True                      # 1. /readyz answers 503: the LB stops routing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loop.call_soon_threadsafe(loop.call_later, DRAIN_DELAY_SECONDS,   # 2. keep serving 5 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stop_server, signum, frame)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def stop_server(signum, frame):               # 3. uvicorn stops accepting, finishes in-flight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uvicorn_sigterm(signum, frame)            #    (--timeout-graceful-shutdown 20)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@asynccontextmanager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lifespan(app: FastAPI):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global uvicorn_sigterm, loop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loop = asyncio.get_running_loop()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uvicorn_sigterm = signal.signal(signal.SIGTERM, handle_sigterm)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yield                                     # ---------- app serves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db_pool.close()                     # 4. close resources, exit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@app.get("/readyz")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shutting_down:                         # liveness (/healthz) stays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JSONResponse({"ready": False, "reason": "shutting down"}, 503)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{"ready": True}                    # (the example also pings Postgres here)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K8s: terminationGracePeriodSeconds: 30 &gt;= 5 s delay + 20 s drain + buffer  (App. H)</a:t>
            </a:r>
            <a:endParaRPr b="0" i="0" sz="1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Observing failure modes</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py/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Red Hat Display"/>
              <a:buNone/>
            </a:pPr>
            <a:r>
              <a:rPr b="1" i="0" lang="en-US" sz="3000" u="none" cap="none" strike="noStrike">
                <a:solidFill>
                  <a:srgbClr val="151515"/>
                </a:solidFill>
                <a:latin typeface="Red Hat Display"/>
                <a:ea typeface="Red Hat Display"/>
                <a:cs typeface="Red Hat Display"/>
                <a:sym typeface="Red Hat Display"/>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configure the OpenFeature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 import api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openfeature.contrib.provider.flagd import FlagdProvider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openfeature.evaluation_context import EvaluationContext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api.set_provider(FlagdProvider(host=settings.flagd_host, port=settings.flagd_port))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flags = api.get_client()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@app.post('/checkout')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checkout(cart: Cart, x_user: str = Header()):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ctx = EvaluationContext(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targeting_key=x_user,                 # sticky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attributes={'plan': cart.plan, 'region': cart.region})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line - same call whether on/off, entitlement, or rollout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use_new = flags.get_boolean_value('new-checkout',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(new_checkout(cart) if use_new else legacy_checkout(cart))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recommend(user_id: str) -&gt; Recommendations: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flags.get_boolean_value('recommendations-enabled', True, ctx(user_id)):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recommendation_client.fetch(user_id)   # pairs w/ a breaker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Python / FastAPI — serve,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uv run uvicorn main:app --port 8080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k8s/overlays/python/kustomization.yaml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localhost/cndp-05/python-order-service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DATABASE_URL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"postgres://$(PG_USER):$(PG_PASSWORD)@cndp-postgres-rw:5432/appdb"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memory: requests 128Mi, limits 256Mi</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python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python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TextBox 1"/>
          <p:cNvSpPr txBox="1"/>
          <p:nvPr/>
        </p:nvSpPr>
        <p:spPr>
          <a:xfrm>
            <a:off x="566927" y="384047"/>
            <a:ext cx="11055077" cy="292607"/>
          </a:xfrm>
          <a:prstGeom prst="rect">
            <a:avLst/>
          </a:prstGeom>
          <a:noFill/>
        </p:spPr>
        <p:txBody>
          <a:bodyPr wrap="square" lIns="0" rIns="0" tIns="0" bIns="0" anchor="ctr">
            <a:spAutoFit/>
          </a:bodyPr>
          <a:lstStyle/>
          <a:p>
            <a:pPr algn="l"/>
            <a:r>
              <a:rPr sz="1199" b="1" i="0" spc="399">
                <a:solidFill>
                  <a:srgbClr val="EE0000"/>
                </a:solidFill>
                <a:latin typeface="Red Hat Display"/>
                <a:cs typeface="Red Hat Display"/>
              </a:rPr>
              <a:t>SCAN TO EXPLORE</a:t>
            </a:r>
          </a:p>
        </p:txBody>
      </p:sp>
      <p:sp>
        <p:nvSpPr>
          <p:cNvPr id="3" name="TextBox 2"/>
          <p:cNvSpPr txBox="1"/>
          <p:nvPr/>
        </p:nvSpPr>
        <p:spPr>
          <a:xfrm>
            <a:off x="566927" y="676654"/>
            <a:ext cx="11055077" cy="1005838"/>
          </a:xfrm>
          <a:prstGeom prst="rect">
            <a:avLst/>
          </a:prstGeom>
          <a:noFill/>
        </p:spPr>
        <p:txBody>
          <a:bodyPr wrap="square" lIns="0" rIns="0" tIns="0" bIns="0" anchor="t">
            <a:spAutoFit/>
          </a:bodyPr>
          <a:lstStyle/>
          <a:p>
            <a:pPr algn="l"/>
            <a:r>
              <a:rPr sz="2999" b="1" i="0">
                <a:solidFill>
                  <a:srgbClr val="151515"/>
                </a:solidFill>
                <a:latin typeface="Red Hat Display"/>
                <a:cs typeface="Red Hat Display"/>
              </a:rPr>
              <a:t>Take it with you</a:t>
            </a:r>
          </a:p>
        </p:txBody>
      </p:sp>
      <p:pic>
        <p:nvPicPr>
          <p:cNvPr id="4" name="Picture 3" descr="qr-cndp-site.png"/>
          <p:cNvPicPr>
            <a:picLocks noChangeAspect="1"/>
          </p:cNvPicPr>
          <p:nvPr/>
        </p:nvPicPr>
        <p:blipFill>
          <a:blip r:embed="rId2"/>
          <a:stretch>
            <a:fillRect/>
          </a:stretch>
        </p:blipFill>
        <p:spPr>
          <a:xfrm>
            <a:off x="2103116" y="1627629"/>
            <a:ext cx="2834635" cy="2834635"/>
          </a:xfrm>
          <a:prstGeom prst="rect">
            <a:avLst/>
          </a:prstGeom>
        </p:spPr>
      </p:pic>
      <p:sp>
        <p:nvSpPr>
          <p:cNvPr id="5" name="TextBox 4"/>
          <p:cNvSpPr txBox="1"/>
          <p:nvPr/>
        </p:nvSpPr>
        <p:spPr>
          <a:xfrm>
            <a:off x="1417317" y="4553704"/>
            <a:ext cx="4206233" cy="365759"/>
          </a:xfrm>
          <a:prstGeom prst="rect">
            <a:avLst/>
          </a:prstGeom>
          <a:noFill/>
        </p:spPr>
        <p:txBody>
          <a:bodyPr wrap="square" lIns="0" rIns="0" tIns="0" bIns="0" anchor="ctr">
            <a:spAutoFit/>
          </a:bodyPr>
          <a:lstStyle/>
          <a:p>
            <a:pPr algn="ctr"/>
            <a:r>
              <a:rPr sz="1799" b="1" i="0">
                <a:solidFill>
                  <a:srgbClr val="151515"/>
                </a:solidFill>
                <a:latin typeface="Red Hat Display"/>
                <a:cs typeface="Red Hat Display"/>
              </a:rPr>
              <a:t>The site</a:t>
            </a:r>
          </a:p>
        </p:txBody>
      </p:sp>
      <p:sp>
        <p:nvSpPr>
          <p:cNvPr id="6" name="TextBox 5"/>
          <p:cNvSpPr txBox="1"/>
          <p:nvPr/>
        </p:nvSpPr>
        <p:spPr>
          <a:xfrm>
            <a:off x="1325877" y="4937751"/>
            <a:ext cx="4389112" cy="658366"/>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cloud-native design patterns, with runnable examples</a:t>
            </a:r>
          </a:p>
        </p:txBody>
      </p:sp>
      <p:sp>
        <p:nvSpPr>
          <p:cNvPr id="7" name="TextBox 6"/>
          <p:cNvSpPr txBox="1"/>
          <p:nvPr/>
        </p:nvSpPr>
        <p:spPr>
          <a:xfrm>
            <a:off x="1325877" y="5596118"/>
            <a:ext cx="4389112" cy="292607"/>
          </a:xfrm>
          <a:prstGeom prst="rect">
            <a:avLst/>
          </a:prstGeom>
          <a:noFill/>
        </p:spPr>
        <p:txBody>
          <a:bodyPr wrap="square" lIns="0" rIns="0" tIns="0" bIns="0" anchor="ctr">
            <a:spAutoFit/>
          </a:bodyPr>
          <a:lstStyle/>
          <a:p>
            <a:pPr algn="ctr"/>
            <a:r>
              <a:rPr sz="999" b="0" i="0">
                <a:solidFill>
                  <a:srgbClr val="EE0000"/>
                </a:solidFill>
                <a:latin typeface="Red Hat Mono"/>
                <a:cs typeface="Red Hat Mono"/>
              </a:rPr>
              <a:t>patterncatalyst.github.io/cloud-native-design-patterns</a:t>
            </a:r>
          </a:p>
        </p:txBody>
      </p:sp>
      <p:pic>
        <p:nvPicPr>
          <p:cNvPr id="8" name="Picture 7" descr="qr-hub.png"/>
          <p:cNvPicPr>
            <a:picLocks noChangeAspect="1"/>
          </p:cNvPicPr>
          <p:nvPr/>
        </p:nvPicPr>
        <p:blipFill>
          <a:blip r:embed="rId3"/>
          <a:stretch>
            <a:fillRect/>
          </a:stretch>
        </p:blipFill>
        <p:spPr>
          <a:xfrm>
            <a:off x="7251179" y="1627629"/>
            <a:ext cx="2834635" cy="2834635"/>
          </a:xfrm>
          <a:prstGeom prst="rect">
            <a:avLst/>
          </a:prstGeom>
        </p:spPr>
      </p:pic>
      <p:sp>
        <p:nvSpPr>
          <p:cNvPr id="9" name="TextBox 8"/>
          <p:cNvSpPr txBox="1"/>
          <p:nvPr/>
        </p:nvSpPr>
        <p:spPr>
          <a:xfrm>
            <a:off x="6565381" y="4553704"/>
            <a:ext cx="4206233" cy="365759"/>
          </a:xfrm>
          <a:prstGeom prst="rect">
            <a:avLst/>
          </a:prstGeom>
          <a:noFill/>
        </p:spPr>
        <p:txBody>
          <a:bodyPr wrap="square" lIns="0" rIns="0" tIns="0" bIns="0" anchor="ctr">
            <a:spAutoFit/>
          </a:bodyPr>
          <a:lstStyle/>
          <a:p>
            <a:pPr algn="ctr"/>
            <a:r>
              <a:rPr sz="1799" b="1" i="0">
                <a:solidFill>
                  <a:srgbClr val="151515"/>
                </a:solidFill>
                <a:latin typeface="Red Hat Display"/>
                <a:cs typeface="Red Hat Display"/>
              </a:rPr>
              <a:t>Workshops &amp; Tutorials</a:t>
            </a:r>
          </a:p>
        </p:txBody>
      </p:sp>
      <p:sp>
        <p:nvSpPr>
          <p:cNvPr id="10" name="TextBox 9"/>
          <p:cNvSpPr txBox="1"/>
          <p:nvPr/>
        </p:nvSpPr>
        <p:spPr>
          <a:xfrm>
            <a:off x="6473941" y="4937751"/>
            <a:ext cx="4389112" cy="658366"/>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whole series: every workshop, tutorial, and deck in one place</a:t>
            </a:r>
          </a:p>
        </p:txBody>
      </p:sp>
      <p:sp>
        <p:nvSpPr>
          <p:cNvPr id="11" name="TextBox 10"/>
          <p:cNvSpPr txBox="1"/>
          <p:nvPr/>
        </p:nvSpPr>
        <p:spPr>
          <a:xfrm>
            <a:off x="6473941" y="5596118"/>
            <a:ext cx="4389112" cy="292607"/>
          </a:xfrm>
          <a:prstGeom prst="rect">
            <a:avLst/>
          </a:prstGeom>
          <a:noFill/>
        </p:spPr>
        <p:txBody>
          <a:bodyPr wrap="square" lIns="0" rIns="0" tIns="0" bIns="0" anchor="ctr">
            <a:spAutoFit/>
          </a:bodyPr>
          <a:lstStyle/>
          <a:p>
            <a:pPr algn="ctr"/>
            <a:r>
              <a:rPr sz="899" b="0" i="0">
                <a:solidFill>
                  <a:srgbClr val="EE0000"/>
                </a:solidFill>
                <a:latin typeface="Red Hat Mono"/>
                <a:cs typeface="Red Hat Mono"/>
              </a:rPr>
              <a:t>patterncatalyst.github.io/patterncatalyst-workshops-tutorials-list</a:t>
            </a:r>
          </a:p>
        </p:txBody>
      </p:sp>
      <p:sp>
        <p:nvSpPr>
          <p:cNvPr id="12" name="TextBox 11"/>
          <p:cNvSpPr txBox="1"/>
          <p:nvPr/>
        </p:nvSpPr>
        <p:spPr>
          <a:xfrm>
            <a:off x="566927" y="6364213"/>
            <a:ext cx="914398" cy="274319"/>
          </a:xfrm>
          <a:prstGeom prst="rect">
            <a:avLst/>
          </a:prstGeom>
          <a:noFill/>
        </p:spPr>
        <p:txBody>
          <a:bodyPr wrap="square" lIns="0" rIns="0" tIns="0" bIns="0" anchor="ctr">
            <a:spAutoFit/>
          </a:bodyPr>
          <a:lstStyle/>
          <a:p>
            <a:pPr algn="l"/>
            <a:r>
              <a:rPr sz="999" b="0" i="0">
                <a:solidFill>
                  <a:srgbClr val="8A8A8A"/>
                </a:solidFill>
                <a:latin typeface="Red Hat Text"/>
                <a:cs typeface="Red Hat Text"/>
              </a:rPr>
              <a:t>282</a:t>
            </a:r>
          </a:p>
        </p:txBody>
      </p:sp>
      <p:pic>
        <p:nvPicPr>
          <p:cNvPr id="13" name="Picture 12" descr="image.png"/>
          <p:cNvPicPr>
            <a:picLocks noChangeAspect="1"/>
          </p:cNvPicPr>
          <p:nvPr/>
        </p:nvPicPr>
        <p:blipFill>
          <a:blip r:embed="rId4"/>
          <a:stretch>
            <a:fillRect/>
          </a:stretch>
        </p:blipFill>
        <p:spPr>
          <a:xfrm>
            <a:off x="10561302" y="6355069"/>
            <a:ext cx="1033270" cy="246887"/>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