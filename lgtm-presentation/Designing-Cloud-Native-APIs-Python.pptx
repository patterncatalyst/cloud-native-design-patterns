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Python/FastAPI, gRPC, GraphQL, Kafka, Kubernetes.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endParaRP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pydantic-settings (factor III), never from baked-in files, and pyproject.toml pins every direct dependency with == while uv.lock records the full resolved set, so the image build (uv sync --locked) is reproducible. The version on the FastAPI app comes from SERVICE_VERSION and shows up in OpenAPI and the registry.</a:t>
            </a:r>
            <a:endParaRPr/>
          </a:p>
          <a:p>
            <a:pPr indent="0" lvl="0" marL="0" rtl="0" algn="l">
              <a:spcBef>
                <a:spcPts val="0"/>
              </a:spcBef>
              <a:spcAft>
                <a:spcPts val="0"/>
              </a:spcAft>
              <a:buNone/>
            </a:pPr>
            <a:r>
              <a:rPr lang="en-US"/>
              <a:t>The two probes are the contract with Kubernetes. /healthz is liveness (is the process alive? if not, restart it) and never checks dependencies. /readyz is readiness (can it serve?): it runs SELECT 1 on the database pool and, when that fails, answers 503 with status down, which takes the pod out of rotation without killing it. The probe reads the status code, not the body: Kubernetes treats any answer from 200 to 399 as ready. Getting liveness and readiness wrong is a top cause of cascading restarts, so stress the distinction.</a:t>
            </a:r>
            <a:endParaRP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and response contracts validated by Pydantic so bad input never reaches your logic; (3) correct status codes: 201 on create, not 200; (4) cursor pagination, not offset, because offset breaks under concurrent writes and gets slow at depth. FastAPI emits the OpenAPI spec from the handlers without extra code, and that spec is what we register and gate. Test this surface with curl and Postman.</a:t>
            </a:r>
            <a:endParaRP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Highlight that the field numbers (=1, =2) are the wire contract: we return to exactly why in Appendix B. Generated stubs (via protoc or buf) mean both sides share types; no hand-written JSON parsing. It's binary and multiplexed over HTTP/2, so it's fast and supports streaming. The right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Order type's stock field resolves on demand by calling inventory-service over gRPC; the top-level order query calls order-service over REST. Each field resolves against its owning service: the gateway is just the composition layer. Mention the N+1 risk: naive per-field resolution can explode into many back-end calls, so production gateways use DataLoader-style batching. Strawberry is the modern code-first choice; Graphene is the alternative if you need its broader ecosystem. The schema's SDL is exported to the registry.</a:t>
            </a:r>
            <a:endParaRP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web vs mobile), and GraphQL federation (a distributed graph). All three push aggregation outward to the edge. The anti-pattern to call out explicitly: service-to-service call chains, where order calls inventory calls pricing calls...: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Python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endParaRP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single `async with db.transaction()` block: the order insert and the outbox insert commit together or not at all. The request path never awaits Kafka: if the broker is down, the order still commits and the event ships later when CDC catches up. This decouples your request latency and availability from Kafka's. Debezium tails the write-ahead log and publishes outbox rows in commit order, giving you a guaranteed, ordered event stream. This pattern shows up again implicitly in the saga appendix, where the state transition and outbound command must commit together.</a:t>
            </a:r>
            <a:endParaRP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things to drill home from this code. First, enable_auto_commit=False, and commit only once the side-effect (send_email) has succeeded: commit first and then crash, and the work is lost. Second, because we commit after, a crash mid-handler means the message is redelivered, so delivery is at-least-once and your handlers must be idempotent (dedupe by message key or an idempotency key). Exactly-once is a marketing term that mostly means at-least-once plus idempotency. The schema-aware serde line leads into schemas and the registry.</a:t>
            </a:r>
            <a:endParaRP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faust-streaming 0.15.3 is the maintained fork of Faust; the import name is still faust. The Table is the key idea: local state, a running revenue total per merchant and window, backed by a Kafka changelog topic, so when the pod dies the state rebuilds by replaying the changelog. The store is memory:// because every write is mirrored to the changelog: fault-tolerant local state without an external database in the hot path.</a:t>
            </a:r>
            <a:endParaRPr/>
          </a:p>
          <a:p>
            <a:pPr indent="0" lvl="0" marL="0" rtl="0" algn="l">
              <a:spcBef>
                <a:spcPts val="0"/>
              </a:spcBef>
              <a:spcAft>
                <a:spcPts val="0"/>
              </a:spcAft>
              <a:buNone/>
            </a:pPr>
            <a:r>
              <a:rPr lang="en-US"/>
              <a:t>The windows are tumbling five-minute windows with no grace, placed by each record's own timestamp (relative_to_stream). Every update goes to revenue.by-merchant, a derived stream other services consume. The example keeps the same contract as the Kafka Streams, Streamiz and goka versions; mention Flink as the cluster-scale alternative if asked.</a:t>
            </a:r>
            <a:endParaRP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The CI pipeline posts the new schema version to Apicurio; if it violates the artifact's compatibility rule, Apicurio returns 400 and the script fails the build, blocking the merge. The point to make: the contract is enforced before code ships, not discovered broken in production by a downstream team. The rule (e.g. BACKWARD: new consumers can read old data) is set once per artifact and then enforced automatically forever. Tie it back: this is design-first, now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aggregate rates, errors, latencies over time (the RED method: Rate, Errors, Duration; the USE method: Utilisation, Saturation, Errors). Logs answer what exactly happened in one component. Baggage is the signal most people miss: it's key-value context (tenant_id, user_tier, feature_flag) that propagates along the whole trace, so a value set at the edge is readable in a Kafka consumer three hops downstream. Profiles are the newest signal: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they layer into one trace.</a:t>
            </a:r>
            <a:endParaRP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instrument_app(app) makes every FastAPI request a span automatically; the aiokafka instrumentor propagates trace context onto the event so the trace continues into consumers. You only hand-write spans for custom business operations worth measuring, like reserve_stock. The crucial behaviour is the last comment: the trace_id flows REST → gRPC → Kafka → consumer with no manual plumbing, because the instrumentors inject and extract context at each hop. The Collector ships everything to the backends keyed by that trace_id. Instrument once, correlate everything.</a:t>
            </a:r>
            <a:endParaRP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it's the trace context physically travelling with the request, in-band, at every hop. The W3C traceparent header is the standard: version-traceid-parentspanid-flags. The trace_id (16 bytes) is constant across every hop of the request: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automatically, which is why auto-instrumentation 'just works' across services. This propagated context is exactly why the same trace_id shows up on the trace waterfall, on every structured log line, and as an exemplar on your metrics: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Here we set tenant_id and user_tier in an HTTP middleware at the edge; the OTel SDK serialises them into the W3C baggage header and propagates them on every downstream call (HTTP, gRPC, Kafka) automatically. Three hops later, a Kafka consumer reads baggage.get_baggage('tenant_id') without anyone having passed it explicitly. The common idiom is to also set it as a span attribute (set_attribute) so the value is queryable in the trace UI: 'show me all slow traces for tenant acme.' Caution: baggage travels on the wire to every downstream service, including third parties if you call them, so never put secrets or PII in baggage.</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keep 10%, predictable volume. Rate-limiting is better when traffic is bursty because it caps absolute volume. Parent-based is non-negotiable in a distributed system: without it, service A samples a trace but service B independently drops it, and you get a broken trace with holes: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use a trace-ID-aware load balancer). The recommended setup combines head (for a cheap representative baseline) and tail (for guaranteed capture of the interesting traces). The sub-bullet is the reminder: traces, metrics and logs are sampled differently: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only allow inbound traffic on the sidecar's mTLS port, never the app's container port directly. With both the sidecar and the NetworkPolicy, the app can fully trust the headers and become much simpler: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(hmac.new with hashlib.sha256).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hmac.compare_digest,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they authenticate against your IdP (Keycloak, or Dex federating an existing directory), the IAP issues a session, every request from then on carries identity. Inside the cluster, SPIFFE is the service-identity mechanism that makes mTLS work without manual cert management: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 asyncio the standard library is the idiomatic tool: one Semaphore of five permits per tenant, created on first use. Before taking a permit the handler checks locked(); a tenant that already has five orders in flight gets a 429 at once instead of waiting in a queue, while every other tenant keeps its own five.</a:t>
            </a:r>
            <a:endParaRPr/>
          </a:p>
          <a:p>
            <a:pPr indent="0" lvl="0" marL="0" rtl="0" algn="l">
              <a:spcBef>
                <a:spcPts val="0"/>
              </a:spcBef>
              <a:spcAft>
                <a:spcPts val="0"/>
              </a:spcAft>
              <a:buNone/>
            </a:pPr>
            <a:r>
              <a:rPr lang="en-US"/>
              <a:t>The in-flight counter feeds the bulkhead-state endpoint without reading the semaphore's private state. Per-tenant HTTP connection pools are a separate bulkhead at the socket level: the semaphore caps concurrent work, the pool caps sockets. At the platform layer, Istio's per-destination connection-pool limits complement both.</a:t>
            </a:r>
            <a:endParaRP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_mint_valet (900 seconds), and publishes only a small claim (order id, URI and the ticket) to order.documents with aiokafka's send_and_wait.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no shared tables. (3) Push aggregation to a gateway or BFF and forbid synchronous call chains deeper than one hop. (4) No contract in the registry, no merge, and every retry has a timeout and a bound. (5) If you can't trace it, you can't run it: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choosing a protocol.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the same leaky-internal-models anti-pattern.</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hand-building dicts,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Strawberry. We add total_minor additively and mark the old total field with a deprecation_reason. The field keeps working and nothing breaks, but the deprecation shows up in introspection and in tools like Playground, nudging client developers. The crucial operational piece is the comment: you instrument field-level usage on the server, and you only remove total when its usage drops to zero. That's the whole GraphQL philosophy: evolution governed by data, with the breaking removal deferred until it's provably safe. Compare and contrast with REST's media types and gRPC's tag rules: each protocol answers the same problem differently.</a:t>
            </a:r>
            <a:endParaRP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the opposite of the stateless request model the platform assumes. We'll build one in FastAPI, see why it fights scaling, fix it with a backplane, make it fast and versioned with protobuf, and make it survivable with reconnection.</a:t>
            </a:r>
            <a:endParaRP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FastAPI makes the endpoint trivial: accept, then loop receiving and handling messages full-duplex until disconnect. But point hard at the clients dict: it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over send_bytes are markedly smaller and cheaper to parse than JSON text: meaningful when you're pushing high-frequency updates to many sockets. Versioning: because WebSocket messages have no URL to hang a version on, you version the envelope. A version field lets the client detect an incompatible payload format and renegotiate or reconnect; the type field dispatches to the right protobuf message; and a monotonic seq number per connection is what makes reconnection and replay possible, the basis of resume-don't-restart failure handling. So the envelope solves both 'make it fast' and 'how do I version a socket message' at once.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a pod restart would strand every in-flight saga with no idea what to compensate. Three real options. A DB-backed state machine: one row per saga instance holding its status and a context blob; you own the transitions: simplest, and great for most cases. Event-sourced: append each step as an event and rebuild state by replay: full audit history, fits naturally with the Kafka log. A workflow engine like Temporal or Camunda: durable execution with retries and timers built in: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reversed(STEPS[:step_index]), only the steps that completed, newest first, and invoke each compensation. The idempotency_key built from saga_id plus step is the line that prevents the nightmare scenario: a retry double-refunding a customer. The compensating service dedupes on that key. In a production version you'd track per-step compensation status too, so if compensation itself crashes halfway you resume from the right place rather than re-running already-done compensations, but the idempotency key makes even naive re-runs safe. This is why compensations are designed up front, as part of each step, not bolted on after.</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but B needs a value that only A produced (say A returns a reservation_id and a warehouse region that B requires to proceed). The tempting wrong answer is to have B call A directly: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step_index already points at book_shipping and the context already contains A's result, both committed before the crash. It calls advance(), B runs with A's data, and A is never re-invoked: no lost data, no duplicate reservation. The persisted context is simultaneously the answer to 'how does B get A's data' and 'how do I resume cleanly':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a retryable flag (with retry-after when known), and structured field-level details. The four protocols just encode those same five facts differently: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exception handler is the right pattern: domain code raises a typed exception, and one place maps it to the wire format, so you never scatter ad-hoc error JSON across endpoints. Note the media type is application/problem+json (RFC 9457), the status matches the category (409 here: a conflict the client can act on), and the body carries the stable code and the traceId for correlation. What's absent: any stack trace, exception class name, or SQL; those leak internals and are an attack surface. In FastAPI you'd register one handler per error family, or a base-class handler that switches on a code.</a:t>
            </a:r>
            <a:endParaRP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rich-error model in Python via the grpcio-status package. The canonical code UNAVAILABLE tells the client and the mesh this is transient and retryable; the google.rpc.Status carries structured details: ErrorInfo with a machine reason and domain, and RetryInfo telling the client exactly how long to wait before retrying. abort_with_status puts all of it in the trailers. The key discipline: don't overload a generic INTERNAL code for everything: the code is how automated clients decide whether and when to retry, so getting it right is what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point is the final commit in the except branch: whether the record succeeded, got routed to a retry topic, or landed in the DLQ, we commit the offset so the partition keeps moving. The retries header tracks attempts and is incremented on each delayed-retry hop; after MAX_RETRIES the record goes to the DLQ with its payload and a traceId header for investigation. This is the manual version of what a framework gives you declaratively, and it's the pattern that stops one bad message from taking down a consumer group. Make handle() idempotent, because at-least-once delivery means retried records may have partially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Raising a GraphQLError from a single field's resolver is exactly right: Strawberry catches it, sets that field to null, and appends an entry to the errors[] array with the message, the path, and your extensions: while every other field in the query resolves and returns normally. The extensions object is where the shared error contract lives in GraphQL: code, retryable, traceId. Resist the urge to let the exception bubble to the top and fail the whole operation; that's the blanket-failure anti-pattern. The client sees the order and total, sees stock is null, reads extensions.code, and decides whether to retry just stock.</a:t>
            </a:r>
            <a:endParaRP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mesh config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interfaces (Protocols) for what it needs, a repository and an event publisher, and depends on nothing else. The application service PlaceOrder is pure: it creates the aggregate, saves via the port, publishes a domain event via the port, and never imports FastAPI, asyncpg or Kafka. The REST adapter is trivial: it turns an HTTP body into a command and calls the use case; a gRPC or GraphQL adapter would be the same three lines. The outbound ports are implemented by adapters (a Postgres repository, a Kafka publisher) injected at startup. This is dependency inversion in service of the boundary: the protocols are replaceable, the domain is stable.</a:t>
            </a:r>
            <a:endParaRP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ties the aggregate, the outbox, and the saga design together. The aggregate is the consistency boundary: invariants hold within it and one transaction commits it, and it typically maps to a single API resource. Because it's the transaction boundary, it's also the outbox boundary: state plus event commit atomically. Domain events are the DDD concept that becomes your Kafka topic payloads, enabling choreography across contexts. And the small-aggregate rule (one per transaction, reference others by id, connect via events) is precisely why cross-aggregate consistency needs a saga.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it's necessary, and the real skill is balancing it. Credit Khononov's Balancing Coupling model and stress that it measures the connection between components, not the components, along three dimensions. The headline sentence is the whole model in one line: pain needs all three of strength, distance and volatility to be high. The bold line is the cautionary tale that resonates with anyone burned by microservices: splitting strongly- and volatile-coupled code across a network doesn't remove the coupling, it just adds distance to it: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the further apart, the more it costs to change across the seam. Volatility is the clever part of the model: you can't know the future, but you can predict change-rate from DDD subdomain type (core changes a lot, generic barely changes), which connects this appendix straight back to the DDD subdomain model.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the classic case is two services on one database, where either can break the other invisibly. Functional coupling: they share business logic or rules and must change together for functional reasons. Model coupling: they share a data model or DTOs: a shared library of types. Contract coupling: they integrate only through an explicit, stable, versioned contract,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perfectly healthy, keep it local. Low strength and distant is healthy microservices: services integrating through contracts. Low strength and close is needless indirection: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it multiplies cost. Volatility decides whether a less-than-ideal coupling matters: a textbook-ugly coupling on frozen code is a non-problem; a textbook-fine coupling on hot, ever-changing core code can still hurt. The DDD connection is the practical tool: subdomain type predicts volatility, so you route your strongest couplings away from core and toward stable, generic areas. The bold formula is Khononov's balance condition,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that's what a breaking change is. Mention connascence as the finer-grained classical model (Page-Jones) that versioning manages: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and Balancing Coupling in Software Design for this model, the two references that underpin both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moving parts, all started by one SIGTERM, the only signal Kubernetes sends before SIGKILL. First, the handler flips a readiness flag so /readyz returns 503 at once; this is the 'stop new traffic' step, and the process keeps serving while the load balancer stops routing to it. Second, after DRAIN_DELAY_SECONDS (5 s in Example 21; it plays the part of a preStop sleep) the handler chains to uvicorn's own: uvicorn installs its signal handlers before it imports the app and runs the lifespan, so a handler that replaces them without chaining means uvicorn never starts its drain and the process waits for SIGKILL. uvicorn then stops accepting and finishes in-flight HTTP; --timeout-graceful-shutdown 20 bounds that wait, so delay plus drain stays inside the 30-second grace period. Third, FastAPI's lifespan shutdown block (after the yield) runs once HTTP has drained: that is where you stop consumers (an aiokafka consumer commits offsets and leaves the group) and close pools, and the process exits 0. The order matters: readiness down, drain HTTP, then drain everything else. Pair this with the preStop hook and the termination grace period in the pod spec.</a:t>
            </a:r>
            <a:endParaRP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FastAPI + durable-rules, then circle back to east/west, where most routing decisions happen.</a:t>
            </a:r>
            <a:endParaRP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the guidance on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every internal call gets mTLS, retries, outlier detection and locality-aware load balancing. Finally, when L7 decisions need to consider business rules the platform doesn't know about, you push routing into the app itself (FastAPI + durable-rules + aiokafka). Each layer is the right place for a different type of decision; every topic in this appendix maps to one of them.</a:t>
            </a:r>
            <a:endParaRP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it can drain old workers while new ones take traffic, which matters for graceful-shutdown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you express the routing table declaratively, then point a single location at the variable. Location blocks split HTTP from gRPC (grpc_pass) so you can run both protocols through one server. The X-Request-Id injection is a tiny example of payload modification: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route by SNI only). cert-manager is the standard cluster-side answer for public certificates; SPIFFE-style identity and Envoy's SDS handle service-to-service certs automatically inside the mesh. Mention the CPU cost briefly so the L7 latency budget makes sense: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elastic scaling, fast restarts, graceful shutdown. The bold final point is the architectural fix: externalise the state. Redis for session data, JWT claims for user identity, the WebSocket backplane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in-app routing pattern in Python, and it mirrors what enterprise integration frameworks do on other platforms, just composed from smaller pieces. Inputs arrive over REST (or WebSocket, or Kafka). They hit a FastAPI (or Starlette) endpoint, which gathers any extra context with an enrich step, hands the merged fact to durable-rules to evaluate the ruleset, and dispatches the result to one or more destinations via an aiokafka producer (or an HTTP client). The durable-rules box on the right is the rule engine: a Rete-based forward-chaining engine written in C with a Python ruleset DSL, and the part domain experts edit. The 'data, not code' principle still applies: the routing logic lives in the ruleset, separate from the dispatcher, and can change without redeploying the FastAPI service.</a:t>
            </a:r>
            <a:endParaRP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these as 'when ... then ...' statements. The 'when' is a pattern match on facts in the rule engine's working memory (durable-rules implements Rete forward chaining); the 'then' is the action: here, setting a where_to list of destination URIs that the dispatcher will consume. Two real rules and a default. Domain experts own this file (the same people who define what 'VIP' or 'high-value' mean), and it can be redeployed without a developer touching the FastAPI dispatcher code. For more complex decision tables, swap durable-rules for Open Policy Agent (Rego) or business-rules; the shape stays the same.</a:t>
            </a:r>
            <a:endParaRP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dispatcher is small by design. Enrich gathers any extra context the rules need (a DB lookup, an HTTP call to a customer service); the merged fact goes to post() which fires the durable-rules ruleset; each destination in the resulting where_to list is dispatched via the right transport. Note the protocol prefix in destinations ("kafka:" or "http:"): it's a tiny convention that lets one ruleset drive multiple transports. For event-shaped flows, swap the FastAPI endpoint for a faust-streaming agent or an aiokafka consumer loop; the ruleset and dispatch logic stay the same. This is the in-app L7 router in maybe 20 lines of code.</a:t>
            </a:r>
            <a:endParaRP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applies here too: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a few long-running streams can starve other backends if you round-robin connections instead of requests. Be careful with retries on streaming RPCs: the mesh can retry a UNARY call safely if it's idempotent, but retrying a half-completed streaming RPC will replay half the work: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a cluster ends up running three ingress controllers because three teams each picked one. Pick one and standardise. The cert-rotation point is the one teams underestimate: expired certs are still a top-3 outage cause in many shops. GitOps for routing is the operational discipline that makes the whole thing reviewable. Observability and the load/failure-test point are non-negotiable. The references sub-bullet is the reading list: the durable-rules project on PyPI, Open Policy Agent (OPA) docs for declarative policy, and the FastAPI and Starlette middleware guides.</a:t>
            </a:r>
            <a:endParaRP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FastAPI + httpx, but the patterns are language-neutral.</a:t>
            </a:r>
            <a:endParaRP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distributions with pyproject.toml dependencies.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things you wanted regardless. For Python shops this is typically nginx or Envoy as a Kubernetes Service ahead of the app Pods; you could also use Traefik or HAProxy. The strangler-fig literature calls this an 'event interception':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same patterns,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middleware shape. Reading the body costs CPU on every routed request (and you must be careful: once consumed, you must hand the bytes through to the upstream). The decision is by payload content: tenant, region, feature flag, user segment: not by URL pattern (the URL is the same). This makes the pattern more flexible than path-based proxying: you can roll out the new service to one tenant at a time, see how it behaves under real traffic, then widen. The httpx.AsyncClient is reused across requests so the connection pool is warm. For Python applications running behind a real proxy (nginx, Envoy, Istio), you'd express the same logic in Lua / WASM filters or an EnvoyFilter; the FastAPI middleware version shows the conceptual shape. The CPU cost is the only real downside: if your migration window is months, that body parse adds up; if it's days, the cost is irrelevant compared to the migration risk it controls.</a:t>
            </a:r>
            <a:endParaRP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not just a router. Common Python implementations: a FastAPI app that proxies to a SOAP or legacy REST service while emitting Kafka events and caching responses.</a:t>
            </a:r>
            <a:endParaRP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Tight, complete. The decorator is a real FastAPI app. The GET path adds a Redis cache with a 60-second TTL: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endParaRP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the user-facing speedup is the visible win. Backend load matters more in steady state: shielding the database is what lets your DB tier stay smaller and cheaper than your app tier. Throughput follows from both: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minimal cache-aside implementation. Three things to point out. First, the connection pool: redis.asyncio.Redis from_url returns a pool by default, so concurrent requests share connections: don't create a Redis client per request. Second, the key shape: 'product:{pid}' is a namespace convention; common practice is 'entity:type:id' so you can SCAN and delete by pattern when you need to mass-invalidate. Third, the invalidate-on-write step (step 4): if you don't invalidate, the cache will serve stale data for the full TTL. Choose: invalidate (this code) or set the new value directly (write-through). For cache failures, wrap the cache.get() in a try/except so a Redis outage doesn't take down your reads: fall back to the DB and log. For high-cardinality keys, set a maxmemory policy on Redis (allkeys-lru typical) so the cache doesn't grow unbounded.</a:t>
            </a:r>
            <a:endParaRP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library, not the application, calls the database on a miss. The app calls cache.get() and gets the value back: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Python with Redis specifically, you don't get this out of the box from the redis client: you wrap it. Higher-level libraries like aiocache or cachetools support read-through patterns natively, or you write a thin loader wrapper. Use this pattern when read paths are repetitive across the codebase and you want to eliminate the if/else from every caller.</a:t>
            </a:r>
            <a:endParaRP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wrapper is small but the discipline is significant. Callers can't accidentally bypass the cache or forget to populate it: they call products.get(pid) and get the right behaviour. Different entity types get different ReadThrough instances with different loaders and TTLs. For libraries that give you this out of the box: aiocache supports cached() decorators that work this way, and cachetools.func has TTL-based wrappers (though without async support natively). The trade vs cache-aside: you trade a few lines of if/else per caller for a wrapper layer that callers must use. In a large codebase that's worth it; in a small one it's overengineering. Note: a loader-style cache makes thundering-herd protection easier: add a Redis lock in the loader so only one caller does the DB fetch when many callers miss the same key at once (the 'cache stampede' problem).</a:t>
            </a:r>
            <a:endParaRP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the cache isn't touched at all. The defensive variant deletes any sibling entry in case some concurrent process populated the cache between the start of the write and its completion: cheap insurance for high-contention paths. The read side is plain cache-aside. The pattern shines for workloads where the write-to-re-read ratio is high: a security event log might see 10,000 writes a minute and 100 reads a day for active alerts: caching every write would just churn entries. Compare to a product catalog where every read is a probable cache hit: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the cache is the source of truth for that window. A background process drains the cache to the DB, batching writes for efficiency. Pros: write latency equals cache latency: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has more moving parts than the other patterns; the slide shows the shape of Example 25. (1) PUT /write-back/metrics/{mid} writes the metric to a Redis hash, adds the id to a 'dirty set', which tells the flusher which ids still have to reach the database, and answers 202 Accepted: the value is queued, not yet durable. (2) The flusher runs as a background asyncio task: it SPOPs up to FLUSH_BATCH dirty ids and writes them in one executemany upsert (ON CONFLICT (id) DO UPDATE), so an id flushed twice stays one row. SPOP is atomic, so two flusher instances each get a distinct subset of ids and the flusher scales out. (3) When the flush fails, each id's count in the metric:attempts hash goes up and the id goes back on the dirty set; after five attempts it moves to metric:failed with its value still in the cache and the failure in the log, so an outage never loses a write without a trace. The sleep between cycles doubles after each failed flush,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scored by the last-access timestamp. The background refresher periodically checks each hot key's TTL; when it falls under REFRESH_BEFORE_S, the refresher re-reads the DB and re-populates the cache before the user-facing path would see a miss. Keys not accessed in the last 5 minutes are removed from the hot set (so we don't refresh products no one is asking for). Two tuning knobs: REFRESH_BEFORE_S (how early to refresh; longer = more safety, more DB load) and the hot-key window (how recent counts as hot). Variants: instead of tracking hot keys explicitly, you can use Redis's keyspace notifications to subscribe to TTL-expiry events and refresh reactively: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observability, security bulkheads, and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timeouts and deadlines, retry with backoff and jitter, circuit breakers, bulkheads, load shedding, fallback/degradation, quorum/consensus, Istio mesh policies, graceful shutdown, and observability. Every pattern addresses specific failure modes; the closing matrix maps which to which. Reconnect to the opening maxim: all management is risk management: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observability.</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httpx has no default timeout, so the one AsyncClient the service opens in its lifespan sets 2 seconds for every call and half a second to connect. The deadline endpoint subtracts the edge's overhead from the caller's budget, refuses at once when too little remains, and otherwise overrides the timeout for this one call with the remaining budget and sends the same number in the X-Deadline-Ms header, so the backend can refuse work it cannot finish.</a:t>
            </a:r>
            <a:endParaRP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tenacity's AsyncRetrying works as an async for loop around the call, so the attempt number is available inside it. raise_for_status turns a 5xx into HTTPStatusError, which is retried along with transport errors; three attempts in all, with exponentially growing waits from 100 ms to 2 seconds plus jitter, and reraise hands the last real error back once the attempts run out. Retry only idempotent calls, and pair the retry with a circuit breaker.</a:t>
            </a:r>
            <a:endParaRP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pybreaker counts consecutive failures: five open the breaker for ten seconds, and two successful trial calls in half-open close it. Its calling() context manager checks the state on entry and records the outcome on exit, so it works around an awaited httpx call; an open breaker raises CircuitBreakerError before the backend is touched. throw_new_error_on_trip=False keeps the real cause on the call that trips it, so the fallback reason stays accurate. One breaker per dependency.</a:t>
            </a:r>
            <a:endParaRP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earlier as a security pattern, so here we just re-frame it in the failure-mode context and cross-reference. The key insight to land: a bulkhead bounds concurrency, but concurrency-bounding alone doesn't help if the bounded calls block forever: you must combine bulkhead (limit how many) with timeout (limit how long). The per-language code is not repeated here to save slides; the Istio slide covers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shutdown sequence that prevents dropped requests during a rolling deploy, from Example 21. One SIGTERM starts it: (1) the handler flips a flag so /readyz returns 503 and Kubernetes stops sending new traffic, while /healthz stays 200; (2) the service keeps serving for DRAIN_DELAY_SECONDS so the load balancer's removal propagates; (3) the handler then hands over to uvicorn, which stops accepting and finishes in-flight requests within --timeout-graceful-shutdown; (4) the lifespan exit closes the pools and the process exits 0. The ordering matters: stop taking new work before draining existing work. This is the application half; the Kubernetes half (preStop hook, terminationGracePeriodSeconds) is its counterpart. Together they give zero-downtime rollouts.</a:t>
            </a:r>
            <a:endParaRP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observability.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Python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Python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That's the Python edition end to end. Take it with you: on the left, the site, the cloud-native design patterns with runnable examples; on the right, the Workshops and Tutorials hub, every workshop, tutorial, and deck in the series in one place. Both are public on the Pattern Catalyst GitHub organization.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0.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4.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5.png"/><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1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5.png"/><Relationship Id="rId4" Type="http://schemas.openxmlformats.org/officeDocument/2006/relationships/image" Target="../media/image1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2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2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0.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8.png"/><Relationship Id="rId4" Type="http://schemas.openxmlformats.org/officeDocument/2006/relationships/image" Target="../media/image1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13.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15.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23.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7.png"/><Relationship Id="rId4" Type="http://schemas.openxmlformats.org/officeDocument/2006/relationships/image" Target="../media/image1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2.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9.png"/><Relationship Id="rId4" Type="http://schemas.openxmlformats.org/officeDocument/2006/relationships/image" Target="../media/image11.png"/><Relationship Id="rId5" Type="http://schemas.openxmlformats.org/officeDocument/2006/relationships/notesSlide" Target="../notesSlides/notesSlide28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uv with exact pins in pyproject.toml and a uv.lock for reproducible Python builds; FastAPI emits OpenAPI; buf / protoc for gRPC; Strawberry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FastAPI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main.py (excerpt); pyproject.toml pins every package with ==; uv.lock locks the rest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class Settings(BaseSettings):           # config from env — factor III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database_url: str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kafka_bootstrap: str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service_version: str = "0.0.0"</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settings = Settings()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 = FastAPI(title="order-service", version=settings.service_version, lifespan=lifespan)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@app.get("/healthz")                     # liveness — the process is up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def healthz(): return {"status": "ok"}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@app.get("/readyz")                      # readiness — dependencies are reachable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async def readyz():</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try: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async with pool.acquire() as conn: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await conn.fetchval("SELECT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except Exception: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JSONResponse({"status": "down", "checks": {"database": "unreachable"}}, 503)</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{"status": "ready", "checks": {"database": "ok"}}</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FastAPI</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fastapi import FastAPI, HTTPException,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pydantic import 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OrderIn(BaseModel):           </a:t>
            </a:r>
            <a:r>
              <a:rPr b="0" i="0" lang="en-US" sz="1200" u="none" cap="none" strike="noStrike">
                <a:solidFill>
                  <a:srgbClr val="8FB98F"/>
                </a:solidFill>
                <a:latin typeface="Red Hat Mono"/>
                <a:ea typeface="Red Hat Mono"/>
                <a:cs typeface="Red Hat Mono"/>
                <a:sym typeface="Red Hat Mono"/>
              </a:rPr>
              <a:t># request contract, validated by Pydantic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sku: str; quantity: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quantity: int;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@app.post("/orders", response_model=Order, status_code=201)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place_order(body: OrderIn)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order = await orders.create(body)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events.publish("order.placed", order)   # emit the fact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@app.get("/orders")                  # cursor pagination, not offset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list_orders(after: str | None = Query(None), limit: int = 50):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orders.page(after=after, limit=limit)</a:t>
            </a:r>
            <a:endParaRPr b="0" i="0" sz="12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inventory.proto — the contract, registered in Apicurio</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service Inventory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rpc ReserveStock (ReserveRequest) returns (ReserveReply);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ReserveRequest { string sku = 1; int32 quantity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ReserveReply   { bool reserved = 1; int32 remaining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server.py — generated stubs from protoc / buf</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InventoryServicer(inventory_pb2_grpc.InventoryServicer):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def ReserveStock(self, request, context):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remaining = stock.reserve(request.sku, request.quantity)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inventory_pb2.ReserveReply(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reserved=remaining &gt;= 0, remaining=max(remaining, 0))</a:t>
            </a:r>
            <a:endParaRPr b="0" i="0" sz="12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Strawberry</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strawberry                            # modern, code-first GraphQL for Python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                        # resolved on demand, from another 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stock(self) -&gt;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reply = await inventory_client.reserve_stock_view(self.sku)  # gRPC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reply.remaining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order(self, id: str)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order_client.get(id)    # REST call to order-service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schema = strawberry.Schema(query=Query)      # SDL exported to the registry</a:t>
            </a:r>
            <a:endParaRPr b="0" i="0" sz="12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Graphene is the alternative if you need its ecosystem.</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asyncpg + aiokafka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transaction, outbox row, no broker call)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create_order(body: OrderIn) -&gt;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with db.transaction():                    </a:t>
            </a:r>
            <a:r>
              <a:rPr b="0" i="0" lang="en-US" sz="1000" u="none" cap="none" strike="noStrike">
                <a:solidFill>
                  <a:srgbClr val="8FB98F"/>
                </a:solidFill>
                <a:latin typeface="Red Hat Mono"/>
                <a:ea typeface="Red Hat Mono"/>
                <a:cs typeface="Red Hat Mono"/>
                <a:sym typeface="Red Hat Mono"/>
              </a:rPr>
              <a:t># one local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 await write_db.execute(insert_order_query,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write_db.execute(insert_outbox_query,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topic="order.placed", payload=order.model_dump_json())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                                    </a:t>
            </a:r>
            <a:r>
              <a:rPr b="0" i="0" lang="en-US" sz="1000" u="none" cap="none" strike="noStrike">
                <a:solidFill>
                  <a:srgbClr val="8FB98F"/>
                </a:solidFill>
                <a:latin typeface="Red Hat Mono"/>
                <a:ea typeface="Red Hat Mono"/>
                <a:cs typeface="Red Hat Mono"/>
                <a:sym typeface="Red Hat Mono"/>
              </a:rPr>
              <a:t># commit → CDC publishes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Read side  —  query handler reads from a different, denormalised store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@app.get("/orders/{oid}/summary")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order_summary(oid: str) -&gt; OrderSummary: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row = await read_db.fetch_one(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 * FROM order_summary WHERE order_id = $1", oid)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not row: raise HTTPException(404)</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OrderSummary(**row)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for msg in consumer:                          </a:t>
            </a:r>
            <a:r>
              <a:rPr b="0" i="0" lang="en-US" sz="1000" u="none" cap="none" strike="noStrike">
                <a:solidFill>
                  <a:srgbClr val="8FB98F"/>
                </a:solidFill>
                <a:latin typeface="Red Hat Mono"/>
                <a:ea typeface="Red Hat Mono"/>
                <a:cs typeface="Red Hat Mono"/>
                <a:sym typeface="Red Hat Mono"/>
              </a:rPr>
              <a:t># subscribes to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 = deserialize(msg.value)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read_db.execute(upsert_order_summary,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consumer.commit()                          </a:t>
            </a:r>
            <a:r>
              <a:rPr b="0" i="0" lang="en-US" sz="1000" u="none" cap="none" strike="noStrike">
                <a:solidFill>
                  <a:srgbClr val="8FB98F"/>
                </a:solidFill>
                <a:latin typeface="Red Hat Mono"/>
                <a:ea typeface="Red Hat Mono"/>
                <a:cs typeface="Red Hat Mono"/>
                <a:sym typeface="Red Hat Mono"/>
              </a:rPr>
              <a:t># at-least-once delivery</a:t>
            </a:r>
            <a:endParaRPr b="0" i="0" sz="10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create(body: OrderIn) -&gt;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async with db.transaction():             # single local transaction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db.execute(insert_order, body)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db.execute(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insert_outbox,                   # same txn -&gt; atomic with the state change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topic="order.placed",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key=order.id,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payload=order.model_dump_json(),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order                             # Debezium tails the WAL and publishes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No await-kafka on the request path: if the broker is down, the order still</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commits and the event is delivered when CDC catches up.</a:t>
            </a:r>
            <a:endParaRPr b="0" i="0" sz="12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aiokafka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aiokafka import AIOKafkaProducer, AIOKafkaConsumer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producer — order-service (called by the CDC relay or directly)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publish(topic: str, order: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producer.send_and_wait(topic, key=order.id.encode(),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value=serialize(order))   </a:t>
            </a:r>
            <a:r>
              <a:rPr b="0" i="0" lang="en-US" sz="1200" u="none" cap="none" strike="noStrike">
                <a:solidFill>
                  <a:srgbClr val="8FB98F"/>
                </a:solidFill>
                <a:latin typeface="Red Hat Mono"/>
                <a:ea typeface="Red Hat Mono"/>
                <a:cs typeface="Red Hat Mono"/>
                <a:sym typeface="Red Hat Mono"/>
              </a:rPr>
              <a:t># schema-aware serde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consumer — notification-service, Kafka-only by design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consumer = AIOKafkaConsumer("order.placed",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bootstrap_servers=settings.kafka_bootstrap,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group_id="notification-group",           # offset tracked per group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enable_auto_commit=False)                </a:t>
            </a:r>
            <a:r>
              <a:rPr b="0" i="0" lang="en-US" sz="1200" u="none" cap="none" strike="noStrike">
                <a:solidFill>
                  <a:srgbClr val="8FB98F"/>
                </a:solidFill>
                <a:latin typeface="Red Hat Mono"/>
                <a:ea typeface="Red Hat Mono"/>
                <a:cs typeface="Red Hat Mono"/>
                <a:sym typeface="Red Hat Mono"/>
              </a:rPr>
              <a:t># commit after side-effect succeeds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for msg in 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send_email(deserialize(msg.value))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consumer.commit()                  </a:t>
            </a:r>
            <a:r>
              <a:rPr b="0" i="0" lang="en-US" sz="1200" u="none" cap="none" strike="noStrike">
                <a:solidFill>
                  <a:srgbClr val="8FB98F"/>
                </a:solidFill>
                <a:latin typeface="Red Hat Mono"/>
                <a:ea typeface="Red Hat Mono"/>
                <a:cs typeface="Red Hat Mono"/>
                <a:sym typeface="Red Hat Mono"/>
              </a:rPr>
              <a:t># at-least-once; handlers idempotent</a:t>
            </a:r>
            <a:endParaRPr b="0" i="0" sz="120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faust-streaming</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faust-streaming</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faust                       # faust-streaming 0.15.3; the import name is faust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datetime import timedelta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 = faust.App("stream-processor", broker="kafka://my-cluster-kafka-bootstrap",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store="memory://")      # state is rebuilt from the changelog 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orders_topic = app.topic("order.placed", value_type=Order)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revenue_topic = app.topic("revenue.by-merchant", value_type=Revenue)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table = local, changelog-backed state: tumbling windows, no grace, by record time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 = app.Table("revenue", default=float)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.tumbling(300, expires=timedelta(seconds=300))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.relative_to_stream()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@app.agent(orders_topic)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aggregate(stream):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for order in stream.group_by(Order.merchant_id):   # repartition by merchant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revenue[order.merchant_id] += order.total            # stateful, per key and window</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start = int(faust.current_event().message.timestamp // 300) * 300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revenue_topic.send(key=order.merchant_id, value=Revenue(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window_start=start, window_end=start + 300, merchant_id=order.merchant_id,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revenue=revenue[order.merchant_id].value()))     # derived stream out</a:t>
            </a:r>
            <a:endParaRPr b="0" i="0" sz="12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FastAPI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Apicurio v3</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registry_client.py — register a new version; the registry enforces the rule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requests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REGISTRY = "http://apicurio.registry.svc/apis/registry/v3"</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def publish(group: str, artifact_id: str, schema: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body = {"content": {"content": schema,              # v3 CreateVersion 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"contentType": "application/json"}}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 = requests.post(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f"{REGISTRY}/groups/{group}/artifacts/{artifact_id}/versions",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json=body, timeout=10,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if r.status_code == 400:            # RuleViolationException: the rule rejected it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raise SystemExit("Incompatible schema change: blocking the merge")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r.raise_for_status()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rule set once per artifact, e.g. BACKWARD: new consumers can read old data</a:t>
            </a:r>
            <a:endParaRPr b="0" i="0" sz="12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a library / agent wraps known frameworks for you. HTTP servers and clients, gRPC, JDBC / database drivers, Kafka, Redis: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the platform puts the auto-instrumentation agent into the pod for you. The OpenTelemetry Operator watches for an annotation (instrumentation.opentelemetry.io/inject) and mutates the pod at admission: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FastAPI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opentelemetry.instrumentation.fastapi import FastAPIInstrumentor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opentelemetry.instrumentation.aiokafka import AIOKafkaInstrumentor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 import trace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FastAPIInstrumentor.instrument_app(app)      </a:t>
            </a:r>
            <a:r>
              <a:rPr b="0" i="0" lang="en-US" sz="1250" u="none" cap="none" strike="noStrike">
                <a:solidFill>
                  <a:srgbClr val="8FB98F"/>
                </a:solidFill>
                <a:latin typeface="Red Hat Mono"/>
                <a:ea typeface="Red Hat Mono"/>
                <a:cs typeface="Red Hat Mono"/>
                <a:sym typeface="Red Hat Mono"/>
              </a:rPr>
              <a:t># every request becomes a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AIOKafkaInstrumentor().instrument()          </a:t>
            </a:r>
            <a:r>
              <a:rPr b="0" i="0" lang="en-US" sz="1250" u="none" cap="none" strike="noStrike">
                <a:solidFill>
                  <a:srgbClr val="8FB98F"/>
                </a:solidFill>
                <a:latin typeface="Red Hat Mono"/>
                <a:ea typeface="Red Hat Mono"/>
                <a:cs typeface="Red Hat Mono"/>
                <a:sym typeface="Red Hat Mono"/>
              </a:rPr>
              <a:t># context propagates onto the event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tracer = trace.get_tracer("order-service")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@app.post("/orders")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place_order(body: OrderIn):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with tracer.start_as_current_span("reserve_stock"):   # custom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inventory.ReserveStock(body.sku, body.quantity)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r>
              <a:rPr b="0" i="0" lang="en-US" sz="1250" u="none" cap="none" strike="noStrike">
                <a:solidFill>
                  <a:srgbClr val="8FB98F"/>
                </a:solidFill>
                <a:latin typeface="Red Hat Mono"/>
                <a:ea typeface="Red Hat Mono"/>
                <a:cs typeface="Red Hat Mono"/>
                <a:sym typeface="Red Hat Mono"/>
              </a:rPr>
              <a:t># trace_id flows: REST -&gt; gRPC -&gt; Kafka -&gt; consumer, automatically</a:t>
            </a:r>
            <a:endParaRPr b="0" i="0" sz="12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 import baggage,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opentelemetry.trace import get_current_span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Set baggage at the edge  —  it rides the whole trace, every downstream hop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@app.middleware("http")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add_baggage(request: Request, call_next):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baggage.set_baggage("tenant_id", request.headers.get("X-Tenant", "unknown"))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baggage.set_baggage("user_tier", lookup_tier(request), context=ctx)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token = context.attach(ctx)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call_next(request)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finally: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context.detach(token)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Read baggage anywhere downstream  —  even in a Kafka consumer three hops away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handle_event(msg):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tenant = baggage.get_baggage("tenant_id")          # propagated automatically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r>
              <a:rPr b="0" i="0" lang="en-US" sz="1100" u="none" cap="none" strike="noStrike">
                <a:solidFill>
                  <a:srgbClr val="8FB98F"/>
                </a:solidFill>
                <a:latin typeface="Red Hat Mono"/>
                <a:ea typeface="Red Hat Mono"/>
                <a:cs typeface="Red Hat Mono"/>
                <a:sym typeface="Red Hat Mono"/>
              </a:rPr>
              <a:t># also pin it on the current span so you can filter traces by tenant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get_current_span().set_attribute("tenant_id", tenant or "unknown")</a:t>
            </a:r>
            <a:endParaRPr b="0" i="0" sz="11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hmac (stdlib)</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main.py (excerpt), examples/12-security/python: an HMAC-SHA256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Settings(BaseSettings):             # VALET_SECRET from the environment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valet_secret: str = "demo-secret-do-not-use-in-prod"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settings = Settings()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_mint_valet(resource: str, operation: str, ttl: int = 300)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expires = int(time.time()) + ttl                        # time-bound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           # one object, one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settings.valet_secret.encode()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sig = hmac.new(key, payload.encode(), hashlib.sha256).hexdigest()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{"resource": resource, "operation": operation, "expires": expires, "token": sig}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_verify_valet(resource: str, operation: str, expires: int, token: str) -&gt; bool: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time.time() &gt; 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False                                        # expired: worthless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expected = hmac.new(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settings.valet_secret.encode(), payload.encode(), hashlib.sha256</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hmac.compare_digest(token, expected)             # constant-time compare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@app.post("/valet-key")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mint_key(resource: str, operation: str = "GET"):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_mint_valet(resource,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GET /verify-valet answers 403 for an expired or tampered key</a:t>
            </a:r>
            <a:endParaRPr b="0" i="0" sz="11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asyncio</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asyncio</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examples/12-security/python/order-service/main.py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semaphore of 5 permits per tenant; a request that finds them all taken is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refused at once (429) instead of waiting.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BULKHEAD_LIMIT =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_sems: dict[str, asyncio.Semaphore]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_in_flight: Counter[str] = Counter()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def _tenant_sem(tenant: str) -&gt; asyncio.Semaphore: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_sems.setdefault(tenant, asyncio.Semaphore(BULKHEAD_LIMIT))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 status_code=201)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create_order(body: OrderIn, request: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sem = _tenant_sem(body.tenant)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sem.locked():  # the tenant's 5 permits are taken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JSONResponse(status_code=429, content={"detail": "tenant bulkhead full"})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sem:  #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_in_flight[body.tenant] += 1  # read by /bulkhead-state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create the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_in_flight[body.tenant] -= 1</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133267" y="1700784"/>
            <a:ext cx="24000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 + valet key</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publish_with_claim(producer: AIOKafkaProducer, order_id: str, body: bytes):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f"payloads/{order_id}"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store.put(key, body, encrypt=True)                # encrypted at rest, ACL'd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"order_id": 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f"https://objects.internal/{key}",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**_mint_valet(key, "GET", ttl=900),                  # resource, op, expires, 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producer.send_and_wait(                           # only the claim goes on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"order.documents", json.dumps(claim).encode(), key=order_id.encode())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consumer: read the claim, fetch the body out of band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json.loads(msg.value)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 = await store.get(claim["uri"], token=claim["token"])   # the store checks the ticket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handle(body)                                      # PII never touched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 after the side effect</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asyncpg (Python's async Postgres driver); Pydantic (Python validation / serialisation library,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WSGI / ASGI (Web / Asynchronous Server Gateway Interface: Python's sync / async web server contracts); GIL (Global Interpreter Lock); venv (virtual environment);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FastAPI</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Header, Response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V1 = "application/vnd.acme.order+json"          # default / legacy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V2 = "application/vnd.acme.order.v2+json"       # adds 'currency'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@app.get("/orders/{oid}")                        # one stable URL — the resource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get_order(oid: str, accept: str = Header(default=V1)):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orders.get(oid)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if accept == V2:                             </a:t>
            </a:r>
            <a:r>
              <a:rPr b="0" i="0" lang="en-US" sz="1250" u="none" cap="none" strike="noStrike">
                <a:solidFill>
                  <a:srgbClr val="8FB98F"/>
                </a:solidFill>
                <a:latin typeface="Red Hat Mono"/>
                <a:ea typeface="Red Hat Mono"/>
                <a:cs typeface="Red Hat Mono"/>
                <a:sym typeface="Red Hat Mono"/>
              </a:rPr>
              <a:t># negotiate the representation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"currency": order.currency}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a:t>
            </a:r>
            <a:r>
              <a:rPr b="0" i="0" lang="en-US" sz="1250" u="none" cap="none" strike="noStrike">
                <a:solidFill>
                  <a:srgbClr val="8FB98F"/>
                </a:solidFill>
                <a:latin typeface="Red Hat Mono"/>
                <a:ea typeface="Red Hat Mono"/>
                <a:cs typeface="Red Hat Mono"/>
                <a:sym typeface="Red Hat Mono"/>
              </a:rPr>
              <a:t># v1 shape, unchanged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the URL never changes; clients opt into a representation via Accept</a:t>
            </a:r>
            <a:endParaRPr b="0" i="0" sz="125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Strawberry</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import strawberry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@strawberry.type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 float = strawberry.field(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deprecation_reason="Use totalMinor (integer cents) instead.",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                                      </a:t>
            </a:r>
            <a:r>
              <a:rPr b="0" i="0" lang="en-US" sz="1250" u="none" cap="none" strike="noStrike">
                <a:solidFill>
                  <a:srgbClr val="8FB98F"/>
                </a:solidFill>
                <a:latin typeface="Red Hat Mono"/>
                <a:ea typeface="Red Hat Mono"/>
                <a:cs typeface="Red Hat Mono"/>
                <a:sym typeface="Red Hat Mono"/>
              </a:rPr>
              <a:t># still served; shows in introspection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total_minor: int                       </a:t>
            </a:r>
            <a:r>
              <a:rPr b="0" i="0" lang="en-US" sz="1250" u="none" cap="none" strike="noStrike">
                <a:solidFill>
                  <a:srgbClr val="8FB98F"/>
                </a:solidFill>
                <a:latin typeface="Red Hat Mono"/>
                <a:ea typeface="Red Hat Mono"/>
                <a:cs typeface="Red Hat Mono"/>
                <a:sym typeface="Red Hat Mono"/>
              </a:rPr>
              <a:t># the replacement field, added additively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Clients see the deprecation in the schema and in tooling (Playground).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Server-side field usage metrics tell you when total has zero callers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only then do you remove it. No /v2 endpoint ever exists.</a:t>
            </a:r>
            <a:endParaRPr b="0" i="0" sz="12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FastAPI,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FastAPI</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WebSocket,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clients: dict[str, WebSocket] = {}          </a:t>
            </a:r>
            <a:r>
              <a:rPr b="0" i="0" lang="en-US" sz="1250" u="none" cap="none" strike="noStrike">
                <a:solidFill>
                  <a:srgbClr val="8FB98F"/>
                </a:solidFill>
                <a:latin typeface="Red Hat Mono"/>
                <a:ea typeface="Red Hat Mono"/>
                <a:cs typeface="Red Hat Mono"/>
                <a:sym typeface="Red Hat Mono"/>
              </a:rPr>
              <a:t># per-pod state — not shared!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@app.websocket("/ws/{user_id}")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ws(sock: WebSocket, user_id: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sock.accept()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clients[user_id] = sock                  </a:t>
            </a:r>
            <a:r>
              <a:rPr b="0" i="0" lang="en-US" sz="1250" u="none" cap="none" strike="noStrike">
                <a:solidFill>
                  <a:srgbClr val="8FB98F"/>
                </a:solidFill>
                <a:latin typeface="Red Hat Mono"/>
                <a:ea typeface="Red Hat Mono"/>
                <a:cs typeface="Red Hat Mono"/>
                <a:sym typeface="Red Hat Mono"/>
              </a:rPr>
              <a:t># this pod now owns this connection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while True: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msg = await sock.receive_json()  </a:t>
            </a:r>
            <a:r>
              <a:rPr b="0" i="0" lang="en-US" sz="1250" u="none" cap="none" strike="noStrike">
                <a:solidFill>
                  <a:srgbClr val="8FB98F"/>
                </a:solidFill>
                <a:latin typeface="Red Hat Mono"/>
                <a:ea typeface="Red Hat Mono"/>
                <a:cs typeface="Red Hat Mono"/>
                <a:sym typeface="Red Hat Mono"/>
              </a:rPr>
              <a:t># full-duplex, long-lived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handle(user_id, msg)</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except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clients.pop(user_id, None)           </a:t>
            </a:r>
            <a:r>
              <a:rPr b="0" i="0" lang="en-US" sz="1250" u="none" cap="none" strike="noStrike">
                <a:solidFill>
                  <a:srgbClr val="8FB98F"/>
                </a:solidFill>
                <a:latin typeface="Red Hat Mono"/>
                <a:ea typeface="Red Hat Mono"/>
                <a:cs typeface="Red Hat Mono"/>
                <a:sym typeface="Red Hat Mono"/>
              </a:rPr>
              <a:t># clean up on disconnect</a:t>
            </a:r>
            <a:endParaRPr b="0" i="0" sz="12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 is per-pod. That single line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one versioned wrapper for every WebSocket message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an incompatible payload change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2;   // per-connection monotonic counter —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3;   // payload discriminator, e.g.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4;   // a nested protobuf message, already serialised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server: one binary frame per event instead of JSON 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push(sock: WebSocket, seq: int, event: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env = Envelope(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version=2, seq=seq, type="OrderPlaced",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payload=event.SerializeToString())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sock.send_bytes(env.SerializeToString())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Python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STEPS = ["charge_payment", "reserve_stock",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advance(saga_id: str):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async with db.transaction():                 </a:t>
            </a:r>
            <a:r>
              <a:rPr b="0" i="0" lang="en-US" sz="1150" u="none" cap="none" strike="noStrike">
                <a:solidFill>
                  <a:srgbClr val="8FB98F"/>
                </a:solidFill>
                <a:latin typeface="Red Hat Mono"/>
                <a:ea typeface="Red Hat Mono"/>
                <a:cs typeface="Red Hat Mono"/>
                <a:sym typeface="Red Hat Mono"/>
              </a:rPr>
              <a:t># state + command commit together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 = await db.get_saga(saga_id, for_update=True)   </a:t>
            </a:r>
            <a:r>
              <a:rPr b="0" i="0" lang="en-US" sz="1150" u="none" cap="none" strike="noStrike">
                <a:solidFill>
                  <a:srgbClr val="8FB98F"/>
                </a:solidFill>
                <a:latin typeface="Red Hat Mono"/>
                <a:ea typeface="Red Hat Mono"/>
                <a:cs typeface="Red Hat Mono"/>
                <a:sym typeface="Red Hat Mono"/>
              </a:rPr>
              <a:t># row lock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s.status != "RUNNING":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t>
            </a:r>
            <a:r>
              <a:rPr b="0" i="0" lang="en-US" sz="1150" u="none" cap="none" strike="noStrike">
                <a:solidFill>
                  <a:srgbClr val="8FB98F"/>
                </a:solidFill>
                <a:latin typeface="Red Hat Mono"/>
                <a:ea typeface="Red Hat Mono"/>
                <a:cs typeface="Red Hat Mono"/>
                <a:sym typeface="Red Hat Mono"/>
              </a:rPr>
              <a:t># idempotent: already done/failed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step = STEPS[s.step_index]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result = await invoke(step, s.context)        </a:t>
            </a:r>
            <a:r>
              <a:rPr b="0" i="0" lang="en-US" sz="1150" u="none" cap="none" strike="noStrike">
                <a:solidFill>
                  <a:srgbClr val="8FB98F"/>
                </a:solidFill>
                <a:latin typeface="Red Hat Mono"/>
                <a:ea typeface="Red Hat Mono"/>
                <a:cs typeface="Red Hat Mono"/>
                <a:sym typeface="Red Hat Mono"/>
              </a:rPr>
              <a:t># call the 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s.context[step] = result                      </a:t>
            </a:r>
            <a:r>
              <a:rPr b="0" i="0" lang="en-US" sz="1150" u="none" cap="none" strike="noStrike">
                <a:solidFill>
                  <a:srgbClr val="8FB98F"/>
                </a:solidFill>
                <a:latin typeface="Red Hat Mono"/>
                <a:ea typeface="Red Hat Mono"/>
                <a:cs typeface="Red Hat Mono"/>
                <a:sym typeface="Red Hat Mono"/>
              </a:rPr>
              <a:t># accumulate output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s.step_index += 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s.step_index == len(STEPS): s.status = "COMPLETED"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except StepError: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s.status = "COMPENSATING"             # hand off to the unwinder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await db.save_saga(s)                     </a:t>
            </a:r>
            <a:r>
              <a:rPr b="0" i="0" lang="en-US" sz="1150" u="none" cap="none" strike="noStrike">
                <a:solidFill>
                  <a:srgbClr val="8FB98F"/>
                </a:solidFill>
                <a:latin typeface="Red Hat Mono"/>
                <a:ea typeface="Red Hat Mono"/>
                <a:cs typeface="Red Hat Mono"/>
                <a:sym typeface="Red Hat Mono"/>
              </a:rPr>
              <a:t># durable after every step</a:t>
            </a:r>
            <a:endParaRPr b="0" i="0" sz="11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COMPENSATIONS = {                                </a:t>
            </a:r>
            <a:r>
              <a:rPr b="0" i="0" lang="en-US" sz="1200" u="none" cap="none" strike="noStrike">
                <a:solidFill>
                  <a:srgbClr val="8FB98F"/>
                </a:solidFill>
                <a:latin typeface="Red Hat Mono"/>
                <a:ea typeface="Red Hat Mono"/>
                <a:cs typeface="Red Hat Mono"/>
                <a:sym typeface="Red Hat Mono"/>
              </a:rPr>
              <a:t># inverse for each forward step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"charge_payment":  "refund_payment",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"reserve_stock":   "release_stock",</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"book_shipping":   "cancel_shipping",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compensate(saga_id: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with db.transaction():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 = await db.get_saga(saga_id, for_update=True)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r>
              <a:rPr b="0" i="0" lang="en-US" sz="1200" u="none" cap="none" strike="noStrike">
                <a:solidFill>
                  <a:srgbClr val="8FB98F"/>
                </a:solidFill>
                <a:latin typeface="Red Hat Mono"/>
                <a:ea typeface="Red Hat Mono"/>
                <a:cs typeface="Red Hat Mono"/>
                <a:sym typeface="Red Hat Mono"/>
              </a:rPr>
              <a:t># undo only the steps that actually completed, newest first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for step in reversed(STEPS[: s.step_index]):</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invoke(COMPENSATIONS[step], s.context,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idempotency_key=f"{saga_id}:{step}")  # safe to retry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s.status = "COMPENSATED"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db.save_saga(s)</a:t>
            </a:r>
            <a:endParaRPr b="0" i="0" sz="12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After A runs, its output is in s.context['reserve_stock'], e.g.: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{'reservation_id': 'r-77', 'region': 'eu-1'}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invoke(step,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step ==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 = context["reserve_stock"]            # B reads A's output from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await shipping.book(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reservation_id=res["reservation_id"],  # data that only A produced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region=res["region"],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Crash between A and B?  The sweeper reloads the saga row, sees 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points at book_shipping and context already holds A's result, and calls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advance() — B proceeds with A's data. A is never re-called; nothing is lost.</a:t>
            </a:r>
            <a:endParaRPr b="0" i="0" sz="115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FastAPI</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 import Request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fastapi.responses import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class StockError(Exception):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def __init__(self, detail): self.detail = 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@app.exception_handler(StockError)          </a:t>
            </a:r>
            <a:r>
              <a:rPr b="0" i="0" lang="en-US" sz="1150" u="none" cap="none" strike="noStrike">
                <a:solidFill>
                  <a:srgbClr val="8FB98F"/>
                </a:solidFill>
                <a:latin typeface="Red Hat Mono"/>
                <a:ea typeface="Red Hat Mono"/>
                <a:cs typeface="Red Hat Mono"/>
                <a:sym typeface="Red Hat Mono"/>
              </a:rPr>
              <a:t>#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on_stock_error(request: Request, exc: StockError):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status_code=409,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media_type="application/problem+json",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content={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   "https://errors.acme.io/stock",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"title":  "Insufficient 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"detail": exc.detail,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"code":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"traceId": current_trace_id(),         # correlate w/ the trace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grpc + grpcio-status</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grpc_status import rpc_status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google.rpc import status_pb2, code_pb2, error_details_pb2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google.protobuf import any_pb2, duration_pb2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ReserveStock(self, request,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inventory_down: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info = error_details_pb2.ErrorInfo(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reason="STOCK_DOWN", domain="inventory")   # machine detail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 = error_details_pb2.RetryInfo(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retry_delay=duration_pb2.Duration(seconds=2))  </a:t>
            </a:r>
            <a:r>
              <a:rPr b="0" i="0" lang="en-US" sz="1100" u="none" cap="none" strike="noStrike">
                <a:solidFill>
                  <a:srgbClr val="8FB98F"/>
                </a:solidFill>
                <a:latin typeface="Red Hat Mono"/>
                <a:ea typeface="Red Hat Mono"/>
                <a:cs typeface="Red Hat Mono"/>
                <a:sym typeface="Red Hat Mono"/>
              </a:rPr>
              <a:t># back off 2s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status = status_pb2.Status(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code=code_pb2.UNAVAILABLE,                  </a:t>
            </a:r>
            <a:r>
              <a:rPr b="0" i="0" lang="en-US" sz="1100" u="none" cap="none" strike="noStrike">
                <a:solidFill>
                  <a:srgbClr val="8FB98F"/>
                </a:solidFill>
                <a:latin typeface="Red Hat Mono"/>
                <a:ea typeface="Red Hat Mono"/>
                <a:cs typeface="Red Hat Mono"/>
                <a:sym typeface="Red Hat Mono"/>
              </a:rPr>
              <a:t># canonical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message="inventory temporarily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details=[_pack(info), _pack(retry)])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context.abort_with_status(rpc_status.to_status(status))</a:t>
            </a:r>
            <a:endParaRPr b="0" i="0" sz="11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aiokafka</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bounded in-place retries, then a delayed-retry topic, then a 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success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PoisonError: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int(header(msg, "retries",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attempts &lt; MAX_RETRIES: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producer.send("orders.retry.30s",    # delayed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headers=[("retries", str(attempts + 1).encode())])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else: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producer.send("orders.DLQ",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headers=[("error", b"poison"), ("traceId", 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commit so head-of-line is free</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Strawberry</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strawberry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graphql import GraphQLError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@strawberry.type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str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@strawberry.field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def stock(self) -&gt; int | None:        </a:t>
            </a:r>
            <a:r>
              <a:rPr b="0" i="0" lang="en-US" sz="1100" u="none" cap="none" strike="noStrike">
                <a:solidFill>
                  <a:srgbClr val="8FB98F"/>
                </a:solidFill>
                <a:latin typeface="Red Hat Mono"/>
                <a:ea typeface="Red Hat Mono"/>
                <a:cs typeface="Red Hat Mono"/>
                <a:sym typeface="Red Hat Mono"/>
              </a:rPr>
              <a:t># one field's resolver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inventory.remaining(self.sku)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GraphQLError(                  </a:t>
            </a:r>
            <a:r>
              <a:rPr b="0" i="0" lang="en-US" sz="1100" u="none" cap="none" strike="noStrike">
                <a:solidFill>
                  <a:srgbClr val="8FB98F"/>
                </a:solidFill>
                <a:latin typeface="Red Hat Mono"/>
                <a:ea typeface="Red Hat Mono"/>
                <a:cs typeface="Red Hat Mono"/>
                <a:sym typeface="Red Hat Mono"/>
              </a:rPr>
              <a:t># nulls this field only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extensions={"code": "UNAVAILABLE",   # machine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"retryable":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"traceId": current_trace_id()})</a:t>
            </a:r>
            <a:endParaRPr b="0" i="0" sz="11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Raise from the field resolver: Strawberry nulls just that field and adds it to errors[] with your extensions: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domain/ports.py — the domain declares the interfaces it needs (ports)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OrderRepository(Protocol):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save(self, order: Order)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EventPublisher(Protocol):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publish(self, e: DomainEvent)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domain/service.py — pure application logic: no framework, no 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PlaceOrder: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def __init__(self, repo: OrderRepository, events: EventPublisher):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self.repo, self.events = repo, events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__call__(self, cmd: PlaceOrderCmd) -&gt;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order = Order.create(cmd)             </a:t>
            </a:r>
            <a:r>
              <a:rPr b="0" i="0" lang="en-US" sz="1050" u="none" cap="none" strike="noStrike">
                <a:solidFill>
                  <a:srgbClr val="8FB98F"/>
                </a:solidFill>
                <a:latin typeface="Red Hat Mono"/>
                <a:ea typeface="Red Hat Mono"/>
                <a:cs typeface="Red Hat Mono"/>
                <a:sym typeface="Red Hat Mono"/>
              </a:rPr>
              <a:t># aggregate enforces invariants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self.repo.save(order)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self.events.publish(OrderPlaced(order.id))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adapters/rest.py — a driving adapter; gRPC/GraphQL look the same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@app.post("/orders")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place_order(body: OrderIn, uc: PlaceOrder = Depends(build_uc)):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await uc(body.to_cmd())            </a:t>
            </a:r>
            <a:r>
              <a:rPr b="0" i="0" lang="en-US" sz="1050" u="none" cap="none" strike="noStrike">
                <a:solidFill>
                  <a:srgbClr val="8FB98F"/>
                </a:solidFill>
                <a:latin typeface="Red Hat Mono"/>
                <a:ea typeface="Red Hat Mono"/>
                <a:cs typeface="Red Hat Mono"/>
                <a:sym typeface="Red Hat Mono"/>
              </a:rPr>
              <a:t># protocol -&gt; domain, nothing more</a:t>
            </a:r>
            <a:endParaRPr b="0" i="0" sz="105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which is exactly the saga story.</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FastAPI / uvicorn</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uvicorn</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main.py (excerpt), examples/21-graceful-shutdown/python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asyncio, signal          # (contextlib and fastapi imports elided)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DRAIN_DELAY_SECONDS = 5        # lets endpoint removal propagate (the preStop sleep)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shutting_down, uvicorn_sigterm, loop = False, None, None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def handle_sigterm(signum, frame):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shutting_down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shutting_down: return     # one SIGTERM drives the whole drain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shutting_down = True         # fail readiness now, keep serving for the 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loop.call_soon_threadsafe(loop.call_later, DRAIN_DELAY_SECONDS,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signum, frame)   # then uvicorn drains HTTP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@asynccontextmanager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lifespan(app):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uvicorn_sigterm, loop # uvicorn's handler is already installed: chain to 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 = asyncio.get_running_loop()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 signal.signal(signal.SIGTERM, handle_sigterm)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yield                        # --- runs after uvicorn has drained HTTP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db_pool.close()        # close pools, flush, release resources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 = FastAPI(lifespan=lifespan)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@app.get("/readyz")</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readyz(): return JSONResponse({}, 503 if shutting_down else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run: uvicorn main:app --timeout-graceful-shutdown 20   # bounds the HTTP drain</a:t>
            </a:r>
            <a:endParaRPr b="0" i="0" sz="105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handler hands over to uvicorn, which drains in-flight HTTP within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FastAPI, durable-rules, Open Policy Agent: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the same toolkit,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FastAPI / Starlette + durable-rules: when the routing logic is a business rule, push it into the app: a Rete-based rule engine in pure Python.</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(FastAPI middleware, a custom dispatcher, or a faust-streaming agent for streams) calls a rule engine (durable-rules,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FastAPI + durable-rules: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FastAPI is the HTTP front; durable-rules is the engine; aiokafka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durable-rules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durable-rules</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orders_rules.py  —  edited by domain experts, not developers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durable.lang import ruleset, when_all, 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with ruleset("orders"):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@when_all((m.amount_cents &gt; 50_000) &amp; (m.tier == "VIP"))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vip(c):                              </a:t>
            </a:r>
            <a:r>
              <a:rPr b="0" i="0" lang="en-US" sz="1100" u="none" cap="none" strike="noStrike">
                <a:solidFill>
                  <a:srgbClr val="8FB98F"/>
                </a:solidFill>
                <a:latin typeface="Red Hat Mono"/>
                <a:ea typeface="Red Hat Mono"/>
                <a:cs typeface="Red Hat Mono"/>
                <a:sym typeface="Red Hat Mono"/>
              </a:rPr>
              <a:t># high-value VIP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["kafka:orders.priority", "http:notify-vip"]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@when_all(m.region == "EU")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eu(c):                               </a:t>
            </a:r>
            <a:r>
              <a:rPr b="0" i="0" lang="en-US" sz="1100" u="none" cap="none" strike="noStrike">
                <a:solidFill>
                  <a:srgbClr val="8FB98F"/>
                </a:solidFill>
                <a:latin typeface="Red Hat Mono"/>
                <a:ea typeface="Red Hat Mono"/>
                <a:cs typeface="Red Hat Mono"/>
                <a:sym typeface="Red Hat Mono"/>
              </a:rPr>
              <a:t># European orders → EU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@when_all(+m.order_id)                   </a:t>
            </a:r>
            <a:r>
              <a:rPr b="0" i="0" lang="en-US" sz="1100" u="none" cap="none" strike="noStrike">
                <a:solidFill>
                  <a:srgbClr val="8FB98F"/>
                </a:solidFill>
                <a:latin typeface="Red Hat Mono"/>
                <a:ea typeface="Red Hat Mono"/>
                <a:cs typeface="Red Hat Mono"/>
                <a:sym typeface="Red Hat Mono"/>
              </a:rPr>
              <a:t># catch-all (lowest priority)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default(c):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not getattr(c.m, "where_to", None):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["kafka:orders.default"]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@when_all is a small business statement: when X is true, set where_to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FastAPI</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aiokafka</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durable.lang import post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fastapi import FastAPI, Depends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aiokafka import AIOKafkaProducer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httpx, 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orders_rules                          </a:t>
            </a:r>
            <a:r>
              <a:rPr b="0" i="0" lang="en-US" sz="1000" u="none" cap="none" strike="noStrike">
                <a:solidFill>
                  <a:srgbClr val="8FB98F"/>
                </a:solidFill>
                <a:latin typeface="Red Hat Mono"/>
                <a:ea typeface="Red Hat Mono"/>
                <a:cs typeface="Red Hat Mono"/>
                <a:sym typeface="Red Hat Mono"/>
              </a:rPr>
              <a:t># registers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 =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route(order: dict,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producer: AIOKafkaProducer = Depends(kafka_producer),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httpx.AsyncClient    = Depends(http_client)):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  = await enrich(order)               </a:t>
            </a:r>
            <a:r>
              <a:rPr b="0" i="0" lang="en-US" sz="1000" u="none" cap="none" strike="noStrike">
                <a:solidFill>
                  <a:srgbClr val="8FB98F"/>
                </a:solidFill>
                <a:latin typeface="Red Hat Mono"/>
                <a:ea typeface="Red Hat Mono"/>
                <a:cs typeface="Red Hat Mono"/>
                <a:sym typeface="Red Hat Mono"/>
              </a:rPr>
              <a:t># gather context (DB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fact = post("orders", order | ctx)       # evaluate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for dest in fact["where_to"]:            # dispatch per destination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proto, target = dest.split(":", 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proto == "kafka":</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producer.send(target, json.dumps(order).encode())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elif proto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http.post(target, json=order)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{"routed_to": fact["where_to"]}</a:t>
            </a:r>
            <a:endParaRPr b="0" i="0" sz="10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the same content-based-router pattern the EIP literature describes, in plain async Python.</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a 30s gateway timeout + 3 mesh retries with 10s each = a retry storm at the bottom.</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the request lifecycle,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(FastAPI + durable-rules):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durable-rules (PyPI); Open Policy Agent (OPA) and Rego docs; FastAPI / Starlette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middleware that routes by request content during cutover.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httpx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MONOLITH = "http://monolith.svc.cluster.local:8080"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NEW_SVC  = "http://orders.svc.cluster.local:8080"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EU_SVC   = "http://orders-eu.svc.cluster.local:8080"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client = httpx.AsyncClient(timeout=5.0)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@app.middleware("http")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content_router(request: Request, call_next):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request.url.path.startswith("/orders"):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 = await request.body()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json_or_empty(body)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payload.get("tenant") == "acme":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NEW_SVC                       </a:t>
            </a:r>
            <a:r>
              <a:rPr b="0" i="0" lang="en-US" sz="900" u="none" cap="none" strike="noStrike">
                <a:solidFill>
                  <a:srgbClr val="8FB98F"/>
                </a:solidFill>
                <a:latin typeface="Red Hat Mono"/>
                <a:ea typeface="Red Hat Mono"/>
                <a:cs typeface="Red Hat Mono"/>
                <a:sym typeface="Red Hat Mono"/>
              </a:rPr>
              <a:t># cut Acme over to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elif payload.get("region")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EU_SVC                        </a:t>
            </a:r>
            <a:r>
              <a:rPr b="0" i="0" lang="en-US" sz="900" u="none" cap="none" strike="noStrike">
                <a:solidFill>
                  <a:srgbClr val="8FB98F"/>
                </a:solidFill>
                <a:latin typeface="Red Hat Mono"/>
                <a:ea typeface="Red Hat Mono"/>
                <a:cs typeface="Red Hat Mono"/>
                <a:sym typeface="Red Hat Mono"/>
              </a:rPr>
              <a:t># EU traffic to regional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MONOLITH                      </a:t>
            </a:r>
            <a:r>
              <a:rPr b="0" i="0" lang="en-US" sz="900" u="none" cap="none" strike="noStrike">
                <a:solidFill>
                  <a:srgbClr val="8FB98F"/>
                </a:solidFill>
                <a:latin typeface="Red Hat Mono"/>
                <a:ea typeface="Red Hat Mono"/>
                <a:cs typeface="Red Hat Mono"/>
                <a:sym typeface="Red Hat Mono"/>
              </a:rPr>
              <a:t>#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forward(upstream, request,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call_next(request)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forward(): replays the request to upstream with httpx and streams the reply</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Python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 + redis + aiokafka</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app that wraps a legacy /orders API and adds: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(1) Redis caching of GET responses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(2) Kafka event emission on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(3) request/response auditing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FastAPI, redis.asyncio.Redis, aiokafka.AIOKafkaProducer, httpx,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legacy = httpx.AsyncClient(base_url="http://legacy.svc:8080", timeout=5.0)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audit  = AIOKafkaProducer(bootstrap_servers="kafka:9092")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@app.get("/orders/{oid}")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get_order(oid: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cache.get(f"order:{oid}"):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legacy.get(f"/orders/{oid}")                  # 2. legacy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cache.setex(f"order:{oid}", 60, json.dumps(order))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place_order(body: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legacy.post("/orders", json=body)             # 1. legacy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audit.send_and_wait("order.placed", json.dumps(order).encode())  # 2. emit event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cache.delete(f"order:{order['id']}")              # 3.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Python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redis.asyncio + Postgres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redis.asyncio import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HTTPException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           # connection pool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   = 60                                              </a:t>
            </a:r>
            <a:r>
              <a:rPr b="0" i="0" lang="en-US" sz="900" u="none" cap="none" strike="noStrike">
                <a:solidFill>
                  <a:srgbClr val="8FB98F"/>
                </a:solidFill>
                <a:latin typeface="Red Hat Mono"/>
                <a:ea typeface="Red Hat Mono"/>
                <a:cs typeface="Red Hat Mono"/>
                <a:sym typeface="Red Hat Mono"/>
              </a:rPr>
              <a:t># 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                  </a:t>
            </a:r>
            <a:r>
              <a:rPr b="0" i="0" lang="en-US" sz="900" u="none" cap="none" strike="noStrike">
                <a:solidFill>
                  <a:srgbClr val="8FB98F"/>
                </a:solidFill>
                <a:latin typeface="Red Hat Mono"/>
                <a:ea typeface="Red Hat Mono"/>
                <a:cs typeface="Red Hat Mono"/>
                <a:sym typeface="Red Hat Mono"/>
              </a:rPr>
              <a:t># 1. cache lookup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 await db.fetch_one(                       </a:t>
            </a:r>
            <a:r>
              <a:rPr b="0" i="0" lang="en-US" sz="900" u="none" cap="none" strike="noStrike">
                <a:solidFill>
                  <a:srgbClr val="8FB98F"/>
                </a:solidFill>
                <a:latin typeface="Red Hat Mono"/>
                <a:ea typeface="Red Hat Mono"/>
                <a:cs typeface="Red Hat Mono"/>
                <a:sym typeface="Red Hat Mono"/>
              </a:rPr>
              <a:t># 2. DB on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id, name, price_cents FROM products WHERE id = $1",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json.dumps(dict(product)))  </a:t>
            </a:r>
            <a:r>
              <a:rPr b="0" i="0" lang="en-US" sz="900" u="none" cap="none" strike="noStrike">
                <a:solidFill>
                  <a:srgbClr val="8FB98F"/>
                </a:solidFill>
                <a:latin typeface="Red Hat Mono"/>
                <a:ea typeface="Red Hat Mono"/>
                <a:cs typeface="Red Hat Mono"/>
                <a:sym typeface="Red Hat Mono"/>
              </a:rPr>
              <a:t>#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 = $1, price_cents = $2 WHERE id = $3",</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cache.delete(f"product:{pid}")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Python: a tiny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read-through wrapper on redis.asyncio</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redis.asyncio.Redis, typing, 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def __init__(self, redis: Redis, loader: Callable[[str], Awaitable[dict]],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int = 60, prefix: str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keeps redis, loader (called on cache miss), ttl and prefix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def get(self, id: str) -&gt; Optional[dict]: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f"{self.prefix}{id}"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self.redis.get(key):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 = await self.loader(id)         </a:t>
            </a:r>
            <a:r>
              <a:rPr b="0" i="0" lang="en-US" sz="900" u="none" cap="none" strike="noStrike">
                <a:solidFill>
                  <a:srgbClr val="8FB98F"/>
                </a:solidFill>
                <a:latin typeface="Red Hat Mono"/>
                <a:ea typeface="Red Hat Mono"/>
                <a:cs typeface="Red Hat Mono"/>
                <a:sym typeface="Red Hat Mono"/>
              </a:rPr>
              <a:t># miss → loader fetches from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value is not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self.redis.setex(key, self.ttl, json.dumps(value))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Wire it up once at startup — callers don't see Redis at all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products =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loader = lambda pid: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60, prefix =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products.get(pid)            </a:t>
            </a:r>
            <a:r>
              <a:rPr b="0" i="0" lang="en-US" sz="900" u="none" cap="none" strike="noStrike">
                <a:solidFill>
                  <a:srgbClr val="8FB98F"/>
                </a:solidFill>
                <a:latin typeface="Red Hat Mono"/>
                <a:ea typeface="Red Hat Mono"/>
                <a:cs typeface="Red Hat Mono"/>
                <a:sym typeface="Red Hat Mono"/>
              </a:rPr>
              <a:t># one interface; no if/else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Python</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write-through with redis.asyncio + Postgres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1. write the DB first  —  it's the source of truth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2. write the cache second  —  set, don't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updated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json.dumps(dict(updated)))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Alternative: write cache from the request body if you trust it to be complete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update_product_fast(pid: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cache the body directly  —  faster, but the cached value may diverge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from the DB if there are server-side defaults / triggers / computed fields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json.dumps({**body, "id":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Python</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write-around with selective read-side caching</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Common with append-heavy data: events,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Writes go straight to the DB. The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use cache-aside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record_event(body: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"INSERT INTO events (id, type, payload, ts) VALUES ($1, $2, $3,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body["id"], body["type"], json.dumps(body["payload"]))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no cache write here  —  most events are never read again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optional variant: the same INSERT, then cache.delete(f"event:{id}")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@app.get("/events/{eid}")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get_event(eid: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f"event:{eid}"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events WHERE id=$1", 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is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60, json.dumps(dict(row)))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dict(row)</a:t>
            </a:r>
            <a:endParaRPr b="0" i="0" sz="9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Python</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write-back with asyncio background task</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MAX_FLUSH_ATTEMPTS, MAX_FLUSH_BACKOFF = 5, 8   # excerpt, examples/25-caching/python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flusher():                                  # 2. drain the dirty set to the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                                       # back off after a failed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asyncio.sleep(min(FLUSH_PERIOD * 2**failures, MAX_FLUSH_BACKOFF))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ids = await cache.spop("metric:dirty", FLUSH_BATCH)  # cache: decode_responses=True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ids: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rows = [(m, json.dumps(d)) for m in ids if (d := await cache.hgetall(f"metric:{m}"))]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pool.acquire() as conn: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conn.executemany("INSERT INTO metrics (id, payload) VALUES ($1, $2)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 CONFLICT (id) DO UPDATE SET payload = $2, ts = NOW()", rows)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 Exception:                             # 3. re-queue, bounded by attempts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log.exception("flusher error: flush failed"); failures +=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 = await cache.hincrby("metric:attempts", mid,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"metric:failed" if n &gt;= MAX_FLUSH_ATTEMPTS else "metric:dirty"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cache.sadd(key, mid)              # parked after 5 tries, never dropped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@app.put("/write-back/metrics/{mid}")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write_back_write(mid: str, body: MetricIn):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mapping = {"value": str(body.value), "tags": json.dumps(body.tags)}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cache.hset(f"metric:{mid}", mapping=mapping)   # 1. cache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cache.sadd("metric:dirty", mid)                # mark for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JSONResponse(status_code=202, content={"ok": True, "action": "cached-for-flush"})</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Python</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refresh-ahead with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refresh-ahead (excerpt): cache, db, time and asyncio as in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TTL_S = 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REFRESH_BEFORE_S = 10              # refresh when TTL drops below this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cutoff = time.time() - 300                       # keys touched in last 5 min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cache.zremrangebyscore("product:hot",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pid_b in await cache.zrange("product:hot",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pid = pid_b.decode()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await cache.ttl(f"product:{pid}")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0 &lt; ttl &lt; REFRESH_BEFORE_S:               # refresh window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cache.setex(f"product:{pid}", TTL_S, json.dumps(dict(row)))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@asynccontextmanager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lifespan(app):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 = asyncio.create_task(refresher())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yield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task.cancel()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FastAPI(lifespan=lifespan)                         # created once, with the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cache.zadd("product:hot", {pid: time.time()})  # touch hot-list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then cache-aside on the key</a:t>
            </a:r>
            <a:endParaRPr b="0" i="0" sz="9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httpx + asyncio</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One client for the process; every call gives up after 2 s (0.5 s to connect).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@asynccontextmanager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lifespan(app: FastAPI):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with httpx.AsyncClient(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base_url=settings.backend_url, timeout=httpx.Timeout(2.0,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as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app.state.client =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yield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with_deadline(budget_ms: int = Query(default=1000)):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remaining = budget_ms - 50  # edge overhead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{"error": "deadline_exceeded", "reason": "insufficient budget at edge"}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headers={"X-Deadline-Ms": str(remaining)},             # propagate the budget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timeout=httpx.Timeout(remaining / 1000.0,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r.status_code, "body": r.json()}</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tenacity</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tenacity: 3 attempts, 100 ms doubling to 2 s with jitter; a 5xx or transport error 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for attempt in AsyncRetrying(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stop=stop_after_attempt(3),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wait=wait_exponential_jitter(initial=0.1, max=2.0, jitter=0.05),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retry=retry_if_exception_type((httpx.HTTPStatusError,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reraise=True,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 attempt: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attempt.retry_state.attempt_number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r.status_code, "attempts": attempts, "body":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(httpx.HTTPStatusError,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{"attempts": attempts, "pattern": "retry-exhausted"}</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pybreaker</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pybreaker: 5 failed calls open it, it stays open 10 s, 2 successful trials close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breaker = pybreaker.CircuitBreaker(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fail_max=5, reset_timeout=10, success_threshold=2,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throw_new_error_on_trip=False, name="backend",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 breaker.calling():                 # wraps an awaited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                # a 5xx counts as a failure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{"source": "live", "body": r.json(), "breaker": breaker.current_state}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pybreaker.CircuitBreakerError: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"circuit_open"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httpx.HTTPStatusError as 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f"upstream_{e.response.status_code}"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"upstream_unreachable"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{"source": "fallback", "reason": reason, "breaker": breaker.current_state}</a:t>
            </a:r>
            <a:endParaRPr b="0" i="0" sz="11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as a security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asyncio.Semaphore plus per-tenant aiohttp/httpx connection pools,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observability tie-in: you cannot shed or degrade intelligently without it;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lifespan</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main.py (excerpt), examples/21-graceful-shutdown/python: one SIGTERM, four steps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handle_sigterm(signum, frame):            # installed in the lifespan, chained to uvicorn's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shutting_down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return                  # already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shutting_down = True                      # 1. /readyz answers 503: the LB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loop.call_soon_threadsafe(loop.call_later, DRAIN_DELAY_SECONDS,   # 2. keep serving 5 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stop_server, signum, frame)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stop_server(signum, frame):               # 3. uvicorn stops accepting, finishes in-flight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uvicorn_sigterm(signum, frame)            #    (--timeout-graceful-shutdown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@asynccontextmanager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lifespan(app: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uvicorn_sigterm, 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 = asyncio.get_running_loop()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 = signal.signal(signal.SIGTERM, handle_sigterm)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yield                                     # ---------- app serves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db_pool.close()                     # 4. close resources, exit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 liveness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JSONResponse({"ready": False, "reason": "shutting down"}, 503)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{"ready": True}                    # (the example also pings Postgres here)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K8s: terminationGracePeriodSeconds: 30 &gt;= 5 s delay + 20 s drain + buffer  (App. H)</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 import 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openfeature.contrib.provider.flagd import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openfeature.evaluation_context import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api.set_provider(FlagdProvider(host=settings.flagd_host, port=settings.flagd_port))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flags = api.get_client()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checkout(cart: Cart, x_user: str = Header()):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targeting_key=x_user,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attributes={'plan': cart.plan, 'region': cart.region})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line - same call whether on/off, entitlement, or rollout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use_new = flags.get_boolean_value('new-checkout',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(new_checkout(cart) if use_new else legacy_checkout(cart))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recommend(user_id: str) -&gt; Recommendations: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flags.get_boolean_value('recommendations-enabled', True, ctx(user_id)):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recommendation_client.fetch(user_id)   # pairs w/ a breaker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Python / FastAPI — serve,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uv run uvicorn main:app --port 8080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k8s/overlays/python/kustomization.yaml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localhost/cndp-05/python-order-service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"postgres://$(PG_USER):$(PG_PASSWORD)@cndp-postgres-rw:5432/appdb"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python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python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77" cy="292607"/>
          </a:xfrm>
          <a:prstGeom prst="rect">
            <a:avLst/>
          </a:prstGeom>
          <a:noFill/>
        </p:spPr>
        <p:txBody>
          <a:bodyPr wrap="square" lIns="0" rIns="0" tIns="0" bIns="0" anchor="ctr">
            <a:spAutoFit/>
          </a:bodyPr>
          <a:lstStyle/>
          <a:p>
            <a:pPr algn="l"/>
            <a:r>
              <a:rPr sz="1199" b="1" i="0" spc="399">
                <a:solidFill>
                  <a:srgbClr val="EE0000"/>
                </a:solidFill>
                <a:latin typeface="Overpass"/>
                <a:cs typeface="Overpass"/>
              </a:rPr>
              <a:t>SCAN TO EXPLORE</a:t>
            </a:r>
          </a:p>
        </p:txBody>
      </p:sp>
      <p:sp>
        <p:nvSpPr>
          <p:cNvPr id="3" name="TextBox 2"/>
          <p:cNvSpPr txBox="1"/>
          <p:nvPr/>
        </p:nvSpPr>
        <p:spPr>
          <a:xfrm>
            <a:off x="566927" y="676654"/>
            <a:ext cx="11055077" cy="1005838"/>
          </a:xfrm>
          <a:prstGeom prst="rect">
            <a:avLst/>
          </a:prstGeom>
          <a:noFill/>
        </p:spPr>
        <p:txBody>
          <a:bodyPr wrap="square" lIns="0" rIns="0" tIns="0" bIns="0" anchor="t">
            <a:spAutoFit/>
          </a:bodyPr>
          <a:lstStyle/>
          <a:p>
            <a:pPr algn="l"/>
            <a:r>
              <a:rPr sz="2999" b="1" i="0">
                <a:solidFill>
                  <a:srgbClr val="151515"/>
                </a:solidFill>
                <a:latin typeface="Overpass"/>
                <a:cs typeface="Overpass"/>
              </a:rPr>
              <a:t>Take it with you</a:t>
            </a:r>
          </a:p>
        </p:txBody>
      </p:sp>
      <p:pic>
        <p:nvPicPr>
          <p:cNvPr id="4" name="Picture 3" descr="qr-cndp-site.png"/>
          <p:cNvPicPr>
            <a:picLocks noChangeAspect="1"/>
          </p:cNvPicPr>
          <p:nvPr/>
        </p:nvPicPr>
        <p:blipFill>
          <a:blip r:embed="rId2"/>
          <a:stretch>
            <a:fillRect/>
          </a:stretch>
        </p:blipFill>
        <p:spPr>
          <a:xfrm>
            <a:off x="2103116" y="1627629"/>
            <a:ext cx="2834635" cy="2834635"/>
          </a:xfrm>
          <a:prstGeom prst="rect">
            <a:avLst/>
          </a:prstGeom>
        </p:spPr>
      </p:pic>
      <p:sp>
        <p:nvSpPr>
          <p:cNvPr id="5" name="TextBox 4"/>
          <p:cNvSpPr txBox="1"/>
          <p:nvPr/>
        </p:nvSpPr>
        <p:spPr>
          <a:xfrm>
            <a:off x="1417317"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The site</a:t>
            </a:r>
          </a:p>
        </p:txBody>
      </p:sp>
      <p:sp>
        <p:nvSpPr>
          <p:cNvPr id="6" name="TextBox 5"/>
          <p:cNvSpPr txBox="1"/>
          <p:nvPr/>
        </p:nvSpPr>
        <p:spPr>
          <a:xfrm>
            <a:off x="1325877"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cloud-native design patterns, with runnable examples</a:t>
            </a:r>
          </a:p>
        </p:txBody>
      </p:sp>
      <p:sp>
        <p:nvSpPr>
          <p:cNvPr id="7" name="TextBox 6"/>
          <p:cNvSpPr txBox="1"/>
          <p:nvPr/>
        </p:nvSpPr>
        <p:spPr>
          <a:xfrm>
            <a:off x="1325877" y="5596118"/>
            <a:ext cx="4389112" cy="292607"/>
          </a:xfrm>
          <a:prstGeom prst="rect">
            <a:avLst/>
          </a:prstGeom>
          <a:noFill/>
        </p:spPr>
        <p:txBody>
          <a:bodyPr wrap="square" lIns="0" rIns="0" tIns="0" bIns="0" anchor="ctr">
            <a:spAutoFit/>
          </a:bodyPr>
          <a:lstStyle/>
          <a:p>
            <a:pPr algn="ctr"/>
            <a:r>
              <a:rPr sz="999" b="0" i="0">
                <a:solidFill>
                  <a:srgbClr val="EE0000"/>
                </a:solidFill>
                <a:latin typeface="Red Hat Mono"/>
                <a:cs typeface="Red Hat Mono"/>
              </a:rPr>
              <a:t>patterncatalyst.github.io/cloud-native-design-patterns</a:t>
            </a:r>
          </a:p>
        </p:txBody>
      </p:sp>
      <p:pic>
        <p:nvPicPr>
          <p:cNvPr id="8" name="Picture 7" descr="qr-hub.png"/>
          <p:cNvPicPr>
            <a:picLocks noChangeAspect="1"/>
          </p:cNvPicPr>
          <p:nvPr/>
        </p:nvPicPr>
        <p:blipFill>
          <a:blip r:embed="rId3"/>
          <a:stretch>
            <a:fillRect/>
          </a:stretch>
        </p:blipFill>
        <p:spPr>
          <a:xfrm>
            <a:off x="7251179" y="1627629"/>
            <a:ext cx="2834635" cy="2834635"/>
          </a:xfrm>
          <a:prstGeom prst="rect">
            <a:avLst/>
          </a:prstGeom>
        </p:spPr>
      </p:pic>
      <p:sp>
        <p:nvSpPr>
          <p:cNvPr id="9" name="TextBox 8"/>
          <p:cNvSpPr txBox="1"/>
          <p:nvPr/>
        </p:nvSpPr>
        <p:spPr>
          <a:xfrm>
            <a:off x="6565381"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Workshops &amp; Tutorials</a:t>
            </a:r>
          </a:p>
        </p:txBody>
      </p:sp>
      <p:sp>
        <p:nvSpPr>
          <p:cNvPr id="10" name="TextBox 9"/>
          <p:cNvSpPr txBox="1"/>
          <p:nvPr/>
        </p:nvSpPr>
        <p:spPr>
          <a:xfrm>
            <a:off x="6473941"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41" y="5596118"/>
            <a:ext cx="4389112"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13"/>
            <a:ext cx="914398"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282</a:t>
            </a:r>
          </a:p>
        </p:txBody>
      </p:sp>
      <p:pic>
        <p:nvPicPr>
          <p:cNvPr id="13" name="Picture 12" descr="image.png"/>
          <p:cNvPicPr>
            <a:picLocks noChangeAspect="1"/>
          </p:cNvPicPr>
          <p:nvPr/>
        </p:nvPicPr>
        <p:blipFill>
          <a:blip r:embed="rId4"/>
          <a:stretch>
            <a:fillRect/>
          </a:stretch>
        </p:blipFill>
        <p:spPr>
          <a:xfrm>
            <a:off x="10561302" y="6355069"/>
            <a:ext cx="1033270" cy="246887"/>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