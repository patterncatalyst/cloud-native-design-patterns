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and set context. This deck presents a recommended approach for operationalizing in-cluster network segmentation on Kubernetes, with upstream APIs and open-source tools. The starting point is common: perimeter and east-west controls run through the firewall team on a traditional appliance, there is no in-cluster network policy, and developers have never written a firewall rule. The goal is not to pick tools or assign owners; it is to describe a process and a maturity path that the organization can adopt at its own pace. We will walk through where organizations typically start, how to handle the developer skill gap, the CI/CD flow for policy changes, repo structure, day-two operations, the firewall team's evolving role, and what maturity looks like. Ask the audience: do you have a documented process for who authors, reviews, and approves network policies in your clusters today? The answer usually reveals the gap this deck fills.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current state without judgment. The perimeter firewall handles everything: north-south and east-west traffic controls run through the firewall team on the perimeter appliance. There is no Kubernetes NetworkPolicy in the cluster. Developers are not security specialists; most have never written a firewall rule and do not inherently know what traffic their applications require. This is not unusual. Most organizations start in exactly this position. The shift to in-cluster segmentation is not about replacing the firewall team or the perimeter; it is about extending the organization's security posture into a layer the perimeter cannot see. The perimeter firewall has no visibility into pod-to-pod traffic inside the cluster. A compromised pod behind the perimeter can reach every other pod unless the cluster itself enforces segmentation. That is the gap this process fills.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phases. The most important point is that these are sequential and the timeline depends on the organization's complexity and risk tolerance. Phase 1 is observation: reading the CNI's flow logs to discover what traffic flows before writing any policy. Phase 2 is baseline: applying default-deny and cleaning up policies generated from the observed flows. Phase 3 is guardrails: the platform team introduces cluster-scoped ClusterNetworkPolicy rules in the Admin and Baseline tiers that developers cannot override. Phase 4 is developer ownership: app teams author their own namespace-scoped NetworkPolicies via pull request. The most common failure is skipping Phase 1 and jumping straight to enforcement; teams that did this caused outages from denied traffic they did not know existed. The observation phase pays for itself by revealing undocumented dependencies and unauthorized connections. Stress that each phase builds on the previous: you cannot do Phase 3 well without Phase 2's baseline, and Phase 2 is reckless without Phase 1's visibility.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observation means without a commercial console. The CNI already sees every flow. With Cilium, Hubble shows them (hubble observe, or the Hubble UI); with Calico 3.30 and later, Felix sends flow logs to Goldmane and the Whisker console shows them. Inspektor Gadget, a CNCF Sandbox project, adds the advise_networkpolicy gadget: it records the TCP and UDP traffic of the namespaces you choose and later turns it into NetworkPolicy YAML. At this stage, nothing is denied. The goal is pure visibility. The firewall team and platform team review the observed flows together. They identify which services talk to each other and which should not, which services make outbound calls to external endpoints, which connections cross namespace boundaries, and which traffic patterns were previously invisible behind the perimeter. What field teams typically see: organizations are surprised by the volume of east-west traffic they did not know existed. A frontend directly querying a database it should go through an API for. A monitoring agent making outbound calls to a SaaS endpoint. Discovery is the highest-value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baseline phase. The first action is applying default-deny NetworkPolicy in every namespace: podSelector empty, policyTypes Ingress and Egress. This is the single highest-impact security measure. Simultaneously, generate NetworkPolicy YAML from the observed flows. Inspektor Gadget's advise_networkpolicy writes one policy per workload, with ingress and egress rules based on the peers it saw; it can also write CiliumNetworkPolicy. On Calico, a StagedNetworkPolicy shows in the flow logs what a policy would deny before it is enforced. These generated policies capture what traffic did flow, not what traffic should flow. The platform team reviews them, removes connections that should not have existed, and applies the cleaned-up policies alongside the default-deny. This audit step finds the connections nobody documented. The first default-deny rollout in a non-prod namespace immediately reveals undocumented dependencies: a monitoring agent scraping every pod, a legacy batch job connecting to an external database, a sidecar phoning home to a SaaS endpoint. Discovering these in dev or test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transition from platform-owned guardrails to developer ownership. In Phase 3, the platform team introduces ClusterNetworkPolicy rules in the Admin and Baseline tiers: cluster-scoped rules that developers cannot override. They enforce non-negotiable boundaries: deny cross-environment traffic, accept monitoring, restrict control-plane access. In Phase 4, app teams begin authoring their own namespace-scoped NetworkPolicies. The transition is gradual: developers start by reviewing generated baselines, then modify them, then eventually author from scratch as they build familiarity. The key architectural point: even if a developer writes no NetworkPolicies at all, the Baseline-tier default-deny keeps the namespace closed. This directly addresses the developer skill gap: the platform provides safety by default, and developers add precision as they learn. This is a fundamentally different model from asking every developer to be a firewall engineer.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conceptual slide. A CNI that implements the upstream ClusterNetworkPolicy API evaluates traffic against three tiers of policy. Tier 1 is the Admin tier: cluster-scoped, priority zero to one thousand, with Accept, Deny, or Pass actions. If the traffic matches an Admin Accept or Deny rule, tiers 2 and 3 are skipped entirely. If it matches a Pass rule, evaluation hands to tier 2. Tier 2 is standard Kubernetes NetworkPolicy: namespace-scoped, owned by app teams. Tier 3 is the Baseline tier, the safety net: it decides traffic that no Admin rule accepted or denied and that no NetworkPolicy covers. Point to the diagram showing the evaluation flow. The value proposition: the platform team controls tiers 1 and 3, the guardrails. Developers control tier 2, their application's policies. This separation of concerns is what makes the model scalable.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Dive deeper into the two cluster tiers. The Admin tier enforces non-negotiable rules: deny traffic to the control plane from application namespaces, accept monitoring agents scraping all pods, deny cross-environment traffic like dev to prod. A Pass rule explicitly delegates the decision to the NetworkPolicy tier: this is how the platform team says app teams, this one is yours to decide. The Baseline tier is the safety net, configured as default-deny. If no Admin rule and no NetworkPolicy allows the traffic, the Baseline tier denies it, so a namespace with no NetworkPolicies still has a default-deny posture without the app team creating it. Critical caution: an Admin-tier policy with an empty namespace selector matches all namespaces, including kube-system and the CNI's own namespaces. This can lock the cluster. Label application namespaces and use that label as the namespace selector.</a:t>
            </a:r>
          </a:p>
          <a:p>
            <a:r>
              <a:t>Status, as of network-policy-api v0.2.0 (April 2026): ClusterNetworkPolicy is policy.networking.k8s.io/v1alpha2, an alpha API. It merged the earlier AdminNetworkPolicy and BaselineAdminNetworkPolicy (v1alpha1), which upstream now lists as previous APIs, and renamed Allow to Accept. Calico enforces it from 3.32 and no longer enforces the old pair; Cilium 1.20 enforces it behind the k8sClusterNetworkPolicy.enabled Helm value. Check the release notes before each upgrade.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approaches for bridging the developer skill gap. First, generated baselines invert the skill requirement: developers review a policy generated from observed flows, they do not author one from scratch. Reviewing a concrete policy (does this look right, should this connection exist) is dramatically easier than writing one from zero. Second, platform-authored starter templates for common workload archetypes: web-facing, internal API, batch job, database. Developers pick the template, customize the namespace and label selectors, and submit a PR. Third, the Baseline tier as a safety net converts missing policies from a security gap into a connectivity issue that surfaces immediately in testing. Fourth, golden-path namespace provisioning includes default-deny, egress rules, starter templates, and RBAC bindings automatically; Kyverno's add-network-policy sample is a generate rule that creates the default-deny NetworkPolicy in every new namespace. The developer starts with a secured namespace and never sees the everything-is-open starting point that leads to procrastination.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starter template library. The platform team maintains a small set of NetworkPolicy templates for common workload archetypes. A web-facing service template accepts ingress from the ingress controller on ports 8080 and 8443 and allows egress to backend services and the database. An internal API template accepts ingress from specific consumer services and allows egress to the database and Kafka. A batch job template has no ingress and allows egress to the database and specific external endpoints. A database template accepts ingress from application services on port 5432 and has no egress. Developers pick the template that matches their workload, customize the namespace and label selectors, and submit a PR. The template handles the hard parts — the deny-all baseline, correct policyTypes, CIDR ranges for external services. Start with three to five archetypes, not twenty. Over-engineering the first set of templates is a common mistake. Refine based on actual PR volume and developer feedback.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policy CI/CD pipeline. Every policy change (NetworkPolicy, ClusterNetworkPolicy, egress rules) flows through the same pipeline. Schema check with kubeconform and kubectl apply --dry-run=client catches invalid YAML and wrong API versions. Policy lint with conftest, kyverno test or Gatekeeper's gator verify catches organizational policy violations like allow-all rules or missing labels, and trivy config scans the manifests (its KSV-0038 check flags network policies without pod or namespace selectors). The baseline diff compares the change with the policy generated from observed flows and flags rules that would allow traffic outside the baseline. Platform or security team reviews the PR; CODEOWNERS enforces who reviews based on the file path. Merge triggers an Argo CD sync to staging, smoke tests validate connectivity, then sync to production. Post-deploy validation reads the Hubble or Calico flow logs, and Falco alerts on unexpected egress at runtime. Point to the diagram. The key principle: the CI pipeline is the only path to production. No exceptions, no emergency kubectl apply, no just this once.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three-layer repository model. The platform-baselines directory contains the ClusterNetworkPolicy resources of the Admin and Baseline tiers and the egress rules: cluster-scoped policies authored by the platform team and reviewed by the firewall and security team. The onboarding directory contains starter NetworkPolicy templates per workload archetype, maintained by the platform team and consumed by app teams as starting points. The app-policies directory contains per-namespace NetworkPolicies authored by app teams, with base and overlay directories for Kustomize-based environment promotion. CODEOWNERS enforces review requirements by path: platform-baselines requires firewall team review, app-policies requires platform team review. This separation provides clear ownership boundaries. The same PR that modifies a policy flows through the same CI pipeline regardless of whether it targets dev, test, or production; only the Kustomize overlay differs.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three-team ownership model and point to the diagram. The firewall team authors the egress rules for external destinations, reviews all cluster-scoped policies (the Admin and Baseline tiers) because they have cluster-wide blast radius, and continues to own the perimeter for north-south traffic, TLS inspection, and compliance logging. The platform team authors the ClusterNetworkPolicy guardrails, maintains starter templates, reviews app team NetworkPolicies, and owns the overall cluster security posture. App teams author namespace-scoped NetworkPolicy for their services, consume starter templates and generated baselines, and own their application's connectivity. The critical framing: the firewall team moves from approve every rule to set the boundaries and review the exceptions. This is faster for developers, safer for the organization, and a better use of the firewall team's expertise.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denied-flow triage process. When a developer reports my service cannot reach X, the first step is comparing with the observed baseline: was this connection ever in the generated policies kept in Git? If not, it was likely never policy-allowed, and the decision is whether to add a policy or investigate why the new connection exists. The second step is the flow logs: hubble observe with --verdict DROPPED on Cilium, or the Calico flow logs in Whisker, show the dropped flow with source pod, destination and port. Matching it to the policies that select the pod tells you which tier denied the traffic: Admin, NetworkPolicy, or Baseline. If the Admin tier denied it, the platform team needs to act. If a NetworkPolicy denied it, the app team updates their policy. If the Baseline tier denied it, no one wrote a policy for this connection at all. The third step is a diagnostics bundle, cilium sysdump or calicoctl cluster diags, for offline analysis, an upstream issue, or escalation to your support provider. The target is under 30 minutes for triage. If it regularly takes longer, the observability tooling is not configured correctly.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break-glass process and drift detection. When a denied flow is blocking a production incident and the normal PR process is too slow, a platform team member creates a temporary Admin-tier ClusterNetworkPolicy with a Pass rule at high priority. This is time-boxed with an expiration annotation and logged via an incident ticket. If the Baseline tier is default-deny and no NetworkPolicy covers the target, a temporary NetworkPolicy is needed as well. Within 24 hours, the proper policy change goes through the normal PR and CI pipeline, and the temporary rule is removed. All break-glass events are reviewed in the quarterly policy review. For drift detection: Argo CD reports sync status for every policy manifest; if someone manually applies a policy, Argo CD detects the drift and alerts, or reverts it when self-heal is on. Baseline drift catches new traffic flows outside the observed baseline, whether from policy changes or application changes. The critical lesson: define the break-glass process before you enforce anything in production. The first denied-flow incident without a break-glass process causes panic and a rollback of all policies.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firewall team's evolving role as elevation, not replacement. What stays with the firewall team: north-south edge controls on the perimeter firewall for TLS inspection, DDoS mitigation, and compliance logging. Egress rule authorship: the firewall team catalogs approved external destinations and authors the egress rules, which is their domain expertise. Admin and Baseline tier review: the firewall team reviews all cluster-scoped policies because they have cluster-wide blast radius. What shifts to the platform and app teams: east-west traffic segmentation is handled by NetworkPolicy authored by app teams. The firewall team does not need to approve every pod-to-pod rule; that does not scale. The key framing: teams that presented in-cluster policy as a replacement for the firewall team met resistance. Teams that positioned it as the firewall team's expertise applied at a new layer got buy-in.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egress control with upstream APIs. A ClusterNetworkPolicy in the Admin tier can carry egress rules whose peers are networks, CIDR ranges, which is part of the standard channel; deny everything outside the approved ranges and accept the approved ones. DNS names are harder: the domainNames peer of ClusterNetworkPolicy is in the experimental channel and only valid in Accept rules, and Calico's open-source edition has no DNS-based policy. On Cilium, a CiliumNetworkPolicy with toFQDNs gives DNS-based egress today, through Cilium's DNS proxy, which matters for external services that change IP addresses without notice. The firewall team's domain: they catalog approved external endpoints and author the egress rules. This extends what they already do at the perimeter, controlling which destinations workloads can reach, to the cluster level, where the perimeter has no visibility. Combine the two: NetworkPolicy for intra-cluster segmentation, cluster egress rules for external traffic control. Caveat: DNS-based rules depend on the DNS answers the cluster sees, so test them against the real resolvers.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maturity checklist. Default-deny in every namespace: no namespace without coverage. Baselines reviewed: every production namespace has a reviewed baseline in Git, and new flows outside it raise alerts. Admin-tier guardrails enforced: cross-environment traffic blocked, monitoring allowed, control-plane access restricted. Baseline-tier default-deny: the cluster-wide safety net catches any traffic not explicitly allowed. App teams authoring policies via PR, not kubectl apply. CI validates before merge: schema checks, policy linting, the baseline diff, and dry-run apply on every PR. Egress rules restrict outbound traffic to approved destinations. Firewall team reviews, does not block: turnaround on Admin and Baseline tier reviews is prompt. Denied-flow triage under 30 minutes. Quarterly policy review cadence covering break-glass events, stale policies, baseline refreshes, and RBAC audits. The maturity timeline is agreed upon by the organization; there is no universal pace.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top five lessons from real engagements. First, teams that jumped to default-deny without observing the flows caused outages from denied traffic they did not know existed. The observation phase pays for itself. Second, the first set of starter templates should be simple: three to five archetypes, not twenty. Start broad and refine based on actual PR volume. Third, cataloging every external endpoint every service needs to reach is the most time-consuming part of the shift. Start this inventory in Phase 1 alongside the flow observation. Fourth, teams that presented in-cluster policy as a replacement for the firewall team met resistance; teams that positioned it as the firewall team's expertise applied at a new layer got buy-in. Fifth, the first denied-flow incident in production without a break-glass process caused panic and a rollback of all policies. Define break-glass before you enforce. These lessons are from real engagements: they are patterns, not hypotheticals.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the audience to authoritative sources. The Network Policy API site covers ClusterNetworkPolicy, its Admin and Baseline tiers and the list of implementations. The v0.2.0 release notes record the move from AdminNetworkPolicy and BaselineAdminNetworkPolicy to ClusterNetworkPolicy and the Allow-to-Accept rename. The Calico 3.32 release notes and the Cilium network policy page say how each CNI enforces it. The Inspektor Gadget page covers generating NetworkPolicy from observed traffic. The Kubernetes Network Policies documentation covers the standard NetworkPolicy API that app teams will author. The companion document, Kubernetes Environment Access Policies, covers the broader governance framework including RBAC, admission control, GitOps, and audit that surrounds the network policy process described in this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500000" y="2200000"/>
            <a:ext cx="6000000" cy="2000000"/>
          </a:xfrm>
          <a:prstGeom prst="rect">
            <a:avLst/>
          </a:prstGeom>
          <a:noFill/>
        </p:spPr>
        <p:txBody>
          <a:bodyPr wrap="square">
            <a:spAutoFit/>
          </a:bodyPr>
          <a:lstStyle/>
          <a:p>
            <a:r>
              <a:rPr sz="4000" b="1">
                <a:solidFill>
                  <a:srgbClr val="FFFFFF"/>
                </a:solidFill>
                <a:latin typeface="Overpass SemiBold"/>
              </a:rPr>
              <a:t>Network Policy Process</a:t>
            </a:r>
          </a:p>
          <a:p>
            <a:pPr>
              <a:spcBef>
                <a:spcPts val="1600"/>
              </a:spcBef>
            </a:pPr>
            <a:r>
              <a:rPr sz="1500">
                <a:solidFill>
                  <a:srgbClr val="FFCCCC"/>
                </a:solidFill>
                <a:latin typeface="Red Hat Text"/>
              </a:rPr>
              <a:t>Advisory — Shifting from perimeter to in-cluster segmentation.</a:t>
            </a:r>
          </a:p>
        </p:txBody>
      </p:sp>
      <p:pic>
        <p:nvPicPr>
          <p:cNvPr id="4" name="Picture 3" descr="image.png"/>
          <p:cNvPicPr>
            <a:picLocks noChangeAspect="1"/>
          </p:cNvPicPr>
          <p:nvPr/>
        </p:nvPicPr>
        <p:blipFill>
          <a:blip r:embed="rId3"/>
          <a:stretch>
            <a:fillRect/>
          </a:stretch>
        </p:blipFill>
        <p:spPr>
          <a:xfrm>
            <a:off x="10442448" y="6291072"/>
            <a:ext cx="971550" cy="228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STARTING POINT</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Where you are today</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Perimeter and east-west controls run through the firewall team on a traditional appliance today.</a:t>
            </a:r>
          </a:p>
          <a:p>
            <a:pPr>
              <a:spcAft>
                <a:spcPts val="1000"/>
              </a:spcAft>
            </a:pPr>
            <a:r>
              <a:rPr sz="1300">
                <a:solidFill>
                  <a:srgbClr val="222222"/>
                </a:solidFill>
                <a:latin typeface="Red Hat Text"/>
              </a:rPr>
              <a:t>The organization wants to shift network segmentation left into the cluster (NetworkPolicy, ClusterNetworkPolicy, egress rules) but has not defined the workflow.</a:t>
            </a:r>
          </a:p>
          <a:p>
            <a:pPr>
              <a:spcAft>
                <a:spcPts val="1000"/>
              </a:spcAft>
            </a:pPr>
            <a:r>
              <a:rPr sz="1300">
                <a:solidFill>
                  <a:srgbClr val="222222"/>
                </a:solidFill>
                <a:latin typeface="Red Hat Text"/>
              </a:rPr>
              <a:t>Developers are not security specialists. Most have never written a firewall rule and don't inherently know what traffic their applications require.</a:t>
            </a:r>
          </a:p>
          <a:p>
            <a:pPr>
              <a:spcAft>
                <a:spcPts val="1000"/>
              </a:spcAft>
            </a:pPr>
            <a:r>
              <a:rPr sz="1300">
                <a:solidFill>
                  <a:srgbClr val="222222"/>
                </a:solidFill>
                <a:latin typeface="Red Hat Text"/>
              </a:rPr>
              <a:t>The goal: a recommended process for operationalizing in-cluster network segmentation, not a tool selection exercise or an ownership assignment.</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A recommended approach, built on upstream Kubernetes and open-source tools.</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2</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MATURITY PATH</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The four-phase maturity path</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Phase 1 — Observe: understand what traffic flows today from the CNI's flow logs (Hubble or Calico). No enforcement yet.</a:t>
            </a:r>
          </a:p>
          <a:p>
            <a:pPr>
              <a:spcAft>
                <a:spcPts val="1000"/>
              </a:spcAft>
            </a:pPr>
            <a:r>
              <a:rPr sz="1300">
                <a:solidFill>
                  <a:srgbClr val="222222"/>
                </a:solidFill>
                <a:latin typeface="Red Hat Text"/>
              </a:rPr>
              <a:t>Phase 2 — Baseline: apply default-deny in every namespace, generate policies from the observed flows, clean them up.</a:t>
            </a:r>
          </a:p>
          <a:p>
            <a:pPr>
              <a:spcAft>
                <a:spcPts val="1000"/>
              </a:spcAft>
            </a:pPr>
            <a:r>
              <a:rPr sz="1300">
                <a:solidFill>
                  <a:srgbClr val="222222"/>
                </a:solidFill>
                <a:latin typeface="Red Hat Text"/>
              </a:rPr>
              <a:t>Phase 3 — Guardrails: introduce cluster-scoped ClusterNetworkPolicy (Admin and Baseline tiers) owned by the platform team.</a:t>
            </a:r>
          </a:p>
          <a:p>
            <a:pPr>
              <a:spcAft>
                <a:spcPts val="1000"/>
              </a:spcAft>
            </a:pPr>
            <a:r>
              <a:rPr sz="1300">
                <a:solidFill>
                  <a:srgbClr val="222222"/>
                </a:solidFill>
                <a:latin typeface="Red Hat Text"/>
              </a:rPr>
              <a:t>Phase 4 — Developer ownership: app teams author and own their namespace-scoped NetworkPolicies via PR.</a:t>
            </a:r>
          </a:p>
          <a:p>
            <a:pPr>
              <a:spcAft>
                <a:spcPts val="1000"/>
              </a:spcAft>
            </a:pPr>
            <a:r>
              <a:rPr sz="1300">
                <a:solidFill>
                  <a:srgbClr val="222222"/>
                </a:solidFill>
                <a:latin typeface="Red Hat Text"/>
              </a:rPr>
              <a:t>The timeline for each phase depends on the organization's complexity, team capacity, and risk tolerance. Each phase builds on the previous.</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Most common failure: skipping Phase 1 and jumping to enforcement.</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3</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PHASE 1</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Observe the flows</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The CNI records flows between pods, namespaces, and external destinations: Hubble with Cilium, flow logs (Goldmane, Whisker) with Calico.</a:t>
            </a:r>
          </a:p>
          <a:p>
            <a:pPr>
              <a:spcAft>
                <a:spcPts val="1000"/>
              </a:spcAft>
            </a:pPr>
            <a:r>
              <a:rPr sz="1300">
                <a:solidFill>
                  <a:srgbClr val="222222"/>
                </a:solidFill>
                <a:latin typeface="Red Hat Text"/>
              </a:rPr>
              <a:t>Inspektor Gadget's advise_networkpolicy gadget records the TCP and UDP traffic of chosen namespaces. Together they give the network baseline, the source of truth for what traffic is expected.</a:t>
            </a:r>
          </a:p>
          <a:p>
            <a:pPr>
              <a:spcAft>
                <a:spcPts val="1000"/>
              </a:spcAft>
            </a:pPr>
            <a:r>
              <a:rPr sz="1300">
                <a:solidFill>
                  <a:srgbClr val="222222"/>
                </a:solidFill>
                <a:latin typeface="Red Hat Text"/>
              </a:rPr>
              <a:t>The firewall team and platform team review the flows together and identify which services talk to each other, which make outbound calls, and which cross namespace boundaries.</a:t>
            </a:r>
          </a:p>
          <a:p>
            <a:pPr>
              <a:spcAft>
                <a:spcPts val="1000"/>
              </a:spcAft>
            </a:pPr>
            <a:r>
              <a:rPr sz="1300">
                <a:solidFill>
                  <a:srgbClr val="222222"/>
                </a:solidFill>
                <a:latin typeface="Red Hat Text"/>
              </a:rPr>
              <a:t>What field teams typically see: organizations are surprised by the volume of east-west traffic that was invisible behind the perimeter.</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Nothing is denied in Phase 1. The goal is visibility.</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4</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PHASE 2</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Baseline: default-deny + generated policies</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Apply default-deny NetworkPolicy in every namespace — the single highest-impact security measure.</a:t>
            </a:r>
          </a:p>
          <a:p>
            <a:pPr>
              <a:spcAft>
                <a:spcPts val="1000"/>
              </a:spcAft>
            </a:pPr>
            <a:r>
              <a:rPr sz="1300">
                <a:solidFill>
                  <a:srgbClr val="222222"/>
                </a:solidFill>
                <a:latin typeface="Red Hat Text"/>
              </a:rPr>
              <a:t>Generate NetworkPolicy YAML from the observed flows: advise_networkpolicy writes one policy per workload, with rules from the observed peers.</a:t>
            </a:r>
          </a:p>
          <a:p>
            <a:pPr>
              <a:spcAft>
                <a:spcPts val="1000"/>
              </a:spcAft>
            </a:pPr>
            <a:r>
              <a:rPr sz="1300">
                <a:solidFill>
                  <a:srgbClr val="222222"/>
                </a:solidFill>
                <a:latin typeface="Red Hat Text"/>
              </a:rPr>
              <a:t>Generated policies capture what traffic did flow, not what should flow. The platform team reviews, removes unauthorized connections, and applies cleaned-up policies alongside default-deny.</a:t>
            </a:r>
          </a:p>
          <a:p>
            <a:pPr>
              <a:spcAft>
                <a:spcPts val="1000"/>
              </a:spcAft>
            </a:pPr>
            <a:r>
              <a:rPr sz="1300">
                <a:solidFill>
                  <a:srgbClr val="222222"/>
                </a:solidFill>
                <a:latin typeface="Red Hat Text"/>
              </a:rPr>
              <a:t>The first default-deny rollout reveals undocumented dependencies — monitoring agents, legacy batch jobs, SaaS sidecars. Discovering these in dev/test is the point.</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Generated policies are a starting point, not the final state.</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5</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PHASES 3-4</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Guardrails and developer ownership</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Phase 3: the platform team introduces cluster-scoped guardrails with ClusterNetworkPolicy, in its Admin and Baseline tiers. These are the policies developers cannot override.</a:t>
            </a:r>
          </a:p>
          <a:p>
            <a:pPr>
              <a:spcAft>
                <a:spcPts val="1000"/>
              </a:spcAft>
            </a:pPr>
            <a:r>
              <a:rPr sz="1300">
                <a:solidFill>
                  <a:srgbClr val="222222"/>
                </a:solidFill>
                <a:latin typeface="Red Hat Text"/>
              </a:rPr>
              <a:t>Phase 4: app teams begin authoring their own namespace-scoped NetworkPolicies via pull request, with CI validation and platform team review.</a:t>
            </a:r>
          </a:p>
          <a:p>
            <a:pPr>
              <a:spcAft>
                <a:spcPts val="1000"/>
              </a:spcAft>
            </a:pPr>
            <a:r>
              <a:rPr sz="1300">
                <a:solidFill>
                  <a:srgbClr val="222222"/>
                </a:solidFill>
                <a:latin typeface="Red Hat Text"/>
              </a:rPr>
              <a:t>The transition from Phase 3 to Phase 4 is gradual — developers start by reviewing generated baselines, then modify them, then eventually author from scratch.</a:t>
            </a:r>
          </a:p>
          <a:p>
            <a:pPr>
              <a:spcAft>
                <a:spcPts val="1000"/>
              </a:spcAft>
            </a:pPr>
            <a:r>
              <a:rPr sz="1300">
                <a:solidFill>
                  <a:srgbClr val="222222"/>
                </a:solidFill>
                <a:latin typeface="Red Hat Text"/>
              </a:rPr>
              <a:t>The platform team controls the guardrails. Developers control their application connectivity. Even if a developer writes no policies at all, the Baseline tier ensures default-deny.</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The Baseline tier addresses the developer skill gap directly: safety by default.</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6</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THREE-TIER MODEL</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The policy evaluation model</a:t>
            </a:r>
          </a:p>
        </p:txBody>
      </p:sp>
      <p:sp>
        <p:nvSpPr>
          <p:cNvPr id="4" name="TextBox 3"/>
          <p:cNvSpPr txBox="1"/>
          <p:nvPr/>
        </p:nvSpPr>
        <p:spPr>
          <a:xfrm>
            <a:off x="566928" y="1600200"/>
            <a:ext cx="11000000" cy="2200000"/>
          </a:xfrm>
          <a:prstGeom prst="rect">
            <a:avLst/>
          </a:prstGeom>
          <a:noFill/>
        </p:spPr>
        <p:txBody>
          <a:bodyPr wrap="square">
            <a:spAutoFit/>
            <a:normAutofit/>
          </a:bodyPr>
          <a:lstStyle/>
          <a:p>
            <a:pPr>
              <a:spcAft>
                <a:spcPts val="1000"/>
              </a:spcAft>
            </a:pPr>
            <a:r>
              <a:rPr sz="1300">
                <a:solidFill>
                  <a:srgbClr val="222222"/>
                </a:solidFill>
                <a:latin typeface="Red Hat Text"/>
              </a:rPr>
              <a:t>Tier 1 — ClusterNetworkPolicy, Admin tier: cluster-scoped, priority 0-1000, Accept/Deny/Pass. Cannot be overridden by tenants.</a:t>
            </a:r>
          </a:p>
          <a:p>
            <a:pPr>
              <a:spcAft>
                <a:spcPts val="1000"/>
              </a:spcAft>
            </a:pPr>
            <a:r>
              <a:rPr sz="1300">
                <a:solidFill>
                  <a:srgbClr val="222222"/>
                </a:solidFill>
                <a:latin typeface="Red Hat Text"/>
              </a:rPr>
              <a:t>Tier 2 — NetworkPolicy (NP): namespace-scoped, owned by app teams. Evaluated unless an Admin rule accepted or denied it.</a:t>
            </a:r>
          </a:p>
          <a:p>
            <a:pPr>
              <a:spcAft>
                <a:spcPts val="1000"/>
              </a:spcAft>
            </a:pPr>
            <a:r>
              <a:rPr sz="1300">
                <a:solidFill>
                  <a:srgbClr val="222222"/>
                </a:solidFill>
                <a:latin typeface="Red Hat Text"/>
              </a:rPr>
              <a:t>Tier 3 — ClusterNetworkPolicy, Baseline tier: cluster-scoped safety net. Overridable by NetworkPolicy.</a:t>
            </a:r>
          </a:p>
          <a:p>
            <a:pPr>
              <a:spcAft>
                <a:spcPts val="1000"/>
              </a:spcAft>
            </a:pPr>
            <a:r>
              <a:rPr sz="1300">
                <a:solidFill>
                  <a:srgbClr val="222222"/>
                </a:solidFill>
                <a:latin typeface="Red Hat Text"/>
              </a:rPr>
              <a:t>Admin Accept/Deny are final — NP and the Baseline tier are skipped. Admin Pass hands evaluation to the next tier.</a:t>
            </a:r>
          </a:p>
        </p:txBody>
      </p:sp>
      <p:pic>
        <p:nvPicPr>
          <p:cNvPr id="5" name="Picture 4" descr="image.png"/>
          <p:cNvPicPr>
            <a:picLocks noChangeAspect="1"/>
          </p:cNvPicPr>
          <p:nvPr/>
        </p:nvPicPr>
        <p:blipFill>
          <a:blip r:embed="rId2"/>
          <a:stretch>
            <a:fillRect/>
          </a:stretch>
        </p:blipFill>
        <p:spPr>
          <a:xfrm>
            <a:off x="3481030" y="3017520"/>
            <a:ext cx="5226891" cy="2788920"/>
          </a:xfrm>
          <a:prstGeom prst="rect">
            <a:avLst/>
          </a:prstGeom>
        </p:spPr>
      </p:pic>
      <p:sp>
        <p:nvSpPr>
          <p:cNvPr id="6" name="TextBox 5"/>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Platform team controls tiers 1 and 3. App teams control tier 2.</a:t>
            </a:r>
          </a:p>
        </p:txBody>
      </p:sp>
      <p:sp>
        <p:nvSpPr>
          <p:cNvPr id="7" name="TextBox 6"/>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7</a:t>
            </a:r>
          </a:p>
        </p:txBody>
      </p:sp>
      <p:pic>
        <p:nvPicPr>
          <p:cNvPr id="8" name="Picture 7" descr="image.png"/>
          <p:cNvPicPr>
            <a:picLocks noChangeAspect="1"/>
          </p:cNvPicPr>
          <p:nvPr/>
        </p:nvPicPr>
        <p:blipFill>
          <a:blip r:embed="rId3"/>
          <a:stretch>
            <a:fillRect/>
          </a:stretch>
        </p:blipFill>
        <p:spPr>
          <a:xfrm>
            <a:off x="10442448" y="6291072"/>
            <a:ext cx="1574800" cy="37147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ADMIN · BASELINE</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ClusterNetworkPolicy: Admin and Baseline tiers</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The Admin tier enforces non-negotiable rules: deny traffic to the control plane, accept monitoring agents scraping all pods, deny cross-environment traffic (dev → prod).</a:t>
            </a:r>
          </a:p>
          <a:p>
            <a:pPr>
              <a:spcAft>
                <a:spcPts val="1000"/>
              </a:spcAft>
            </a:pPr>
            <a:r>
              <a:rPr sz="1300">
                <a:solidFill>
                  <a:srgbClr val="222222"/>
                </a:solidFill>
                <a:latin typeface="Red Hat Text"/>
              </a:rPr>
              <a:t>A Pass rule explicitly delegates to the NetworkPolicy tier — the platform team says 'app teams, this one is yours to decide.'</a:t>
            </a:r>
          </a:p>
          <a:p>
            <a:pPr>
              <a:spcAft>
                <a:spcPts val="1000"/>
              </a:spcAft>
            </a:pPr>
            <a:r>
              <a:rPr sz="1300">
                <a:solidFill>
                  <a:srgbClr val="222222"/>
                </a:solidFill>
                <a:latin typeface="Red Hat Text"/>
              </a:rPr>
              <a:t>The Baseline tier is the safety net. Recommended: a default-deny Baseline policy. If no Admin rule and no NP allows the traffic, the Baseline tier denies it.</a:t>
            </a:r>
          </a:p>
          <a:p>
            <a:pPr>
              <a:spcAft>
                <a:spcPts val="1000"/>
              </a:spcAft>
            </a:pPr>
            <a:r>
              <a:rPr sz="1300">
                <a:solidFill>
                  <a:srgbClr val="222222"/>
                </a:solidFill>
                <a:latin typeface="Red Hat Text"/>
              </a:rPr>
              <a:t>Critical: an Admin-tier policy with an empty namespace selector ({}) matches all namespaces including kube-system and the CNI's own. Use workload-specific label selectors.</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An overly broad Admin-tier policy can lock the cluster. Use workload-specific labels.</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8</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DEVELOPER SKILL GAP</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Bridging the gap</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Generated baselines: developers review generated policies, not author from scratch. Reviewing a concrete policy is dramatically easier than writing one from zero.</a:t>
            </a:r>
          </a:p>
          <a:p>
            <a:pPr>
              <a:spcAft>
                <a:spcPts val="1000"/>
              </a:spcAft>
            </a:pPr>
            <a:r>
              <a:rPr sz="1300">
                <a:solidFill>
                  <a:srgbClr val="222222"/>
                </a:solidFill>
                <a:latin typeface="Red Hat Text"/>
              </a:rPr>
              <a:t>Platform-authored starter templates: web-facing service, internal API, batch job, database archetypes. Developers pick the template, customize selectors, submit a PR.</a:t>
            </a:r>
          </a:p>
          <a:p>
            <a:pPr>
              <a:spcAft>
                <a:spcPts val="1000"/>
              </a:spcAft>
            </a:pPr>
            <a:r>
              <a:rPr sz="1300">
                <a:solidFill>
                  <a:srgbClr val="222222"/>
                </a:solidFill>
                <a:latin typeface="Red Hat Text"/>
              </a:rPr>
              <a:t>The Baseline tier as safety net: a developer who deploys without any NetworkPolicy gets default-deny automatically. Missing policies become connectivity issues, not security gaps.</a:t>
            </a:r>
          </a:p>
          <a:p>
            <a:pPr>
              <a:spcAft>
                <a:spcPts val="1000"/>
              </a:spcAft>
            </a:pPr>
            <a:r>
              <a:rPr sz="1300">
                <a:solidFill>
                  <a:srgbClr val="222222"/>
                </a:solidFill>
                <a:latin typeface="Red Hat Text"/>
              </a:rPr>
              <a:t>Golden-path provisioning: new namespaces come with default-deny (a Kyverno generate rule), egress rules, starter templates, and RBAC bindings pre-installed.</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Invert the skill requirement: review, don't author.</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9</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TEMPLATES</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Starter policy templates</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Web-facing service — accepts ingress from ingress controller on 8080/8443, allows egress to backend services and database.</a:t>
            </a:r>
          </a:p>
          <a:p>
            <a:pPr>
              <a:spcAft>
                <a:spcPts val="1000"/>
              </a:spcAft>
            </a:pPr>
            <a:r>
              <a:rPr sz="1300">
                <a:solidFill>
                  <a:srgbClr val="222222"/>
                </a:solidFill>
                <a:latin typeface="Red Hat Text"/>
              </a:rPr>
              <a:t>Internal API — accepts ingress from specific consumer services, allows egress to database and Kafka.</a:t>
            </a:r>
          </a:p>
          <a:p>
            <a:pPr>
              <a:spcAft>
                <a:spcPts val="1000"/>
              </a:spcAft>
            </a:pPr>
            <a:r>
              <a:rPr sz="1300">
                <a:solidFill>
                  <a:srgbClr val="222222"/>
                </a:solidFill>
                <a:latin typeface="Red Hat Text"/>
              </a:rPr>
              <a:t>Batch job — no ingress, allows egress to database and specific external endpoints.</a:t>
            </a:r>
          </a:p>
          <a:p>
            <a:pPr>
              <a:spcAft>
                <a:spcPts val="1000"/>
              </a:spcAft>
            </a:pPr>
            <a:r>
              <a:rPr sz="1300">
                <a:solidFill>
                  <a:srgbClr val="222222"/>
                </a:solidFill>
                <a:latin typeface="Red Hat Text"/>
              </a:rPr>
              <a:t>Database — accepts ingress from application services on port 5432, no egress.</a:t>
            </a:r>
          </a:p>
          <a:p>
            <a:pPr>
              <a:spcAft>
                <a:spcPts val="1000"/>
              </a:spcAft>
            </a:pPr>
            <a:r>
              <a:rPr sz="1300">
                <a:solidFill>
                  <a:srgbClr val="222222"/>
                </a:solidFill>
                <a:latin typeface="Red Hat Text"/>
              </a:rPr>
              <a:t>Start with 3-5 archetypes, not twenty. Refine based on actual PR volume and developer feedback.</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Over-engineering templates is a common early mistake.</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10</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CI/CD PIPELINE</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Policy validation end-to-end</a:t>
            </a:r>
          </a:p>
        </p:txBody>
      </p:sp>
      <p:sp>
        <p:nvSpPr>
          <p:cNvPr id="4" name="TextBox 3"/>
          <p:cNvSpPr txBox="1"/>
          <p:nvPr/>
        </p:nvSpPr>
        <p:spPr>
          <a:xfrm>
            <a:off x="566928" y="1600200"/>
            <a:ext cx="11000000" cy="2200000"/>
          </a:xfrm>
          <a:prstGeom prst="rect">
            <a:avLst/>
          </a:prstGeom>
          <a:noFill/>
        </p:spPr>
        <p:txBody>
          <a:bodyPr wrap="square">
            <a:spAutoFit/>
            <a:normAutofit/>
          </a:bodyPr>
          <a:lstStyle/>
          <a:p>
            <a:pPr>
              <a:spcAft>
                <a:spcPts val="1000"/>
              </a:spcAft>
            </a:pPr>
            <a:r>
              <a:rPr sz="1300">
                <a:solidFill>
                  <a:srgbClr val="222222"/>
                </a:solidFill>
                <a:latin typeface="Red Hat Text"/>
              </a:rPr>
              <a:t>Schema check: kubeconform and kubectl apply --dry-run=client validate YAML and API version.</a:t>
            </a:r>
          </a:p>
          <a:p>
            <a:pPr>
              <a:spcAft>
                <a:spcPts val="1000"/>
              </a:spcAft>
            </a:pPr>
            <a:r>
              <a:rPr sz="1300">
                <a:solidFill>
                  <a:srgbClr val="222222"/>
                </a:solidFill>
                <a:latin typeface="Red Hat Text"/>
              </a:rPr>
              <a:t>Policy lint: conftest / kyverno test / gator verify enforce organizational rules (no allow-all, required labels); trivy config scans the manifests.</a:t>
            </a:r>
          </a:p>
          <a:p>
            <a:pPr>
              <a:spcAft>
                <a:spcPts val="1000"/>
              </a:spcAft>
            </a:pPr>
            <a:r>
              <a:rPr sz="1300">
                <a:solidFill>
                  <a:srgbClr val="222222"/>
                </a:solidFill>
                <a:latin typeface="Red Hat Text"/>
              </a:rPr>
              <a:t>Baseline diff: compare the change with the policy generated from observed flows; flag traffic outside the baseline.</a:t>
            </a:r>
          </a:p>
          <a:p>
            <a:pPr>
              <a:spcAft>
                <a:spcPts val="1000"/>
              </a:spcAft>
            </a:pPr>
            <a:r>
              <a:rPr sz="1300">
                <a:solidFill>
                  <a:srgbClr val="222222"/>
                </a:solidFill>
                <a:latin typeface="Red Hat Text"/>
              </a:rPr>
              <a:t>Review: CODEOWNERS enforces — app teams author NP (platform reviews), platform authors ClusterNetworkPolicy (firewall reviews).</a:t>
            </a:r>
          </a:p>
        </p:txBody>
      </p:sp>
      <p:pic>
        <p:nvPicPr>
          <p:cNvPr id="5" name="Picture 4" descr="image.png"/>
          <p:cNvPicPr>
            <a:picLocks noChangeAspect="1"/>
          </p:cNvPicPr>
          <p:nvPr/>
        </p:nvPicPr>
        <p:blipFill>
          <a:blip r:embed="rId2"/>
          <a:stretch>
            <a:fillRect/>
          </a:stretch>
        </p:blipFill>
        <p:spPr>
          <a:xfrm>
            <a:off x="1993123" y="3017520"/>
            <a:ext cx="8202705" cy="2788920"/>
          </a:xfrm>
          <a:prstGeom prst="rect">
            <a:avLst/>
          </a:prstGeom>
        </p:spPr>
      </p:pic>
      <p:sp>
        <p:nvSpPr>
          <p:cNvPr id="6" name="TextBox 5"/>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Fail at any stage → PR blocked. No exceptions, no bypass.</a:t>
            </a:r>
          </a:p>
        </p:txBody>
      </p:sp>
      <p:sp>
        <p:nvSpPr>
          <p:cNvPr id="7" name="TextBox 6"/>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11</a:t>
            </a:r>
          </a:p>
        </p:txBody>
      </p:sp>
      <p:pic>
        <p:nvPicPr>
          <p:cNvPr id="8" name="Picture 7" descr="image.png"/>
          <p:cNvPicPr>
            <a:picLocks noChangeAspect="1"/>
          </p:cNvPicPr>
          <p:nvPr/>
        </p:nvPicPr>
        <p:blipFill>
          <a:blip r:embed="rId3"/>
          <a:stretch>
            <a:fillRect/>
          </a:stretch>
        </p:blipFill>
        <p:spPr>
          <a:xfrm>
            <a:off x="10442448" y="6291072"/>
            <a:ext cx="1574800" cy="37147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REPO STRUCTURE</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Three-layer policy repo</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platform-baselines/ — ClusterNetworkPolicy (Admin and Baseline tiers) and egress rules. Platform team authors, firewall/security team reviews. Cluster-wide scope.</a:t>
            </a:r>
          </a:p>
          <a:p>
            <a:pPr>
              <a:spcAft>
                <a:spcPts val="1000"/>
              </a:spcAft>
            </a:pPr>
            <a:r>
              <a:rPr sz="1300">
                <a:solidFill>
                  <a:srgbClr val="222222"/>
                </a:solidFill>
                <a:latin typeface="Red Hat Text"/>
              </a:rPr>
              <a:t>onboarding/ — starter NetworkPolicy templates per workload archetype. Platform team maintains, app teams consume.</a:t>
            </a:r>
          </a:p>
          <a:p>
            <a:pPr>
              <a:spcAft>
                <a:spcPts val="1000"/>
              </a:spcAft>
            </a:pPr>
            <a:r>
              <a:rPr sz="1300">
                <a:solidFill>
                  <a:srgbClr val="222222"/>
                </a:solidFill>
                <a:latin typeface="Red Hat Text"/>
              </a:rPr>
              <a:t>app-policies/ — per-namespace NetworkPolicy. App teams author, platform team reviews. Kustomize overlays for dev/test/prod.</a:t>
            </a:r>
          </a:p>
          <a:p>
            <a:pPr>
              <a:spcAft>
                <a:spcPts val="1000"/>
              </a:spcAft>
            </a:pPr>
            <a:r>
              <a:rPr sz="1300">
                <a:solidFill>
                  <a:srgbClr val="222222"/>
                </a:solidFill>
                <a:latin typeface="Red Hat Text"/>
              </a:rPr>
              <a:t>CODEOWNERS enforces review requirements by path. The same PR flow applies regardless of target environment.</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Separate ownership boundaries with clear review rules.</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12</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OWNERSHIP</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Who owns what</a:t>
            </a:r>
          </a:p>
        </p:txBody>
      </p:sp>
      <p:sp>
        <p:nvSpPr>
          <p:cNvPr id="4" name="TextBox 3"/>
          <p:cNvSpPr txBox="1"/>
          <p:nvPr/>
        </p:nvSpPr>
        <p:spPr>
          <a:xfrm>
            <a:off x="566928" y="1600200"/>
            <a:ext cx="11000000" cy="2200000"/>
          </a:xfrm>
          <a:prstGeom prst="rect">
            <a:avLst/>
          </a:prstGeom>
          <a:noFill/>
        </p:spPr>
        <p:txBody>
          <a:bodyPr wrap="square">
            <a:spAutoFit/>
            <a:normAutofit/>
          </a:bodyPr>
          <a:lstStyle/>
          <a:p>
            <a:pPr>
              <a:spcAft>
                <a:spcPts val="1000"/>
              </a:spcAft>
            </a:pPr>
            <a:r>
              <a:rPr sz="1300">
                <a:solidFill>
                  <a:srgbClr val="222222"/>
                </a:solidFill>
                <a:latin typeface="Red Hat Text"/>
              </a:rPr>
              <a:t>Firewall team: authors egress rules, reviews the Admin and Baseline tiers, owns the perimeter firewall (north-south and compliance).</a:t>
            </a:r>
          </a:p>
          <a:p>
            <a:pPr>
              <a:spcAft>
                <a:spcPts val="1000"/>
              </a:spcAft>
            </a:pPr>
            <a:r>
              <a:rPr sz="1300">
                <a:solidFill>
                  <a:srgbClr val="222222"/>
                </a:solidFill>
                <a:latin typeface="Red Hat Text"/>
              </a:rPr>
              <a:t>Platform team: authors ClusterNetworkPolicy guardrails and starter templates, reviews app NetworkPolicies, owns cluster security posture.</a:t>
            </a:r>
          </a:p>
          <a:p>
            <a:pPr>
              <a:spcAft>
                <a:spcPts val="1000"/>
              </a:spcAft>
            </a:pPr>
            <a:r>
              <a:rPr sz="1300">
                <a:solidFill>
                  <a:srgbClr val="222222"/>
                </a:solidFill>
                <a:latin typeface="Red Hat Text"/>
              </a:rPr>
              <a:t>App teams: author namespace-scoped NetworkPolicy, consume templates and generated baselines, own application connectivity.</a:t>
            </a:r>
          </a:p>
          <a:p>
            <a:pPr>
              <a:spcAft>
                <a:spcPts val="1000"/>
              </a:spcAft>
            </a:pPr>
            <a:r>
              <a:rPr sz="1300">
                <a:solidFill>
                  <a:srgbClr val="222222"/>
                </a:solidFill>
                <a:latin typeface="Red Hat Text"/>
              </a:rPr>
              <a:t>The firewall team moves from 'approve every rule' to 'set the boundaries and review the exceptions.'</a:t>
            </a:r>
          </a:p>
        </p:txBody>
      </p:sp>
      <p:pic>
        <p:nvPicPr>
          <p:cNvPr id="5" name="Picture 4" descr="image.png"/>
          <p:cNvPicPr>
            <a:picLocks noChangeAspect="1"/>
          </p:cNvPicPr>
          <p:nvPr/>
        </p:nvPicPr>
        <p:blipFill>
          <a:blip r:embed="rId2"/>
          <a:stretch>
            <a:fillRect/>
          </a:stretch>
        </p:blipFill>
        <p:spPr>
          <a:xfrm>
            <a:off x="3104822" y="3017520"/>
            <a:ext cx="5979307" cy="2788920"/>
          </a:xfrm>
          <a:prstGeom prst="rect">
            <a:avLst/>
          </a:prstGeom>
        </p:spPr>
      </p:pic>
      <p:sp>
        <p:nvSpPr>
          <p:cNvPr id="6" name="TextBox 5"/>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Faster for developers, safer for the organization.</a:t>
            </a:r>
          </a:p>
        </p:txBody>
      </p:sp>
      <p:sp>
        <p:nvSpPr>
          <p:cNvPr id="7" name="TextBox 6"/>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13</a:t>
            </a:r>
          </a:p>
        </p:txBody>
      </p:sp>
      <p:pic>
        <p:nvPicPr>
          <p:cNvPr id="8" name="Picture 7" descr="image.png"/>
          <p:cNvPicPr>
            <a:picLocks noChangeAspect="1"/>
          </p:cNvPicPr>
          <p:nvPr/>
        </p:nvPicPr>
        <p:blipFill>
          <a:blip r:embed="rId3"/>
          <a:stretch>
            <a:fillRect/>
          </a:stretch>
        </p:blipFill>
        <p:spPr>
          <a:xfrm>
            <a:off x="10442448" y="6291072"/>
            <a:ext cx="1574800" cy="37147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DAY-2 OPS</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Denied-flow triage</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Step 1: compare with the observed baseline — was this connection ever in the generated policies in Git?</a:t>
            </a:r>
          </a:p>
          <a:p>
            <a:pPr>
              <a:spcAft>
                <a:spcPts val="1000"/>
              </a:spcAft>
            </a:pPr>
            <a:r>
              <a:rPr sz="1300">
                <a:solidFill>
                  <a:srgbClr val="222222"/>
                </a:solidFill>
                <a:latin typeface="Red Hat Text"/>
              </a:rPr>
              <a:t>Step 2: read the flow logs (hubble observe --verdict DROPPED, or Calico's flow logs) and match the dropped flow to the policies that select the pod: which tier (Admin, NP, or Baseline) denied it tells you who updates the policy.</a:t>
            </a:r>
          </a:p>
          <a:p>
            <a:pPr>
              <a:spcAft>
                <a:spcPts val="1000"/>
              </a:spcAft>
            </a:pPr>
            <a:r>
              <a:rPr sz="1300">
                <a:solidFill>
                  <a:srgbClr val="222222"/>
                </a:solidFill>
                <a:latin typeface="Red Hat Text"/>
              </a:rPr>
              <a:t>Step 3: cilium sysdump or calicoctl cluster diags collects policy state, CNI configuration, and logs for offline analysis or escalation.</a:t>
            </a:r>
          </a:p>
          <a:p>
            <a:pPr>
              <a:spcAft>
                <a:spcPts val="1000"/>
              </a:spcAft>
            </a:pPr>
            <a:r>
              <a:rPr sz="1300">
                <a:solidFill>
                  <a:srgbClr val="222222"/>
                </a:solidFill>
                <a:latin typeface="Red Hat Text"/>
              </a:rPr>
              <a:t>Target: denied-flow triage should take under 30 minutes. If it takes longer, the observability tooling is not configured correctly.</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The flow logs and the tier that matched say who owns the fix.</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14</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DAY-2 OPS</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Break-glass and drift detection</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Break-glass: platform team creates a temporary Admin-tier Pass rule at high priority, time-boxed with an expiration annotation, logged via incident ticket. Proper policy change follows within 24 hours via normal PR.</a:t>
            </a:r>
          </a:p>
          <a:p>
            <a:pPr>
              <a:spcAft>
                <a:spcPts val="1000"/>
              </a:spcAft>
            </a:pPr>
            <a:r>
              <a:rPr sz="1300">
                <a:solidFill>
                  <a:srgbClr val="222222"/>
                </a:solidFill>
                <a:latin typeface="Red Hat Text"/>
              </a:rPr>
              <a:t>Argo CD drift detection: if someone manually applies a policy via kubectl apply instead of the PR pipeline, Argo CD detects the drift and alerts or reverts it (self-heal).</a:t>
            </a:r>
          </a:p>
          <a:p>
            <a:pPr>
              <a:spcAft>
                <a:spcPts val="1000"/>
              </a:spcAft>
            </a:pPr>
            <a:r>
              <a:rPr sz="1300">
                <a:solidFill>
                  <a:srgbClr val="222222"/>
                </a:solidFill>
                <a:latin typeface="Red Hat Text"/>
              </a:rPr>
              <a:t>Baseline drift: new flows outside the observed baseline show up in the flow logs and Falco alerts — catches both policy drift and application drift.</a:t>
            </a:r>
          </a:p>
          <a:p>
            <a:pPr>
              <a:spcAft>
                <a:spcPts val="1000"/>
              </a:spcAft>
            </a:pPr>
            <a:r>
              <a:rPr sz="1300">
                <a:solidFill>
                  <a:srgbClr val="222222"/>
                </a:solidFill>
                <a:latin typeface="Red Hat Text"/>
              </a:rPr>
              <a:t>All break-glass events are reviewed in the quarterly policy review.</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Define the break-glass process before you enforce anything in production.</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15</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FIREWALL TEAM</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The evolving role</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What stays: north-south edge controls (the perimeter firewall for TLS inspection, DDoS, compliance logging), egress rule authorship (approved CIDRs, DNS rules), Admin and Baseline tier review (cluster-wide blast radius).</a:t>
            </a:r>
          </a:p>
          <a:p>
            <a:pPr>
              <a:spcAft>
                <a:spcPts val="1000"/>
              </a:spcAft>
            </a:pPr>
            <a:r>
              <a:rPr sz="1300">
                <a:solidFill>
                  <a:srgbClr val="222222"/>
                </a:solidFill>
                <a:latin typeface="Red Hat Text"/>
              </a:rPr>
              <a:t>What shifts: east-west traffic segmentation moves to NetworkPolicy authored by app teams. The firewall team does not approve every pod-to-pod rule — that does not scale.</a:t>
            </a:r>
          </a:p>
          <a:p>
            <a:pPr>
              <a:spcAft>
                <a:spcPts val="1000"/>
              </a:spcAft>
            </a:pPr>
            <a:r>
              <a:rPr sz="1300">
                <a:solidFill>
                  <a:srgbClr val="222222"/>
                </a:solidFill>
                <a:latin typeface="Red Hat Text"/>
              </a:rPr>
              <a:t>The new model: the firewall team's expertise is applied at a new layer. Position this as elevation, not replacement.</a:t>
            </a:r>
          </a:p>
          <a:p>
            <a:pPr>
              <a:spcAft>
                <a:spcPts val="1000"/>
              </a:spcAft>
            </a:pPr>
            <a:r>
              <a:rPr sz="1300">
                <a:solidFill>
                  <a:srgbClr val="222222"/>
                </a:solidFill>
                <a:latin typeface="Red Hat Text"/>
              </a:rPr>
              <a:t>Teams that presented in-cluster policy as a replacement met resistance. Teams that positioned it as the firewall team's expertise at a new layer got buy-in.</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Gatekeeper → architect. Faster for developers, safer for the org.</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16</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EGRESS</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Controlling outbound traffic</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Admin-tier ClusterNetworkPolicy egress rules with networks peers (CIDR, standard channel) restrict outbound traffic cluster-wide.</a:t>
            </a:r>
          </a:p>
          <a:p>
            <a:pPr>
              <a:spcAft>
                <a:spcPts val="1000"/>
              </a:spcAft>
            </a:pPr>
            <a:r>
              <a:rPr sz="1300">
                <a:solidFill>
                  <a:srgbClr val="222222"/>
                </a:solidFill>
                <a:latin typeface="Red Hat Text"/>
              </a:rPr>
              <a:t>DNS-based rules: CNP domainNames peers are experimental and Accept-only; Cilium's toFQDNs (CiliumNetworkPolicy) gives DNS-based egress today.</a:t>
            </a:r>
          </a:p>
          <a:p>
            <a:pPr>
              <a:spcAft>
                <a:spcPts val="1000"/>
              </a:spcAft>
            </a:pPr>
            <a:r>
              <a:rPr sz="1300">
                <a:solidFill>
                  <a:srgbClr val="222222"/>
                </a:solidFill>
                <a:latin typeface="Red Hat Text"/>
              </a:rPr>
              <a:t>The firewall team's domain: they catalog approved external endpoints and author the egress rules per environment.</a:t>
            </a:r>
          </a:p>
          <a:p>
            <a:pPr>
              <a:spcAft>
                <a:spcPts val="1000"/>
              </a:spcAft>
            </a:pPr>
            <a:r>
              <a:rPr sz="1300">
                <a:solidFill>
                  <a:srgbClr val="222222"/>
                </a:solidFill>
                <a:latin typeface="Red Hat Text"/>
              </a:rPr>
              <a:t>Combine with NetworkPolicy: NetworkPolicy for intra-cluster segmentation, cluster egress rules for external traffic control. They complement each other.</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Cataloging external endpoints is the most time-consuming part of the shift.</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17</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MATURITY</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What 'good' looks like</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Default-deny in every namespace — no namespace without coverage.</a:t>
            </a:r>
          </a:p>
          <a:p>
            <a:pPr>
              <a:spcAft>
                <a:spcPts val="1000"/>
              </a:spcAft>
            </a:pPr>
            <a:r>
              <a:rPr sz="1300">
                <a:solidFill>
                  <a:srgbClr val="222222"/>
                </a:solidFill>
                <a:latin typeface="Red Hat Text"/>
              </a:rPr>
              <a:t>Baselines reviewed — new flows outside them raise alerts.</a:t>
            </a:r>
          </a:p>
          <a:p>
            <a:pPr>
              <a:spcAft>
                <a:spcPts val="1000"/>
              </a:spcAft>
            </a:pPr>
            <a:r>
              <a:rPr sz="1300">
                <a:solidFill>
                  <a:srgbClr val="222222"/>
                </a:solidFill>
                <a:latin typeface="Red Hat Text"/>
              </a:rPr>
              <a:t>Admin-tier guardrails enforced — cross-environment traffic blocked, monitoring allowed.</a:t>
            </a:r>
          </a:p>
          <a:p>
            <a:pPr>
              <a:spcAft>
                <a:spcPts val="1000"/>
              </a:spcAft>
            </a:pPr>
            <a:r>
              <a:rPr sz="1300">
                <a:solidFill>
                  <a:srgbClr val="222222"/>
                </a:solidFill>
                <a:latin typeface="Red Hat Text"/>
              </a:rPr>
              <a:t>Baseline-tier default-deny — the cluster-wide safety net catches unmatched traffic.</a:t>
            </a:r>
          </a:p>
          <a:p>
            <a:pPr>
              <a:spcAft>
                <a:spcPts val="1000"/>
              </a:spcAft>
            </a:pPr>
            <a:r>
              <a:rPr sz="1300">
                <a:solidFill>
                  <a:srgbClr val="222222"/>
                </a:solidFill>
                <a:latin typeface="Red Hat Text"/>
              </a:rPr>
              <a:t>App teams authoring policies via PR — not kubectl apply.</a:t>
            </a:r>
          </a:p>
          <a:p>
            <a:pPr>
              <a:spcAft>
                <a:spcPts val="1000"/>
              </a:spcAft>
            </a:pPr>
            <a:r>
              <a:rPr sz="1300">
                <a:solidFill>
                  <a:srgbClr val="222222"/>
                </a:solidFill>
                <a:latin typeface="Red Hat Text"/>
              </a:rPr>
              <a:t>CI validates before merge — schema, lint, baseline diff, dry-run on every PR.</a:t>
            </a:r>
          </a:p>
          <a:p>
            <a:pPr>
              <a:spcAft>
                <a:spcPts val="1000"/>
              </a:spcAft>
            </a:pPr>
            <a:r>
              <a:rPr sz="1300">
                <a:solidFill>
                  <a:srgbClr val="222222"/>
                </a:solidFill>
                <a:latin typeface="Red Hat Text"/>
              </a:rPr>
              <a:t>Egress rules per environment — outbound traffic restricted to approved destinations.</a:t>
            </a:r>
          </a:p>
          <a:p>
            <a:pPr>
              <a:spcAft>
                <a:spcPts val="1000"/>
              </a:spcAft>
            </a:pPr>
            <a:r>
              <a:rPr sz="1300">
                <a:solidFill>
                  <a:srgbClr val="222222"/>
                </a:solidFill>
                <a:latin typeface="Red Hat Text"/>
              </a:rPr>
              <a:t>Denied-flow triage under 30 minutes. Quarterly policy review cadence.</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The maturity timeline is agreed upon by the organization.</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18</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LESSONS LEARNED</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What teams wish they'd done</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1. 'We should have started with observation, not enforcement.' Jumping to default-deny without observing the flows caused outages from denied traffic they didn't know existed.</a:t>
            </a:r>
          </a:p>
          <a:p>
            <a:pPr>
              <a:spcAft>
                <a:spcPts val="1000"/>
              </a:spcAft>
            </a:pPr>
            <a:r>
              <a:rPr sz="1300">
                <a:solidFill>
                  <a:srgbClr val="222222"/>
                </a:solidFill>
                <a:latin typeface="Red Hat Text"/>
              </a:rPr>
              <a:t>2. 'We over-engineered the templates.' Start with 3-5 archetypes, not twenty. Refine based on actual usage.</a:t>
            </a:r>
          </a:p>
          <a:p>
            <a:pPr>
              <a:spcAft>
                <a:spcPts val="1000"/>
              </a:spcAft>
            </a:pPr>
            <a:r>
              <a:rPr sz="1300">
                <a:solidFill>
                  <a:srgbClr val="222222"/>
                </a:solidFill>
                <a:latin typeface="Red Hat Text"/>
              </a:rPr>
              <a:t>3. 'We underestimated the egress work.' Cataloging every external endpoint is the most time-consuming part. Start this inventory in Phase 1.</a:t>
            </a:r>
          </a:p>
          <a:p>
            <a:pPr>
              <a:spcAft>
                <a:spcPts val="1000"/>
              </a:spcAft>
            </a:pPr>
            <a:r>
              <a:rPr sz="1300">
                <a:solidFill>
                  <a:srgbClr val="222222"/>
                </a:solidFill>
                <a:latin typeface="Red Hat Text"/>
              </a:rPr>
              <a:t>4. 'We should have involved the firewall team earlier.' Position as elevation, not replacement.</a:t>
            </a:r>
          </a:p>
          <a:p>
            <a:pPr>
              <a:spcAft>
                <a:spcPts val="1000"/>
              </a:spcAft>
            </a:pPr>
            <a:r>
              <a:rPr sz="1300">
                <a:solidFill>
                  <a:srgbClr val="222222"/>
                </a:solidFill>
                <a:latin typeface="Red Hat Text"/>
              </a:rPr>
              <a:t>5. 'We needed a break-glass process on day one.' The first denied-flow incident without break-glass caused panic and a rollback of all policies.</a:t>
            </a:r>
          </a:p>
        </p:txBody>
      </p:sp>
      <p:sp>
        <p:nvSpPr>
          <p:cNvPr id="5" name="TextBox 4"/>
          <p:cNvSpPr txBox="1"/>
          <p:nvPr/>
        </p:nvSpPr>
        <p:spPr>
          <a:xfrm>
            <a:off x="566928" y="5943600"/>
            <a:ext cx="10000000" cy="300000"/>
          </a:xfrm>
          <a:prstGeom prst="rect">
            <a:avLst/>
          </a:prstGeom>
          <a:noFill/>
        </p:spPr>
        <p:txBody>
          <a:bodyPr wrap="none">
            <a:spAutoFit/>
          </a:bodyPr>
          <a:lstStyle/>
          <a:p>
            <a:r>
              <a:rPr sz="1000">
                <a:solidFill>
                  <a:srgbClr val="666666"/>
                </a:solidFill>
                <a:latin typeface="Red Hat Text"/>
              </a:rPr>
              <a:t>These lessons come from real engagements.</a:t>
            </a:r>
          </a:p>
        </p:txBody>
      </p:sp>
      <p:sp>
        <p:nvSpPr>
          <p:cNvPr id="6" name="TextBox 5"/>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19</a:t>
            </a:r>
          </a:p>
        </p:txBody>
      </p:sp>
      <p:pic>
        <p:nvPicPr>
          <p:cNvPr id="7" name="Picture 6"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000000" cy="280000"/>
          </a:xfrm>
          <a:prstGeom prst="rect">
            <a:avLst/>
          </a:prstGeom>
          <a:noFill/>
        </p:spPr>
        <p:txBody>
          <a:bodyPr wrap="none">
            <a:spAutoFit/>
          </a:bodyPr>
          <a:lstStyle/>
          <a:p>
            <a:r>
              <a:rPr sz="1100" b="1">
                <a:solidFill>
                  <a:srgbClr val="EE0000"/>
                </a:solidFill>
                <a:latin typeface="Red Hat Text"/>
              </a:rPr>
              <a:t>REFERENCES</a:t>
            </a:r>
          </a:p>
        </p:txBody>
      </p:sp>
      <p:sp>
        <p:nvSpPr>
          <p:cNvPr id="3" name="TextBox 2"/>
          <p:cNvSpPr txBox="1"/>
          <p:nvPr/>
        </p:nvSpPr>
        <p:spPr>
          <a:xfrm>
            <a:off x="566928" y="676656"/>
            <a:ext cx="10800000" cy="500000"/>
          </a:xfrm>
          <a:prstGeom prst="rect">
            <a:avLst/>
          </a:prstGeom>
          <a:noFill/>
        </p:spPr>
        <p:txBody>
          <a:bodyPr wrap="none">
            <a:spAutoFit/>
          </a:bodyPr>
          <a:lstStyle/>
          <a:p>
            <a:r>
              <a:rPr sz="2400" b="1">
                <a:solidFill>
                  <a:srgbClr val="111111"/>
                </a:solidFill>
                <a:latin typeface="Overpass SemiBold"/>
              </a:rPr>
              <a:t>References</a:t>
            </a:r>
          </a:p>
        </p:txBody>
      </p:sp>
      <p:sp>
        <p:nvSpPr>
          <p:cNvPr id="4" name="TextBox 3"/>
          <p:cNvSpPr txBox="1"/>
          <p:nvPr/>
        </p:nvSpPr>
        <p:spPr>
          <a:xfrm>
            <a:off x="566928" y="1600200"/>
            <a:ext cx="11000000" cy="4000000"/>
          </a:xfrm>
          <a:prstGeom prst="rect">
            <a:avLst/>
          </a:prstGeom>
          <a:noFill/>
        </p:spPr>
        <p:txBody>
          <a:bodyPr wrap="square">
            <a:spAutoFit/>
            <a:normAutofit/>
          </a:bodyPr>
          <a:lstStyle/>
          <a:p>
            <a:pPr>
              <a:spcAft>
                <a:spcPts val="1000"/>
              </a:spcAft>
            </a:pPr>
            <a:r>
              <a:rPr sz="1300">
                <a:solidFill>
                  <a:srgbClr val="222222"/>
                </a:solidFill>
                <a:latin typeface="Red Hat Text"/>
              </a:rPr>
              <a:t>Network Policy API (ClusterNetworkPolicy) — network-policy-api.sigs.k8s.io</a:t>
            </a:r>
          </a:p>
          <a:p>
            <a:pPr>
              <a:spcAft>
                <a:spcPts val="1000"/>
              </a:spcAft>
            </a:pPr>
            <a:r>
              <a:rPr sz="1300">
                <a:solidFill>
                  <a:srgbClr val="222222"/>
                </a:solidFill>
                <a:latin typeface="Red Hat Text"/>
              </a:rPr>
              <a:t>network-policy-api v0.2.0 release — github.com/kubernetes-sigs/network-policy-api/releases/tag/v0.2.0</a:t>
            </a:r>
          </a:p>
          <a:p>
            <a:pPr>
              <a:spcAft>
                <a:spcPts val="1000"/>
              </a:spcAft>
            </a:pPr>
            <a:r>
              <a:rPr sz="1300">
                <a:solidFill>
                  <a:srgbClr val="222222"/>
                </a:solidFill>
                <a:latin typeface="Red Hat Text"/>
              </a:rPr>
              <a:t>Calico ClusterNetworkPolicy (v3.32 release notes) — github.com/projectcalico/calico, release-notes/v3.32.0-release-notes.md</a:t>
            </a:r>
          </a:p>
          <a:p>
            <a:pPr>
              <a:spcAft>
                <a:spcPts val="1000"/>
              </a:spcAft>
            </a:pPr>
            <a:r>
              <a:rPr sz="1300">
                <a:solidFill>
                  <a:srgbClr val="222222"/>
                </a:solidFill>
                <a:latin typeface="Red Hat Text"/>
              </a:rPr>
              <a:t>Cilium network policy — docs.cilium.io/en/stable/network/kubernetes/policy/</a:t>
            </a:r>
          </a:p>
          <a:p>
            <a:pPr>
              <a:spcAft>
                <a:spcPts val="1000"/>
              </a:spcAft>
            </a:pPr>
            <a:r>
              <a:rPr sz="1300">
                <a:solidFill>
                  <a:srgbClr val="222222"/>
                </a:solidFill>
                <a:latin typeface="Red Hat Text"/>
              </a:rPr>
              <a:t>Inspektor Gadget advise_networkpolicy — inspektor-gadget.io/docs/latest/gadgets/advise_networkpolicy</a:t>
            </a:r>
          </a:p>
          <a:p>
            <a:pPr>
              <a:spcAft>
                <a:spcPts val="1000"/>
              </a:spcAft>
            </a:pPr>
            <a:r>
              <a:rPr sz="1300">
                <a:solidFill>
                  <a:srgbClr val="222222"/>
                </a:solidFill>
                <a:latin typeface="Red Hat Text"/>
              </a:rPr>
              <a:t>Kubernetes Network Policies — kubernetes.io/docs/concepts/services-networking/network-policies/</a:t>
            </a:r>
          </a:p>
          <a:p>
            <a:pPr>
              <a:spcAft>
                <a:spcPts val="1000"/>
              </a:spcAft>
            </a:pPr>
            <a:r>
              <a:rPr sz="1300">
                <a:solidFill>
                  <a:srgbClr val="222222"/>
                </a:solidFill>
                <a:latin typeface="Red Hat Text"/>
              </a:rPr>
              <a:t>Companion: Kubernetes Environment Access Policies (k8s-environment-policies.md)</a:t>
            </a:r>
          </a:p>
        </p:txBody>
      </p:sp>
      <p:sp>
        <p:nvSpPr>
          <p:cNvPr id="5" name="TextBox 4"/>
          <p:cNvSpPr txBox="1"/>
          <p:nvPr/>
        </p:nvSpPr>
        <p:spPr>
          <a:xfrm>
            <a:off x="566928" y="6364224"/>
            <a:ext cx="914400" cy="250000"/>
          </a:xfrm>
          <a:prstGeom prst="rect">
            <a:avLst/>
          </a:prstGeom>
          <a:noFill/>
        </p:spPr>
        <p:txBody>
          <a:bodyPr wrap="none">
            <a:spAutoFit/>
          </a:bodyPr>
          <a:lstStyle/>
          <a:p>
            <a:r>
              <a:rPr sz="1000">
                <a:solidFill>
                  <a:srgbClr val="999999"/>
                </a:solidFill>
                <a:latin typeface="Red Hat Text"/>
              </a:rPr>
              <a:t>20</a:t>
            </a:r>
          </a:p>
        </p:txBody>
      </p:sp>
      <p:pic>
        <p:nvPicPr>
          <p:cNvPr id="6" name="Picture 5" descr="image.png"/>
          <p:cNvPicPr>
            <a:picLocks noChangeAspect="1"/>
          </p:cNvPicPr>
          <p:nvPr/>
        </p:nvPicPr>
        <p:blipFill>
          <a:blip r:embed="rId2"/>
          <a:stretch>
            <a:fillRect/>
          </a:stretch>
        </p:blipFill>
        <p:spPr>
          <a:xfrm>
            <a:off x="10442448" y="6291072"/>
            <a:ext cx="1574800" cy="3714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