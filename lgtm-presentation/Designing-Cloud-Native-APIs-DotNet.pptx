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57"/>
    <p:sldId id="509" r:id="rId258"/>
    <p:sldId id="510" r:id="rId259"/>
    <p:sldId id="511" r:id="rId260"/>
    <p:sldId id="512" r:id="rId261"/>
    <p:sldId id="513" r:id="rId262"/>
    <p:sldId id="514" r:id="rId263"/>
    <p:sldId id="515" r:id="rId264"/>
    <p:sldId id="516" r:id="rId265"/>
    <p:sldId id="517" r:id="rId266"/>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 id="541" r:id="rId302"/>
    <p:sldId id="542" r:id="rId303"/>
    <p:sldId id="543" r:id="rId304"/>
    <p:sldId id="544" r:id="rId305"/>
    <p:sldId id="545" r:id="rId306"/>
    <p:sldId id="546" r:id="rId307"/>
    <p:sldId id="547" r:id="rId308"/>
    <p:sldId id="548" r:id="rId309"/>
    <p:sldId id="549" r:id="rId310"/>
    <p:sldId id="550" r:id="rId311"/>
    <p:sldId id="551" r:id="rId312"/>
    <p:sldId id="552" r:id="rId313"/>
    <p:sldId id="553" r:id="rId314"/>
    <p:sldId id="554" r:id="rId315"/>
    <p:sldId id="555" r:id="rId316"/>
    <p:sldId id="556" r:id="rId317"/>
    <p:sldId id="557" r:id="rId318"/>
    <p:sldId id="558" r:id="rId319"/>
    <p:sldId id="559" r:id="rId320"/>
    <p:sldId id="560" r:id="rId321"/>
    <p:sldId id="561" r:id="rId322"/>
    <p:sldId id="562" r:id="rId323"/>
    <p:sldId id="563" r:id="rId324"/>
    <p:sldId id="564" r:id="rId325"/>
    <p:sldId id="565" r:id="rId326"/>
    <p:sldId id="566" r:id="rId327"/>
    <p:sldId id="567" r:id="rId328"/>
  </p:sldIdLst>
  <p:sldSz cy="6858000" cx="12191675"/>
  <p:notesSz cx="6858000" cy="12191675"/>
  <p:embeddedFontLst>
    <p:embeddedFont>
      <p:font typeface="Overpass SemiBold"/>
      <p:regular r:id="rId267"/>
      <p:bold r:id="rId268"/>
      <p:italic r:id="rId269"/>
      <p:boldItalic r:id="rId270"/>
    </p:embeddedFont>
    <p:embeddedFont>
      <p:font typeface="Red Hat Text"/>
      <p:regular r:id="rId271"/>
      <p:bold r:id="rId272"/>
      <p:italic r:id="rId273"/>
      <p:boldItalic r:id="rId274"/>
    </p:embeddedFont>
    <p:embeddedFont>
      <p:font typeface="Red Hat Mono"/>
      <p:regular r:id="rId275"/>
      <p:bold r:id="rId276"/>
      <p:italic r:id="rId277"/>
      <p:boldItalic r:id="rId27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slide" Target="slides/slide253.xml"/><Relationship Id="rId258" Type="http://schemas.openxmlformats.org/officeDocument/2006/relationships/slide" Target="slides/slide254.xml"/><Relationship Id="rId259" Type="http://schemas.openxmlformats.org/officeDocument/2006/relationships/slide" Target="slides/slide255.xml"/><Relationship Id="rId260" Type="http://schemas.openxmlformats.org/officeDocument/2006/relationships/slide" Target="slides/slide256.xml"/><Relationship Id="rId261" Type="http://schemas.openxmlformats.org/officeDocument/2006/relationships/slide" Target="slides/slide257.xml"/><Relationship Id="rId262" Type="http://schemas.openxmlformats.org/officeDocument/2006/relationships/slide" Target="slides/slide258.xml"/><Relationship Id="rId263" Type="http://schemas.openxmlformats.org/officeDocument/2006/relationships/slide" Target="slides/slide259.xml"/><Relationship Id="rId264" Type="http://schemas.openxmlformats.org/officeDocument/2006/relationships/slide" Target="slides/slide260.xml"/><Relationship Id="rId265" Type="http://schemas.openxmlformats.org/officeDocument/2006/relationships/slide" Target="slides/slide261.xml"/><Relationship Id="rId266" Type="http://schemas.openxmlformats.org/officeDocument/2006/relationships/slide" Target="slides/slide262.xml"/><Relationship Id="rId267" Type="http://schemas.openxmlformats.org/officeDocument/2006/relationships/font" Target="fonts/OverpassSemiBold-regular.fntdata"/><Relationship Id="rId268" Type="http://schemas.openxmlformats.org/officeDocument/2006/relationships/font" Target="fonts/OverpassSemiBold-bold.fntdata"/><Relationship Id="rId269" Type="http://schemas.openxmlformats.org/officeDocument/2006/relationships/font" Target="fonts/OverpassSemiBold-italic.fntdata"/><Relationship Id="rId270" Type="http://schemas.openxmlformats.org/officeDocument/2006/relationships/font" Target="fonts/OverpassSemiBold-boldItalic.fntdata"/><Relationship Id="rId271" Type="http://schemas.openxmlformats.org/officeDocument/2006/relationships/font" Target="fonts/RedHatText-regular.fntdata"/><Relationship Id="rId272" Type="http://schemas.openxmlformats.org/officeDocument/2006/relationships/font" Target="fonts/RedHatText-bold.fntdata"/><Relationship Id="rId273" Type="http://schemas.openxmlformats.org/officeDocument/2006/relationships/font" Target="fonts/RedHatText-italic.fntdata"/><Relationship Id="rId274" Type="http://schemas.openxmlformats.org/officeDocument/2006/relationships/font" Target="fonts/RedHatText-boldItalic.fntdata"/><Relationship Id="rId275" Type="http://schemas.openxmlformats.org/officeDocument/2006/relationships/font" Target="fonts/RedHatMono-regular.fntdata"/><Relationship Id="rId276" Type="http://schemas.openxmlformats.org/officeDocument/2006/relationships/font" Target="fonts/RedHatMono-bold.fntdata"/><Relationship Id="rId277" Type="http://schemas.openxmlformats.org/officeDocument/2006/relationships/font" Target="fonts/RedHatMono-italic.fntdata"/><Relationship Id="rId278" Type="http://schemas.openxmlformats.org/officeDocument/2006/relationships/font" Target="fonts/RedHatMono-boldItalic.fntdata"/><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 Id="rId302" Type="http://schemas.openxmlformats.org/officeDocument/2006/relationships/slide" Target="slides/slide286.xml"/><Relationship Id="rId303" Type="http://schemas.openxmlformats.org/officeDocument/2006/relationships/slide" Target="slides/slide287.xml"/><Relationship Id="rId304" Type="http://schemas.openxmlformats.org/officeDocument/2006/relationships/slide" Target="slides/slide288.xml"/><Relationship Id="rId305" Type="http://schemas.openxmlformats.org/officeDocument/2006/relationships/slide" Target="slides/slide289.xml"/><Relationship Id="rId306" Type="http://schemas.openxmlformats.org/officeDocument/2006/relationships/slide" Target="slides/slide290.xml"/><Relationship Id="rId307" Type="http://schemas.openxmlformats.org/officeDocument/2006/relationships/slide" Target="slides/slide291.xml"/><Relationship Id="rId308" Type="http://schemas.openxmlformats.org/officeDocument/2006/relationships/slide" Target="slides/slide292.xml"/><Relationship Id="rId309" Type="http://schemas.openxmlformats.org/officeDocument/2006/relationships/slide" Target="slides/slide293.xml"/><Relationship Id="rId310" Type="http://schemas.openxmlformats.org/officeDocument/2006/relationships/slide" Target="slides/slide294.xml"/><Relationship Id="rId311" Type="http://schemas.openxmlformats.org/officeDocument/2006/relationships/slide" Target="slides/slide295.xml"/><Relationship Id="rId312" Type="http://schemas.openxmlformats.org/officeDocument/2006/relationships/slide" Target="slides/slide296.xml"/><Relationship Id="rId313" Type="http://schemas.openxmlformats.org/officeDocument/2006/relationships/slide" Target="slides/slide297.xml"/><Relationship Id="rId314" Type="http://schemas.openxmlformats.org/officeDocument/2006/relationships/slide" Target="slides/slide298.xml"/><Relationship Id="rId315" Type="http://schemas.openxmlformats.org/officeDocument/2006/relationships/slide" Target="slides/slide299.xml"/><Relationship Id="rId316" Type="http://schemas.openxmlformats.org/officeDocument/2006/relationships/slide" Target="slides/slide300.xml"/><Relationship Id="rId317" Type="http://schemas.openxmlformats.org/officeDocument/2006/relationships/slide" Target="slides/slide301.xml"/><Relationship Id="rId318" Type="http://schemas.openxmlformats.org/officeDocument/2006/relationships/slide" Target="slides/slide302.xml"/><Relationship Id="rId319" Type="http://schemas.openxmlformats.org/officeDocument/2006/relationships/slide" Target="slides/slide303.xml"/><Relationship Id="rId320" Type="http://schemas.openxmlformats.org/officeDocument/2006/relationships/slide" Target="slides/slide304.xml"/><Relationship Id="rId321" Type="http://schemas.openxmlformats.org/officeDocument/2006/relationships/slide" Target="slides/slide305.xml"/><Relationship Id="rId322" Type="http://schemas.openxmlformats.org/officeDocument/2006/relationships/slide" Target="slides/slide306.xml"/><Relationship Id="rId323" Type="http://schemas.openxmlformats.org/officeDocument/2006/relationships/slide" Target="slides/slide307.xml"/><Relationship Id="rId324" Type="http://schemas.openxmlformats.org/officeDocument/2006/relationships/slide" Target="slides/slide308.xml"/><Relationship Id="rId325" Type="http://schemas.openxmlformats.org/officeDocument/2006/relationships/slide" Target="slides/slide309.xml"/><Relationship Id="rId326" Type="http://schemas.openxmlformats.org/officeDocument/2006/relationships/slide" Target="slides/slide310.xml"/><Relationship Id="rId327" Type="http://schemas.openxmlformats.org/officeDocument/2006/relationships/slide" Target="slides/slide311.xml"/><Relationship Id="rId328" Type="http://schemas.openxmlformats.org/officeDocument/2006/relationships/slide" Target="slides/slide3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and framing. This is a working architect's tour of designing cloud-native APIs on .NET 10 — not a survey of buzzwords. The audience: .NET developers who lived on .NET Framework 4.x, IIS, WCF and COM+ and now need to ship on Kubernetes. We'll bridge that world to this one at every step, not pretend the old world didn't exist. Set expectations: we build one realistic system (five services and a gateway) and re-examine it from twelve angles, then deep-dive appendices on protocol internals, versioning, WebSockets (including Blazor's place in this story), and saga mechanics. Mention the running stack up front: .NET 10 (LTS through 2028, MIT) with ASP.NET Core for REST, Grpc.AspNetCore for gRPC, HotChocolate for GraphQL, Confluent.Kafka 2.16.0 for events, Streamiz.Kafka.Net 1.8.2 for stream processing, Temporal .NET SDK for durable workflows (Stateless for the lightweight alternative), SignalR for WebSockets, OpenTelemetry .NET for observability — every library MIT or Apache 2.0. On Kubernetes with Kafka (Strimzi), Istio and KEDA. The platform around the code (Strimzi, Apicurio, OpenMetadata, the LGTM stack) is the same for every language; .NET 10 is how we write the services.</a:t>
            </a:r>
            <a:endParaRPr/>
          </a:p>
        </p:txBody>
      </p:sp>
      <p:sp>
        <p:nvSpPr>
          <p:cNvPr id="14" name="Google Shape;14;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lnSpc>
                <a:spcPct val="100000"/>
              </a:lnSpc>
              <a:spcBef>
                <a:spcPts val="0"/>
              </a:spcBef>
              <a:spcAft>
                <a:spcPts val="0"/>
              </a:spcAft>
              <a:buSzPts val="1400"/>
              <a:buNone/>
            </a:pPr>
            <a:r>
              <a:rPr lang="en-US"/>
              <a:t>The appendices are reference material for the questions that come up: protocols, versioning, WebSockets, sagas, errors, DDD, coupling, shutdown, L7 routing, monolith-to-microservices decomposition, caching, failure modes, feature flags and API testing, plus the .NET toolkit, .NET on Linux and Blazor Server. Appendix R runs Example 05 on minikube with the same verify.sh as compose. A glossary of acronyms closes the deck.</a:t>
            </a:r>
            <a:endParaRPr/>
          </a:p>
          <a:p>
            <a:pPr indent="0" lvl="0" marL="0" rtl="0" algn="l">
              <a:lnSpc>
                <a:spcPct val="100000"/>
              </a:lnSpc>
              <a:spcBef>
                <a:spcPts val="0"/>
              </a:spcBef>
              <a:spcAft>
                <a:spcPts val="0"/>
              </a:spcAft>
              <a:buSzPts val="1400"/>
              <a:buNone/>
            </a:pPr>
            <a:r>
              <a:rPr lang="en-US"/>
              <a:t>Tell the audience which sections you will cover given the session length. The overview that follows reframes the agenda as the narrative arc: what we build and in what order.</a:t>
            </a:r>
            <a:endParaRPr/>
          </a:p>
        </p:txBody>
      </p:sp>
      <p:sp>
        <p:nvSpPr>
          <p:cNvPr id="25" name="Google Shape;25;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 Before the pillars themselves, one slide for the audience: a Rosetta-stone from the Windows world (IIS, WCF, COM+, MSMQ) to the Kubernetes world. Almost every pattern you knew has a direct cloud-native analog — the platform owns more, your code owns less.</a:t>
            </a:r>
            <a:endParaRPr/>
          </a:p>
        </p:txBody>
      </p:sp>
      <p:sp>
        <p:nvSpPr>
          <p:cNvPr id="77" name="Google Shape;7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is the orientation gift to the audience. Most of you spent years on .NET Framework 4.x, hosting in IIS, talking via WCF, doing distributed transactions with MSDTC and COM+, queuing with MSMQ or SQL Server Service Broker, and configuring everything through web.config. Cloud-native is a re-platforming of those patterns, not a rejection: Kubernetes owns the host and the messaging substrate, and your code owns less infrastructure plumbing. Walk the audience through 4-5 rows they'll recognise: app pool → Pod, app pool recycle → graceful shutdown + rolling deploy, WCF service → gRPC or ASP.NET Core, COM+ distributed transactions → saga + outbox (which we'll cover deeply in Appendix D), MSMQ → Kafka. The line under the table is the architectural shift to make explicit: you stop owning the host and start owning the code, because the platform now provides the host as a primitive. These six pillars are the rubric Kubernetes enforces on you when you make that switch.</a:t>
            </a:r>
            <a:endParaRPr/>
          </a:p>
        </p:txBody>
      </p:sp>
      <p:sp>
        <p:nvSpPr>
          <p:cNvPr id="87" name="Google Shape;87;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 Tie back to the Windows-to-Kubernetes bridge: IIS gave you some of these (process recycle, health monitoring) but on a single Windows host; Kubernetes gives you all six, across many hosts, declaratively.</a:t>
            </a:r>
            <a:endParaRPr/>
          </a:p>
        </p:txBody>
      </p:sp>
      <p:sp>
        <p:nvSpPr>
          <p:cNvPr id="98" name="Google Shape;98;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109" name="Google Shape;109;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.NET world the contract artifacts come naturally: Microsoft.AspNetCore.OpenApi (built into .NET 9+) emits the REST spec from your controller and minimal-API endpoints, Grpc.Tools compiles the .proto into both server bases and client stubs at build time, and HotChocolate generates the GraphQL SDL from your code-first types (or loads .graphql files if you prefer schema-first) — all checked into the registry.</a:t>
            </a:r>
            <a:endParaRPr/>
          </a:p>
        </p:txBody>
      </p:sp>
      <p:sp>
        <p:nvSpPr>
          <p:cNvPr id="119" name="Google Shape;119;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29" name="Google Shape;129;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39" name="Google Shape;139;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50" name="Google Shape;150;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code: ASP.NET Core 10 uses minimal hosting (Program.cs as a top-level script). Config flows from appsettings.json overridden by environment variables (factor III): ConnectionStrings__Default reaches GetConnectionString("Default"), the cloud-native equivalent of web.config transforms, except that the cluster injects the values through ConfigMaps and Secrets instead of an MSDeploy package. The two probes come from AddHealthChecks and MapHealthChecks in Example 01: /healthz is liveness (am I alive? if not, restart me, and Kubernetes kills the Pod) and runs no dependency check; /readyz is readiness (can I serve? if not, take me out of rotation but don't kill me): its check is AddDbContextCheck, which asks the EF Core context whether it can reach Postgres, and when that fails the endpoint answers 503 with status down, which removes the Pod from the Service endpoints. The probe reads the status code, not the body: Kubernetes treats any answer from 200 to 399 as ready. Getting these wrong is a top cause of cascading restarts, the same way wrong IIS app-pool ping settings used to crash apps under load. A ResponseWriter keeps the bodies identical in every language, so each stack serves the same paths and JSON; the package is Microsoft.Extensions.Diagnostics.HealthChecks.EntityFrameworkCore. The .NET runtime side: the service ships as a Linux container image built from a UBI Containerfile, not an MSI deployed to IIS.</a:t>
            </a:r>
            <a:endParaRPr/>
          </a:p>
        </p:txBody>
      </p:sp>
      <p:sp>
        <p:nvSpPr>
          <p:cNvPr id="161" name="Google Shape;161;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74" name="Google Shape;174;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84" name="Google Shape;184;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edge surface. For WCF refugees the mental shift: a Controller or minimal-API endpoint replaces an OperationContract; DataContract becomes a C# record with validation attributes; the binding (BasicHttp, NetTcp, MSMQ) becomes 'pick the right protocol per call' — here REST, gRPC and Kafka coexist instead of one endpoint multi-bound. Point out four things teams routinely get wrong: (1) resource-shaped URLs (nouns, not verbs), not /GetOrder?id=123 like an .asmx service; (2) request contracts validated declaratively, with records carrying [Required] and [Range] or FluentValidation rules, so bad input never reaches your logic; (3) correct status codes: Results.Created (201) on create, Results.ValidationProblem (RFC 9457) for validation failures, not 200 with success=false in the body; (4) cursor pagination, not offset, because offset breaks under concurrent writes and gets slow at depth. Microsoft.AspNetCore.OpenApi (built in since .NET 9) emits the OpenAPI spec automatically — the equivalent of WCF's WSDL but generated at build time, versioned in the registry, and gated in CI. NSwag and Swashbuckle (both MIT) are the alternatives if you need richer customisation.</a:t>
            </a:r>
            <a:endParaRPr/>
          </a:p>
        </p:txBody>
      </p:sp>
      <p:sp>
        <p:nvSpPr>
          <p:cNvPr id="195" name="Google Shape;195;p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for the internal paths. For WCF refugees this is the most familiar protocol in cloud-native: the .proto file is the service contract, exactly like a WCF [ServiceContract] interface, and the wire format is binary like NetTcpBinding. The Grpc.Tools NuGet package compiles the .proto with protoc at build time, generating both the C# message classes (similar to DataContracts) and an Inventory.InventoryBase abstract class — you derive from it and override the operations. Highlight that the field numbers (=1, =2) are the wire contract — we return to exactly why in Appendix B. Streaming RPCs (server, client, bidirectional) are first-class through IAsyncEnumerable&lt;T&gt;. The right default for chatty service-to-service calls where you control both ends, and the natural migration target for internal WCF endpoints. Load-test it with ghz. (Optional: mention that for browser clients, gRPC-Web via Grpc.AspNetCore.Web exposes the same service over HTTP/1.1 with limitations.)</a:t>
            </a:r>
            <a:endParaRPr/>
          </a:p>
        </p:txBody>
      </p:sp>
      <p:sp>
        <p:nvSpPr>
          <p:cNvPr id="208" name="Google Shape;208;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21" name="Google Shape;221;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32" name="Google Shape;232;p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43" name="Google Shape;243;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56" name="Google Shape;256;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66" name="Google Shape;266;p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resolver makes federation concrete in HotChocolate. The top-level GetOrder Query calls order-service over REST; [ExtendObjectType&lt;Order&gt;] adds a stock field that resolves against inventory-service over gRPC. Each field resolves against its owning service — the gateway is just the composition layer. Mention the N+1 risk: naive per-field resolution can explode into many back-end calls — HotChocolate's DataLoader (in fact the same DataLoader pattern Facebook open-sourced for JavaScript) batches N orders into one upstream call automatically; the IInventoryStockDataLoader interface is generated by source-generators from your loader implementation. HotChocolate ships first-class Apollo Federation support if you go that route. The schema is exposed at POST /graphql plus an in-browser GraphQL IDE (Banana Cake Pop / Nitro) at /graphql in development. Where this lands for a .NET-from-Windows audience: think of it as the long-overdue replacement for SOAP composition or for hand-rolled aggregation endpoints — one wire, one schema, many backends.</a:t>
            </a:r>
            <a:endParaRPr/>
          </a:p>
        </p:txBody>
      </p:sp>
      <p:sp>
        <p:nvSpPr>
          <p:cNvPr id="277" name="Google Shape;277;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90" name="Google Shape;290;p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slide makes the BFF pattern from the previous diagram concrete in the .NET world. Blazor Server is more than a UI framework: architecturally it is a backend-for-frontend. The server-side process maintains the user's session-scoped component tree and pushes UI updates (Render Tree Diffs) to a thin JavaScript client over SignalR. That means everything happens server-side: authentication is server-side cookie-based, calls to inventory and pricing are server-to-server (typed HttpClient or gRPC stub), and the browser never sees a back-end URL or token. For LOB and admin tooling this collapses three problems at once (composition, auth boundary, real-time updates) into one server-side process. The Kubernetes posture is straightforward: containerized ASP.NET Core, plus Redis as the SignalR backplane (covered in Appendix C). What it avoids: a managed SignalR service and managed app hosting (Kubernetes is the deployment target); Blazor WASM is hosted as static files inside an nginx Pod or the ASP.NET Core process itself. The trade-off in the bold line is the real one: every interaction is a round-trip, every component instance is a per-user session living in a Pod, and scaling the Blazor Server pool has the same head-of-line / pinning / connection-count concerns we cover in Appendix C — don't pick it for traffic shapes where those bite. For high-interactivity client-side execution use Blazor WebAssembly, also covered in Appendix C.</a:t>
            </a:r>
            <a:endParaRPr/>
          </a:p>
        </p:txBody>
      </p:sp>
      <p:sp>
        <p:nvSpPr>
          <p:cNvPr id="301" name="Google Shape;301;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311" name="Google Shape;311;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21" name="Google Shape;321;p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32" name="Google Shape;332;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with primary constructors. OrderWriteController handles writes through WriteDb, an EF Core context on the write database, then produces order.placed with Confluent.Kafka, keyed by the order id. The read side queries ReadDb, a separate context on a denormalised store: another Postgres, or a search index.</a:t>
            </a:r>
            <a:endParaRPr/>
          </a:p>
          <a:p>
            <a:pPr indent="0" lvl="0" marL="0" rtl="0" algn="l">
              <a:lnSpc>
                <a:spcPct val="100000"/>
              </a:lnSpc>
              <a:spcBef>
                <a:spcPts val="0"/>
              </a:spcBef>
              <a:spcAft>
                <a:spcPts val="0"/>
              </a:spcAft>
              <a:buSzPts val="1400"/>
              <a:buNone/>
            </a:pPr>
            <a:r>
              <a:rPr lang="en-US"/>
              <a:t>The projection is a BackgroundService that runs a Confluent.Kafka consumer loop; the host cancels its stoppingToken on shutdown. It deserializes each event, upserts the summary row keyed by the order id, and commits the offset only after the write, so a crash means redelivery and the upsert keeps the replay idempotent.</a:t>
            </a:r>
            <a:endParaRPr/>
          </a:p>
          <a:p>
            <a:pPr indent="0" lvl="0" marL="0" rtl="0" algn="l">
              <a:lnSpc>
                <a:spcPct val="100000"/>
              </a:lnSpc>
              <a:spcBef>
                <a:spcPts val="0"/>
              </a:spcBef>
              <a:spcAft>
                <a:spcPts val="0"/>
              </a:spcAft>
              <a:buSzPts val="1400"/>
              <a:buNone/>
            </a:pPr>
            <a:r>
              <a:rPr lang="en-US"/>
              <a:t>Producing right after SaveChangesAsync is a dual write; in production the outbox from the Data section closes that gap. Each side scales on its own load: the write side on commands, the read side on queries.</a:t>
            </a:r>
            <a:endParaRPr/>
          </a:p>
        </p:txBody>
      </p:sp>
      <p:sp>
        <p:nvSpPr>
          <p:cNvPr id="343" name="Google Shape;343;p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55" name="Google Shape;355;p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66" name="Google Shape;366;p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the WCF/COM+ audience this is the most important pattern. You used to write code like 'TransactionScope: save order, write to MSMQ, commit' — and MSDTC made it atomic across the SQL Server and MSMQ resource managers. Kubernetes has no MSDTC. You don't want one (two-phase commits across services don't scale and create coupling). Instead: write the state change and an outbox row in one local database transaction — atomic by definition because it's a single resource manager. There's no Kafka call inside the request path — if Kafka is down, the order still commits, and the event ships later when Debezium tails the Postgres WAL (or SQL Server CDC) and relays the outbox row in commit order. This decouples your request latency and availability from Kafka's, which COM+ never could. Two ways to wire it up in .NET: write the OutboxEvent entity manually as shown, where one SaveChangesAsync commits the order and the outbox row in a single transaction (Postgres/SQL Server + the Debezium Outbox Event Router single-message transform handles the unwrap on the connector side); or use a framework outbox such as Wolverine's (MIT) EF Core integration, which gives the same guarantees with framework-managed plumbing. Either way: this same commit-together discipline reappears in the saga appendix.</a:t>
            </a:r>
            <a:endParaRPr/>
          </a:p>
        </p:txBody>
      </p:sp>
      <p:sp>
        <p:nvSpPr>
          <p:cNvPr id="377" name="Google Shape;377;p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90" name="Google Shape;390;p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401" name="Google Shape;401;p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411" name="Google Shape;411;p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Confluent.Kafka is the .NET Kafka client for every Kafka path in this deck, pinned at 2.16.0. MassTransit was dropped: its abstraction hides the Kafka semantics this section teaches (keys, partitions, consumer groups, offsets), and version 9 moved to a commercial license.</a:t>
            </a:r>
            <a:endParaRPr/>
          </a:p>
          <a:p>
            <a:pPr indent="0" lvl="0" marL="0" rtl="0" algn="l">
              <a:lnSpc>
                <a:spcPct val="100000"/>
              </a:lnSpc>
              <a:spcBef>
                <a:spcPts val="0"/>
              </a:spcBef>
              <a:spcAft>
                <a:spcPts val="0"/>
              </a:spcAft>
              <a:buSzPts val="1400"/>
              <a:buNone/>
            </a:pPr>
            <a:r>
              <a:rPr lang="en-US"/>
              <a:t>The producer emits order.placed and awaits the broker's delivery report. The consumer joins notification-group, starts from the earliest offset, and runs with auto-commit off.</a:t>
            </a:r>
            <a:endParaRPr/>
          </a:p>
          <a:p>
            <a:pPr indent="0" lvl="0" marL="0" rtl="0" algn="l">
              <a:lnSpc>
                <a:spcPct val="100000"/>
              </a:lnSpc>
              <a:spcBef>
                <a:spcPts val="0"/>
              </a:spcBef>
              <a:spcAft>
                <a:spcPts val="0"/>
              </a:spcAft>
              <a:buSzPts val="1400"/>
              <a:buNone/>
            </a:pPr>
            <a:r>
              <a:rPr lang="en-US"/>
              <a:t>Two points to drill home. First, the offset is committed only after the work succeeds; a crash before the commit means redelivery, so delivery is at-least-once and handlers must be idempotent (dedupe by order id or an idempotency key). Exactly-once is mostly at-least-once plus idempotency. Second, the loop is yours: retries, dead-letter topics and shutdown are explicit code, shown in Appendix E and Appendix H. In the running example each consumer is a BackgroundService in a Worker SDK host: the host cancels its stoppingToken on SIGTERM, and the handler looks the order up before inserting, with the unique index on order_id as the backstop, so a redelivered record is processed once. Apicurio holds the schemas.</a:t>
            </a:r>
            <a:endParaRPr/>
          </a:p>
        </p:txBody>
      </p:sp>
      <p:sp>
        <p:nvSpPr>
          <p:cNvPr id="422" name="Google Shape;422;p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4" name="Google Shape;434;p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35" name="Google Shape;435;p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p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46" name="Google Shape;446;p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p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57" name="Google Shape;457;p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68" name="Google Shape;468;p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79" name="Google Shape;479;p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 name="Google Shape;488;p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89" name="Google Shape;489;p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p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Streamiz.Kafka.Net 1.8.2 (MIT) is a .NET implementation of the Kafka Streams model: the same topology, state-store and changelog design, in native C#, with no JVM in the container.</a:t>
            </a:r>
            <a:endParaRPr/>
          </a:p>
          <a:p>
            <a:pPr indent="0" lvl="0" marL="0" rtl="0" algn="l">
              <a:lnSpc>
                <a:spcPct val="100000"/>
              </a:lnSpc>
              <a:spcBef>
                <a:spcPts val="0"/>
              </a:spcBef>
              <a:spcAft>
                <a:spcPts val="0"/>
              </a:spcAft>
              <a:buSzPts val="1400"/>
              <a:buNone/>
            </a:pPr>
            <a:r>
              <a:rPr lang="en-US"/>
              <a:t>The processor in the running example is a BackgroundService in a Worker SDK host; it keys each order by merchant, groups by key, and aggregates into tumbling windows (WINDOW_SECONDS, 10 s in the example) held in a RocksDB window store backed by a Kafka changelog topic. If the Pod dies, the state rebuilds by replaying the changelog. The aggregate keeps an exact decimal total and skips records whose amount does not parse; the output rounds half-up to two places, the same contract as the Spring Boot and Quarkus Kafka Streams processors.</a:t>
            </a:r>
            <a:endParaRPr/>
          </a:p>
          <a:p>
            <a:pPr indent="0" lvl="0" marL="0" rtl="0" algn="l">
              <a:lnSpc>
                <a:spcPct val="100000"/>
              </a:lnSpc>
              <a:spcBef>
                <a:spcPts val="0"/>
              </a:spcBef>
              <a:spcAft>
                <a:spcPts val="0"/>
              </a:spcAft>
              <a:buSzPts val="1400"/>
              <a:buNone/>
            </a:pPr>
            <a:r>
              <a:rPr lang="en-US"/>
              <a:t>ApplicationId is also the consumer group, so KEDA can scale the processor on its lag. For this audience it replaces SQL Server Service Broker activation procedures or a hand-rolled Windows Service draining MSMQ. Alternatives if Streamiz doesn't fit: Apache Flink as a separate service fed by Kafka, Akka.NET Streams for in-process reactive streams, or Orleans Streams on the virtual-actor model.</a:t>
            </a:r>
            <a:endParaRPr/>
          </a:p>
        </p:txBody>
      </p:sp>
      <p:sp>
        <p:nvSpPr>
          <p:cNvPr id="500" name="Google Shape;500;p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p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513" name="Google Shape;513;p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p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24" name="Google Shape;524;p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in this stack we feature the Temporal .NET SDK for durable execution as the primary approach, with the Stateless library as a lighter-weight in-process alternative for state-driven flows. Dapr Workflows gets a brief mention for environments that prefer the sidecar pattern. Appendix D shows the primary pair (Temporal .NET + Stateless), side by side, against the saga from the data section.</a:t>
            </a:r>
            <a:endParaRPr/>
          </a:p>
        </p:txBody>
      </p:sp>
      <p:sp>
        <p:nvSpPr>
          <p:cNvPr id="537" name="Google Shape;537;p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 name="Google Shape;546;p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47" name="Google Shape;547;p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58" name="Google Shape;558;p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BackgroundService with PeriodicTimer (or Quartz.NET for cron expressions, with DistributedLock for cluster-aware locking) covers recurring work in the same process; Kubernetes Jobs and CronJobs own the heavier or isolated batch runs; and KEDA's Cron scaler is the declarative way to wake a worker on a schedule — typically how Windows Scheduled Tasks become cloud-native.</a:t>
            </a:r>
            <a:endParaRPr/>
          </a:p>
        </p:txBody>
      </p:sp>
      <p:sp>
        <p:nvSpPr>
          <p:cNvPr id="573" name="Google Shape;573;p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p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84" name="Google Shape;584;p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p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94" name="Google Shape;594;p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4" name="Google Shape;604;p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605" name="Google Shape;605;p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p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615" name="Google Shape;615;p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4" name="Google Shape;624;p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25" name="Google Shape;625;p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guardrail that makes the whole contract story real, done the .NET way. A CI step posts the new schema to the Apicurio Registry v3 REST API as a dry-run create-version, which runs the artifact's compatibility rule server-side without persisting it — and fails the build (and the merge) if it's incompatible. The point to make: the contract is enforced before code ships, not discovered broken in production by a downstream team. The rule (e.g. BACKWARD — new consumers can read old data) is set once per artifact and enforced automatically forever; a separate (non-dry-run) POST publishes the version on the main branch after merge. Tie it back: this is design-first from section 1, now mechanized in the build.</a:t>
            </a:r>
            <a:endParaRPr/>
          </a:p>
        </p:txBody>
      </p:sp>
      <p:sp>
        <p:nvSpPr>
          <p:cNvPr id="636" name="Google Shape;636;p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p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49" name="Google Shape;649;p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p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59" name="Google Shape;659;p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70" name="Google Shape;670;p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p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80" name="Google Shape;680;p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90" name="Google Shape;690;p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p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701" name="Google Shape;701;p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1" name="Google Shape;711;p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712" name="Google Shape;712;p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22" name="Google Shape;722;p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1" name="Google Shape;731;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OpenTelemetry .NET implements the OTel spec on top of types the runtime already has: System.Diagnostics.ActivitySource is the span API, built into the BCL since .NET 6, so starting a span needs no extra dependency.</a:t>
            </a:r>
            <a:endParaRPr/>
          </a:p>
          <a:p>
            <a:pPr indent="0" lvl="0" marL="0" rtl="0" algn="l">
              <a:lnSpc>
                <a:spcPct val="100000"/>
              </a:lnSpc>
              <a:spcBef>
                <a:spcPts val="0"/>
              </a:spcBef>
              <a:spcAft>
                <a:spcPts val="0"/>
              </a:spcAft>
              <a:buSzPts val="1400"/>
              <a:buNone/>
            </a:pPr>
            <a:r>
              <a:rPr lang="en-US"/>
              <a:t>This is the running example's setup. AddAspNetCoreInstrumentation turns every HTTP request into a span; AddSource registers the service's own ActivitySource; AddOtlpExporter reads OTEL_EXPORTER_OTLP_ENDPOINT and OTEL_EXPORTER_OTLP_PROTOCOL from the environment, which compose sets to http://lgtm:4318 and http/protobuf. Add OpenTelemetry.Instrumentation.Http, GrpcNetClient or Runtime when you want outbound HTTP, gRPC client and GC or thread-pool signals as well.</a:t>
            </a:r>
            <a:endParaRPr/>
          </a:p>
          <a:p>
            <a:pPr indent="0" lvl="0" marL="0" rtl="0" algn="l">
              <a:lnSpc>
                <a:spcPct val="100000"/>
              </a:lnSpc>
              <a:spcBef>
                <a:spcPts val="0"/>
              </a:spcBef>
              <a:spcAft>
                <a:spcPts val="0"/>
              </a:spcAft>
              <a:buSzPts val="1400"/>
              <a:buNone/>
            </a:pPr>
            <a:r>
              <a:rPr lang="en-US"/>
              <a:t>For business operations, declare one ActivitySource and wrap the work in using var span = source.StartActivity(...); the using stops the span when the scope exits. The gRPC call to inventory carries the W3C traceparent through HttpClient, so the inventory span lands in the same trace. For this audience this replaces Windows performance counters, ETW providers and the Event Log with one model that works the same in a container, in CI and on any cluster.</a:t>
            </a:r>
            <a:endParaRPr/>
          </a:p>
        </p:txBody>
      </p:sp>
      <p:sp>
        <p:nvSpPr>
          <p:cNvPr id="732" name="Google Shape;732;p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p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45" name="Google Shape;745;p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5" name="Google Shape;755;p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Baggage in .NET goes through OpenTelemetry's Baggage API: Baggage.SetBaggage at the edge, and the default propagator writes the W3C baggage header on every outbound HTTP and gRPC call.</a:t>
            </a:r>
            <a:endParaRPr/>
          </a:p>
          <a:p>
            <a:pPr indent="0" lvl="0" marL="0" rtl="0" algn="l">
              <a:lnSpc>
                <a:spcPct val="100000"/>
              </a:lnSpc>
              <a:spcBef>
                <a:spcPts val="0"/>
              </a:spcBef>
              <a:spcAft>
                <a:spcPts val="0"/>
              </a:spcAft>
              <a:buSzPts val="1400"/>
              <a:buNone/>
            </a:pPr>
            <a:r>
              <a:rPr lang="en-US"/>
              <a:t>Kafka is different: Confluent.Kafka has no built-in tracing, so the producer injects the trace context and baggage into the record headers and the consumer extracts them, as examples/05-event-driven/dotnet does (OrderService injects, ShippingConsumer and NotificationConsumer extract). After the extract, Baggage.Current carries the values and the consumer span is a child of the producer span.</a:t>
            </a:r>
            <a:endParaRPr/>
          </a:p>
          <a:p>
            <a:pPr indent="0" lvl="0" marL="0" rtl="0" algn="l">
              <a:lnSpc>
                <a:spcPct val="100000"/>
              </a:lnSpc>
              <a:spcBef>
                <a:spcPts val="0"/>
              </a:spcBef>
              <a:spcAft>
                <a:spcPts val="0"/>
              </a:spcAft>
              <a:buSzPts val="1400"/>
              <a:buNone/>
            </a:pPr>
            <a:r>
              <a:rPr lang="en-US"/>
              <a:t>Baggage propagates on the wire; span attributes do not, but they are recorded and searchable. The idiom is to read the baggage value and set it as a tag on the local span so traces filter by tenant. Baggage travels to every downstream hop, so never put secrets or PII in it.</a:t>
            </a:r>
            <a:endParaRPr/>
          </a:p>
        </p:txBody>
      </p:sp>
      <p:sp>
        <p:nvSpPr>
          <p:cNvPr id="756" name="Google Shape;756;p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69" name="Google Shape;769;p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80" name="Google Shape;780;p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91" name="Google Shape;791;p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0" name="Google Shape;800;p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IDE (Nitro / Banana Cake Pop, which HotChocolate serves at /graphql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801" name="Google Shape;801;p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p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811" name="Google Shape;811;p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21" name="Google Shape;821;p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1" name="Google Shape;831;p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32" name="Google Shape;832;p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p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42" name="Google Shape;842;p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52" name="Google Shape;852;p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63" name="Google Shape;863;p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2" name="Google Shape;872;p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73" name="Google Shape;873;p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handler mints a ticket that authorises one operation (GET or PUT) on one resource for 300 seconds; after that it is worthless. In Example 12 the ticket is an HMAC-SHA256 signature over resource:operation:expires, keyed with VALET_SECRET, read through IConfiguration (HMACSHA256). POST /valet-key returns the resource, the operation, the expiry and the token.</a:t>
            </a:r>
            <a:endParaRPr/>
          </a:p>
          <a:p>
            <a:pPr indent="0" lvl="0" marL="0" rtl="0" algn="l">
              <a:lnSpc>
                <a:spcPct val="100000"/>
              </a:lnSpc>
              <a:spcBef>
                <a:spcPts val="0"/>
              </a:spcBef>
              <a:spcAft>
                <a:spcPts val="0"/>
              </a:spcAft>
              <a:buSzPts val="1400"/>
              <a:buNone/>
            </a:pPr>
            <a:r>
              <a:rPr lang="en-US"/>
              <a:t>The verifier (GET /verify-valet in the example, the storage gateway in a real system) rejects an expired ticket first, recomputes the signature and compares the two with CryptographicOperations.FixedTimeEquals, a constant-time comparison. A changed resource, operation or expiry gives a different signature, so any tampering is a 403.</a:t>
            </a:r>
            <a:endParaRPr/>
          </a:p>
          <a:p>
            <a:pPr indent="0" lvl="0" marL="0" rtl="0" algn="l">
              <a:lnSpc>
                <a:spcPct val="100000"/>
              </a:lnSpc>
              <a:spcBef>
                <a:spcPts val="0"/>
              </a:spcBef>
              <a:spcAft>
                <a:spcPts val="0"/>
              </a:spcAft>
              <a:buSzPts val="1400"/>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84" name="Google Shape;884;p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p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96" name="Google Shape;896;p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p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906" name="Google Shape;906;p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p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917" name="Google Shape;917;p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4" name="Shape 924"/>
        <p:cNvGrpSpPr/>
        <p:nvPr/>
      </p:nvGrpSpPr>
      <p:grpSpPr>
        <a:xfrm>
          <a:off x="0" y="0"/>
          <a:ext cx="0" cy="0"/>
          <a:chOff x="0" y="0"/>
          <a:chExt cx="0" cy="0"/>
        </a:xfrm>
      </p:grpSpPr>
      <p:sp>
        <p:nvSpPr>
          <p:cNvPr id="925" name="Google Shape;925;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6" name="Google Shape;926;p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27" name="Google Shape;927;p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38" name="Google Shape;938;p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7" name="Shape 947"/>
        <p:cNvGrpSpPr/>
        <p:nvPr/>
      </p:nvGrpSpPr>
      <p:grpSpPr>
        <a:xfrm>
          <a:off x="0" y="0"/>
          <a:ext cx="0" cy="0"/>
          <a:chOff x="0" y="0"/>
          <a:chExt cx="0" cy="0"/>
        </a:xfrm>
      </p:grpSpPr>
      <p:sp>
        <p:nvSpPr>
          <p:cNvPr id="948" name="Google Shape;948;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9" name="Google Shape;949;p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50" name="Google Shape;950;p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bulkhead comes from System.Threading.RateLimiting, which is in the box: a PartitionedRateLimiter keyed by tenant, with one ConcurrencyLimiter per partition, five permits and a queue limit of zero. The endpoint takes a lease for the order's tenant; a tenant that already has five orders in flight gets a lease that is not acquired, and the request is answered with 429 at once while every other tenant keeps its own five.</a:t>
            </a:r>
            <a:endParaRPr/>
          </a:p>
          <a:p>
            <a:pPr indent="0" lvl="0" marL="0" rtl="0" algn="l">
              <a:lnSpc>
                <a:spcPct val="100000"/>
              </a:lnSpc>
              <a:spcBef>
                <a:spcPts val="0"/>
              </a:spcBef>
              <a:spcAft>
                <a:spcPts val="0"/>
              </a:spcAft>
              <a:buSzPts val="1400"/>
              <a:buNone/>
            </a:pPr>
            <a:r>
              <a:rPr lang="en-US"/>
              <a:t>The same library drives the ASP.NET Core rate-limiting middleware, but the middleware chooses its partition before the request body is read, and the tenant arrives in the body, so the endpoint takes the lease itself. Polly's AddConcurrencyLimiter wraps the same limiter for outbound calls. At the platform layer, Istio connection-pool limits per destination complement these in-process limits.</a:t>
            </a:r>
            <a:endParaRPr/>
          </a:p>
        </p:txBody>
      </p:sp>
      <p:sp>
        <p:nvSpPr>
          <p:cNvPr id="961" name="Google Shape;961;p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73" name="Google Shape;973;p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halves. The producer writes the payload to an encrypted object store under payloads/&lt;order id&gt;, mints a GET-only ticket for that key with Example 12's ComputeHmac (900 seconds), and publishes only a small claim (order id, URI and the ticket) to order.documents with Confluent.Kafka's ProduceAsync. The PII is never on Kafka's wire.</a:t>
            </a:r>
            <a:endParaRPr/>
          </a:p>
          <a:p>
            <a:pPr indent="0" lvl="0" marL="0" rtl="0" algn="l">
              <a:lnSpc>
                <a:spcPct val="100000"/>
              </a:lnSpc>
              <a:spcBef>
                <a:spcPts val="0"/>
              </a:spcBef>
              <a:spcAft>
                <a:spcPts val="0"/>
              </a:spcAft>
              <a:buSzPts val="1400"/>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lnSpc>
                <a:spcPct val="100000"/>
              </a:lnSpc>
              <a:spcBef>
                <a:spcPts val="0"/>
              </a:spcBef>
              <a:spcAft>
                <a:spcPts val="0"/>
              </a:spcAft>
              <a:buSzPts val="1400"/>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84" name="Google Shape;984;p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5" name="Google Shape;995;p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96" name="Google Shape;996;p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5" name="Google Shape;1005;p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1006" name="Google Shape;1006;p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p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1016" name="Google Shape;1016;p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p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26" name="Google Shape;1026;p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6" name="Google Shape;1036;p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37" name="Google Shape;1037;p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p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47" name="Google Shape;1047;p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6" name="Google Shape;1056;p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.NET, Java, Go, or anything else. The ASP.NET Core reference docs, OpenTelemetry .NET guides, Temporal .NET SDK docs and Debezium docs are the practical references for the runtime specifics shown in the code.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57" name="Google Shape;1057;p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6" name="Google Shape;1066;p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67" name="Google Shape;1067;p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5" name="Google Shape;1075;p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76" name="Google Shape;1076;p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5" name="Google Shape;1085;p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86" name="Google Shape;1086;p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p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96" name="Google Shape;1096;p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5" name="Google Shape;1105;p1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106" name="Google Shape;1106;p1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117" name="Google Shape;1117;p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28" name="Google Shape;1128;p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6" name="Shape 1136"/>
        <p:cNvGrpSpPr/>
        <p:nvPr/>
      </p:nvGrpSpPr>
      <p:grpSpPr>
        <a:xfrm>
          <a:off x="0" y="0"/>
          <a:ext cx="0" cy="0"/>
          <a:chOff x="0" y="0"/>
          <a:chExt cx="0" cy="0"/>
        </a:xfrm>
      </p:grpSpPr>
      <p:sp>
        <p:nvSpPr>
          <p:cNvPr id="1137" name="Google Shape;1137;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8" name="Google Shape;1138;p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39" name="Google Shape;1139;p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6" name="Shape 1146"/>
        <p:cNvGrpSpPr/>
        <p:nvPr/>
      </p:nvGrpSpPr>
      <p:grpSpPr>
        <a:xfrm>
          <a:off x="0" y="0"/>
          <a:ext cx="0" cy="0"/>
          <a:chOff x="0" y="0"/>
          <a:chExt cx="0" cy="0"/>
        </a:xfrm>
      </p:grpSpPr>
      <p:sp>
        <p:nvSpPr>
          <p:cNvPr id="1147" name="Google Shape;1147;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8" name="Google Shape;1148;p1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49" name="Google Shape;1149;p1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p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59" name="Google Shape;1159;p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6" name="Shape 1166"/>
        <p:cNvGrpSpPr/>
        <p:nvPr/>
      </p:nvGrpSpPr>
      <p:grpSpPr>
        <a:xfrm>
          <a:off x="0" y="0"/>
          <a:ext cx="0" cy="0"/>
          <a:chOff x="0" y="0"/>
          <a:chExt cx="0" cy="0"/>
        </a:xfrm>
      </p:grpSpPr>
      <p:sp>
        <p:nvSpPr>
          <p:cNvPr id="1167" name="Google Shape;1167;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8" name="Google Shape;1168;p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69" name="Google Shape;1169;p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7" name="Shape 1177"/>
        <p:cNvGrpSpPr/>
        <p:nvPr/>
      </p:nvGrpSpPr>
      <p:grpSpPr>
        <a:xfrm>
          <a:off x="0" y="0"/>
          <a:ext cx="0" cy="0"/>
          <a:chOff x="0" y="0"/>
          <a:chExt cx="0" cy="0"/>
        </a:xfrm>
      </p:grpSpPr>
      <p:sp>
        <p:nvSpPr>
          <p:cNvPr id="1178" name="Google Shape;117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9" name="Google Shape;1179;p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versioning lives in Asp.Versioning.Http (.NET Foundation). The reader is pluggable: MediaTypeApiVersionReaderBuilder with a template reads the version from the Accept media type (application/vnd.acme.order.v2+json), the most RESTful choice; UrlSegment, QueryString and Header readers swap in without changing handlers.</a:t>
            </a:r>
            <a:endParaRPr/>
          </a:p>
          <a:p>
            <a:pPr indent="0" lvl="0" marL="0" rtl="0" algn="l">
              <a:lnSpc>
                <a:spcPct val="100000"/>
              </a:lnSpc>
              <a:spcBef>
                <a:spcPts val="0"/>
              </a:spcBef>
              <a:spcAft>
                <a:spcPts val="0"/>
              </a:spcAft>
              <a:buSzPts val="1400"/>
              <a:buNone/>
            </a:pPr>
            <a:r>
              <a:rPr lang="en-US"/>
              <a:t>There is one URL for the order resource, and it never changes. NewVersionedApi declares the versions the group supports, and MapToApiVersion binds each handler to one. New clients ask for the v2 media type and get the currency field; old clients send the default and get v1, unaffected. Contrast with /v2/orders, which gives one resource two URLs.</a:t>
            </a:r>
            <a:endParaRPr/>
          </a:p>
          <a:p>
            <a:pPr indent="0" lvl="0" marL="0" rtl="0" algn="l">
              <a:lnSpc>
                <a:spcPct val="100000"/>
              </a:lnSpc>
              <a:spcBef>
                <a:spcPts val="0"/>
              </a:spcBef>
              <a:spcAft>
                <a:spcPts val="0"/>
              </a:spcAft>
              <a:buSzPts val="1400"/>
              <a:buNone/>
            </a:pPr>
            <a:r>
              <a:rPr lang="en-US"/>
              <a:t>OrderV1 and OrderV2 are explicit representation DTOs: the wire contract stays decoupled from the domain entity, a discipline WCF DataContracts taught, applied to HTTP.</a:t>
            </a:r>
            <a:endParaRPr/>
          </a:p>
        </p:txBody>
      </p:sp>
      <p:sp>
        <p:nvSpPr>
          <p:cNvPr id="1180" name="Google Shape;1180;p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0" name="Shape 1190"/>
        <p:cNvGrpSpPr/>
        <p:nvPr/>
      </p:nvGrpSpPr>
      <p:grpSpPr>
        <a:xfrm>
          <a:off x="0" y="0"/>
          <a:ext cx="0" cy="0"/>
          <a:chOff x="0" y="0"/>
          <a:chExt cx="0" cy="0"/>
        </a:xfrm>
      </p:grpSpPr>
      <p:sp>
        <p:nvSpPr>
          <p:cNvPr id="1191" name="Google Shape;1191;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2" name="Google Shape;1192;p1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93" name="Google Shape;1193;p1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1" name="Shape 1201"/>
        <p:cNvGrpSpPr/>
        <p:nvPr/>
      </p:nvGrpSpPr>
      <p:grpSpPr>
        <a:xfrm>
          <a:off x="0" y="0"/>
          <a:ext cx="0" cy="0"/>
          <a:chOff x="0" y="0"/>
          <a:chExt cx="0" cy="0"/>
        </a:xfrm>
      </p:grpSpPr>
      <p:sp>
        <p:nvSpPr>
          <p:cNvPr id="1202" name="Google Shape;1202;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3" name="Google Shape;1203;p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204" name="Google Shape;1204;p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1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217" name="Google Shape;1217;p1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5" name="Shape 1225"/>
        <p:cNvGrpSpPr/>
        <p:nvPr/>
      </p:nvGrpSpPr>
      <p:grpSpPr>
        <a:xfrm>
          <a:off x="0" y="0"/>
          <a:ext cx="0" cy="0"/>
          <a:chOff x="0" y="0"/>
          <a:chExt cx="0" cy="0"/>
        </a:xfrm>
      </p:grpSpPr>
      <p:sp>
        <p:nvSpPr>
          <p:cNvPr id="1226" name="Google Shape;1226;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7" name="Google Shape;1227;p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mechanics in HotChocolate. Code-first is the dominant style in .NET GraphQL: you write a C# record (or class) and HotChocolate infers the schema from your types. We add TotalMinor additively and mark the old Total field with [GraphQLDeprecated("reason")] — the attribute maps directly to GraphQL's native @deprecated schema directive. If your team prefers schema-first, the .graphql file syntax works identically and the C# resolvers bind to it. The field keeps working and nothing breaks, but the deprecation shows up in introspection, in any IDE plugin that reads the schema, and in HotChocolate's bundled GraphQL IDE (Nitro, formerly Banana Cake Pop) at /graphql. The crucial operational piece is the comment: you instrument field-level usage (HotChocolate has IDiagnosticEventListener hooks; pair with OpenTelemetry to push per-field counters),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28" name="Google Shape;1228;p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8" name="Shape 1238"/>
        <p:cNvGrpSpPr/>
        <p:nvPr/>
      </p:nvGrpSpPr>
      <p:grpSpPr>
        <a:xfrm>
          <a:off x="0" y="0"/>
          <a:ext cx="0" cy="0"/>
          <a:chOff x="0" y="0"/>
          <a:chExt cx="0" cy="0"/>
        </a:xfrm>
      </p:grpSpPr>
      <p:sp>
        <p:nvSpPr>
          <p:cNvPr id="1239" name="Google Shape;1239;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0" name="Google Shape;1240;p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41" name="Google Shape;1241;p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8" name="Shape 1248"/>
        <p:cNvGrpSpPr/>
        <p:nvPr/>
      </p:nvGrpSpPr>
      <p:grpSpPr>
        <a:xfrm>
          <a:off x="0" y="0"/>
          <a:ext cx="0" cy="0"/>
          <a:chOff x="0" y="0"/>
          <a:chExt cx="0" cy="0"/>
        </a:xfrm>
      </p:grpSpPr>
      <p:sp>
        <p:nvSpPr>
          <p:cNvPr id="1249" name="Google Shape;1249;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0" name="Google Shape;1250;p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C covers the protocol left out of the main interaction-styles discussion, because it behaves so differently on Kubernetes. WebSockets are long-lived, stateful and pinned to a Pod: the opposite of the stateless request model the platform assumes.</a:t>
            </a:r>
            <a:endParaRPr/>
          </a:p>
          <a:p>
            <a:pPr indent="0" lvl="0" marL="0" rtl="0" algn="l">
              <a:lnSpc>
                <a:spcPct val="100000"/>
              </a:lnSpc>
              <a:spcBef>
                <a:spcPts val="0"/>
              </a:spcBef>
              <a:spcAft>
                <a:spcPts val="0"/>
              </a:spcAft>
              <a:buSzPts val="1400"/>
              <a:buNone/>
            </a:pPr>
            <a:r>
              <a:rPr lang="en-US"/>
              <a:t>We build an endpoint with raw ASP.NET Core WebSockets, as the running example does, see why it fights scaling, fix it with a Redis backplane, make it fast and versioned with protobuf frames, and make it survivable with reconnection. Then Blazor: Blazor Server sits on the SignalR pinning side of this discussion and Blazor WebAssembly on the other; both run on Kubernetes as plain ASP.NET Core Pods. SignalR itself is the subject of Appendix Q.</a:t>
            </a:r>
            <a:endParaRPr/>
          </a:p>
        </p:txBody>
      </p:sp>
      <p:sp>
        <p:nvSpPr>
          <p:cNvPr id="1251" name="Google Shape;1251;p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8" name="Shape 1258"/>
        <p:cNvGrpSpPr/>
        <p:nvPr/>
      </p:nvGrpSpPr>
      <p:grpSpPr>
        <a:xfrm>
          <a:off x="0" y="0"/>
          <a:ext cx="0" cy="0"/>
          <a:chOff x="0" y="0"/>
          <a:chExt cx="0" cy="0"/>
        </a:xfrm>
      </p:grpSpPr>
      <p:sp>
        <p:nvSpPr>
          <p:cNvPr id="1259" name="Google Shape;1259;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0" name="Google Shape;1260;p1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running example's endpoint uses raw ASP.NET Core WebSockets: UseWebSockets, a mapped route, AcceptWebSocketAsync, then a receive loop. No SignalR, so any client can connect and verify.sh can test it with a plain WebSocket client.</a:t>
            </a:r>
            <a:endParaRPr/>
          </a:p>
          <a:p>
            <a:pPr indent="0" lvl="0" marL="0" rtl="0" algn="l">
              <a:lnSpc>
                <a:spcPct val="100000"/>
              </a:lnSpc>
              <a:spcBef>
                <a:spcPts val="0"/>
              </a:spcBef>
              <a:spcAft>
                <a:spcPts val="0"/>
              </a:spcAft>
              <a:buSzPts val="1400"/>
              <a:buNone/>
            </a:pPr>
            <a:r>
              <a:rPr lang="en-US"/>
              <a:t>Point at the clients dictionary: it lives in this Pod's memory. The connection, the client id and the fan-out all stay on one Pod, and that single fact is the scaling problem a Redis backplane solves, which the example also runs.</a:t>
            </a:r>
            <a:endParaRPr/>
          </a:p>
          <a:p>
            <a:pPr indent="0" lvl="0" marL="0" rtl="0" algn="l">
              <a:lnSpc>
                <a:spcPct val="100000"/>
              </a:lnSpc>
              <a:spcBef>
                <a:spcPts val="0"/>
              </a:spcBef>
              <a:spcAft>
                <a:spcPts val="0"/>
              </a:spcAft>
              <a:buSzPts val="1400"/>
              <a:buNone/>
            </a:pPr>
            <a:r>
              <a:rPr lang="en-US"/>
              <a:t>SignalR (Appendix Q) wraps the same transport with hubs, groups, reconnection and serialization; it is the choice when server and clients are .NET. The per-Pod state problem is the same either way.</a:t>
            </a:r>
            <a:endParaRPr/>
          </a:p>
        </p:txBody>
      </p:sp>
      <p:sp>
        <p:nvSpPr>
          <p:cNvPr id="1261" name="Google Shape;1261;p1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p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74" name="Google Shape;1274;p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p1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85" name="Google Shape;1285;p1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2" name="Shape 1292"/>
        <p:cNvGrpSpPr/>
        <p:nvPr/>
      </p:nvGrpSpPr>
      <p:grpSpPr>
        <a:xfrm>
          <a:off x="0" y="0"/>
          <a:ext cx="0" cy="0"/>
          <a:chOff x="0" y="0"/>
          <a:chExt cx="0" cy="0"/>
        </a:xfrm>
      </p:grpSpPr>
      <p:sp>
        <p:nvSpPr>
          <p:cNvPr id="1293" name="Google Shape;1293;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4" name="Google Shape;1294;p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that makes WebSockets horizontally scalable. Each Pod still owns only its own sockets, but every Pod subscribes and publishes to a shared backplane: Redis pub/sub for low latency, or a Kafka topic if you want durability and replay. In SignalR specifically, this is one line of code: services.AddSignalR().AddStackExchangeRedis("redis:6379") wires up the Microsoft.AspNetCore.SignalR.StackExchangeRedis package (MIT). When a publisher calls Clients.User("X").SendAsync(…), the message goes to the backplane without knowing which Pod holds X; the backplane fans it to all Pods, and the one Pod that holds X's connection delivers it. Now scale-up and zero-downtime rollouts work again, because no Pod is the single home of a conversation — connections can land anywhere and still receive everything. Redis is the common open-source default; Kafka if you already run it and want the durability. A managed, cloud-hosted SignalR service is not used: the open-source Redis backplane is what runs on your own Kubernetes.</a:t>
            </a:r>
            <a:endParaRPr/>
          </a:p>
        </p:txBody>
      </p:sp>
      <p:sp>
        <p:nvSpPr>
          <p:cNvPr id="1295" name="Google Shape;1295;p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3" name="Shape 1303"/>
        <p:cNvGrpSpPr/>
        <p:nvPr/>
      </p:nvGrpSpPr>
      <p:grpSpPr>
        <a:xfrm>
          <a:off x="0" y="0"/>
          <a:ext cx="0" cy="0"/>
          <a:chOff x="0" y="0"/>
          <a:chExt cx="0" cy="0"/>
        </a:xfrm>
      </p:grpSpPr>
      <p:sp>
        <p:nvSpPr>
          <p:cNvPr id="1304" name="Google Shape;1304;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5" name="Google Shape;1305;p1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wins in one slide. Performance: protobuf binary frames are smaller and cheaper to parse than JSON text, which matters when pushing high-frequency updates to many connections.</a:t>
            </a:r>
            <a:endParaRPr/>
          </a:p>
          <a:p>
            <a:pPr indent="0" lvl="0" marL="0" rtl="0" algn="l">
              <a:lnSpc>
                <a:spcPct val="100000"/>
              </a:lnSpc>
              <a:spcBef>
                <a:spcPts val="0"/>
              </a:spcBef>
              <a:spcAft>
                <a:spcPts val="0"/>
              </a:spcAft>
              <a:buSzPts val="1400"/>
              <a:buNone/>
            </a:pPr>
            <a:r>
              <a:rPr lang="en-US"/>
              <a:t>Versioning: a WebSocket message has no URL to hang a version on, so you version the envelope. The Version field lets the client detect an incompatible payload format and renegotiate; the Type field dispatches to the right typed payload; and a monotonic Seq number per connection is what makes reconnection and replay possible, the subject of the failure-handling slide.</a:t>
            </a:r>
            <a:endParaRPr/>
          </a:p>
          <a:p>
            <a:pPr indent="0" lvl="0" marL="0" rtl="0" algn="l">
              <a:lnSpc>
                <a:spcPct val="100000"/>
              </a:lnSpc>
              <a:spcBef>
                <a:spcPts val="0"/>
              </a:spcBef>
              <a:spcAft>
                <a:spcPts val="0"/>
              </a:spcAft>
              <a:buSzPts val="1400"/>
              <a:buNone/>
            </a:pPr>
            <a:r>
              <a:rPr lang="en-US"/>
              <a:t>The envelope is a protobuf message compiled with Grpc.Tools, so the same .proto evolution rules from Appendix B apply. With SignalR (Appendix Q) the equivalent is the MessagePack hub protocol plus a versioned envelope record.</a:t>
            </a:r>
            <a:endParaRPr/>
          </a:p>
        </p:txBody>
      </p:sp>
      <p:sp>
        <p:nvSpPr>
          <p:cNvPr id="1306" name="Google Shape;1306;p1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p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319" name="Google Shape;1319;p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7" name="Shape 1327"/>
        <p:cNvGrpSpPr/>
        <p:nvPr/>
      </p:nvGrpSpPr>
      <p:grpSpPr>
        <a:xfrm>
          <a:off x="0" y="0"/>
          <a:ext cx="0" cy="0"/>
          <a:chOff x="0" y="0"/>
          <a:chExt cx="0" cy="0"/>
        </a:xfrm>
      </p:grpSpPr>
      <p:sp>
        <p:nvSpPr>
          <p:cNvPr id="1328" name="Google Shape;1328;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9" name="Google Shape;1329;p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30" name="Google Shape;1330;p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p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Blazor deserves its own slide in this appendix because it sits on both sides of the WebSocket scaling discussion. Walk the picture left to right. Blazor Server (left): a server-side ASP.NET Core process holds the user's component tree and view-model; a thin JS client renders DOM diffs streamed over a persistent SignalR WebSocket. Every UI interaction, every button click, is a round-trip. Every component instance is pinned to one Pod for its session lifetime. Calls to inventory, payment, etc. happen server-to-server. Once you scale to N Pods, you need a Redis backplane (one line: AddStackExchangeRedis), and every pinning, connection-count and drain concern from this appendix applies in full: it is a WebSocket workload that happens to drive UI updates. Blazor WebAssembly (right): the entire .NET runtime ships to the browser as WebAssembly; your C# components run client-side; the Pod is just a static-file host (nginx or ASP.NET Core serving .wasm + .dll + .css + .html). No SignalR, no per-user server state, no backplane — scales like any other static site. The trade: WASM has a one-time download cost (.NET 8+ AOT trims it considerably; .NET 10 trims it further) and your APIs must be browser-callable (CORS, public auth, gRPC-Web instead of gRPC). The decision rule at the bottom: pick Server for line-of-business apps where you want server-side auth and real-time state with minimal client work; pick WebAssembly for offline, high-interactivity, or SEO-friendly client surfaces. Most production .NET shops run both: Blazor Server for the admin console, Blazor WebAssembly for the customer-facing app. The cloud-native posture in either case: a containerised ASP.NET Core Pod, open-source Redis if needed, KEDA scaling on connections (Server) or RPS (WASM static host).</a:t>
            </a:r>
            <a:endParaRPr/>
          </a:p>
        </p:txBody>
      </p:sp>
      <p:sp>
        <p:nvSpPr>
          <p:cNvPr id="1340" name="Google Shape;1340;p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8" name="Shape 1348"/>
        <p:cNvGrpSpPr/>
        <p:nvPr/>
      </p:nvGrpSpPr>
      <p:grpSpPr>
        <a:xfrm>
          <a:off x="0" y="0"/>
          <a:ext cx="0" cy="0"/>
          <a:chOff x="0" y="0"/>
          <a:chExt cx="0" cy="0"/>
        </a:xfrm>
      </p:grpSpPr>
      <p:sp>
        <p:nvSpPr>
          <p:cNvPr id="1349" name="Google Shape;1349;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0" name="Google Shape;1350;p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take-home for the audience. For the WCF/IIS-era developer, Blazor Server feels familiar (server-side state, cookie auth, classic web app shape), which is both its appeal and its scaling problem. Blazor WebAssembly feels foreign at first (real client-side .NET running in a sandbox), but it scales the way the rest of cloud-native does: stateless static hosting + back-end APIs. There's no wrong answer; there are appropriate answers per workload. The bold final line is the one to leave up: nothing here requires a managed cloud service. SignalR is in-box ASP.NET Core. The Redis backplane is the StackExchangeRedis package (MIT) against any Redis (or Valkey, or KeyDB). The static-file host can be nginx or ASP.NET Core's UseStaticFiles. Hosting on Kubernetes is just two Deployments and two Services. A team moving from managed app hosting to Kubernetes keeps Blazor: it runs Redis itself as the backplane instead of a managed SignalR service.</a:t>
            </a:r>
            <a:endParaRPr/>
          </a:p>
        </p:txBody>
      </p:sp>
      <p:sp>
        <p:nvSpPr>
          <p:cNvPr id="1351" name="Google Shape;1351;p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0" name="Google Shape;1360;p1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61" name="Google Shape;1361;p1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First problem: the orchestrator must survive a crash mid-flow, so in-memory state is a non-starter: a Pod restart would strand every in-flight saga with no idea what to compensate. Three real options. A DB-backed state machine: one row per saga instance holding its status and a context blob; you own the transitions with EF Core; the simplest option, and enough for most cases. Event-sourced: append each step as an event and rebuild state by replay — full audit history; Marten on Postgres is the natural .NET fit, or EF Core for hand-rolled. A workflow engine like Temporal: durable execution with retries and timers built in — most power, least code, but a new dependency to run. Stateless is the lighter in-process alternative, compared with Temporal in this appendix. For the WCF/COM+ audience: this slide is where MSDTC distributed transactions get permanently retired — you can't have a two-phase commit across services in this world, so you reach for compensation-based consistency instead. The cross-cutting rule on screen: the state transition and the outbound command must commit together (the outbox pattern again), or you get lost or duplicated steps.</a:t>
            </a:r>
            <a:endParaRPr/>
          </a:p>
        </p:txBody>
      </p:sp>
      <p:sp>
        <p:nvSpPr>
          <p:cNvPr id="1371" name="Google Shape;1371;p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9" name="Shape 1379"/>
        <p:cNvGrpSpPr/>
        <p:nvPr/>
      </p:nvGrpSpPr>
      <p:grpSpPr>
        <a:xfrm>
          <a:off x="0" y="0"/>
          <a:ext cx="0" cy="0"/>
          <a:chOff x="0" y="0"/>
          <a:chExt cx="0" cy="0"/>
        </a:xfrm>
      </p:grpSpPr>
      <p:sp>
        <p:nvSpPr>
          <p:cNvPr id="1380" name="Google Shape;1380;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1" name="Google Shape;1381;p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DB-backed option made concrete with EF Core — the default choice when the saga is bounded and the team wants to own the transitions. Key ideas: one Saga entity row, loaded with a pessimistic lock (FOR UPDATE in Postgres, equivalent in SQL Server) so two workers can't advance the same saga concurrently. The status guard makes AdvanceAsync idempotent — calling it on a finished saga is a no-op, which matters because retries and redeliveries will call it again. Each successful step accumulates its result into the Context dictionary, which is what the data-dependency slide relies on, and bumps the step index; the EF Core SaveChangesAsync makes the row durable after every step. Recovery needs no special path: Example 17 resumes RUNNING sagas from an IHostedService at startup by calling AdvanceAsync again, and a BackgroundService with PeriodicTimer (or Quartz.NET on a cron) plus DistributedLock does the same continuously, the cloud-native equivalent of a Windows Service that processed an MSMQ queue. Temporal .NET and Stateless, both in this appendix, solve the same problem at a different point on the build-vs-buy spectrum.</a:t>
            </a:r>
            <a:endParaRPr/>
          </a:p>
        </p:txBody>
      </p:sp>
      <p:sp>
        <p:nvSpPr>
          <p:cNvPr id="1382" name="Google Shape;1382;p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2" name="Shape 1392"/>
        <p:cNvGrpSpPr/>
        <p:nvPr/>
      </p:nvGrpSpPr>
      <p:grpSpPr>
        <a:xfrm>
          <a:off x="0" y="0"/>
          <a:ext cx="0" cy="0"/>
          <a:chOff x="0" y="0"/>
          <a:chExt cx="0" cy="0"/>
        </a:xfrm>
      </p:grpSpPr>
      <p:sp>
        <p:nvSpPr>
          <p:cNvPr id="1393" name="Google Shape;1393;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4" name="Google Shape;1394;p1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95" name="Google Shape;1395;p1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3" name="Shape 1403"/>
        <p:cNvGrpSpPr/>
        <p:nvPr/>
      </p:nvGrpSpPr>
      <p:grpSpPr>
        <a:xfrm>
          <a:off x="0" y="0"/>
          <a:ext cx="0" cy="0"/>
          <a:chOff x="0" y="0"/>
          <a:chExt cx="0" cy="0"/>
        </a:xfrm>
      </p:grpSpPr>
      <p:sp>
        <p:nvSpPr>
          <p:cNvPr id="1404" name="Google Shape;1404;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5" name="Google Shape;1405;p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compensation logic. A simple dictionary gives each forward step its inverse. We iterate the completed steps (Take(StepIndex) then Reverse)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For this audience: this replaces the old MSDTC rollback semantics — in a distributed system the 'transaction' is the saga, the 'rollback' is the compensation sequence, and the 'commit' is when the last step succeeds. With Temporal .NET the workflow keeps a stack of compensations and runs them in reverse on failure, with the same guarantees and durable history.</a:t>
            </a:r>
            <a:endParaRPr/>
          </a:p>
        </p:txBody>
      </p:sp>
      <p:sp>
        <p:nvSpPr>
          <p:cNvPr id="1406" name="Google Shape;1406;p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6" name="Shape 1416"/>
        <p:cNvGrpSpPr/>
        <p:nvPr/>
      </p:nvGrpSpPr>
      <p:grpSpPr>
        <a:xfrm>
          <a:off x="0" y="0"/>
          <a:ext cx="0" cy="0"/>
          <a:chOff x="0" y="0"/>
          <a:chExt cx="0" cy="0"/>
        </a:xfrm>
      </p:grpSpPr>
      <p:sp>
        <p:nvSpPr>
          <p:cNvPr id="1417" name="Google Shape;1417;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8" name="Google Shape;1418;p1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 Temporal .NET does the same automatically through its workflow input/output passing; Stateless does it via the OnTransitioned listener that lets you write the payload into the saga's persisted state.</a:t>
            </a:r>
            <a:endParaRPr/>
          </a:p>
        </p:txBody>
      </p:sp>
      <p:sp>
        <p:nvSpPr>
          <p:cNvPr id="1419" name="Google Shape;1419;p1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choice as managed durability against lightweight in-process state, both open source and production-grade.</a:t>
            </a:r>
            <a:endParaRPr/>
          </a:p>
          <a:p>
            <a:pPr indent="0" lvl="0" marL="0" rtl="0" algn="l">
              <a:lnSpc>
                <a:spcPct val="100000"/>
              </a:lnSpc>
              <a:spcBef>
                <a:spcPts val="0"/>
              </a:spcBef>
              <a:spcAft>
                <a:spcPts val="0"/>
              </a:spcAft>
              <a:buSzPts val="1400"/>
              <a:buNone/>
            </a:pPr>
            <a:r>
              <a:rPr lang="en-US"/>
              <a:t>Temporal: an MIT-licensed Server and an open-source .NET SDK, on NuGet as Temporalio, actively maintained by the team that built Cadence. You get durable execution, deterministic replay, retries with backoff, timers, child workflows, signals and queries, and a CLI and UI to inspect runs. The cost is operating a Temporal cluster on your own Kubernetes, or choosing Temporal Cloud.</a:t>
            </a:r>
            <a:endParaRPr/>
          </a:p>
          <a:p>
            <a:pPr indent="0" lvl="0" marL="0" rtl="0" algn="l">
              <a:lnSpc>
                <a:spcPct val="100000"/>
              </a:lnSpc>
              <a:spcBef>
                <a:spcPts val="0"/>
              </a:spcBef>
              <a:spcAft>
                <a:spcPts val="0"/>
              </a:spcAft>
              <a:buSzPts val="1400"/>
              <a:buNone/>
            </a:pPr>
            <a:r>
              <a:rPr lang="en-US"/>
              <a:t>Stateless: a small in-process .NET state-machine library (a community project). No extra cluster; you persist the CurrentState property to your own database, one column, and restore it before firing the next trigger. Better when the saga is small, the team already works in EF Core, and another runtime is overkill.</a:t>
            </a:r>
            <a:endParaRPr/>
          </a:p>
          <a:p>
            <a:pPr indent="0" lvl="0" marL="0" rtl="0" algn="l">
              <a:lnSpc>
                <a:spcPct val="100000"/>
              </a:lnSpc>
              <a:spcBef>
                <a:spcPts val="0"/>
              </a:spcBef>
              <a:spcAft>
                <a:spcPts val="0"/>
              </a:spcAft>
              <a:buSzPts val="1400"/>
              <a:buNone/>
            </a:pPr>
            <a:r>
              <a:rPr lang="en-US"/>
              <a:t>Dapr Workflows is a sidebar: a third option when your environment already uses the sidecar pattern, not the focus of this deck. The decision is how much engine this saga needs.</a:t>
            </a:r>
            <a:endParaRPr/>
          </a:p>
        </p:txBody>
      </p:sp>
      <p:sp>
        <p:nvSpPr>
          <p:cNvPr id="1430" name="Google Shape;1430;p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p1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Three boxes. On the left, your client, a REST handler in an ASP.NET Core app, injects ITemporalClient and calls StartWorkflowAsync(…) to kick off a workflow. In the middle, the Temporal Server: a cluster of Frontend, Matching and History services backed by Postgres (or MySQL / Cassandra) that persists every workflow event (every activity invocation, every result, every timer firing), so the workflow can be reconstructed from scratch by replay. On the right, the Worker: another ASP.NET Core app where you implement the workflow as a regular C# class annotated [Workflow] with a [WorkflowRun] method, and activities as plain C# classes annotated [Activity]. The worker runs as a BackgroundService that polls a task queue, gets the next workflow task, executes the next deterministic step. Crash the worker mid-flow and Temporal reissues the task to another worker, which replays history and resumes exactly where you were — no lost steps, no double-charges. That's durable execution. For this audience: think of it as 'BizTalk orchestration done right, open-source, polyglot, on Kubernetes' — except the workflow is just C# code with normal IDE tooling and unit testing, not a BizTalk visual designer. The bottom captions confirm the open-source posture: Temporal Server is MIT, the .NET SDK is Apache 2.0, both running on your Kubernetes if you want, no SaaS lock-in.</a:t>
            </a:r>
            <a:endParaRPr/>
          </a:p>
        </p:txBody>
      </p:sp>
      <p:sp>
        <p:nvSpPr>
          <p:cNvPr id="1440" name="Google Shape;1440;p1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p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whole story on one slide. Activity classes are plain C#; methods marked [Activity] are registered with the worker at startup. The workflow class is marked [Workflow] with one [WorkflowRun] entry point. The body reads like synchronous code, but every activity call goes through Temporal's task queue and is durably scheduled, retried and timed out on the Server. StartToCloseTimeout is required on every activity call, so the options object is shared.</a:t>
            </a:r>
            <a:endParaRPr/>
          </a:p>
          <a:p>
            <a:pPr indent="0" lvl="0" marL="0" rtl="0" algn="l">
              <a:lnSpc>
                <a:spcPct val="100000"/>
              </a:lnSpc>
              <a:spcBef>
                <a:spcPts val="0"/>
              </a:spcBef>
              <a:spcAft>
                <a:spcPts val="0"/>
              </a:spcAft>
              <a:buSzPts val="1400"/>
              <a:buNone/>
            </a:pPr>
            <a:r>
              <a:rPr lang="en-US"/>
              <a:t>The output of each activity (paymentId, reservationId) is captured in a local variable and in Temporal's event history. If the worker dies between charge and reserve, a replacement worker replays the history, recovers paymentId, and continues at reserve without re-running charge.</a:t>
            </a:r>
            <a:endParaRPr/>
          </a:p>
          <a:p>
            <a:pPr indent="0" lvl="0" marL="0" rtl="0" algn="l">
              <a:lnSpc>
                <a:spcPct val="100000"/>
              </a:lnSpc>
              <a:spcBef>
                <a:spcPts val="0"/>
              </a:spcBef>
              <a:spcAft>
                <a:spcPts val="0"/>
              </a:spcAft>
              <a:buSzPts val="1400"/>
              <a:buNone/>
            </a:pPr>
            <a:r>
              <a:rPr lang="en-US"/>
              <a:t>Compensation is plain C# as well: each completed step pushes its undo onto a stack, and on an activity failure the workflow pops and runs them in reverse, the same discipline as the hand-rolled version, now durable because each undo is itself an activity. Hosting in ASP.NET Core: Temporalio.Extensions.Hosting registers the client and a hosted worker that lists the workflow and activity types.</a:t>
            </a:r>
            <a:endParaRPr/>
          </a:p>
        </p:txBody>
      </p:sp>
      <p:sp>
        <p:nvSpPr>
          <p:cNvPr id="1451" name="Google Shape;1451;p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1" name="Shape 1461"/>
        <p:cNvGrpSpPr/>
        <p:nvPr/>
      </p:nvGrpSpPr>
      <p:grpSpPr>
        <a:xfrm>
          <a:off x="0" y="0"/>
          <a:ext cx="0" cy="0"/>
          <a:chOff x="0" y="0"/>
          <a:chExt cx="0" cy="0"/>
        </a:xfrm>
      </p:grpSpPr>
      <p:sp>
        <p:nvSpPr>
          <p:cNvPr id="1462" name="Google Shape;1462;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3" name="Google Shape;1463;p1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The top row is the saga as a state machine: Created → Paid → Reserved → Shipped → Done, with each transition triggered by an event (PayOk, ReserveOk, ShipOk, Delivered). On StepFail at any point, the machine drops down into the Compensating state and ultimately Failed — the same compensation discipline expressed as state transitions. Under it, three pieces. The StateMachine&lt;TState, TTrigger&gt; itself, configured in a small builder method via the Stateless package's fluent API — you declare states, transitions, guards (predicates that gate a transition), entry/exit actions (code that runs on a transition, where you'd call _payments.ChargeAsync or _inventory.ReserveAsync), and OnTransitioned listeners for notifications. The 'persist state yourself' block is the lightweight bit: serialize the CurrentState property to a single column in your saga row using EF Core or Dapper, restore it before firing the next trigger. No persister framework needed. And on the right, the code that drives the machine: await sm.FireAsync(Trigger.PayOk, payload) runs guards, actions, transitions, and the OnTransitioned hook writes the new state to your DB. The whole thing runs in-process inside your ASP.NET Core app — no extra cluster, Apache-2.0 open source.</a:t>
            </a:r>
            <a:endParaRPr/>
          </a:p>
        </p:txBody>
      </p:sp>
      <p:sp>
        <p:nvSpPr>
          <p:cNvPr id="1464" name="Google Shape;1464;p1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2" name="Shape 1472"/>
        <p:cNvGrpSpPr/>
        <p:nvPr/>
      </p:nvGrpSpPr>
      <p:grpSpPr>
        <a:xfrm>
          <a:off x="0" y="0"/>
          <a:ext cx="0" cy="0"/>
          <a:chOff x="0" y="0"/>
          <a:chExt cx="0" cy="0"/>
        </a:xfrm>
      </p:grpSpPr>
      <p:sp>
        <p:nvSpPr>
          <p:cNvPr id="1473" name="Google Shape;1473;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4" name="Google Shape;1474;p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FulfillmentSagaMachine wraps a Stateless StateMachine&lt;State, Trigger&gt; with enums for both type parameters: type-safe states and triggers. Configure() declares each state's permitted transitions and its entry action; OnEntryAsync runs the business call when the state is entered, and FireAsync is required once entry actions are asynchronous. The Permit chain reads like the state diagram.</a:t>
            </a:r>
            <a:endParaRPr/>
          </a:p>
          <a:p>
            <a:pPr indent="0" lvl="0" marL="0" rtl="0" algn="l">
              <a:lnSpc>
                <a:spcPct val="100000"/>
              </a:lnSpc>
              <a:spcBef>
                <a:spcPts val="0"/>
              </a:spcBef>
              <a:spcAft>
                <a:spcPts val="0"/>
              </a:spcAft>
              <a:buSzPts val="1400"/>
              <a:buNone/>
            </a:pPr>
            <a:r>
              <a:rPr lang="en-US"/>
              <a:t>FulfillmentService.OnAsync is the entry point, called from an HTTP handler or a Kafka consumer. It restores the saga's state by order id from EF Core, rebuilds the machine in that state, fires the trigger, and saves the new CurrentState.</a:t>
            </a:r>
            <a:endParaRPr/>
          </a:p>
          <a:p>
            <a:pPr indent="0" lvl="0" marL="0" rtl="0" algn="l">
              <a:lnSpc>
                <a:spcPct val="100000"/>
              </a:lnSpc>
              <a:spcBef>
                <a:spcPts val="0"/>
              </a:spcBef>
              <a:spcAft>
                <a:spcPts val="0"/>
              </a:spcAft>
              <a:buSzPts val="1400"/>
              <a:buNone/>
            </a:pPr>
            <a:r>
              <a:rPr lang="en-US"/>
              <a:t>The transactional discipline is yours: wrap the action's effects and the state save in one DbContext transaction, the same commit-together rule as the hand-rolled version. Compared with Temporal there is no separate server, but also no automatic retries, timers or replay; the BackgroundService sweeper from the persisted-state slide still applies.</a:t>
            </a:r>
            <a:endParaRPr/>
          </a:p>
        </p:txBody>
      </p:sp>
      <p:sp>
        <p:nvSpPr>
          <p:cNvPr id="1475" name="Google Shape;1475;p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5" name="Shape 1485"/>
        <p:cNvGrpSpPr/>
        <p:nvPr/>
      </p:nvGrpSpPr>
      <p:grpSpPr>
        <a:xfrm>
          <a:off x="0" y="0"/>
          <a:ext cx="0" cy="0"/>
          <a:chOff x="0" y="0"/>
          <a:chExt cx="0" cy="0"/>
        </a:xfrm>
      </p:grpSpPr>
      <p:sp>
        <p:nvSpPr>
          <p:cNvPr id="1486" name="Google Shape;1486;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7" name="Google Shape;1487;p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88" name="Google Shape;1488;p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5" name="Shape 1495"/>
        <p:cNvGrpSpPr/>
        <p:nvPr/>
      </p:nvGrpSpPr>
      <p:grpSpPr>
        <a:xfrm>
          <a:off x="0" y="0"/>
          <a:ext cx="0" cy="0"/>
          <a:chOff x="0" y="0"/>
          <a:chExt cx="0" cy="0"/>
        </a:xfrm>
      </p:grpSpPr>
      <p:sp>
        <p:nvSpPr>
          <p:cNvPr id="1496" name="Google Shape;149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7" name="Google Shape;1497;p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98" name="Google Shape;1498;p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8" name="Google Shape;1508;p1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509" name="Google Shape;1509;p1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7" name="Shape 1517"/>
        <p:cNvGrpSpPr/>
        <p:nvPr/>
      </p:nvGrpSpPr>
      <p:grpSpPr>
        <a:xfrm>
          <a:off x="0" y="0"/>
          <a:ext cx="0" cy="0"/>
          <a:chOff x="0" y="0"/>
          <a:chExt cx="0" cy="0"/>
        </a:xfrm>
      </p:grpSpPr>
      <p:sp>
        <p:nvSpPr>
          <p:cNvPr id="1518" name="Google Shape;1518;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9" name="Google Shape;1519;p1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ProblemDetails (RFC 9457) built into Microsoft.AspNetCore.Mvc since .NET 6 — the wire format, the media type (application/problem+json), and the integration with minimal APIs (Results.Problem) and controllers ([ProducesProblemDetails]) are all included. The IExceptionHandler interface added in .NET 8 is the central mapping seam — register one or more, each one inspects the exception and returns true if it handled it, false to defer to the next. Use it for domain-to-wire mapping so you never scatter ad-hoc error JSON across handlers. The status matches the category (409 here — a conflict the client can act on), and Extensions carries the stable machine code and the W3C trace id from System.Diagnostics.Activity for correlation. Nothing internal leaks: no stack trace, exception class name, or SQL. Those are an attack surface, and the WCF-era habit of returning SoapFault detail with full stack traces is exactly what this replaces. For validation specifically, ValidationProblemDetails is the typed subclass and Results.ValidationProblem the minimal-API helper.</a:t>
            </a:r>
            <a:endParaRPr/>
          </a:p>
        </p:txBody>
      </p:sp>
      <p:sp>
        <p:nvSpPr>
          <p:cNvPr id="1520" name="Google Shape;1520;p1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533" name="Google Shape;1533;p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1" name="Shape 1541"/>
        <p:cNvGrpSpPr/>
        <p:nvPr/>
      </p:nvGrpSpPr>
      <p:grpSpPr>
        <a:xfrm>
          <a:off x="0" y="0"/>
          <a:ext cx="0" cy="0"/>
          <a:chOff x="0" y="0"/>
          <a:chExt cx="0" cy="0"/>
        </a:xfrm>
      </p:grpSpPr>
      <p:sp>
        <p:nvSpPr>
          <p:cNvPr id="1542" name="Google Shape;1542;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3" name="Google Shape;1543;p1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grpc-dotnet's standard rich-error model — the same wire shape as every other gRPC stack because google.rpc.Status is the cross-language contract. The canonical code Unavailable tells the client and the mesh this is transient and retryable; the Status carries structured details — ErrorInfo with a machine reason and domain, and RetryInfo telling the client exactly how long to wait. The Grpc.StatusProto NuGet package provides the ToRpcException extension that packs the rich Status into the trailers, and throwing the RpcException signals the failure. For the audience: this is the gRPC equivalent of WCF's FaultException&lt;T&gt; with a fault contract — except the contract is google.rpc.Status (standard across languages), the codes are canonical, and the mesh (Istio) can act on them. The key discipline: don't overload a generic Internal code for everything — the code is how automated clients and Istio decide whether and when to retry, so getting it right is what prevents both lost work and retry storms.</a:t>
            </a:r>
            <a:endParaRPr/>
          </a:p>
        </p:txBody>
      </p:sp>
      <p:sp>
        <p:nvSpPr>
          <p:cNvPr id="1544" name="Google Shape;1544;p1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4" name="Shape 1554"/>
        <p:cNvGrpSpPr/>
        <p:nvPr/>
      </p:nvGrpSpPr>
      <p:grpSpPr>
        <a:xfrm>
          <a:off x="0" y="0"/>
          <a:ext cx="0" cy="0"/>
          <a:chOff x="0" y="0"/>
          <a:chExt cx="0" cy="0"/>
        </a:xfrm>
      </p:grpSpPr>
      <p:sp>
        <p:nvSpPr>
          <p:cNvPr id="1555" name="Google Shape;1555;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6" name="Google Shape;1556;p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Confluent.Kafka the loop is yours, so the invariant is explicit: bounded retries, then a delayed-retry topic, then a DLQ, with the offset committed on every branch.</a:t>
            </a:r>
            <a:endParaRPr/>
          </a:p>
        </p:txBody>
      </p:sp>
      <p:sp>
        <p:nvSpPr>
          <p:cNvPr id="1557" name="Google Shape;1557;p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p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Appendix E pattern over Confluent.Kafka. The loop is yours, so the invariant is explicit and readable: a Polly 8 retry pipeline gives bounded in-place retries with exponential backoff and jitter, and treats ValidationException as non-retryable, since retrying a 4xx gains nothing.</a:t>
            </a:r>
            <a:endParaRPr/>
          </a:p>
          <a:p>
            <a:pPr indent="0" lvl="0" marL="0" rtl="0" algn="l">
              <a:lnSpc>
                <a:spcPct val="100000"/>
              </a:lnSpc>
              <a:spcBef>
                <a:spcPts val="0"/>
              </a:spcBef>
              <a:spcAft>
                <a:spcPts val="0"/>
              </a:spcAft>
              <a:buSzPts val="1400"/>
              <a:buNone/>
            </a:pPr>
            <a:r>
              <a:rPr lang="en-US"/>
              <a:t>When the in-place retries are exhausted, the record is re-published to a delayed-retry topic with a retries header; after MaxRetries attempts, or immediately for a validation failure, it goes to the dead-letter topic with the error type attached. Either way the offset is committed, so the consumer keeps making progress and a poison record never blocks the partition.</a:t>
            </a:r>
            <a:endParaRPr/>
          </a:p>
          <a:p>
            <a:pPr indent="0" lvl="0" marL="0" rtl="0" algn="l">
              <a:lnSpc>
                <a:spcPct val="100000"/>
              </a:lnSpc>
              <a:spcBef>
                <a:spcPts val="0"/>
              </a:spcBef>
              <a:spcAft>
                <a:spcPts val="0"/>
              </a:spcAft>
              <a:buSzPts val="1400"/>
              <a:buNone/>
            </a:pPr>
            <a:r>
              <a:rPr lang="en-US"/>
              <a:t>Make the handler idempotent: at-least-once delivery means a retried record may have partly applied. For the MSMQ audience this is the MaxRetryCount, ReceiveErrorHandling and poison-queue model, written as code you can test.</a:t>
            </a:r>
            <a:endParaRPr/>
          </a:p>
        </p:txBody>
      </p:sp>
      <p:sp>
        <p:nvSpPr>
          <p:cNvPr id="1568" name="Google Shape;1568;p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8" name="Shape 1578"/>
        <p:cNvGrpSpPr/>
        <p:nvPr/>
      </p:nvGrpSpPr>
      <p:grpSpPr>
        <a:xfrm>
          <a:off x="0" y="0"/>
          <a:ext cx="0" cy="0"/>
          <a:chOff x="0" y="0"/>
          <a:chExt cx="0" cy="0"/>
        </a:xfrm>
      </p:grpSpPr>
      <p:sp>
        <p:nvSpPr>
          <p:cNvPr id="1579" name="Google Shape;1579;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0" name="Google Shape;1580;p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81" name="Google Shape;1581;p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1" name="Google Shape;1591;p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Throwing from a single field's resolver is exactly right: HotChocolate's exception-resolution chain catches it, sets that field to null, and appends an entry to errors[] with the message and path — while every other field resolves and returns normally. The IErrorFilter is the central mapping point — one IErrorFilter implementation, one method per exception family (here using a switch expression), return a transformed IError with WithCode and SetExtension calls. The .WithCode("UNAVAILABLE") sets the standard GraphQL error code in extensions.code; SetExtension lets you add any structured fields — retryable flag, traceId from Activity.Current, anything else you want. The .RemoveException() call is critical security hygiene: by default HotChocolate may include the exception type and stack in extensions during development; in production you strip it. Resist letting the exception bubble to the top and fail the whole operation — that's the blanket-failure anti-pattern. The client sees the order and total, sees stock is null, reads extensions.code, and decides whether to retry just stock. The same discipline works for HotChocolate's mutation errors (the 6a-style error unions) if you go that route for richer error contracts.</a:t>
            </a:r>
            <a:endParaRPr/>
          </a:p>
        </p:txBody>
      </p:sp>
      <p:sp>
        <p:nvSpPr>
          <p:cNvPr id="1592" name="Google Shape;1592;p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.NET, Polly is the canonical resilience library (BSD-3, ships under Microsoft.Extensions.Resilience and Microsoft.Extensions.Http.Resilience) — retries, circuit breakers, bulkheads, timeouts, hedging, all composable into a single ResiliencePipeline. Plus the Istio config from section 2, you get these at both the code and mesh layers.</a:t>
            </a:r>
            <a:endParaRPr/>
          </a:p>
        </p:txBody>
      </p:sp>
      <p:sp>
        <p:nvSpPr>
          <p:cNvPr id="1605" name="Google Shape;1605;p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3" name="Shape 1613"/>
        <p:cNvGrpSpPr/>
        <p:nvPr/>
      </p:nvGrpSpPr>
      <p:grpSpPr>
        <a:xfrm>
          <a:off x="0" y="0"/>
          <a:ext cx="0" cy="0"/>
          <a:chOff x="0" y="0"/>
          <a:chExt cx="0" cy="0"/>
        </a:xfrm>
      </p:grpSpPr>
      <p:sp>
        <p:nvSpPr>
          <p:cNvPr id="1614" name="Google Shape;1614;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5" name="Google Shape;1615;p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(Polly's AddRetry with exponential backoff and jitter, AddCircuitBreaker, AddTimeout composed into a ResiliencePipeline), protected by a retry budget, and every handler idempotent so a redelivered or retried request is safe. Get these right and your failure paths become as boring as your happy paths.</a:t>
            </a:r>
            <a:endParaRPr/>
          </a:p>
        </p:txBody>
      </p:sp>
      <p:sp>
        <p:nvSpPr>
          <p:cNvPr id="1616" name="Google Shape;1616;p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3" name="Shape 1623"/>
        <p:cNvGrpSpPr/>
        <p:nvPr/>
      </p:nvGrpSpPr>
      <p:grpSpPr>
        <a:xfrm>
          <a:off x="0" y="0"/>
          <a:ext cx="0" cy="0"/>
          <a:chOff x="0" y="0"/>
          <a:chExt cx="0" cy="0"/>
        </a:xfrm>
      </p:grpSpPr>
      <p:sp>
        <p:nvSpPr>
          <p:cNvPr id="1624" name="Google Shape;1624;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5" name="Google Shape;1625;p1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626" name="Google Shape;1626;p1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p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636" name="Google Shape;1636;p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p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46" name="Google Shape;1646;p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p1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57" name="Google Shape;1657;p1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4" name="Shape 1664"/>
        <p:cNvGrpSpPr/>
        <p:nvPr/>
      </p:nvGrpSpPr>
      <p:grpSpPr>
        <a:xfrm>
          <a:off x="0" y="0"/>
          <a:ext cx="0" cy="0"/>
          <a:chOff x="0" y="0"/>
          <a:chExt cx="0" cy="0"/>
        </a:xfrm>
      </p:grpSpPr>
      <p:sp>
        <p:nvSpPr>
          <p:cNvPr id="1665" name="Google Shape;1665;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6" name="Google Shape;1666;p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667" name="Google Shape;1667;p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5" name="Shape 1675"/>
        <p:cNvGrpSpPr/>
        <p:nvPr/>
      </p:nvGrpSpPr>
      <p:grpSpPr>
        <a:xfrm>
          <a:off x="0" y="0"/>
          <a:ext cx="0" cy="0"/>
          <a:chOff x="0" y="0"/>
          <a:chExt cx="0" cy="0"/>
        </a:xfrm>
      </p:grpSpPr>
      <p:sp>
        <p:nvSpPr>
          <p:cNvPr id="1676" name="Google Shape;1676;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7" name="Google Shape;1677;p1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78" name="Google Shape;1678;p1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5" name="Shape 1685"/>
        <p:cNvGrpSpPr/>
        <p:nvPr/>
      </p:nvGrpSpPr>
      <p:grpSpPr>
        <a:xfrm>
          <a:off x="0" y="0"/>
          <a:ext cx="0" cy="0"/>
          <a:chOff x="0" y="0"/>
          <a:chExt cx="0" cy="0"/>
        </a:xfrm>
      </p:grpSpPr>
      <p:sp>
        <p:nvSpPr>
          <p:cNvPr id="1686" name="Google Shape;1686;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7" name="Google Shape;1687;p1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88" name="Google Shape;1688;p1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6" name="Shape 1696"/>
        <p:cNvGrpSpPr/>
        <p:nvPr/>
      </p:nvGrpSpPr>
      <p:grpSpPr>
        <a:xfrm>
          <a:off x="0" y="0"/>
          <a:ext cx="0" cy="0"/>
          <a:chOff x="0" y="0"/>
          <a:chExt cx="0" cy="0"/>
        </a:xfrm>
      </p:grpSpPr>
      <p:sp>
        <p:nvSpPr>
          <p:cNvPr id="1697" name="Google Shape;1697;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8" name="Google Shape;1698;p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three blocks. Ports: the domain declares plain C# interfaces, a repository and an event publisher, and depends on nothing else (no ASP.NET Core, no EF Core, no Confluent.Kafka imports anywhere in the domain project). The application service PlaceOrderUseCase is pure logic: it creates the aggregate, saves via the port, publishes a domain event via the port, and never references framework types directly. C# 12 primary constructors give you the cleanest possible injection — no [Inject] attribute and no explicit constructor, just the parameter list on the class, available everywhere in the class body. The Microsoft.Extensions.DependencyInjection container resolves them at construction. The minimal-API endpoint is a thin driving adapter — turn the HTTP body into a command and call the use case; a gRPC service or HotChocolate resolver is the same shape. The outbound ports are implemented by adapters (EfOrderRepository over an EF Core OrdersContext for persistence, a log publisher in the example and a Kafka publisher on Confluent.Kafka in production) in separate projects so the domain project has zero infrastructure references — enforced by the .csproj graph. That's dependency inversion serving the boundary: protocols are replaceable, the domain stays stable. For audiences coming from MVC's classic Service → Repository → DAL stack: this is the same instinct, formalised by the .csproj dependency direction (domain depends on nothing; infrastructure depends on domain; web depends on application; nothing depends on web).</a:t>
            </a:r>
            <a:endParaRPr/>
          </a:p>
        </p:txBody>
      </p:sp>
      <p:sp>
        <p:nvSpPr>
          <p:cNvPr id="1699" name="Google Shape;1699;p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9" name="Shape 1709"/>
        <p:cNvGrpSpPr/>
        <p:nvPr/>
      </p:nvGrpSpPr>
      <p:grpSpPr>
        <a:xfrm>
          <a:off x="0" y="0"/>
          <a:ext cx="0" cy="0"/>
          <a:chOff x="0" y="0"/>
          <a:chExt cx="0" cy="0"/>
        </a:xfrm>
      </p:grpSpPr>
      <p:sp>
        <p:nvSpPr>
          <p:cNvPr id="1710" name="Google Shape;1710;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1" name="Google Shape;1711;p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712" name="Google Shape;1712;p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9" name="Shape 1719"/>
        <p:cNvGrpSpPr/>
        <p:nvPr/>
      </p:nvGrpSpPr>
      <p:grpSpPr>
        <a:xfrm>
          <a:off x="0" y="0"/>
          <a:ext cx="0" cy="0"/>
          <a:chOff x="0" y="0"/>
          <a:chExt cx="0" cy="0"/>
        </a:xfrm>
      </p:grpSpPr>
      <p:sp>
        <p:nvSpPr>
          <p:cNvPr id="1720" name="Google Shape;1720;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1" name="Google Shape;1721;p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722" name="Google Shape;1722;p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9" name="Shape 1729"/>
        <p:cNvGrpSpPr/>
        <p:nvPr/>
      </p:nvGrpSpPr>
      <p:grpSpPr>
        <a:xfrm>
          <a:off x="0" y="0"/>
          <a:ext cx="0" cy="0"/>
          <a:chOff x="0" y="0"/>
          <a:chExt cx="0" cy="0"/>
        </a:xfrm>
      </p:grpSpPr>
      <p:sp>
        <p:nvSpPr>
          <p:cNvPr id="1730" name="Google Shape;1730;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1" name="Google Shape;1731;p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732" name="Google Shape;1732;p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p1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42" name="Google Shape;1742;p1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p1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52" name="Google Shape;1752;p1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p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763" name="Google Shape;1763;p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p1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73" name="Google Shape;1773;p1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1" name="Shape 1781"/>
        <p:cNvGrpSpPr/>
        <p:nvPr/>
      </p:nvGrpSpPr>
      <p:grpSpPr>
        <a:xfrm>
          <a:off x="0" y="0"/>
          <a:ext cx="0" cy="0"/>
          <a:chOff x="0" y="0"/>
          <a:chExt cx="0" cy="0"/>
        </a:xfrm>
      </p:grpSpPr>
      <p:sp>
        <p:nvSpPr>
          <p:cNvPr id="1782" name="Google Shape;1782;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3" name="Google Shape;1783;p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84" name="Google Shape;1784;p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1" name="Shape 1791"/>
        <p:cNvGrpSpPr/>
        <p:nvPr/>
      </p:nvGrpSpPr>
      <p:grpSpPr>
        <a:xfrm>
          <a:off x="0" y="0"/>
          <a:ext cx="0" cy="0"/>
          <a:chOff x="0" y="0"/>
          <a:chExt cx="0" cy="0"/>
        </a:xfrm>
      </p:grpSpPr>
      <p:sp>
        <p:nvSpPr>
          <p:cNvPr id="1792" name="Google Shape;1792;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3" name="Google Shape;1793;p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94" name="Google Shape;1794;p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2" name="Shape 1802"/>
        <p:cNvGrpSpPr/>
        <p:nvPr/>
      </p:nvGrpSpPr>
      <p:grpSpPr>
        <a:xfrm>
          <a:off x="0" y="0"/>
          <a:ext cx="0" cy="0"/>
          <a:chOff x="0" y="0"/>
          <a:chExt cx="0" cy="0"/>
        </a:xfrm>
      </p:grpSpPr>
      <p:sp>
        <p:nvSpPr>
          <p:cNvPr id="1803" name="Google Shape;1803;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4" name="Google Shape;1804;p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805" name="Google Shape;1805;p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2" name="Shape 1812"/>
        <p:cNvGrpSpPr/>
        <p:nvPr/>
      </p:nvGrpSpPr>
      <p:grpSpPr>
        <a:xfrm>
          <a:off x="0" y="0"/>
          <a:ext cx="0" cy="0"/>
          <a:chOff x="0" y="0"/>
          <a:chExt cx="0" cy="0"/>
        </a:xfrm>
      </p:grpSpPr>
      <p:sp>
        <p:nvSpPr>
          <p:cNvPr id="1813" name="Google Shape;1813;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4" name="Google Shape;1814;p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815" name="Google Shape;1815;p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2" name="Shape 1822"/>
        <p:cNvGrpSpPr/>
        <p:nvPr/>
      </p:nvGrpSpPr>
      <p:grpSpPr>
        <a:xfrm>
          <a:off x="0" y="0"/>
          <a:ext cx="0" cy="0"/>
          <a:chOff x="0" y="0"/>
          <a:chExt cx="0" cy="0"/>
        </a:xfrm>
      </p:grpSpPr>
      <p:sp>
        <p:nvSpPr>
          <p:cNvPr id="1823" name="Google Shape;1823;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4" name="Google Shape;1824;p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825" name="Google Shape;1825;p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2" name="Shape 1832"/>
        <p:cNvGrpSpPr/>
        <p:nvPr/>
      </p:nvGrpSpPr>
      <p:grpSpPr>
        <a:xfrm>
          <a:off x="0" y="0"/>
          <a:ext cx="0" cy="0"/>
          <a:chOff x="0" y="0"/>
          <a:chExt cx="0" cy="0"/>
        </a:xfrm>
      </p:grpSpPr>
      <p:sp>
        <p:nvSpPr>
          <p:cNvPr id="1833" name="Google Shape;1833;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4" name="Google Shape;1834;p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835" name="Google Shape;1835;p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p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845" name="Google Shape;1845;p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2" name="Shape 1852"/>
        <p:cNvGrpSpPr/>
        <p:nvPr/>
      </p:nvGrpSpPr>
      <p:grpSpPr>
        <a:xfrm>
          <a:off x="0" y="0"/>
          <a:ext cx="0" cy="0"/>
          <a:chOff x="0" y="0"/>
          <a:chExt cx="0" cy="0"/>
        </a:xfrm>
      </p:grpSpPr>
      <p:sp>
        <p:nvSpPr>
          <p:cNvPr id="1853" name="Google Shape;1853;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4" name="Google Shape;1854;p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55" name="Google Shape;1855;p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66" name="Google Shape;1866;p1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3" name="Shape 1873"/>
        <p:cNvGrpSpPr/>
        <p:nvPr/>
      </p:nvGrpSpPr>
      <p:grpSpPr>
        <a:xfrm>
          <a:off x="0" y="0"/>
          <a:ext cx="0" cy="0"/>
          <a:chOff x="0" y="0"/>
          <a:chExt cx="0" cy="0"/>
        </a:xfrm>
      </p:grpSpPr>
      <p:sp>
        <p:nvSpPr>
          <p:cNvPr id="1874" name="Google Shape;1874;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5" name="Google Shape;1875;p1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76" name="Google Shape;1876;p1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default ConsoleLifetime already turns SIGTERM into a graceful stop, so Example 21 keeps it and adds the drain as one more hosted service. DrainService implements IHostedLifecycleService, and the host runs every StoppingAsync before any StopAsync. In StoppingAsync the service flips ShutdownState, so the ShutdownHealthCheck behind /readyz answers 503 and the Service stops routing, then waits DRAIN_DELAY_SECONDS (5 s, read through IConfiguration; it plays the part of a preStop sleep) while the endpoint removal propagates; /healthz stays 200 and Kestrel keeps serving. Kestrel then stops accepting and finishes in-flight requests in its StopAsync, all bounded by HostOptions.ShutdownTimeout (20 s here; the default is 30 s). The host disposes the DbContext services and the process exits 0, inside the 30-second grace period. The pattern for other work: one BackgroundService per long-running concern (a Kafka consumer, a scheduler, the Temporal worker from Appendix D, the Streamiz processor from Section 6), each draining in its own StopAsync: consumer.Close() commits offsets and leaves the group, a SignalR hub sends close frames, a Temporal worker shuts down. For the WCF refugees: this is the in-box equivalent of ServiceHost.Close, except that SIGTERM triggers it and the budget is HostOptions.ShutdownTimeout rather than a per-binding timeout. The Kubernetes settings (probes, preStop, grace period) are the platform half of the contract.</a:t>
            </a:r>
            <a:endParaRPr/>
          </a:p>
        </p:txBody>
      </p:sp>
      <p:sp>
        <p:nvSpPr>
          <p:cNvPr id="1887" name="Google Shape;1887;p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7" name="Shape 1897"/>
        <p:cNvGrpSpPr/>
        <p:nvPr/>
      </p:nvGrpSpPr>
      <p:grpSpPr>
        <a:xfrm>
          <a:off x="0" y="0"/>
          <a:ext cx="0" cy="0"/>
          <a:chOff x="0" y="0"/>
          <a:chExt cx="0" cy="0"/>
        </a:xfrm>
      </p:grpSpPr>
      <p:sp>
        <p:nvSpPr>
          <p:cNvPr id="1898" name="Google Shape;1898;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9" name="Google Shape;1899;p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lnSpc>
                <a:spcPct val="100000"/>
              </a:lnSpc>
              <a:spcBef>
                <a:spcPts val="0"/>
              </a:spcBef>
              <a:spcAft>
                <a:spcPts val="0"/>
              </a:spcAft>
              <a:buSzPts val="1400"/>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lnSpc>
                <a:spcPct val="100000"/>
              </a:lnSpc>
              <a:spcBef>
                <a:spcPts val="0"/>
              </a:spcBef>
              <a:spcAft>
                <a:spcPts val="0"/>
              </a:spcAft>
              <a:buSzPts val="1400"/>
              <a:buNone/>
            </a:pPr>
            <a:r>
              <a:rPr lang="en-US"/>
              <a:t>The preStop sleep looks crude, but it is the practical fix for the asynchronous-deregistration race: align it with the probe timing rather than picking an arbitrary number.</a:t>
            </a:r>
            <a:endParaRPr/>
          </a:p>
        </p:txBody>
      </p:sp>
      <p:sp>
        <p:nvSpPr>
          <p:cNvPr id="1900" name="Google Shape;1900;p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0" name="Shape 1910"/>
        <p:cNvGrpSpPr/>
        <p:nvPr/>
      </p:nvGrpSpPr>
      <p:grpSpPr>
        <a:xfrm>
          <a:off x="0" y="0"/>
          <a:ext cx="0" cy="0"/>
          <a:chOff x="0" y="0"/>
          <a:chExt cx="0" cy="0"/>
        </a:xfrm>
      </p:grpSpPr>
      <p:sp>
        <p:nvSpPr>
          <p:cNvPr id="1911" name="Google Shape;1911;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2" name="Google Shape;1912;p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913" name="Google Shape;1913;p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0" name="Shape 1920"/>
        <p:cNvGrpSpPr/>
        <p:nvPr/>
      </p:nvGrpSpPr>
      <p:grpSpPr>
        <a:xfrm>
          <a:off x="0" y="0"/>
          <a:ext cx="0" cy="0"/>
          <a:chOff x="0" y="0"/>
          <a:chExt cx="0" cy="0"/>
        </a:xfrm>
      </p:grpSpPr>
      <p:sp>
        <p:nvSpPr>
          <p:cNvPr id="1921" name="Google Shape;1921;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2" name="Google Shape;1922;p1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a 30-line `dotnet test` integration test with a `kubectl delete pod` step is enough to prove the contract holds.</a:t>
            </a:r>
            <a:endParaRPr/>
          </a:p>
        </p:txBody>
      </p:sp>
      <p:sp>
        <p:nvSpPr>
          <p:cNvPr id="1923" name="Google Shape;1923;p1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0" name="Shape 1930"/>
        <p:cNvGrpSpPr/>
        <p:nvPr/>
      </p:nvGrpSpPr>
      <p:grpSpPr>
        <a:xfrm>
          <a:off x="0" y="0"/>
          <a:ext cx="0" cy="0"/>
          <a:chOff x="0" y="0"/>
          <a:chExt cx="0" cy="0"/>
        </a:xfrm>
      </p:grpSpPr>
      <p:sp>
        <p:nvSpPr>
          <p:cNvPr id="1931" name="Google Shape;1931;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2" name="Google Shape;1932;p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a Confluent.Kafka consumer and NRules, then circle back to east/west, where most decisions happen.</a:t>
            </a:r>
            <a:endParaRPr/>
          </a:p>
        </p:txBody>
      </p:sp>
      <p:sp>
        <p:nvSpPr>
          <p:cNvPr id="1933" name="Google Shape;1933;p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p1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43" name="Google Shape;1943;p1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0" name="Shape 1950"/>
        <p:cNvGrpSpPr/>
        <p:nvPr/>
      </p:nvGrpSpPr>
      <p:grpSpPr>
        <a:xfrm>
          <a:off x="0" y="0"/>
          <a:ext cx="0" cy="0"/>
          <a:chOff x="0" y="0"/>
          <a:chExt cx="0" cy="0"/>
        </a:xfrm>
      </p:grpSpPr>
      <p:sp>
        <p:nvSpPr>
          <p:cNvPr id="1951" name="Google Shape;1951;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2" name="Google Shape;1952;p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953" name="Google Shape;1953;p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p1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964" name="Google Shape;1964;p1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1" name="Shape 1971"/>
        <p:cNvGrpSpPr/>
        <p:nvPr/>
      </p:nvGrpSpPr>
      <p:grpSpPr>
        <a:xfrm>
          <a:off x="0" y="0"/>
          <a:ext cx="0" cy="0"/>
          <a:chOff x="0" y="0"/>
          <a:chExt cx="0" cy="0"/>
        </a:xfrm>
      </p:grpSpPr>
      <p:sp>
        <p:nvSpPr>
          <p:cNvPr id="1972" name="Google Shape;1972;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3" name="Google Shape;1973;p1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YARP),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 a Confluent.Kafka consumer + NRules). Each layer is the right place for a different type of decision; every topic in this appendix maps to one of them.</a:t>
            </a:r>
            <a:endParaRPr/>
          </a:p>
        </p:txBody>
      </p:sp>
      <p:sp>
        <p:nvSpPr>
          <p:cNvPr id="1974" name="Google Shape;1974;p1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2" name="Shape 1982"/>
        <p:cNvGrpSpPr/>
        <p:nvPr/>
      </p:nvGrpSpPr>
      <p:grpSpPr>
        <a:xfrm>
          <a:off x="0" y="0"/>
          <a:ext cx="0" cy="0"/>
          <a:chOff x="0" y="0"/>
          <a:chExt cx="0" cy="0"/>
        </a:xfrm>
      </p:grpSpPr>
      <p:sp>
        <p:nvSpPr>
          <p:cNvPr id="1983" name="Google Shape;198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4" name="Google Shape;1984;p1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985" name="Google Shape;1985;p1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3" name="Shape 1993"/>
        <p:cNvGrpSpPr/>
        <p:nvPr/>
      </p:nvGrpSpPr>
      <p:grpSpPr>
        <a:xfrm>
          <a:off x="0" y="0"/>
          <a:ext cx="0" cy="0"/>
          <a:chOff x="0" y="0"/>
          <a:chExt cx="0" cy="0"/>
        </a:xfrm>
      </p:grpSpPr>
      <p:sp>
        <p:nvSpPr>
          <p:cNvPr id="1994" name="Google Shape;1994;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5" name="Google Shape;1995;p1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YARP are API gateways with plugin ecosystems and a more product-aware feature set; YARP (MIT, from Microsoft) is the .NET-native option — a library you embed in an ASP.NET Core app for full code-level control of routing, transforms and load-balancing.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96" name="Google Shape;1996;p1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3" name="Shape 2003"/>
        <p:cNvGrpSpPr/>
        <p:nvPr/>
      </p:nvGrpSpPr>
      <p:grpSpPr>
        <a:xfrm>
          <a:off x="0" y="0"/>
          <a:ext cx="0" cy="0"/>
          <a:chOff x="0" y="0"/>
          <a:chExt cx="0" cy="0"/>
        </a:xfrm>
      </p:grpSpPr>
      <p:sp>
        <p:nvSpPr>
          <p:cNvPr id="2004" name="Google Shape;2004;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5" name="Google Shape;2005;p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2006" name="Google Shape;2006;p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6" name="Shape 2016"/>
        <p:cNvGrpSpPr/>
        <p:nvPr/>
      </p:nvGrpSpPr>
      <p:grpSpPr>
        <a:xfrm>
          <a:off x="0" y="0"/>
          <a:ext cx="0" cy="0"/>
          <a:chOff x="0" y="0"/>
          <a:chExt cx="0" cy="0"/>
        </a:xfrm>
      </p:grpSpPr>
      <p:sp>
        <p:nvSpPr>
          <p:cNvPr id="2017" name="Google Shape;2017;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8" name="Google Shape;2018;p1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2019" name="Google Shape;2019;p1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9" name="Shape 2029"/>
        <p:cNvGrpSpPr/>
        <p:nvPr/>
      </p:nvGrpSpPr>
      <p:grpSpPr>
        <a:xfrm>
          <a:off x="0" y="0"/>
          <a:ext cx="0" cy="0"/>
          <a:chOff x="0" y="0"/>
          <a:chExt cx="0" cy="0"/>
        </a:xfrm>
      </p:grpSpPr>
      <p:sp>
        <p:nvSpPr>
          <p:cNvPr id="2030" name="Google Shape;2030;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1" name="Google Shape;2031;p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2032" name="Google Shape;2032;p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p1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2045" name="Google Shape;2045;p1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2" name="Shape 2052"/>
        <p:cNvGrpSpPr/>
        <p:nvPr/>
      </p:nvGrpSpPr>
      <p:grpSpPr>
        <a:xfrm>
          <a:off x="0" y="0"/>
          <a:ext cx="0" cy="0"/>
          <a:chOff x="0" y="0"/>
          <a:chExt cx="0" cy="0"/>
        </a:xfrm>
      </p:grpSpPr>
      <p:sp>
        <p:nvSpPr>
          <p:cNvPr id="2053" name="Google Shape;2053;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4" name="Google Shape;2054;p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2055" name="Google Shape;2055;p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3" name="Shape 2063"/>
        <p:cNvGrpSpPr/>
        <p:nvPr/>
      </p:nvGrpSpPr>
      <p:grpSpPr>
        <a:xfrm>
          <a:off x="0" y="0"/>
          <a:ext cx="0" cy="0"/>
          <a:chOff x="0" y="0"/>
          <a:chExt cx="0" cy="0"/>
        </a:xfrm>
      </p:grpSpPr>
      <p:sp>
        <p:nvSpPr>
          <p:cNvPr id="2064" name="Google Shape;2064;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5" name="Google Shape;2065;p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66" name="Google Shape;2066;p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3" name="Shape 2073"/>
        <p:cNvGrpSpPr/>
        <p:nvPr/>
      </p:nvGrpSpPr>
      <p:grpSpPr>
        <a:xfrm>
          <a:off x="0" y="0"/>
          <a:ext cx="0" cy="0"/>
          <a:chOff x="0" y="0"/>
          <a:chExt cx="0" cy="0"/>
        </a:xfrm>
      </p:grpSpPr>
      <p:sp>
        <p:nvSpPr>
          <p:cNvPr id="2074" name="Google Shape;2074;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5" name="Google Shape;2075;p1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76" name="Google Shape;2076;p1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4" name="Shape 2084"/>
        <p:cNvGrpSpPr/>
        <p:nvPr/>
      </p:nvGrpSpPr>
      <p:grpSpPr>
        <a:xfrm>
          <a:off x="0" y="0"/>
          <a:ext cx="0" cy="0"/>
          <a:chOff x="0" y="0"/>
          <a:chExt cx="0" cy="0"/>
        </a:xfrm>
      </p:grpSpPr>
      <p:sp>
        <p:nvSpPr>
          <p:cNvPr id="2085" name="Google Shape;2085;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6" name="Google Shape;2086;p1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87" name="Google Shape;2087;p1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7" name="Shape 2097"/>
        <p:cNvGrpSpPr/>
        <p:nvPr/>
      </p:nvGrpSpPr>
      <p:grpSpPr>
        <a:xfrm>
          <a:off x="0" y="0"/>
          <a:ext cx="0" cy="0"/>
          <a:chOff x="0" y="0"/>
          <a:chExt cx="0" cy="0"/>
        </a:xfrm>
      </p:grpSpPr>
      <p:sp>
        <p:nvSpPr>
          <p:cNvPr id="2098" name="Google Shape;2098;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9" name="Google Shape;2099;p1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100" name="Google Shape;2100;p1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0" name="Shape 2110"/>
        <p:cNvGrpSpPr/>
        <p:nvPr/>
      </p:nvGrpSpPr>
      <p:grpSpPr>
        <a:xfrm>
          <a:off x="0" y="0"/>
          <a:ext cx="0" cy="0"/>
          <a:chOff x="0" y="0"/>
          <a:chExt cx="0" cy="0"/>
        </a:xfrm>
      </p:grpSpPr>
      <p:sp>
        <p:nvSpPr>
          <p:cNvPr id="2111" name="Google Shape;2111;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2" name="Google Shape;2112;p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113" name="Google Shape;2113;p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0" name="Shape 2120"/>
        <p:cNvGrpSpPr/>
        <p:nvPr/>
      </p:nvGrpSpPr>
      <p:grpSpPr>
        <a:xfrm>
          <a:off x="0" y="0"/>
          <a:ext cx="0" cy="0"/>
          <a:chOff x="0" y="0"/>
          <a:chExt cx="0" cy="0"/>
        </a:xfrm>
      </p:grpSpPr>
      <p:sp>
        <p:nvSpPr>
          <p:cNvPr id="2121" name="Google Shape;2121;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2" name="Google Shape;2122;p1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Payload modification as configuration, not code. The URL rewrite cleans up the path before forwarding: public /api/v1/orders becomes internal /orders.</a:t>
            </a:r>
            <a:endParaRPr/>
          </a:p>
          <a:p>
            <a:pPr indent="0" lvl="0" marL="0" rtl="0" algn="l">
              <a:lnSpc>
                <a:spcPct val="100000"/>
              </a:lnSpc>
              <a:spcBef>
                <a:spcPts val="0"/>
              </a:spcBef>
              <a:spcAft>
                <a:spcPts val="0"/>
              </a:spcAft>
              <a:buSzPts val="1400"/>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lnSpc>
                <a:spcPct val="100000"/>
              </a:lnSpc>
              <a:spcBef>
                <a:spcPts val="0"/>
              </a:spcBef>
              <a:spcAft>
                <a:spcPts val="0"/>
              </a:spcAft>
              <a:buSzPts val="1400"/>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123" name="Google Shape;2123;p1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3" name="Shape 2133"/>
        <p:cNvGrpSpPr/>
        <p:nvPr/>
      </p:nvGrpSpPr>
      <p:grpSpPr>
        <a:xfrm>
          <a:off x="0" y="0"/>
          <a:ext cx="0" cy="0"/>
          <a:chOff x="0" y="0"/>
          <a:chExt cx="0" cy="0"/>
        </a:xfrm>
      </p:grpSpPr>
      <p:sp>
        <p:nvSpPr>
          <p:cNvPr id="2134" name="Google Shape;2134;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5" name="Google Shape;2135;p1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Pivot from network-layer routing to in-app routing. The threshold: if the decision fits in a few YAML lines and depends only on the envelope, do it at the mesh. If it depends on the payload, needs a decision table that domain experts edit, or involves many intersecting conditions, push it into the app.</a:t>
            </a:r>
            <a:endParaRPr/>
          </a:p>
          <a:p>
            <a:pPr indent="0" lvl="0" marL="0" rtl="0" algn="l">
              <a:lnSpc>
                <a:spcPct val="100000"/>
              </a:lnSpc>
              <a:spcBef>
                <a:spcPts val="0"/>
              </a:spcBef>
              <a:spcAft>
                <a:spcPts val="0"/>
              </a:spcAft>
              <a:buSzPts val="1400"/>
              <a:buNone/>
            </a:pPr>
            <a:r>
              <a:rPr lang="en-US"/>
              <a:t>The classic example is HL7 healthcare messages, routed by patient class, encounter type and message subtype: dozens of conditions a non-developer maintains. That belongs in a rule engine, not a VirtualService. In-app routing sits behind the mesh and complements it.</a:t>
            </a:r>
            <a:endParaRPr/>
          </a:p>
          <a:p>
            <a:pPr indent="0" lvl="0" marL="0" rtl="0" algn="l">
              <a:lnSpc>
                <a:spcPct val="100000"/>
              </a:lnSpc>
              <a:spcBef>
                <a:spcPts val="0"/>
              </a:spcBef>
              <a:spcAft>
                <a:spcPts val="0"/>
              </a:spcAft>
              <a:buSzPts val="1400"/>
              <a:buNone/>
            </a:pPr>
            <a:r>
              <a:rPr lang="en-US"/>
              <a:t>In .NET the router is a plain Confluent.Kafka consumer (or Wolverine's routing), and NRules (MIT, Rete-based, the same algorithm as Drools) is the open-source decision engine. The rule-based-routing slide shows them together.</a:t>
            </a:r>
            <a:endParaRPr/>
          </a:p>
        </p:txBody>
      </p:sp>
      <p:sp>
        <p:nvSpPr>
          <p:cNvPr id="2136" name="Google Shape;2136;p1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3" name="Shape 2143"/>
        <p:cNvGrpSpPr/>
        <p:nvPr/>
      </p:nvGrpSpPr>
      <p:grpSpPr>
        <a:xfrm>
          <a:off x="0" y="0"/>
          <a:ext cx="0" cy="0"/>
          <a:chOff x="0" y="0"/>
          <a:chExt cx="0" cy="0"/>
        </a:xfrm>
      </p:grpSpPr>
      <p:sp>
        <p:nvSpPr>
          <p:cNvPr id="2144" name="Google Shape;2144;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5" name="Google Shape;2145;p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take on rule-based routing. Inputs arrive over REST, gRPC or Kafka and land in a Confluent.Kafka consumer, which does two things: it enriches the message with context from an HTTP lookup (customer, region, tier), then evaluates the enriched fact in an NRules session.</a:t>
            </a:r>
            <a:endParaRPr/>
          </a:p>
          <a:p>
            <a:pPr indent="0" lvl="0" marL="0" rtl="0" algn="l">
              <a:lnSpc>
                <a:spcPct val="100000"/>
              </a:lnSpc>
              <a:spcBef>
                <a:spcPts val="0"/>
              </a:spcBef>
              <a:spcAft>
                <a:spcPts val="0"/>
              </a:spcAft>
              <a:buSzPts val="1400"/>
              <a:buNone/>
            </a:pPr>
            <a:r>
              <a:rPr lang="en-US"/>
              <a:t>NRules is an MIT-licensed Rete rules engine, the algorithm Drools uses. Rules are C# classes with a fluent Match/Do API, so the IDE catches typos and the test runner runs them, or external NRules.Language files when domain experts edit the rules on their own. The rules set a WhereTo property on the fact, and the consumer dispatches to each destination: a Kafka topic or an HTTP endpoint.</a:t>
            </a:r>
            <a:endParaRPr/>
          </a:p>
          <a:p>
            <a:pPr indent="0" lvl="0" marL="0" rtl="0" algn="l">
              <a:lnSpc>
                <a:spcPct val="100000"/>
              </a:lnSpc>
              <a:spcBef>
                <a:spcPts val="0"/>
              </a:spcBef>
              <a:spcAft>
                <a:spcPts val="0"/>
              </a:spcAft>
              <a:buSzPts val="1400"/>
              <a:buNone/>
            </a:pPr>
            <a:r>
              <a:rPr lang="en-US"/>
              <a:t>Everything runs in the ASP.NET Core Pod, with no separate rule server, behind Istio, which still owns mTLS, retries and locality. The running example keeps the rules in a runtime-editable table instead of NRules; the shape is the same.</a:t>
            </a:r>
            <a:endParaRPr/>
          </a:p>
        </p:txBody>
      </p:sp>
      <p:sp>
        <p:nvSpPr>
          <p:cNvPr id="2146" name="Google Shape;2146;p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4" name="Shape 2154"/>
        <p:cNvGrpSpPr/>
        <p:nvPr/>
      </p:nvGrpSpPr>
      <p:grpSpPr>
        <a:xfrm>
          <a:off x="0" y="0"/>
          <a:ext cx="0" cy="0"/>
          <a:chOff x="0" y="0"/>
          <a:chExt cx="0" cy="0"/>
        </a:xfrm>
      </p:grpSpPr>
      <p:sp>
        <p:nvSpPr>
          <p:cNvPr id="2155" name="Google Shape;2155;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6" name="Google Shape;2156;p1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reading of the Camel and Drools pattern, on Confluent.Kafka. OrderRouter takes an HttpClient for enrichment and destinations, an NRules ISessionFactory, and a producer.</a:t>
            </a:r>
            <a:endParaRPr/>
          </a:p>
          <a:p>
            <a:pPr indent="0" lvl="0" marL="0" rtl="0" algn="l">
              <a:lnSpc>
                <a:spcPct val="100000"/>
              </a:lnSpc>
              <a:spcBef>
                <a:spcPts val="0"/>
              </a:spcBef>
              <a:spcAft>
                <a:spcPts val="0"/>
              </a:spcAft>
              <a:buSzPts val="1400"/>
              <a:buNone/>
            </a:pPr>
            <a:r>
              <a:rPr lang="en-US"/>
              <a:t>The flow: enrich the message by calling customer-svc (attach Polly pipelines through Microsoft.Extensions.Http.Resilience, as in Appendix E); create a session per message, because sessions are not thread-safe; insert the fact and call Fire(), which runs every rule whose pattern matches and sets WhereTo; then dispatch to each destination, producing to a Kafka topic or posting to an HTTP endpoint.</a:t>
            </a:r>
            <a:endParaRPr/>
          </a:p>
          <a:p>
            <a:pPr indent="0" lvl="0" marL="0" rtl="0" algn="l">
              <a:lnSpc>
                <a:spcPct val="100000"/>
              </a:lnSpc>
              <a:spcBef>
                <a:spcPts val="0"/>
              </a:spcBef>
              <a:spcAft>
                <a:spcPts val="0"/>
              </a:spcAft>
              <a:buSzPts val="1400"/>
              <a:buNone/>
            </a:pPr>
            <a:r>
              <a:rPr lang="en-US"/>
              <a:t>NRules.Language, also MIT, parses an external rule file into the same model, so domain experts can change routing without rebuilding the consumer; the NRules rule slide shows the C# class form. The EIP semantics match Apache Camel; the API is C#-native.</a:t>
            </a:r>
            <a:endParaRPr/>
          </a:p>
        </p:txBody>
      </p:sp>
      <p:sp>
        <p:nvSpPr>
          <p:cNvPr id="2157" name="Google Shape;2157;p1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7" name="Shape 2167"/>
        <p:cNvGrpSpPr/>
        <p:nvPr/>
      </p:nvGrpSpPr>
      <p:grpSpPr>
        <a:xfrm>
          <a:off x="0" y="0"/>
          <a:ext cx="0" cy="0"/>
          <a:chOff x="0" y="0"/>
          <a:chExt cx="0" cy="0"/>
        </a:xfrm>
      </p:grpSpPr>
      <p:sp>
        <p:nvSpPr>
          <p:cNvPr id="2168" name="Google Shape;2168;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9" name="Google Shape;2169;p1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NRules rules are 'When/Then' statements, structurally identical to Drools 'when/then'. When().Match&lt;T&gt;() is a pattern match against facts in the working memory (here, OrderFact), with one or more predicates that all must hold. Then().Do() is the action — in our case, setting the WhereTo property the router will consume. Two real rules and a default with Priority -100 (salience equivalent) so it fires last if nothing else matched. The point isn't the syntax: these rules are first-class C# classes (type-safe, refactor-friendly, unit-testable through NRules.Testing) and live in their own .csproj. For domain experts who'd rather work outside C# (closer to the Drools .drl experience), NRules.Language is a separate sub-project that parses an external DSL into the same rule model, so non-developers can edit and redeploy the rule file without rebuilding the consumer. Decision tables: if your rules fit a spreadsheet shape (the DMN sweet spot), the .NET ecosystem doesn't ship a strong open-source DMN runtime; the pragmatic answer is to run Apache KIE (Kogito) DMN as a separate service and call it via REST from the same enrichment step, or implement the table convention in NRules. The toolkit appendix (Appendix J) lists that gap.</a:t>
            </a:r>
            <a:endParaRPr/>
          </a:p>
        </p:txBody>
      </p:sp>
      <p:sp>
        <p:nvSpPr>
          <p:cNvPr id="2170" name="Google Shape;2170;p1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p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183" name="Google Shape;2183;p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3" name="Google Shape;2193;p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94" name="Google Shape;2194;p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1" name="Shape 2201"/>
        <p:cNvGrpSpPr/>
        <p:nvPr/>
      </p:nvGrpSpPr>
      <p:grpSpPr>
        <a:xfrm>
          <a:off x="0" y="0"/>
          <a:ext cx="0" cy="0"/>
          <a:chOff x="0" y="0"/>
          <a:chExt cx="0" cy="0"/>
        </a:xfrm>
      </p:grpSpPr>
      <p:sp>
        <p:nvSpPr>
          <p:cNvPr id="2202" name="Google Shape;2202;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3" name="Google Shape;2203;p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204" name="Google Shape;2204;p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2" name="Shape 2212"/>
        <p:cNvGrpSpPr/>
        <p:nvPr/>
      </p:nvGrpSpPr>
      <p:grpSpPr>
        <a:xfrm>
          <a:off x="0" y="0"/>
          <a:ext cx="0" cy="0"/>
          <a:chOff x="0" y="0"/>
          <a:chExt cx="0" cy="0"/>
        </a:xfrm>
      </p:grpSpPr>
      <p:sp>
        <p:nvSpPr>
          <p:cNvPr id="2213" name="Google Shape;2213;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4" name="Google Shape;2214;p2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215" name="Google Shape;2215;p2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2" name="Shape 2222"/>
        <p:cNvGrpSpPr/>
        <p:nvPr/>
      </p:nvGrpSpPr>
      <p:grpSpPr>
        <a:xfrm>
          <a:off x="0" y="0"/>
          <a:ext cx="0" cy="0"/>
          <a:chOff x="0" y="0"/>
          <a:chExt cx="0" cy="0"/>
        </a:xfrm>
      </p:grpSpPr>
      <p:sp>
        <p:nvSpPr>
          <p:cNvPr id="2223" name="Google Shape;2223;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4" name="Google Shape;2224;p2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225" name="Google Shape;2225;p2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2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238" name="Google Shape;2238;p2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5" name="Shape 2245"/>
        <p:cNvGrpSpPr/>
        <p:nvPr/>
      </p:nvGrpSpPr>
      <p:grpSpPr>
        <a:xfrm>
          <a:off x="0" y="0"/>
          <a:ext cx="0" cy="0"/>
          <a:chOff x="0" y="0"/>
          <a:chExt cx="0" cy="0"/>
        </a:xfrm>
      </p:grpSpPr>
      <p:sp>
        <p:nvSpPr>
          <p:cNvPr id="2246" name="Google Shape;2246;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7" name="Google Shape;2247;p2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48" name="Google Shape;2248;p2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p2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plus the NRules samples. The architecture itself is language-neutral — the same pattern lives behind any service-mesh stack in any language; we've just made it concrete in .NET.</a:t>
            </a:r>
            <a:endParaRPr/>
          </a:p>
        </p:txBody>
      </p:sp>
      <p:sp>
        <p:nvSpPr>
          <p:cNvPr id="2258" name="Google Shape;2258;p2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J is the reference appendix — the tables you keep open in another window while you build. Three diagrams: every NuGet library in your csproj, every cloud-native platform component your Pods rely on, and an expanded version of the Section 1 bridge diagram with concrete migration rationale. Then the gaps in the .NET cloud-native story, and a short closing recipe to start a new cloud-native service. Built specifically for the .NET-developers-moving-from-Windows audience this whole deck is aimed at.</a:t>
            </a:r>
            <a:endParaRPr/>
          </a:p>
        </p:txBody>
      </p:sp>
      <p:sp>
        <p:nvSpPr>
          <p:cNvPr id="2268" name="Google Shape;2268;p2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5" name="Shape 2275"/>
        <p:cNvGrpSpPr/>
        <p:nvPr/>
      </p:nvGrpSpPr>
      <p:grpSpPr>
        <a:xfrm>
          <a:off x="0" y="0"/>
          <a:ext cx="0" cy="0"/>
          <a:chOff x="0" y="0"/>
          <a:chExt cx="0" cy="0"/>
        </a:xfrm>
      </p:grpSpPr>
      <p:sp>
        <p:nvSpPr>
          <p:cNvPr id="2276" name="Google Shape;227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7" name="Google Shape;2277;p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application-side bill of materials: every NuGet library used in the deck, grouped by concern, each MIT, Apache 2.0 or BSD-3, with no commercial-only dependency and no cloud-only service.</a:t>
            </a:r>
            <a:endParaRPr/>
          </a:p>
          <a:p>
            <a:pPr indent="0" lvl="0" marL="0" rtl="0" algn="l">
              <a:lnSpc>
                <a:spcPct val="100000"/>
              </a:lnSpc>
              <a:spcBef>
                <a:spcPts val="0"/>
              </a:spcBef>
              <a:spcAft>
                <a:spcPts val="0"/>
              </a:spcAft>
              <a:buSzPts val="1400"/>
              <a:buNone/>
            </a:pPr>
            <a:r>
              <a:rPr lang="en-US"/>
              <a:t>Highlights: Microsoft.AspNetCore.OpenApi and SignalR are part of ASP.NET Core 10; Confluent.Kafka 2.16.0 is the Kafka client for every producer and consumer, chosen because it keeps the Kafka semantics visible (MassTransit was dropped: it hides those semantics and moved to a commercial license in version 9); Streamiz.Kafka.Net 1.8.2 is the Kafka Streams model in .NET, so windowed aggregations need no Flink cluster; Temporalio pairs with the Temporal Server for durable workflows; Stateless covers the lightweight state-machine slot; NRules covers rules; YARP and Wolverine appear where they fit.</a:t>
            </a:r>
            <a:endParaRPr/>
          </a:p>
          <a:p>
            <a:pPr indent="0" lvl="0" marL="0" rtl="0" algn="l">
              <a:lnSpc>
                <a:spcPct val="100000"/>
              </a:lnSpc>
              <a:spcBef>
                <a:spcPts val="0"/>
              </a:spcBef>
              <a:spcAft>
                <a:spcPts val="0"/>
              </a:spcAft>
              <a:buSzPts val="1400"/>
              <a:buNone/>
            </a:pPr>
            <a:r>
              <a:rPr lang="en-US"/>
              <a:t>The running examples pin every package exactly on .NET 10.0.12: OpenTelemetry 1.19.1, EF Core 10.0.12 with Npgsql.EntityFrameworkCore.PostgreSQL 10.0.3, HybridCache 10.10.0, Grpc 2.84.0, StackExchange.Redis 3.4.0, HotChocolate 16.6.8, OpenFeature 2.14.1. Everything runs on plain Kubernetes; nothing requires a cloud-specific service.</a:t>
            </a:r>
            <a:endParaRPr/>
          </a:p>
        </p:txBody>
      </p:sp>
      <p:sp>
        <p:nvSpPr>
          <p:cNvPr id="2278" name="Google Shape;2278;p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6" name="Shape 2286"/>
        <p:cNvGrpSpPr/>
        <p:nvPr/>
      </p:nvGrpSpPr>
      <p:grpSpPr>
        <a:xfrm>
          <a:off x="0" y="0"/>
          <a:ext cx="0" cy="0"/>
          <a:chOff x="0" y="0"/>
          <a:chExt cx="0" cy="0"/>
        </a:xfrm>
      </p:grpSpPr>
      <p:sp>
        <p:nvSpPr>
          <p:cNvPr id="2287" name="Google Shape;2287;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8" name="Google Shape;2288;p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bill of materials. These components are what your .NET Pods talk to — the substrate the cluster provides. None of them know or care that your services happen to be .NET; the same stack would serve a Spring Boot, Quarkus or Python deployment identically. That's the point: the .NET library choices in the toolkit table are entirely separable from the platform choices on this one. If you're already running this platform with a Java or Python application, you can drop .NET services in alongside without changing anything under the application layer. A few callouts: Strimzi is the Kubernetes-native Kafka operator (open-source, Apache 2.0); Apicurio is the open-source schema registry that holds your OpenAPI / .proto / Avro contracts; OpenMetadata is the asset-catalog/lineage tool; LGTM (Tempo + Mimir + Loki + Grafana) is Grafana Labs' open-source observability stack (note the AGPL-3.0 licensing if that's a concern for you); PostgreSQL is the primary OLTP store; Redis (or its BSD-licensed Valkey fork) is the SignalR backplane and distributed-lock substrate; Temporal Server pairs with the Temporal .NET SDK from the application stack. The bottom line: standard cloud-native stack, your .NET Pods are just one workload type running on it.</a:t>
            </a:r>
            <a:endParaRPr/>
          </a:p>
        </p:txBody>
      </p:sp>
      <p:sp>
        <p:nvSpPr>
          <p:cNvPr id="2289" name="Google Shape;2289;p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7" name="Shape 2297"/>
        <p:cNvGrpSpPr/>
        <p:nvPr/>
      </p:nvGrpSpPr>
      <p:grpSpPr>
        <a:xfrm>
          <a:off x="0" y="0"/>
          <a:ext cx="0" cy="0"/>
          <a:chOff x="0" y="0"/>
          <a:chExt cx="0" cy="0"/>
        </a:xfrm>
      </p:grpSpPr>
      <p:sp>
        <p:nvSpPr>
          <p:cNvPr id="2298" name="Google Shape;2298;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9" name="Google Shape;2299;p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expanded version of the bridge diagram from Cloud-Native Principles, a 22-row table with four columns: the concern, what you came from in the Windows world, what it becomes in the cloud-native world, and what changes most. Read the rightmost column first; that is where the architectural shift lives.</a:t>
            </a:r>
            <a:endParaRPr/>
          </a:p>
          <a:p>
            <a:pPr indent="0" lvl="0" marL="0" rtl="0" algn="l">
              <a:lnSpc>
                <a:spcPct val="100000"/>
              </a:lnSpc>
              <a:spcBef>
                <a:spcPts val="0"/>
              </a:spcBef>
              <a:spcAft>
                <a:spcPts val="0"/>
              </a:spcAft>
              <a:buSzPts val="1400"/>
              <a:buNone/>
            </a:pPr>
            <a:r>
              <a:rPr lang="en-US"/>
              <a:t>Almost every row keeps the shape of the pattern (request handlers, background workers, scheduled jobs, distributed locks, health checks, configuration, telemetry) and changes who owns the substrate. IIS owned the host; Kubernetes does now. MSDTC owned distributed transactions; the saga and outbox do. MSMQ owned messaging; Kafka with Confluent.Kafka does. Active Directory owned service identity; SPIFFE and mTLS through Istio do. Performance counters and the Event Log owned telemetry; OpenTelemetry with Loki, Tempo and Mimir does.</a:t>
            </a:r>
            <a:endParaRPr/>
          </a:p>
          <a:p>
            <a:pPr indent="0" lvl="0" marL="0" rtl="0" algn="l">
              <a:lnSpc>
                <a:spcPct val="100000"/>
              </a:lnSpc>
              <a:spcBef>
                <a:spcPts val="0"/>
              </a:spcBef>
              <a:spcAft>
                <a:spcPts val="0"/>
              </a:spcAft>
              <a:buSzPts val="1400"/>
              <a:buNone/>
            </a:pPr>
            <a:r>
              <a:rPr lang="en-US"/>
              <a:t>Two rows are conceptual rewrites, not substrate swaps. COM+ and MSDTC distributed transactions become sagas, with compensations written explicitly because there is no two-phase commit across services. BizTalk orchestration becomes a Temporal workflow or a Kafka consumer with NRules routing: orchestration is C# in your repository, not an artifact in a separate runtime.</a:t>
            </a:r>
            <a:endParaRPr/>
          </a:p>
        </p:txBody>
      </p:sp>
      <p:sp>
        <p:nvSpPr>
          <p:cNvPr id="2300" name="Google Shape;2300;p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8" name="Shape 2308"/>
        <p:cNvGrpSpPr/>
        <p:nvPr/>
      </p:nvGrpSpPr>
      <p:grpSpPr>
        <a:xfrm>
          <a:off x="0" y="0"/>
          <a:ext cx="0" cy="0"/>
          <a:chOff x="0" y="0"/>
          <a:chExt cx="0" cy="0"/>
        </a:xfrm>
      </p:grpSpPr>
      <p:sp>
        <p:nvSpPr>
          <p:cNvPr id="2309" name="Google Shape;2309;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0" name="Google Shape;2310;p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ecosystem has gaps; naming them keeps trust. (1) DMN: the closest open-source option in .NET is a decision-table convention on top of NRules; for spreadsheet authoring, decision-table semantics and the FEEL expression language, run Apache KIE (Kogito) as a separate service.</a:t>
            </a:r>
            <a:endParaRPr/>
          </a:p>
          <a:p>
            <a:pPr indent="0" lvl="0" marL="0" rtl="0" algn="l">
              <a:lnSpc>
                <a:spcPct val="100000"/>
              </a:lnSpc>
              <a:spcBef>
                <a:spcPts val="0"/>
              </a:spcBef>
              <a:spcAft>
                <a:spcPts val="0"/>
              </a:spcAft>
              <a:buSzPts val="1400"/>
              <a:buNone/>
            </a:pPr>
            <a:r>
              <a:rPr lang="en-US"/>
              <a:t>(2) Camel breadth: Apache Camel has about 300 components, from HL7 over MLLP to FTP and mainframe gateways. An integration shop with heavy mainframe, EDI or HL7 needs may run Camel in a JVM Pod and call it from .NET. (3) Streamiz scale: it works well, but its maintainer count and ecosystem are smaller than Kafka Streams'; if streams are central, plan for that.</a:t>
            </a:r>
            <a:endParaRPr/>
          </a:p>
          <a:p>
            <a:pPr indent="0" lvl="0" marL="0" rtl="0" algn="l">
              <a:lnSpc>
                <a:spcPct val="100000"/>
              </a:lnSpc>
              <a:spcBef>
                <a:spcPts val="0"/>
              </a:spcBef>
              <a:spcAft>
                <a:spcPts val="0"/>
              </a:spcAft>
              <a:buSzPts val="1400"/>
              <a:buNone/>
            </a:pPr>
            <a:r>
              <a:rPr lang="en-US"/>
              <a:t>(4) DI: Microsoft.Extensions.DependencyInjection is simple enough that complex patterns sometimes want Autofac. (5) Licensing moves: MediatR and MassTransit both moved to commercial licenses; many teams pick Wolverine (MIT) to replace MediatR, and this deck uses Confluent.Kafka directly instead of MassTransit. For LOB and SaaS workloads these gaps rarely bite; for integration platforms or heavy stream processing, plan for a polyglot runtime.</a:t>
            </a:r>
            <a:endParaRPr/>
          </a:p>
        </p:txBody>
      </p:sp>
      <p:sp>
        <p:nvSpPr>
          <p:cNvPr id="2311" name="Google Shape;2311;p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8" name="Shape 2318"/>
        <p:cNvGrpSpPr/>
        <p:nvPr/>
      </p:nvGrpSpPr>
      <p:grpSpPr>
        <a:xfrm>
          <a:off x="0" y="0"/>
          <a:ext cx="0" cy="0"/>
          <a:chOff x="0" y="0"/>
          <a:chExt cx="0" cy="0"/>
        </a:xfrm>
      </p:grpSpPr>
      <p:sp>
        <p:nvSpPr>
          <p:cNvPr id="2319" name="Google Shape;2319;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0" name="Google Shape;2320;p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an opinionated recipe. The order of the five steps is the point: instrument first (factor XI and observability), then choose the protocol surface (avoid the one-of-each trap), then settle data ownership (outbox plus DbContext), then choose the workflow tier (Temporal or Stateless), then deploy with the cluster doing the heavy lifting.</a:t>
            </a:r>
            <a:endParaRPr/>
          </a:p>
          <a:p>
            <a:pPr indent="0" lvl="0" marL="0" rtl="0" algn="l">
              <a:lnSpc>
                <a:spcPct val="100000"/>
              </a:lnSpc>
              <a:spcBef>
                <a:spcPts val="0"/>
              </a:spcBef>
              <a:spcAft>
                <a:spcPts val="0"/>
              </a:spcAft>
              <a:buSzPts val="1400"/>
              <a:buNone/>
            </a:pPr>
            <a:r>
              <a:rPr lang="en-US"/>
              <a:t>The six-library sub-bullet is the one to leave up: a new .NET cloud-native service that starts with those packages, on the platform stack from the platform table, has most of the patterns in this deck working from day one. SignalR, Streamiz, NRules and HotChocolate are opt-in per workload. The audience leaves with a recipe and the reference tables.</a:t>
            </a:r>
            <a:endParaRPr/>
          </a:p>
        </p:txBody>
      </p:sp>
      <p:sp>
        <p:nvSpPr>
          <p:cNvPr id="2321" name="Google Shape;2321;p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8" name="Shape 2328"/>
        <p:cNvGrpSpPr/>
        <p:nvPr/>
      </p:nvGrpSpPr>
      <p:grpSpPr>
        <a:xfrm>
          <a:off x="0" y="0"/>
          <a:ext cx="0" cy="0"/>
          <a:chOff x="0" y="0"/>
          <a:chExt cx="0" cy="0"/>
        </a:xfrm>
      </p:grpSpPr>
      <p:sp>
        <p:nvSpPr>
          <p:cNvPr id="2329" name="Google Shape;2329;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0" name="Google Shape;2330;p2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ASP.NET Core 10 + typed HttpClients (IHttpClientFactory) + StackExchange.Redis + Confluent.Kafka, but the patterns are language-neutral.</a:t>
            </a:r>
            <a:endParaRPr/>
          </a:p>
        </p:txBody>
      </p:sp>
      <p:sp>
        <p:nvSpPr>
          <p:cNvPr id="2331" name="Google Shape;2331;p2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8" name="Shape 2338"/>
        <p:cNvGrpSpPr/>
        <p:nvPr/>
      </p:nvGrpSpPr>
      <p:grpSpPr>
        <a:xfrm>
          <a:off x="0" y="0"/>
          <a:ext cx="0" cy="0"/>
          <a:chOff x="0" y="0"/>
          <a:chExt cx="0" cy="0"/>
        </a:xfrm>
      </p:grpSpPr>
      <p:sp>
        <p:nvSpPr>
          <p:cNvPr id="2339" name="Google Shape;2339;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0" name="Google Shape;2340;p2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Define the term before fixing it. A monolith is not a code-organisation problem — it's a deployment-organisation property. Even a well-organised ASP.NET Core codebase with clear Controllers, Services, and 1000 unit tests is a monolith if it ships as one image on one heartbeat. The defining property: change anywhere, redeploy everything; a bug in Reporting can take down Payments; one scaling unit for workloads that scale differently. Monoliths are not always wrong. For new products, small teams, or anything that fits in one team's head, they're often the simplest and fastest path to value — especially with .NET 10's fast cold-start. Premature decomposition is its own anti-pattern. The conversation is: when does this monolith start hurting more than it helps?</a:t>
            </a:r>
            <a:endParaRPr/>
          </a:p>
        </p:txBody>
      </p:sp>
      <p:sp>
        <p:nvSpPr>
          <p:cNvPr id="2341" name="Google Shape;2341;p2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9" name="Shape 2349"/>
        <p:cNvGrpSpPr/>
        <p:nvPr/>
      </p:nvGrpSpPr>
      <p:grpSpPr>
        <a:xfrm>
          <a:off x="0" y="0"/>
          <a:ext cx="0" cy="0"/>
          <a:chOff x="0" y="0"/>
          <a:chExt cx="0" cy="0"/>
        </a:xfrm>
      </p:grpSpPr>
      <p:sp>
        <p:nvSpPr>
          <p:cNvPr id="2350" name="Google Shape;2350;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1" name="Google Shape;2351;p2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intermediate pattern that's often the right destination, not a stepping stone. Modules within one .NET process have clear public APIs and private internals that other modules cannot reach. In the .NET world, enforcement uses multi-project solutions: each module is a separate .csproj with explicit ProjectReference graphs in CI — ArchUnitNET tests the dependency rules. .NET 8+ also added internal-by-default semantics for new project templates which helps enforce module-internal types. The .NET ecosystem doesn't ship a runtime module-graph framework out of the box, but the discipline is identical — separate projects, internal types per assembly, ArchUnitNET in CI. Modules can share a database, but each owns a schema and no cross-schema joins are allowed.</a:t>
            </a:r>
            <a:endParaRPr/>
          </a:p>
        </p:txBody>
      </p:sp>
      <p:sp>
        <p:nvSpPr>
          <p:cNvPr id="2352" name="Google Shape;2352;p2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0" name="Shape 2360"/>
        <p:cNvGrpSpPr/>
        <p:nvPr/>
      </p:nvGrpSpPr>
      <p:grpSpPr>
        <a:xfrm>
          <a:off x="0" y="0"/>
          <a:ext cx="0" cy="0"/>
          <a:chOff x="0" y="0"/>
          <a:chExt cx="0" cy="0"/>
        </a:xfrm>
      </p:grpSpPr>
      <p:sp>
        <p:nvSpPr>
          <p:cNvPr id="2361" name="Google Shape;2361;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2" name="Google Shape;2362;p2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Splitting the database is the hard part of decomposition. Do that work while you're still one .NET process. Each module gets its own EF Core DbContext, its own DataSource, its own EF Migrations history. ASP.NET Core makes this clean — multiple AddDbContext&lt;TContext&gt; registrations in Program.cs, each pointing at its own connection string from configuration (appsettings.json sections or environment variables), each module's repositories typed against the right DbContext. Cross-module data is now async or event-driven (an in-process event dispatcher such as Wolverine for module events, Confluent.Kafka for cross-service events). Once this is done, promoting a module to a separate service is a refactor of the deployment topology, not a data-migration project.</a:t>
            </a:r>
            <a:endParaRPr/>
          </a:p>
        </p:txBody>
      </p:sp>
      <p:sp>
        <p:nvSpPr>
          <p:cNvPr id="2363" name="Google Shape;2363;p2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1" name="Shape 2371"/>
        <p:cNvGrpSpPr/>
        <p:nvPr/>
      </p:nvGrpSpPr>
      <p:grpSpPr>
        <a:xfrm>
          <a:off x="0" y="0"/>
          <a:ext cx="0" cy="0"/>
          <a:chOff x="0" y="0"/>
          <a:chExt cx="0" cy="0"/>
        </a:xfrm>
      </p:grpSpPr>
      <p:sp>
        <p:nvSpPr>
          <p:cNvPr id="2372" name="Google Shape;2372;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3" name="Google Shape;2373;p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Martin Fowler strangler-fig pattern. The three steps you repeat. Identify: pick a bounded asset — 'order creation' or 'order status query' specifically. The smaller the better. Move: build the new ASP.NET Core service alongside the monolith, replicate the behaviour, test it in parallel without production traffic (often by shadowing reads through the new service and comparing outputs in a side-by-side test harness). REDIRECT: switch callers to the new service. Each cycle is independently reversible — if the new service is wrong, redirect back. There are three ways to do the redirect: via a proxy, via a proxy plus partial routing, or via a shared database.</a:t>
            </a:r>
            <a:endParaRPr/>
          </a:p>
        </p:txBody>
      </p:sp>
      <p:sp>
        <p:nvSpPr>
          <p:cNvPr id="2374" name="Google Shape;2374;p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2" name="Shape 2382"/>
        <p:cNvGrpSpPr/>
        <p:nvPr/>
      </p:nvGrpSpPr>
      <p:grpSpPr>
        <a:xfrm>
          <a:off x="0" y="0"/>
          <a:ext cx="0" cy="0"/>
          <a:chOff x="0" y="0"/>
          <a:chExt cx="0" cy="0"/>
        </a:xfrm>
      </p:grpSpPr>
      <p:sp>
        <p:nvSpPr>
          <p:cNvPr id="2383" name="Google Shape;2383;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4" name="Google Shape;2384;p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pre-condition for incremental migration: clients hit the proxy, the proxy forwards to the monolith. Day zero, behaviour is unchanged. But you now have the lever — the proxy is where you'll later route 1% of /orders/* traffic to the extracted .NET service, then 5%, then 100%. Without this step, every cutover is a coordinated client release. With it, every cutover is a proxy config change. For .NET deployments this is typically nginx, Envoy, or Istio gateway as a Kubernetes Service ahead of your application Pods — or YARP (the Microsoft-built reverse proxy library, MIT licensed) as an in-app gateway if you prefer C# control of routing.</a:t>
            </a:r>
            <a:endParaRPr/>
          </a:p>
        </p:txBody>
      </p:sp>
      <p:sp>
        <p:nvSpPr>
          <p:cNvPr id="2385" name="Google Shape;2385;p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3" name="Shape 2393"/>
        <p:cNvGrpSpPr/>
        <p:nvPr/>
      </p:nvGrpSpPr>
      <p:grpSpPr>
        <a:xfrm>
          <a:off x="0" y="0"/>
          <a:ext cx="0" cy="0"/>
          <a:chOff x="0" y="0"/>
          <a:chExt cx="0" cy="0"/>
        </a:xfrm>
      </p:grpSpPr>
      <p:sp>
        <p:nvSpPr>
          <p:cNvPr id="2394" name="Google Shape;2394;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5" name="Google Shape;2395;p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proxy is what makes this work: by path, by header (X-Tenant: acme), by percentage (1% canary), or by feature flag (Microsoft.FeatureManagement). The new ASP.NET Core service handles its slice; the monolith handles everything else. Clients still see one URL. Roll forward by widening; roll back by narrowing. The new service can fail completely and the monolith picks up — bounded blast radius is the whole point. Instrument both paths via OpenTelemetry so you can verify the new service produces the same outcomes as the monolith before widening. For .NET deployments this typically lives in Istio VirtualService rules, nginx server blocks, or YARP RouteConfig + cluster predicates.</a:t>
            </a:r>
            <a:endParaRPr/>
          </a:p>
        </p:txBody>
      </p:sp>
      <p:sp>
        <p:nvSpPr>
          <p:cNvPr id="2396" name="Google Shape;2396;p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Sometimes the data split is too risky to do at the same time as the process split. The new .NET service and the monolith share a database for a while. Both apps read and write the same tables; the new service owns the API but not the data. Useful for extracting reads first, or as a stepping stone. It is an intermediate state, not a destination: every EF Core migration now needs both apps to agree, and the coordination tax grows. The next step is to give the new service its own store: CDC out of the monolith's DB into the new service's via Debezium (running as a Kafka Connect connector), or dual-writing during a brief sync window, or event-sourcing the data into the new service via Marten / EventStore.</a:t>
            </a:r>
            <a:endParaRPr/>
          </a:p>
        </p:txBody>
      </p:sp>
      <p:sp>
        <p:nvSpPr>
          <p:cNvPr id="2407" name="Google Shape;2407;p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Three named HttpClients registered via IHttpClientFactory — the canonical pattern for managed HttpClient lifetimes in ASP.NET Core (per-request socket reuse, DNS refresh, Polly resilience policies, OpenTelemetry instrumentation all attach here). The minimal API reads the body as a JsonObject (System.Text.Json), inspects payload fields, and uses a C# switch expression to pick the upstream. PostAsJsonAsync is the one-line serialize+POST. The decision is by payload content: tenant, region, feature flag — not URL pattern. For .NET running behind a real proxy (nginx, Envoy, Istio, YARP), express the same logic in Lua / WASM filters at the gateway. The CPU cost of body parsing is the only real downside — over months it adds up; over a migration window of weeks it's irrelevant compared to the risk control it buys. Add Polly resilience pipelines (Microsoft.Extensions.Http.Resilience) on the AddHttpClient lines for retry / circuit-breaker / timeout on the upstream calls.</a:t>
            </a:r>
            <a:endParaRPr/>
          </a:p>
        </p:txBody>
      </p:sp>
      <p:sp>
        <p:nvSpPr>
          <p:cNvPr id="2418" name="Google Shape;2418;p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 from the proxy patterns: the decorator owns behaviour, not only routing. The new ASP.NET Core service sits in front of the legacy API and adds cross-cutting capability: a Redis cache, Kafka events with Confluent.Kafka, audit logging, validation, enrichment, rate limiting, OpenTelemetry metrics. The legacy service is unaware.</a:t>
            </a:r>
            <a:endParaRPr/>
          </a:p>
          <a:p>
            <a:pPr indent="0" lvl="0" marL="0" rtl="0" algn="l">
              <a:lnSpc>
                <a:spcPct val="100000"/>
              </a:lnSpc>
              <a:spcBef>
                <a:spcPts val="0"/>
              </a:spcBef>
              <a:spcAft>
                <a:spcPts val="0"/>
              </a:spcAft>
              <a:buSzPts val="1400"/>
              <a:buNone/>
            </a:pPr>
            <a:r>
              <a:rPr lang="en-US"/>
              <a:t>Clients talk to the decorator's API, which delegates the underlying work and contributes everything else. It is most useful when the legacy system is a third-party product, a vendor system, or fragile code you may not touch. The decorator is a full .NET microservice with its own deploy, scaling and data; the running example builds it on StackExchange.Redis and Confluent.Kafka.</a:t>
            </a:r>
            <a:endParaRPr/>
          </a:p>
        </p:txBody>
      </p:sp>
      <p:sp>
        <p:nvSpPr>
          <p:cNvPr id="2431" name="Google Shape;2431;p2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running example's decorator: an ASP.NET Core minimal API in front of the legacy /orders API, with StackExchange.Redis for the cache and Confluent.Kafka for events.</a:t>
            </a:r>
            <a:endParaRPr/>
          </a:p>
          <a:p>
            <a:pPr indent="0" lvl="0" marL="0" rtl="0" algn="l">
              <a:lnSpc>
                <a:spcPct val="100000"/>
              </a:lnSpc>
              <a:spcBef>
                <a:spcPts val="0"/>
              </a:spcBef>
              <a:spcAft>
                <a:spcPts val="0"/>
              </a:spcAft>
              <a:buSzPts val="1400"/>
              <a:buNone/>
            </a:pPr>
            <a:r>
              <a:rPr lang="en-US"/>
              <a:t>The GET path is cache-aside: try Redis, fall back to the legacy service on a miss, populate the key with a 60-second TTL. The POST path delegates to the legacy service, which stays the source of truth, then produces order.placed and deletes the cached entry so the next read is fresh.</a:t>
            </a:r>
            <a:endParaRPr/>
          </a:p>
          <a:p>
            <a:pPr indent="0" lvl="0" marL="0" rtl="0" algn="l">
              <a:lnSpc>
                <a:spcPct val="100000"/>
              </a:lnSpc>
              <a:spcBef>
                <a:spcPts val="0"/>
              </a:spcBef>
              <a:spcAft>
                <a:spcPts val="0"/>
              </a:spcAft>
              <a:buSzPts val="1400"/>
              <a:buNone/>
            </a:pPr>
            <a:r>
              <a:rPr lang="en-US"/>
              <a:t>The legacy service has no idea it is wrapped. Over time you move more behaviour into the decorator (validation, idempotency keys, deduplication, multi-source reads); when the legacy service retires, the decorator owns the storage and the API clients see does not change.</a:t>
            </a:r>
            <a:endParaRPr/>
          </a:p>
        </p:txBody>
      </p:sp>
      <p:sp>
        <p:nvSpPr>
          <p:cNvPr id="2442" name="Google Shape;2442;p2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the decision rules. The first point is the most important and most often skipped — with multi-project solutions and good build discipline, a modular monolith is frequently a fine destination. Microservices have real operational cost. The second point is the most underrated: the database split is where projects get stuck for years; do it early, while still one .NET process. The third point: no proxy, no incremental migration. The fourth: shared-database strangler is OK as a means but never as an end. The bold final line is the architectural take-home: design for reversibility, so every step is a config change you can undo without coordinating a release. Migrations fail when they reach an irreversible step too early.</a:t>
            </a:r>
            <a:endParaRPr/>
          </a:p>
        </p:txBody>
      </p:sp>
      <p:sp>
        <p:nvSpPr>
          <p:cNvPr id="2455" name="Google Shape;2455;p2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2" name="Shape 2462"/>
        <p:cNvGrpSpPr/>
        <p:nvPr/>
      </p:nvGrpSpPr>
      <p:grpSpPr>
        <a:xfrm>
          <a:off x="0" y="0"/>
          <a:ext cx="0" cy="0"/>
          <a:chOff x="0" y="0"/>
          <a:chExt cx="0" cy="0"/>
        </a:xfrm>
      </p:grpSpPr>
      <p:sp>
        <p:nvSpPr>
          <p:cNvPr id="2463" name="Google Shape;2463;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4" name="Google Shape;2464;p2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 same patterns apply to in-memory caches or any KV store. Code uses IDistributedCache (Microsoft.Extensions.Caching.StackExchangeRedis) for the standard patterns, IConnectionMultiplexer (StackExchange.Redis) for advanced operations, and HybridCache (Microsoft.Extensions.Caching.Hybrid) for the read-through pattern.</a:t>
            </a:r>
            <a:endParaRPr/>
          </a:p>
        </p:txBody>
      </p:sp>
      <p:sp>
        <p:nvSpPr>
          <p:cNvPr id="2465" name="Google Shape;2465;p2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2" name="Shape 2472"/>
        <p:cNvGrpSpPr/>
        <p:nvPr/>
      </p:nvGrpSpPr>
      <p:grpSpPr>
        <a:xfrm>
          <a:off x="0" y="0"/>
          <a:ext cx="0" cy="0"/>
          <a:chOff x="0" y="0"/>
          <a:chExt cx="0" cy="0"/>
        </a:xfrm>
      </p:grpSpPr>
      <p:sp>
        <p:nvSpPr>
          <p:cNvPr id="2473" name="Google Shape;2473;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4" name="Google Shape;2474;p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Five concrete reasons that justify the caching investment. Application performance is the user-facing win. Backend load matters more in steady state — shielding the database is what lets your DB tier stay smaller. Throughput follows from both. Predictable performance flattens p99. Database cost often pays for the caching infrastructure. The sub-bullet is what trips teams up: every cache adds complexity; pick the pattern that matches the consistency you need.</a:t>
            </a:r>
            <a:endParaRPr/>
          </a:p>
        </p:txBody>
      </p:sp>
      <p:sp>
        <p:nvSpPr>
          <p:cNvPr id="2475" name="Google Shape;2475;p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2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everyone starts with. The ASP.NET Core application is in charge: try IDistributedCache first, on a miss query EF Core, populate the cache on the way back, return. Every other pattern in this appendix differs in who does the work. Pros: explicit, debuggable, no magic. Cons: every read has the if/else; cache miss costs two round trips; cache logic is repeated across services if you don't extract it. The TTL is the consistency knob — longer = fewer DB hits, more stale-read risk. Use when you want explicit control and reads dominate writes.</a:t>
            </a:r>
            <a:endParaRPr/>
          </a:p>
        </p:txBody>
      </p:sp>
      <p:sp>
        <p:nvSpPr>
          <p:cNvPr id="2485" name="Google Shape;2485;p2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3" name="Shape 2493"/>
        <p:cNvGrpSpPr/>
        <p:nvPr/>
      </p:nvGrpSpPr>
      <p:grpSpPr>
        <a:xfrm>
          <a:off x="0" y="0"/>
          <a:ext cx="0" cy="0"/>
          <a:chOff x="0" y="0"/>
          <a:chExt cx="0" cy="0"/>
        </a:xfrm>
      </p:grpSpPr>
      <p:sp>
        <p:nvSpPr>
          <p:cNvPr id="2494" name="Google Shape;2494;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5" name="Google Shape;2495;p2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Cache-aside as Example 25 runs it: the handler owns the three steps on a StackExchange.Redis client, because the steps are the lesson. SafeCacheGet and SafeCacheSet swallow Redis failures, so a Redis outage falls back to the EF Core query and the read still works (the verify script stops Redis to prove it). The handler tries the cache first, queries EF Core on a miss, populates the cache with a 60-second TTL and tags the answer with its source. The PUT path updates the row with ExecuteUpdateAsync and then removes the cache entry: invalidate-on-write. IDistributedCache is the Microsoft.Extensions.Caching abstraction behind HybridCache on the read-through slide, which adds typed access and stampede protection. For high-cardinality keys, configure Redis with maxmemory-policy allkeys-lru so the cache doesn't grow unbounded.</a:t>
            </a:r>
            <a:endParaRPr/>
          </a:p>
        </p:txBody>
      </p:sp>
      <p:sp>
        <p:nvSpPr>
          <p:cNvPr id="2496" name="Google Shape;2496;p2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variation where the cache library, not the application, calls the database on a miss. HybridCache (Microsoft.Extensions.Caching.Hybrid, MIT) is the in-box answer: it gives you GetOrCreateAsync with a factory function (the loader), built-in stampede protection and L1+L2 layering (in-memory plus a distributed cache such as Redis). Pros: cleaner application code, single read interface, built-in protection from cache stampedes (no thundering herd). Cons: you're adding a library; less control over what triggers a DB hit. Use when read paths are repetitive and you want declarative caching with safety nets. Alternative with more features: FusionCache (MIT, open-source) adds fail-safe stale fallback, eager refresh and a backplane.</a:t>
            </a:r>
            <a:endParaRPr/>
          </a:p>
        </p:txBody>
      </p:sp>
      <p:sp>
        <p:nvSpPr>
          <p:cNvPr id="2509" name="Google Shape;2509;p2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7" name="Shape 2517"/>
        <p:cNvGrpSpPr/>
        <p:nvPr/>
      </p:nvGrpSpPr>
      <p:grpSpPr>
        <a:xfrm>
          <a:off x="0" y="0"/>
          <a:ext cx="0" cy="0"/>
          <a:chOff x="0" y="0"/>
          <a:chExt cx="0" cy="0"/>
        </a:xfrm>
      </p:grpSpPr>
      <p:sp>
        <p:nvSpPr>
          <p:cNvPr id="2518" name="Google Shape;251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9" name="Google Shape;2519;p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HybridCache (Microsoft.Extensions.Caching.Hybrid, MIT) is the in-box answer for declarative read-through caching: a two-level cache with an in-process L1 and any IDistributedCache as L2, here Redis through AddStackExchangeRedisCache. The registration sets a 60-second expiry for both levels. The endpoint calls GetOrCreateAsync with a loader that runs only on a cache miss, and HybridCache's built-in concurrency control ensures that if 100 concurrent requests hit the same missing key, the loader runs once and the other 99 await the result: no thundering herd. The loader also sets a flag, so the response reports source db for the request that loaded the value and cache for the others. A missing product returns null, which the endpoint removes from the cache again so a later insert is visible at once. When Redis is unreachable, HybridCache logs the L2 failure and still runs the loader. The trade against a hand-written cache-aside: a library dependency, in exchange for typed values, serialization and stampede protection. Alternative: FusionCache (MIT) adds fail-safe stale fallback, eager refresh and a backplane for multi-Pod L1 invalidation.</a:t>
            </a:r>
            <a:endParaRPr/>
          </a:p>
        </p:txBody>
      </p:sp>
      <p:sp>
        <p:nvSpPr>
          <p:cNvPr id="2520" name="Google Shape;2520;p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0" name="Shape 2530"/>
        <p:cNvGrpSpPr/>
        <p:nvPr/>
      </p:nvGrpSpPr>
      <p:grpSpPr>
        <a:xfrm>
          <a:off x="0" y="0"/>
          <a:ext cx="0" cy="0"/>
          <a:chOff x="0" y="0"/>
          <a:chExt cx="0" cy="0"/>
        </a:xfrm>
      </p:grpSpPr>
      <p:sp>
        <p:nvSpPr>
          <p:cNvPr id="2531" name="Google Shape;2531;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2" name="Google Shape;2532;p2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stale reads are not acceptable, write-through forces every write to update both stores. The ASP.NET Core handler calls SaveChangesAsync on the DbContext and SetStringAsync on the cache; both must succeed. Pros: a read immediately after a write sees the new value. Cons: write latency is the sum of both stores; you have to handle the case where the cache write succeeds but the DB write fails (or vice versa). The discipline: write the DB first inside a SaveChanges call, write the cache second, accept that a failure between them leaves a brief inconsistency. Short TTL self-heals.</a:t>
            </a:r>
            <a:endParaRPr/>
          </a:p>
        </p:txBody>
      </p:sp>
      <p:sp>
        <p:nvSpPr>
          <p:cNvPr id="2533" name="Google Shape;2533;p2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p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write-through flavours. The first is Example 25: update the row through EF Core, read it back, then SET the cache with the new value (set, not remove — the difference between write-through and cache-aside-with-invalidate). The second uses FusionCache.SetAsync, which has a significant advantage in multi-Pod deployments: FusionCache's backplane (Redis pub/sub by default) automatically invalidates the L1 (in-memory) cache on all other Pods when one Pod writes — critical because each Pod's L1 cache otherwise has its own stale view. For mission-critical durability, consider transactional outbox: write the cache invalidation event to an outbox table inside the SaveChanges transaction, then Debezium drains it to Kafka, then a consumer invalidates the cache — this guarantees the cache invalidation happens iff the DB transaction commits, at the cost of a brief invalidation delay.</a:t>
            </a:r>
            <a:endParaRPr/>
          </a:p>
        </p:txBody>
      </p:sp>
      <p:sp>
        <p:nvSpPr>
          <p:cNvPr id="2544" name="Google Shape;2544;p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4" name="Shape 2554"/>
        <p:cNvGrpSpPr/>
        <p:nvPr/>
      </p:nvGrpSpPr>
      <p:grpSpPr>
        <a:xfrm>
          <a:off x="0" y="0"/>
          <a:ext cx="0" cy="0"/>
          <a:chOff x="0" y="0"/>
          <a:chExt cx="0" cy="0"/>
        </a:xfrm>
      </p:grpSpPr>
      <p:sp>
        <p:nvSpPr>
          <p:cNvPr id="2555" name="Google Shape;2555;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6" name="Google Shape;2556;p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HybridCache.GetOrCreateAsync on the read side. Common use: any 'append-only' or 'mostly-written' workload — audit entries, IoT telemetry.</a:t>
            </a:r>
            <a:endParaRPr/>
          </a:p>
        </p:txBody>
      </p:sp>
      <p:sp>
        <p:nvSpPr>
          <p:cNvPr id="2557" name="Google Shape;2557;p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5" name="Shape 2565"/>
        <p:cNvGrpSpPr/>
        <p:nvPr/>
      </p:nvGrpSpPr>
      <p:grpSpPr>
        <a:xfrm>
          <a:off x="0" y="0"/>
          <a:ext cx="0" cy="0"/>
          <a:chOff x="0" y="0"/>
          <a:chExt cx="0" cy="0"/>
        </a:xfrm>
      </p:grpSpPr>
      <p:sp>
        <p:nvSpPr>
          <p:cNvPr id="2566" name="Google Shape;2566;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7" name="Google Shape;2567;p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Write-around: the POST writes to the database only and leaves the cache alone; the GET is plain cache-aside, so the first read after a write populates the cache.</a:t>
            </a:r>
            <a:endParaRPr/>
          </a:p>
          <a:p>
            <a:pPr indent="0" lvl="0" marL="0" rtl="0" algn="l">
              <a:lnSpc>
                <a:spcPct val="100000"/>
              </a:lnSpc>
              <a:spcBef>
                <a:spcPts val="0"/>
              </a:spcBef>
              <a:spcAft>
                <a:spcPts val="0"/>
              </a:spcAft>
              <a:buSzPts val="1400"/>
              <a:buNone/>
            </a:pPr>
            <a:r>
              <a:rPr lang="en-US"/>
              <a:t>The pattern fits workloads with a high write-to-re-read ratio. A security event log might take 10,000 writes a minute and 100 reads a day for active alerts; caching every write would only churn entries. Compare a product catalog, where every read is a likely hit and write-through makes more sense because readers should see the writer's update at once.</a:t>
            </a:r>
            <a:endParaRPr/>
          </a:p>
        </p:txBody>
      </p:sp>
      <p:sp>
        <p:nvSpPr>
          <p:cNvPr id="2568" name="Google Shape;2568;p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8" name="Shape 2578"/>
        <p:cNvGrpSpPr/>
        <p:nvPr/>
      </p:nvGrpSpPr>
      <p:grpSpPr>
        <a:xfrm>
          <a:off x="0" y="0"/>
          <a:ext cx="0" cy="0"/>
          <a:chOff x="0" y="0"/>
          <a:chExt cx="0" cy="0"/>
        </a:xfrm>
      </p:grpSpPr>
      <p:sp>
        <p:nvSpPr>
          <p:cNvPr id="2579" name="Google Shape;2579;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0" name="Google Shape;2580;p2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fastest-write pattern, with the most caveats. The ASP.NET Core handler writes to Redis and returns immediately — the cache is the source of truth for that window. A background flusher drains the cache to the DB, batching writes for efficiency. Pros: write latency equals cache latency — microseconds, not milliseconds; massive throughput. Cons: a cache crash before the flusher catches up loses unflushed writes; Redis must be configured for persistence (AOF or RDB), and even then you might lose seconds of data. Use only when (a) write throughput is the constraint, (b) eventual durability is acceptable, and (c) you've thought about what 'lost the last 5 seconds of writes' means for your business.</a:t>
            </a:r>
            <a:endParaRPr/>
          </a:p>
        </p:txBody>
      </p:sp>
      <p:sp>
        <p:nvSpPr>
          <p:cNvPr id="2581" name="Google Shape;2581;p2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9" name="Shape 2589"/>
        <p:cNvGrpSpPr/>
        <p:nvPr/>
      </p:nvGrpSpPr>
      <p:grpSpPr>
        <a:xfrm>
          <a:off x="0" y="0"/>
          <a:ext cx="0" cy="0"/>
          <a:chOff x="0" y="0"/>
          <a:chExt cx="0" cy="0"/>
        </a:xfrm>
      </p:grpSpPr>
      <p:sp>
        <p:nvSpPr>
          <p:cNvPr id="2590" name="Google Shape;2590;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1" name="Google Shape;2591;p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Write-back in .NET, as Example 25 runs it. PUT /write-back/metrics/{mid} writes the metric fields to a Redis hash, adds the id to a 'dirty set' that tells the flusher what to drain, and answers 202 Accepted in microseconds: the value is queued, not yet durable. The flusher is a BackgroundService registered with AddHostedService, so the host starts it and cancels it on shutdown; each cycle SPOPs up to 100 dirty ids at once. SPOP is the right primitive: it removes and returns elements in one call, so two flusher instances would each get a distinct subset of ids and horizontal scale works. Each id is upserted with one ExecuteSqlAsync statement, INSERT ... ON CONFLICT (id) DO UPDATE, so an id flushed twice stays one row. An id whose upsert fails is re-queued: HashIncrementAsync counts its attempts in metric:attempts and it goes back on the dirty set, or, after five attempts, onto metric:failed with its value still in the cache and the failure in the log; the loop then waits two, four and at most eight seconds between runs.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592" name="Google Shape;2592;p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2" name="Shape 2602"/>
        <p:cNvGrpSpPr/>
        <p:nvPr/>
      </p:nvGrpSpPr>
      <p:grpSpPr>
        <a:xfrm>
          <a:off x="0" y="0"/>
          <a:ext cx="0" cy="0"/>
          <a:chOff x="0" y="0"/>
          <a:chExt cx="0" cy="0"/>
        </a:xfrm>
      </p:grpSpPr>
      <p:sp>
        <p:nvSpPr>
          <p:cNvPr id="2603" name="Google Shape;2603;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4" name="Google Shape;2604;p2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for eliminating the cache-miss latency cliff on popular keys. Plain cache-aside has a sharp behaviour: while a key is cached, reads are fast; the moment its TTL expires, the next reader pays the slow DB-fetch path. Refresh-ahead pre-empts this: a BackgroundService watches the cache (or maintains a Redis sorted set of 'hot' keys) and refreshes their values from the DB before the TTL fires. Users always read warm cache. Pros: no user-visible misses on hot keys. Cons: extra DB load for keys that may not be requested again. FusionCache also has 'eager refresh' as a built-in feature — set EagerRefreshThreshold and it'll refresh on access when a value is close to expiry.</a:t>
            </a:r>
            <a:endParaRPr/>
          </a:p>
        </p:txBody>
      </p:sp>
      <p:sp>
        <p:nvSpPr>
          <p:cNvPr id="2605" name="Google Shape;2605;p2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3" name="Shape 2613"/>
        <p:cNvGrpSpPr/>
        <p:nvPr/>
      </p:nvGrpSpPr>
      <p:grpSpPr>
        <a:xfrm>
          <a:off x="0" y="0"/>
          <a:ext cx="0" cy="0"/>
          <a:chOff x="0" y="0"/>
          <a:chExt cx="0" cy="0"/>
        </a:xfrm>
      </p:grpSpPr>
      <p:sp>
        <p:nvSpPr>
          <p:cNvPr id="2614" name="Google Shape;2614;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5" name="Google Shape;2615;p2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approaches. Approach 1 uses an explicit sorted-set (ZADD) to track hot keys, scored by last-access timestamp. The FindAsync method touches the hot-set on every read. A HotKeyRefresher : BackgroundService runs every 5 seconds: removes keys not accessed in 5 minutes, then for each remaining hot key checks its TTL via KeyTimeToLiveAsync, refreshes if TTL is below 10 seconds. Use DistributedLock.NET around the refresh loop if you want only one Pod refreshing at a time. Approach 2 is simpler: FusionCache has a built-in 'eager refresh' feature — set SetEagerRefresh(0.8f) and FusionCache will trigger an async background refresh when a value is accessed and has used 80% of its TTL. The user-facing read still returns the cached value (no waiting); the refresh happens in the background. Most production .NET shops use Approach 2 — it's one line of config and FusionCache handles all the locking and stampede prevention. This pattern shines for read-heavy workloads where a small set of keys serves most traffic and miss latency is user-visible.</a:t>
            </a:r>
            <a:endParaRPr/>
          </a:p>
        </p:txBody>
      </p:sp>
      <p:sp>
        <p:nvSpPr>
          <p:cNvPr id="2616" name="Google Shape;2616;p2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p2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things that go wrong with caching. The first point is the most important: caching is a complexity tax, only worth paying when reads hurt. The second is the profile-first rule. The third is operational. The fourth is the cache stampede problem — HybridCache collapses concurrent misses within each Pod out of the box; across Pods, use DistributedLock.NET. The fifth is the most common stale-data bug. The bold final line is the architecturally important one: the cache is never the source of truth. If Redis dies, you must serve slower reads, not return errors. Test this by killing Redis in staging.</a:t>
            </a:r>
            <a:endParaRPr/>
          </a:p>
        </p:txBody>
      </p:sp>
      <p:sp>
        <p:nvSpPr>
          <p:cNvPr id="2629" name="Google Shape;2629;p2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6" name="Shape 2636"/>
        <p:cNvGrpSpPr/>
        <p:nvPr/>
      </p:nvGrpSpPr>
      <p:grpSpPr>
        <a:xfrm>
          <a:off x="0" y="0"/>
          <a:ext cx="0" cy="0"/>
          <a:chOff x="0" y="0"/>
          <a:chExt cx="0" cy="0"/>
        </a:xfrm>
      </p:grpSpPr>
      <p:sp>
        <p:nvSpPr>
          <p:cNvPr id="2637" name="Google Shape;2637;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8" name="Google Shape;2638;p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Decision rules. HybridCache over the Redis IDistributedCache is the in-box stack: read-through with stampede protection via GetOrCreateAsync, write-through via SetAsync. FusionCache is the alternative when you need fail-safe stale fallback, eager refresh or a backplane for multi-Pod L1 invalidation. Drop to IDistributedCache directly when you want full control. Write-around for telemetry. Write-back is the niche extreme-throughput pattern. The bold final line is the take-home: don't pick one pattern as 'the' cache strategy; choose per read path.</a:t>
            </a:r>
            <a:endParaRPr/>
          </a:p>
        </p:txBody>
      </p:sp>
      <p:sp>
        <p:nvSpPr>
          <p:cNvPr id="2639" name="Google Shape;2639;p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2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649" name="Google Shape;2649;p2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6" name="Shape 2656"/>
        <p:cNvGrpSpPr/>
        <p:nvPr/>
      </p:nvGrpSpPr>
      <p:grpSpPr>
        <a:xfrm>
          <a:off x="0" y="0"/>
          <a:ext cx="0" cy="0"/>
          <a:chOff x="0" y="0"/>
          <a:chExt cx="0" cy="0"/>
        </a:xfrm>
      </p:grpSpPr>
      <p:sp>
        <p:nvSpPr>
          <p:cNvPr id="2657" name="Google Shape;2657;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8" name="Google Shape;2658;p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659" name="Google Shape;2659;p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6" name="Shape 2666"/>
        <p:cNvGrpSpPr/>
        <p:nvPr/>
      </p:nvGrpSpPr>
      <p:grpSpPr>
        <a:xfrm>
          <a:off x="0" y="0"/>
          <a:ext cx="0" cy="0"/>
          <a:chOff x="0" y="0"/>
          <a:chExt cx="0" cy="0"/>
        </a:xfrm>
      </p:grpSpPr>
      <p:sp>
        <p:nvSpPr>
          <p:cNvPr id="2667" name="Google Shape;2667;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8" name="Google Shape;2668;p2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669" name="Google Shape;2669;p2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7" name="Shape 2677"/>
        <p:cNvGrpSpPr/>
        <p:nvPr/>
      </p:nvGrpSpPr>
      <p:grpSpPr>
        <a:xfrm>
          <a:off x="0" y="0"/>
          <a:ext cx="0" cy="0"/>
          <a:chOff x="0" y="0"/>
          <a:chExt cx="0" cy="0"/>
        </a:xfrm>
      </p:grpSpPr>
      <p:sp>
        <p:nvSpPr>
          <p:cNvPr id="2678" name="Google Shape;2678;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9" name="Google Shape;2679;p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680" name="Google Shape;2680;p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8" name="Shape 2688"/>
        <p:cNvGrpSpPr/>
        <p:nvPr/>
      </p:nvGrpSpPr>
      <p:grpSpPr>
        <a:xfrm>
          <a:off x="0" y="0"/>
          <a:ext cx="0" cy="0"/>
          <a:chOff x="0" y="0"/>
          <a:chExt cx="0" cy="0"/>
        </a:xfrm>
      </p:grpSpPr>
      <p:sp>
        <p:nvSpPr>
          <p:cNvPr id="2689" name="Google Shape;2689;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0" name="Google Shape;2690;p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691" name="Google Shape;2691;p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9" name="Shape 2699"/>
        <p:cNvGrpSpPr/>
        <p:nvPr/>
      </p:nvGrpSpPr>
      <p:grpSpPr>
        <a:xfrm>
          <a:off x="0" y="0"/>
          <a:ext cx="0" cy="0"/>
          <a:chOff x="0" y="0"/>
          <a:chExt cx="0" cy="0"/>
        </a:xfrm>
      </p:grpSpPr>
      <p:sp>
        <p:nvSpPr>
          <p:cNvPr id="2700" name="Google Shape;2700;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1" name="Google Shape;2701;p2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702" name="Google Shape;2702;p2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0" name="Shape 2710"/>
        <p:cNvGrpSpPr/>
        <p:nvPr/>
      </p:nvGrpSpPr>
      <p:grpSpPr>
        <a:xfrm>
          <a:off x="0" y="0"/>
          <a:ext cx="0" cy="0"/>
          <a:chOff x="0" y="0"/>
          <a:chExt cx="0" cy="0"/>
        </a:xfrm>
      </p:grpSpPr>
      <p:sp>
        <p:nvSpPr>
          <p:cNvPr id="2711" name="Google Shape;2711;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2" name="Google Shape;2712;p2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713" name="Google Shape;2713;p2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1" name="Shape 2721"/>
        <p:cNvGrpSpPr/>
        <p:nvPr/>
      </p:nvGrpSpPr>
      <p:grpSpPr>
        <a:xfrm>
          <a:off x="0" y="0"/>
          <a:ext cx="0" cy="0"/>
          <a:chOff x="0" y="0"/>
          <a:chExt cx="0" cy="0"/>
        </a:xfrm>
      </p:grpSpPr>
      <p:sp>
        <p:nvSpPr>
          <p:cNvPr id="2722" name="Google Shape;2722;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3" name="Google Shape;2723;p2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724" name="Google Shape;2724;p2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2" name="Shape 2732"/>
        <p:cNvGrpSpPr/>
        <p:nvPr/>
      </p:nvGrpSpPr>
      <p:grpSpPr>
        <a:xfrm>
          <a:off x="0" y="0"/>
          <a:ext cx="0" cy="0"/>
          <a:chOff x="0" y="0"/>
          <a:chExt cx="0" cy="0"/>
        </a:xfrm>
      </p:grpSpPr>
      <p:sp>
        <p:nvSpPr>
          <p:cNvPr id="2733" name="Google Shape;2733;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4" name="Google Shape;2734;p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735" name="Google Shape;2735;p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3" name="Shape 2743"/>
        <p:cNvGrpSpPr/>
        <p:nvPr/>
      </p:nvGrpSpPr>
      <p:grpSpPr>
        <a:xfrm>
          <a:off x="0" y="0"/>
          <a:ext cx="0" cy="0"/>
          <a:chOff x="0" y="0"/>
          <a:chExt cx="0" cy="0"/>
        </a:xfrm>
      </p:grpSpPr>
      <p:sp>
        <p:nvSpPr>
          <p:cNvPr id="2744" name="Google Shape;2744;p2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5" name="Google Shape;2745;p2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746" name="Google Shape;2746;p2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3" name="Shape 2753"/>
        <p:cNvGrpSpPr/>
        <p:nvPr/>
      </p:nvGrpSpPr>
      <p:grpSpPr>
        <a:xfrm>
          <a:off x="0" y="0"/>
          <a:ext cx="0" cy="0"/>
          <a:chOff x="0" y="0"/>
          <a:chExt cx="0" cy="0"/>
        </a:xfrm>
      </p:grpSpPr>
      <p:sp>
        <p:nvSpPr>
          <p:cNvPr id="2754" name="Google Shape;2754;p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5" name="Google Shape;2755;p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756" name="Google Shape;2756;p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4" name="Shape 2764"/>
        <p:cNvGrpSpPr/>
        <p:nvPr/>
      </p:nvGrpSpPr>
      <p:grpSpPr>
        <a:xfrm>
          <a:off x="0" y="0"/>
          <a:ext cx="0" cy="0"/>
          <a:chOff x="0" y="0"/>
          <a:chExt cx="0" cy="0"/>
        </a:xfrm>
      </p:grpSpPr>
      <p:sp>
        <p:nvSpPr>
          <p:cNvPr id="2765" name="Google Shape;2765;p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6" name="Google Shape;2766;p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layers, from examples/26. A named Polly v8 pipeline with a 2-second timeout strategy wraps the typed BackendClient call; when it fires, Polly cancels the request and throws TimeoutRejectedException, which the endpoint turns into a timeout answer. The deadline endpoint bounds its call with a CancellationTokenSource set to the caller's remaining budget and sends that number in the X-Deadline-Ms header, so the backend can refuse work it cannot finish.</a:t>
            </a:r>
            <a:endParaRPr/>
          </a:p>
        </p:txBody>
      </p:sp>
      <p:sp>
        <p:nvSpPr>
          <p:cNvPr id="2767" name="Google Shape;2767;p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6" name="Shape 2776"/>
        <p:cNvGrpSpPr/>
        <p:nvPr/>
      </p:nvGrpSpPr>
      <p:grpSpPr>
        <a:xfrm>
          <a:off x="0" y="0"/>
          <a:ext cx="0" cy="0"/>
          <a:chOff x="0" y="0"/>
          <a:chExt cx="0" cy="0"/>
        </a:xfrm>
      </p:grpSpPr>
      <p:sp>
        <p:nvSpPr>
          <p:cNvPr id="2777" name="Google Shape;2777;p2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8" name="Google Shape;2778;p2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779" name="Google Shape;2779;p2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2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2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 through Microsoft.Extensions.Http.Resilience: AddResiliencePipeline registers a named pipeline in DI, and HttpRetryStrategyOptions already knows which HTTP outcomes are transient (5xx, 408, 429, connection failures, timeouts). Two retries after the first attempt, exponential backoff from 100 ms with jitter, capped at 2 seconds; the timeout strategy inside the retry gives each attempt its own 2 seconds. The callback counts its own invocations, which is how the example reports attempts.</a:t>
            </a:r>
            <a:endParaRPr/>
          </a:p>
        </p:txBody>
      </p:sp>
      <p:sp>
        <p:nvSpPr>
          <p:cNvPr id="2790" name="Google Shape;2790;p2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9" name="Shape 2799"/>
        <p:cNvGrpSpPr/>
        <p:nvPr/>
      </p:nvGrpSpPr>
      <p:grpSpPr>
        <a:xfrm>
          <a:off x="0" y="0"/>
          <a:ext cx="0" cy="0"/>
          <a:chOff x="0" y="0"/>
          <a:chExt cx="0" cy="0"/>
        </a:xfrm>
      </p:grpSpPr>
      <p:sp>
        <p:nvSpPr>
          <p:cNvPr id="2800" name="Google Shape;2800;p2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1" name="Google Shape;2801;p2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802" name="Google Shape;2802;p2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0" name="Shape 2810"/>
        <p:cNvGrpSpPr/>
        <p:nvPr/>
      </p:nvGrpSpPr>
      <p:grpSpPr>
        <a:xfrm>
          <a:off x="0" y="0"/>
          <a:ext cx="0" cy="0"/>
          <a:chOff x="0" y="0"/>
          <a:chExt cx="0" cy="0"/>
        </a:xfrm>
      </p:grpSpPr>
      <p:sp>
        <p:nvSpPr>
          <p:cNvPr id="2811" name="Google Shape;2811;p2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2" name="Google Shape;2812;p2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circuit breaker with the HTTP options from Microsoft.Extensions.Http.Resilience: at least five calls in the sampling window and a failure ratio of one open it for ten seconds, and the next call after that is the trial that decides. While it is open the pipeline throws BrokenCircuitException without calling the backend, and the endpoint answers from its fallback. A CircuitBreakerStateProvider passed in the options exposes the state for the breaker-state endpoint. One pipeline per dependency.</a:t>
            </a:r>
            <a:endParaRPr/>
          </a:p>
        </p:txBody>
      </p:sp>
      <p:sp>
        <p:nvSpPr>
          <p:cNvPr id="2813" name="Google Shape;2813;p2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2" name="Shape 2822"/>
        <p:cNvGrpSpPr/>
        <p:nvPr/>
      </p:nvGrpSpPr>
      <p:grpSpPr>
        <a:xfrm>
          <a:off x="0" y="0"/>
          <a:ext cx="0" cy="0"/>
          <a:chOff x="0" y="0"/>
          <a:chExt cx="0" cy="0"/>
        </a:xfrm>
      </p:grpSpPr>
      <p:sp>
        <p:nvSpPr>
          <p:cNvPr id="2823" name="Google Shape;2823;p2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24" name="Google Shape;2824;p2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825" name="Google Shape;2825;p2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2" name="Shape 2832"/>
        <p:cNvGrpSpPr/>
        <p:nvPr/>
      </p:nvGrpSpPr>
      <p:grpSpPr>
        <a:xfrm>
          <a:off x="0" y="0"/>
          <a:ext cx="0" cy="0"/>
          <a:chOff x="0" y="0"/>
          <a:chExt cx="0" cy="0"/>
        </a:xfrm>
      </p:grpSpPr>
      <p:sp>
        <p:nvSpPr>
          <p:cNvPr id="2833" name="Google Shape;2833;p2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4" name="Google Shape;2834;p2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835" name="Google Shape;2835;p2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2" name="Shape 2842"/>
        <p:cNvGrpSpPr/>
        <p:nvPr/>
      </p:nvGrpSpPr>
      <p:grpSpPr>
        <a:xfrm>
          <a:off x="0" y="0"/>
          <a:ext cx="0" cy="0"/>
          <a:chOff x="0" y="0"/>
          <a:chExt cx="0" cy="0"/>
        </a:xfrm>
      </p:grpSpPr>
      <p:sp>
        <p:nvSpPr>
          <p:cNvPr id="2843" name="Google Shape;2843;p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4" name="Google Shape;2844;p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845" name="Google Shape;2845;p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3" name="Shape 2853"/>
        <p:cNvGrpSpPr/>
        <p:nvPr/>
      </p:nvGrpSpPr>
      <p:grpSpPr>
        <a:xfrm>
          <a:off x="0" y="0"/>
          <a:ext cx="0" cy="0"/>
          <a:chOff x="0" y="0"/>
          <a:chExt cx="0" cy="0"/>
        </a:xfrm>
      </p:grpSpPr>
      <p:sp>
        <p:nvSpPr>
          <p:cNvPr id="2854" name="Google Shape;2854;p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5" name="Google Shape;2855;p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application half of graceful shutdown, from the running example's .NET order-service. The default ConsoleLifetime turns the single SIGTERM into a graceful stop, and DrainService, a hosted service, runs first: its StoppingAsync flips a flag so /readyz answers 503 and Kubernetes takes the Pod out of the Service, while /healthz stays 200 so the kubelet does not restart a Pod that is winding down.</a:t>
            </a:r>
            <a:endParaRPr/>
          </a:p>
          <a:p>
            <a:pPr indent="0" lvl="0" marL="0" rtl="0" algn="l">
              <a:lnSpc>
                <a:spcPct val="100000"/>
              </a:lnSpc>
              <a:spcBef>
                <a:spcPts val="0"/>
              </a:spcBef>
              <a:spcAft>
                <a:spcPts val="0"/>
              </a:spcAft>
              <a:buSzPts val="1400"/>
              <a:buNone/>
            </a:pPr>
            <a:r>
              <a:rPr lang="en-US"/>
              <a:t>New requests get 503. After DRAIN_DELAY_SECONDS StoppingAsync returns and Kestrel stops accepting and finishes in-flight requests within HostOptions.ShutdownTimeout (20 s), the host disposes its services and the process exits 0, inside terminationGracePeriodSeconds. Appendix H covers the hosted-service drain hooks, the preStop hook and the grace period.</a:t>
            </a:r>
            <a:endParaRPr/>
          </a:p>
        </p:txBody>
      </p:sp>
      <p:sp>
        <p:nvSpPr>
          <p:cNvPr id="2856" name="Google Shape;2856;p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5" name="Shape 2865"/>
        <p:cNvGrpSpPr/>
        <p:nvPr/>
      </p:nvGrpSpPr>
      <p:grpSpPr>
        <a:xfrm>
          <a:off x="0" y="0"/>
          <a:ext cx="0" cy="0"/>
          <a:chOff x="0" y="0"/>
          <a:chExt cx="0" cy="0"/>
        </a:xfrm>
      </p:grpSpPr>
      <p:sp>
        <p:nvSpPr>
          <p:cNvPr id="2866" name="Google Shape;2866;p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67" name="Google Shape;2867;p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868" name="Google Shape;2868;p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5" name="Shape 2875"/>
        <p:cNvGrpSpPr/>
        <p:nvPr/>
      </p:nvGrpSpPr>
      <p:grpSpPr>
        <a:xfrm>
          <a:off x="0" y="0"/>
          <a:ext cx="0" cy="0"/>
          <a:chOff x="0" y="0"/>
          <a:chExt cx="0" cy="0"/>
        </a:xfrm>
      </p:grpSpPr>
      <p:sp>
        <p:nvSpPr>
          <p:cNvPr id="2876" name="Google Shape;2876;p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7" name="Google Shape;2877;p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878" name="Google Shape;2878;p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6" name="Shape 2886"/>
        <p:cNvGrpSpPr/>
        <p:nvPr/>
      </p:nvGrpSpPr>
      <p:grpSpPr>
        <a:xfrm>
          <a:off x="0" y="0"/>
          <a:ext cx="0" cy="0"/>
          <a:chOff x="0" y="0"/>
          <a:chExt cx="0" cy="0"/>
        </a:xfrm>
      </p:grpSpPr>
      <p:sp>
        <p:nvSpPr>
          <p:cNvPr id="2887" name="Google Shape;2887;p2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8" name="Google Shape;2888;p2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889" name="Google Shape;2889;p2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Appendix P is for the audience moving from .NET Framework on Windows: what the runtime does on Linux, what replaces IIS, and what ships in the container. Four parts: the platform and the language, compilation and the runtime, Kestrel, and the container image.</a:t>
            </a:r>
          </a:p>
          <a:p>
            <a:r>
              <a:t>It is reference material; pull it up when someone asks what changes when Windows goes away.</a:t>
            </a:r>
          </a:p>
        </p:txBody>
      </p:sp>
      <p:sp>
        <p:nvSpPr>
          <p:cNvPr id="4" name="Slide Number Placeholder 3"/>
          <p:cNvSpPr>
            <a:spLocks noGrp="1"/>
          </p:cNvSpPr>
          <p:nvPr>
            <p:ph type="sldNum" idx="12"/>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 is the language, .NET is the platform. C#, F# and VB.NET all compile to the same intermediate language; the platform is the CoreCLR runtime, the Base Class Library, the Roslyn compiler, NuGet and the dotnet CLI, cross-platform since .NET 5.</a:t>
            </a:r>
          </a:p>
          <a:p>
            <a:r>
              <a:t>A .csproj targets a platform version, net10.0, not a language version, because the platform version decides which APIs exist. The examples target .NET 10.0.12 with SDK 10.0.112, and the C# version follows from the SDK. Keeping the two words apart avoids design confusion: the runtime is language-agnostic.</a:t>
            </a:r>
          </a:p>
        </p:txBody>
      </p:sp>
      <p:sp>
        <p:nvSpPr>
          <p:cNvPr id="4" name="Slide Number Placeholder 3"/>
          <p:cNvSpPr>
            <a:spLocks noGrp="1"/>
          </p:cNvSpPr>
          <p:nvPr>
            <p:ph type="sldNum" idx="12"/>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compilation pipeline. Roslyn compiles C# to CIL bytecode in an assembly; dotnet build and dotnet publish produce .dll files, not native executables. At run time RyuJIT compiles each method to native x86-64 or ARM64 code on its first call, and tiered compilation recompiles hot methods with more optimization.</a:t>
            </a:r>
          </a:p>
          <a:p>
            <a:r>
              <a:t>The practical consequence: start-up pays a JIT cost, and steady-state code runs as native code. NativeAOT trades that start-up cost for restrictions on dynamic code; the CoreCLR slide covers it.</a:t>
            </a:r>
          </a:p>
        </p:txBody>
      </p:sp>
      <p:sp>
        <p:nvSpPr>
          <p:cNvPr id="4" name="Slide Number Placeholder 3"/>
          <p:cNvSpPr>
            <a:spLocks noGrp="1"/>
          </p:cNvSpPr>
          <p:nvPr>
            <p:ph type="sldNum" idx="12"/>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 Linux the runtime is libcoreclr.so, a native shared library. It owns JIT compilation, garbage collection (generational and concurrent; ASP.NET Core defaults to Server GC with one heap per core), the type system, threading (managed threads map to pthreads, and async work runs on the thread pool) and P/Invoke into native libraries such as libpq, librdkafka (which Confluent.Kafka wraps) and OpenSSL.</a:t>
            </a:r>
          </a:p>
          <a:p>
            <a:r>
              <a:t>NativeAOT compiles ahead of time to one native binary: faster start-up and less memory, but no runtime code generation, so some reflection-heavy libraries do not work. JIT stays the default for full library compatibility. After the JIT, a hot .NET method is native code like any other; the runtime remains for GC and exceptions.</a:t>
            </a:r>
          </a:p>
        </p:txBody>
      </p:sp>
      <p:sp>
        <p:nvSpPr>
          <p:cNvPr id="4" name="Slide Number Placeholder 3"/>
          <p:cNvSpPr>
            <a:spLocks noGrp="1"/>
          </p:cNvSpPr>
          <p:nvPr>
            <p:ph type="sldNum" idx="12"/>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Kestrel is the web server built into ASP.NET Core. It listens on a TCP socket, handles TLS through OpenSSL on Linux, parses HTTP/1.1, HTTP/2 and HTTP/3, and hands each request to the middleware pipeline. There is no IIS and no w3wp.exe worker process.</a:t>
            </a:r>
          </a:p>
          <a:p>
            <a:r>
              <a:t>Walk the figure from the socket to your endpoint: connection, protocol parsing, middleware (routing, authentication, health checks, OpenTelemetry), then the handler. Every example in the deck runs on Kestrel inside the container.</a:t>
            </a:r>
          </a:p>
        </p:txBody>
      </p:sp>
      <p:sp>
        <p:nvSpPr>
          <p:cNvPr id="4" name="Slide Number Placeholder 3"/>
          <p:cNvSpPr>
            <a:spLocks noGrp="1"/>
          </p:cNvSpPr>
          <p:nvPr>
            <p:ph type="sldNum" idx="12"/>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Teams moving from IIS often put nginx or Apache in front of Kestrel out of habit. On Kubernetes the service mesh or the ingress already terminates TLS, balances load and retries, so a reverse proxy sidecar adds latency, memory and another component to operate for features Kestrel and the platform already provide.</a:t>
            </a:r>
          </a:p>
          <a:p>
            <a:r>
              <a:t>The examples bind with builder.WebHost.UseUrls("http://+:8080"), and gRPC services listen on an HTTP/2-only endpoint configured through ConfigureKestrel. Port 8080 because ports under 1024 need root, and the containers run as a non-root user. REST, gRPC and WebSockets share one Kestrel host.</a:t>
            </a:r>
          </a:p>
        </p:txBody>
      </p:sp>
      <p:sp>
        <p:nvSpPr>
          <p:cNvPr id="4" name="Slide Number Placeholder 3"/>
          <p:cNvSpPr>
            <a:spLocks noGrp="1"/>
          </p:cNvSpPr>
          <p:nvPr>
            <p:ph type="sldNum" idx="12"/>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multi-stage Containerfile. The build stage uses the SDK image, ubi9/dotnet-100 (about 780 MB), to restore and publish; the runtime stage uses ubi9/dotnet-100-aspnet (about 170 MB) and copies only the published output, owned by UID 1001 with group-0 permissions. The final image is about 200 MB, and the SDK, the NuGet cache and the source never reach production.</a:t>
            </a:r>
          </a:p>
          <a:p>
            <a:r>
              <a:t>Restore and publish run in one RUN step with a BuildKit cache mount for NuGet packages, so rebuilds are fast and a stale layer cannot point at packages that are gone. What to show: docker image inspect on an example image and the number of layers.</a:t>
            </a:r>
          </a:p>
        </p:txBody>
      </p:sp>
      <p:sp>
        <p:nvSpPr>
          <p:cNvPr id="4" name="Slide Number Placeholder 3"/>
          <p:cNvSpPr>
            <a:spLocks noGrp="1"/>
          </p:cNvSpPr>
          <p:nvPr>
            <p:ph type="sldNum" idx="12"/>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ships in the runtime image, layer by layer: the UBI 9 base (glibc, OpenSSL, CA certificates, tzdata, libicu), the ASP.NET Core runtime (libcoreclr.so, the JIT, the BCL and the ASP.NET shared framework), and your application's assemblies and configuration. The SDK, MSBuild, Roslyn, sources and test projects are not in it.</a:t>
            </a:r>
          </a:p>
          <a:p>
            <a:r>
              <a:t>The examples pin ubi9/dotnet-100:9.8-1791421718 for the build and ubi9/dotnet-100-aspnet:9.8-1791363520 for the runtime. They stay on UBI 9 because Red Hat publishes no UBI 10 .NET image; every other language in the deck builds on UBI 10. UBI images are freely redistributable, run on any Kubernetes cluster, and carry the same .NET runtime as Microsoft's images; the difference is the base OS layer.</a:t>
            </a:r>
          </a:p>
        </p:txBody>
      </p:sp>
      <p:sp>
        <p:nvSpPr>
          <p:cNvPr id="4" name="Slide Number Placeholder 3"/>
          <p:cNvSpPr>
            <a:spLocks noGrp="1"/>
          </p:cNvSpPr>
          <p:nvPr>
            <p:ph type="sldNum" idx="12"/>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life of a .NET container, in order: CoreCLR loads and starts the GC and the thread pool; the host builder registers services, logging and OpenTelemetry; Kestrel binds port 8080; Kubernetes starts its probes. On SIGTERM the host stops accepting requests, drains in-flight work, flushes telemetry and disposes services, within HostOptions.ShutdownTimeout.</a:t>
            </a:r>
          </a:p>
          <a:p>
            <a:r>
              <a:t>It is an ordinary Linux process: no application-pool recycling, no w3wp.exe, no application domains. The container is the process boundary, SIGTERM is the shutdown signal, and the grace period is the budget, which Appendix H covers in detail.</a:t>
            </a:r>
          </a:p>
        </p:txBody>
      </p:sp>
      <p:sp>
        <p:nvSpPr>
          <p:cNvPr id="4" name="Slide Number Placeholder 3"/>
          <p:cNvSpPr>
            <a:spLocks noGrp="1"/>
          </p:cNvSpPr>
          <p:nvPr>
            <p:ph type="sldNum" idx="12"/>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four points to keep. C# compiles to CIL and the JIT produces native code method by method, so steady-state performance is native. Kestrel is the web server, with TLS through OpenSSL and HTTP/1.1, HTTP/2, HTTP/3, gRPC and WebSockets, and needs no reverse proxy inside the Pod.</a:t>
            </a:r>
          </a:p>
          <a:p>
            <a:r>
              <a:t>Multi-stage builds keep the SDK out of the shipped image. The Red Hat UBI 9 images carry the same .NET runtime on a RHEL 9 base, freely redistributable and run on any Kubernetes cluster; .NET stays on UBI 9 because no UBI 10 .NET image exists yet.</a:t>
            </a:r>
          </a:p>
        </p:txBody>
      </p:sp>
      <p:sp>
        <p:nvSpPr>
          <p:cNvPr id="4" name="Slide Number Placeholder 3"/>
          <p:cNvSpPr>
            <a:spLocks noGrp="1"/>
          </p:cNvSpPr>
          <p:nvPr>
            <p:ph type="sldNum" idx="12"/>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Appendix Q covers real-time .NET: Blazor Server for server-rendered UI, SignalR for push, and the Redis backplane that lets several Pods serve one audience. It builds on the WebSocket scaling problem from Appendix C and is backed by Example 30, an order dashboard that updates live when an order is placed.</a:t>
            </a:r>
          </a:p>
        </p:txBody>
      </p:sp>
      <p:sp>
        <p:nvSpPr>
          <p:cNvPr id="4" name="Slide Number Placeholder 3"/>
          <p:cNvSpPr>
            <a:spLocks noGrp="1"/>
          </p:cNvSpPr>
          <p:nvPr>
            <p:ph type="sldNum" idx="12"/>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Blazor Server runs all component logic on the server. The browser loads a thin JavaScript runtime that sends UI events over a persistent connection and applies the DOM diffs the server sends back.</a:t>
            </a:r>
          </a:p>
          <a:p>
            <a:r>
              <a:t>Each browser tab is one SignalR circuit, and the server keeps that tab's component tree in memory, re-renders on state change and sends only the diff. There is no WebAssembly download and full access to server-side resources; the cost is a round trip per interaction and memory per connected tab. Because every tab holds a persistent connection, the Pod-pinning problem from Appendix C applies directly.</a:t>
            </a:r>
          </a:p>
        </p:txBody>
      </p:sp>
      <p:sp>
        <p:nvSpPr>
          <p:cNvPr id="4" name="Slide Number Placeholder 3"/>
          <p:cNvSpPr>
            <a:spLocks noGrp="1"/>
          </p:cNvSpPr>
          <p:nvPr>
            <p:ph type="sldNum" idx="12"/>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SignalR is ASP.NET Core's real-time library. It negotiates WebSockets first, with Server-Sent Events and long polling as fallbacks, behind one Hub API. Clients call server methods by name, the server invokes client methods by name, and groups broadcast to subsets of connections. Serialization (JSON or MessagePack), reconnection and the connection lifecycle are handled for you.</a:t>
            </a:r>
          </a:p>
          <a:p>
            <a:r>
              <a:t>Blazor Server uses SignalR for its circuit, but SignalR stands on its own: push notifications, live feeds and collaborative editing in any ASP.NET Core app. Example 30 uses it both ways.</a:t>
            </a:r>
          </a:p>
        </p:txBody>
      </p:sp>
      <p:sp>
        <p:nvSpPr>
          <p:cNvPr id="4" name="Slide Number Placeholder 3"/>
          <p:cNvSpPr>
            <a:spLocks noGrp="1"/>
          </p:cNvSpPr>
          <p:nvPr>
            <p:ph type="sldNum" idx="12"/>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Pod-pinning problem again: a SignalR connection stays on the Pod that accepted it, so a broadcast from Pod A reaches only Pod A's clients. The Redis backplane fixes it: AddSignalR().AddStackExchangeRedis(...) publishes every hub invocation to Redis pub/sub, every Pod subscribes, and each delivers to its own connections.</a:t>
            </a:r>
          </a:p>
          <a:p>
            <a:r>
              <a:t>Example 30 runs two dashboard instances, on ports 8080 and 8081, against one Redis, and verify.sh checks that an order pushed through one instance reaches a client connected to the other, including after one instance restarts. Redis 8 is used under its AGPLv3 open-source option.</a:t>
            </a:r>
          </a:p>
        </p:txBody>
      </p:sp>
      <p:sp>
        <p:nvSpPr>
          <p:cNvPr id="4" name="Slide Number Placeholder 3"/>
          <p:cNvSpPr>
            <a:spLocks noGrp="1"/>
          </p:cNvSpPr>
          <p:nvPr>
            <p:ph type="sldNum" idx="12"/>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How Example 30 fits together. OrderHub has one method, JoinDashboard, which adds the caller to the dashboard group; the hub holds no push logic. POST /orders stores the order in Postgres and calls Clients.Group("dashboard").SendAsync("OrderPlaced", order) through IHubContext. Dashboard.razor connects a HubConnection to /hubs/orders, joins the group, and on OrderPlaced prepends the order and re-renders.</a:t>
            </a:r>
          </a:p>
          <a:p>
            <a:r>
              <a:t>What to show: open the dashboard on port 8080 and on port 8081, place an order with curl, and watch both update with no polling. Fallback: run verify.sh, which checks the health endpoints, the orders API, the SignalR negotiate endpoint and cross-instance delivery.</a:t>
            </a:r>
          </a:p>
        </p:txBody>
      </p:sp>
      <p:sp>
        <p:nvSpPr>
          <p:cNvPr id="4" name="Slide Number Placeholder 3"/>
          <p:cNvSpPr>
            <a:spLocks noGrp="1"/>
          </p:cNvSpPr>
          <p:nvPr>
            <p:ph type="sldNum" idx="12"/>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Choose the lowest abstraction that meets the requirement. Raw WebSockets, as in Appendix C: full control, any client language, custom binary framing such as protobuf. SignalR: managed reconnection, groups, hub RPC and MessagePack when the server is ASP.NET Core and you want push without owning the WebSocket lifecycle.</a:t>
            </a:r>
          </a:p>
          <a:p>
            <a:r>
              <a:t>Blazor Server: server-rendered UI with no client framework, for internal tools, dashboards and admin consoles where user counts are modest and server-side access matters more than offline use. Blazor WebAssembly runs .NET in the browser, holds no persistent circuit and scales like static content; it is not covered here.</a:t>
            </a:r>
          </a:p>
        </p:txBody>
      </p:sp>
      <p:sp>
        <p:nvSpPr>
          <p:cNvPr id="4" name="Slide Number Placeholder 3"/>
          <p:cNvSpPr>
            <a:spLocks noGrp="1"/>
          </p:cNvSpPr>
          <p:nvPr>
            <p:ph type="sldNum" idx="12"/>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take-aways. Blazor Server runs the UI on the server and the browser is a thin terminal on a SignalR circuit: no download, full server access, a round trip per interaction. SignalR is a general real-time library, not only Blazor's transport.</a:t>
            </a:r>
          </a:p>
          <a:p>
            <a:r>
              <a:t>The Redis backplane lets several Pods broadcast to every connected client, the same answer to Pod pinning as in Appendix C, built into SignalR. For internal dashboards with modest user counts, Blazor Server with SignalR is a pragmatic choice; for public, high-scale or cross-language clients, use raw WebSockets.</a:t>
            </a:r>
          </a:p>
        </p:txBody>
      </p:sp>
      <p:sp>
        <p:nvSpPr>
          <p:cNvPr id="4" name="Slide Number Placeholder 3"/>
          <p:cNvSpPr>
            <a:spLocks noGrp="1"/>
          </p:cNvSpPr>
          <p:nvPr>
            <p:ph type="sldNum" idx="12"/>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.NET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4.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4" Type="http://schemas.openxmlformats.org/officeDocument/2006/relationships/image" Target="../media/image1.png"/><Relationship Id="rId5" Type="http://schemas.openxmlformats.org/officeDocument/2006/relationships/image" Target="../media/image14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4" Type="http://schemas.openxmlformats.org/officeDocument/2006/relationships/image" Target="../media/image1.png"/><Relationship Id="rId5"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4" Type="http://schemas.openxmlformats.org/officeDocument/2006/relationships/image" Target="../media/image1.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4" Type="http://schemas.openxmlformats.org/officeDocument/2006/relationships/image" Target="../media/image1.png"/><Relationship Id="rId5"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png"/><Relationship Id="rId5"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4" Type="http://schemas.openxmlformats.org/officeDocument/2006/relationships/image" Target="../media/image1.png"/><Relationship Id="rId5"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9.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0.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4" Type="http://schemas.openxmlformats.org/officeDocument/2006/relationships/image" Target="../media/image1.png"/><Relationship Id="rId5" Type="http://schemas.openxmlformats.org/officeDocument/2006/relationships/image" Target="../media/image9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4" Type="http://schemas.openxmlformats.org/officeDocument/2006/relationships/image" Target="../media/image1.png"/><Relationship Id="rId5"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0.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4" Type="http://schemas.openxmlformats.org/officeDocument/2006/relationships/image" Target="../media/image1.png"/><Relationship Id="rId5"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1.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3.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png"/><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26.png"/><Relationship Id="rId4"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3.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49.png"/><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3.png"/><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8.png"/><Relationship Id="rId4"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9.png"/><Relationship Id="rId4"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36.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34.png"/><Relationship Id="rId4"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7.png"/><Relationship Id="rId4"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3.png"/><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33.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35.png"/><Relationship Id="rId4"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4" Type="http://schemas.openxmlformats.org/officeDocument/2006/relationships/image" Target="../media/image1.png"/><Relationship Id="rId5" Type="http://schemas.openxmlformats.org/officeDocument/2006/relationships/image" Target="../media/image15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4" Type="http://schemas.openxmlformats.org/officeDocument/2006/relationships/image" Target="../media/image1.png"/><Relationship Id="rId5" Type="http://schemas.openxmlformats.org/officeDocument/2006/relationships/image" Target="../media/image3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43.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39.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41.png"/><Relationship Id="rId4"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3.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4" Type="http://schemas.openxmlformats.org/officeDocument/2006/relationships/image" Target="../media/image1.png"/><Relationship Id="rId5" Type="http://schemas.openxmlformats.org/officeDocument/2006/relationships/image" Target="../media/image3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47.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45.png"/><Relationship Id="rId4"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46.png"/><Relationship Id="rId4"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3.pn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51.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52.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48.png"/><Relationship Id="rId4"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3.pn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63.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50.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70.png"/><Relationship Id="rId4"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54.png"/><Relationship Id="rId4"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3.pn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53.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60.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55.png"/><Relationship Id="rId4"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57.png"/><Relationship Id="rId4"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4" Type="http://schemas.openxmlformats.org/officeDocument/2006/relationships/image" Target="../media/image1.png"/><Relationship Id="rId5" Type="http://schemas.openxmlformats.org/officeDocument/2006/relationships/image" Target="../media/image4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3.png"/><Relationship Id="rId4" Type="http://schemas.openxmlformats.org/officeDocument/2006/relationships/image" Target="../media/image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58.png"/><Relationship Id="rId4"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59.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62.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6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4.png"/><Relationship Id="rId4"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66.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3.png"/><Relationship Id="rId4" Type="http://schemas.openxmlformats.org/officeDocument/2006/relationships/image" Target="../media/image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64.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69.png"/><Relationship Id="rId4"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65.png"/><Relationship Id="rId4"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3.png"/><Relationship Id="rId4"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67.png"/><Relationship Id="rId4"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11.png"/><Relationship Id="rId4"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4" Type="http://schemas.openxmlformats.org/officeDocument/2006/relationships/image" Target="../media/image1.png"/><Relationship Id="rId5" Type="http://schemas.openxmlformats.org/officeDocument/2006/relationships/image" Target="../media/image25.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3.png"/><Relationship Id="rId4" Type="http://schemas.openxmlformats.org/officeDocument/2006/relationships/image" Target="../media/image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68.png"/><Relationship Id="rId4"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1.png"/><Relationship Id="rId4"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75.png"/><Relationship Id="rId4"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4" Type="http://schemas.openxmlformats.org/officeDocument/2006/relationships/image" Target="../media/image1.png"/><Relationship Id="rId5" Type="http://schemas.openxmlformats.org/officeDocument/2006/relationships/image" Target="../media/image56.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4" Type="http://schemas.openxmlformats.org/officeDocument/2006/relationships/image" Target="../media/image1.png"/><Relationship Id="rId5" Type="http://schemas.openxmlformats.org/officeDocument/2006/relationships/image" Target="../media/image77.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6.png"/><Relationship Id="rId4"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78.png"/><Relationship Id="rId4"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4" Type="http://schemas.openxmlformats.org/officeDocument/2006/relationships/image" Target="../media/image1.png"/><Relationship Id="rId5" Type="http://schemas.openxmlformats.org/officeDocument/2006/relationships/image" Target="../media/image73.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81.png"/><Relationship Id="rId4"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4" Type="http://schemas.openxmlformats.org/officeDocument/2006/relationships/image" Target="../media/image1.png"/><Relationship Id="rId5" Type="http://schemas.openxmlformats.org/officeDocument/2006/relationships/image" Target="../media/image80.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png"/><Relationship Id="rId4" Type="http://schemas.openxmlformats.org/officeDocument/2006/relationships/image" Target="../media/image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51.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4" Type="http://schemas.openxmlformats.org/officeDocument/2006/relationships/image" Target="../media/image1.png"/><Relationship Id="rId5" Type="http://schemas.openxmlformats.org/officeDocument/2006/relationships/image" Target="../media/image86.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4" Type="http://schemas.openxmlformats.org/officeDocument/2006/relationships/image" Target="../media/image1.png"/><Relationship Id="rId5" Type="http://schemas.openxmlformats.org/officeDocument/2006/relationships/image" Target="../media/image87.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png"/><Relationship Id="rId4" Type="http://schemas.openxmlformats.org/officeDocument/2006/relationships/image" Target="../media/image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92.png"/><Relationship Id="rId4"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83.png"/><Relationship Id="rId4"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82.png"/><Relationship Id="rId4"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8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84.png"/><Relationship Id="rId4"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91.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4" Type="http://schemas.openxmlformats.org/officeDocument/2006/relationships/image" Target="../media/image1.png"/><Relationship Id="rId5" Type="http://schemas.openxmlformats.org/officeDocument/2006/relationships/image" Target="../media/image85.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89.png"/><Relationship Id="rId4"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png"/><Relationship Id="rId4" Type="http://schemas.openxmlformats.org/officeDocument/2006/relationships/image" Target="../media/image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08.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94.png"/><Relationship Id="rId4"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93.png"/><Relationship Id="rId4"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3" Type="http://schemas.openxmlformats.org/officeDocument/2006/relationships/image" Target="../media/image95.png"/><Relationship Id="rId4"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96.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110.png"/><Relationship Id="rId4"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png"/><Relationship Id="rId4" Type="http://schemas.openxmlformats.org/officeDocument/2006/relationships/image" Target="../media/image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4" Type="http://schemas.openxmlformats.org/officeDocument/2006/relationships/image" Target="../media/image1.png"/><Relationship Id="rId5" Type="http://schemas.openxmlformats.org/officeDocument/2006/relationships/image" Target="../media/image90.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02.png"/><Relationship Id="rId4"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97.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01.png"/><Relationship Id="rId4"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4" Type="http://schemas.openxmlformats.org/officeDocument/2006/relationships/image" Target="../media/image1.png"/><Relationship Id="rId5" Type="http://schemas.openxmlformats.org/officeDocument/2006/relationships/image" Target="../media/image157.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04.png"/><Relationship Id="rId4"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05.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03.png"/><Relationship Id="rId4"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07.png"/><Relationship Id="rId4"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 Id="rId3" Type="http://schemas.openxmlformats.org/officeDocument/2006/relationships/image" Target="../media/image99.png"/><Relationship Id="rId4"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 Id="rId3" Type="http://schemas.openxmlformats.org/officeDocument/2006/relationships/image" Target="../media/image106.png"/><Relationship Id="rId4"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 Id="rId3" Type="http://schemas.openxmlformats.org/officeDocument/2006/relationships/image" Target="../media/image109.png"/><Relationship Id="rId4"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image" Target="../media/image112.png"/><Relationship Id="rId2" Type="http://schemas.openxmlformats.org/officeDocument/2006/relationships/image" Target="../media/image113.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slideLayout" Target="../slideLayouts/slideLayout1.xml"/><Relationship Id="rId4"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11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118.png"/><Relationship Id="rId2" Type="http://schemas.openxmlformats.org/officeDocument/2006/relationships/image" Target="../media/image11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120.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122.png"/><Relationship Id="rId2" Type="http://schemas.openxmlformats.org/officeDocument/2006/relationships/image" Target="../media/image123.png"/><Relationship Id="rId3" Type="http://schemas.openxmlformats.org/officeDocument/2006/relationships/slideLayout" Target="../slideLayouts/slideLayout1.xml"/><Relationship Id="rId4"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127.png"/><Relationship Id="rId2" Type="http://schemas.openxmlformats.org/officeDocument/2006/relationships/image" Target="../media/image12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12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130.png"/><Relationship Id="rId2" Type="http://schemas.openxmlformats.org/officeDocument/2006/relationships/slideLayout" Target="../slideLayouts/slideLayout1.xml"/><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133.png"/><Relationship Id="rId2" Type="http://schemas.openxmlformats.org/officeDocument/2006/relationships/image" Target="../media/image134.png"/><Relationship Id="rId3" Type="http://schemas.openxmlformats.org/officeDocument/2006/relationships/slideLayout" Target="../slideLayouts/slideLayout1.xml"/><Relationship Id="rId4"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image" Target="../media/image135.png"/><Relationship Id="rId2" Type="http://schemas.openxmlformats.org/officeDocument/2006/relationships/image" Target="../media/image136.png"/><Relationship Id="rId3" Type="http://schemas.openxmlformats.org/officeDocument/2006/relationships/slideLayout" Target="../slideLayouts/slideLayout1.xml"/><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137.pn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138.png"/><Relationship Id="rId3" Type="http://schemas.openxmlformats.org/officeDocument/2006/relationships/slideLayout" Target="../slideLayouts/slideLayout1.xml"/><Relationship Id="rId4" Type="http://schemas.openxmlformats.org/officeDocument/2006/relationships/notesSlide" Target="../notesSlides/notesSlide279.xml"/><Relationship Id="rId5" Type="http://schemas.openxmlformats.org/officeDocument/2006/relationships/image" Target="../media/image155.png"/></Relationships>
</file>

<file path=ppt/slides/_rels/slide280.xml.rels><?xml version='1.0' encoding='UTF-8' standalone='yes'?>
<Relationships xmlns="http://schemas.openxmlformats.org/package/2006/relationships"><Relationship Id="rId1" Type="http://schemas.openxmlformats.org/officeDocument/2006/relationships/image" Target="../media/image140.pn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image" Target="../media/image142.png"/><Relationship Id="rId2" Type="http://schemas.openxmlformats.org/officeDocument/2006/relationships/image" Target="../media/image143.png"/><Relationship Id="rId3" Type="http://schemas.openxmlformats.org/officeDocument/2006/relationships/slideLayout" Target="../slideLayouts/slideLayout1.xml"/><Relationship Id="rId4"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image" Target="../media/image144.png"/><Relationship Id="rId2" Type="http://schemas.openxmlformats.org/officeDocument/2006/relationships/slideLayout" Target="../slideLayouts/slideLayout1.xml"/><Relationship Id="rId3"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image" Target="../media/image145.png"/><Relationship Id="rId3" Type="http://schemas.openxmlformats.org/officeDocument/2006/relationships/slideLayout" Target="../slideLayouts/slideLayout1.xml"/><Relationship Id="rId4" Type="http://schemas.openxmlformats.org/officeDocument/2006/relationships/notesSlide" Target="../notesSlides/notesSlide284.xml"/><Relationship Id="rId5" Type="http://schemas.openxmlformats.org/officeDocument/2006/relationships/image" Target="../media/image139.png"/></Relationships>
</file>

<file path=ppt/slides/_rels/slide285.xml.rels><?xml version='1.0' encoding='UTF-8' standalone='yes'?>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slideLayout" Target="../slideLayouts/slideLayout1.xml"/><Relationship Id="rId4"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image" Target="../media/image149.png"/><Relationship Id="rId2" Type="http://schemas.openxmlformats.org/officeDocument/2006/relationships/slideLayout" Target="../slideLayouts/slideLayout1.xml"/><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 Id="rId3" Type="http://schemas.openxmlformats.org/officeDocument/2006/relationships/image" Target="../media/image1.png"/><Relationship Id="rId4" Type="http://schemas.openxmlformats.org/officeDocument/2006/relationships/image" Target="../media/image100.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 Id="rId3" Type="http://schemas.openxmlformats.org/officeDocument/2006/relationships/image" Target="../media/image1.png"/><Relationship Id="rId4" Type="http://schemas.openxmlformats.org/officeDocument/2006/relationships/image" Target="../media/image150.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 Id="rId3" Type="http://schemas.openxmlformats.org/officeDocument/2006/relationships/image" Target="../media/image1.png"/><Relationship Id="rId5" Type="http://schemas.openxmlformats.org/officeDocument/2006/relationships/image" Target="../media/image72.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4" Type="http://schemas.openxmlformats.org/officeDocument/2006/relationships/notesSlide" Target="../notesSlides/notesSlide307.xml"/><Relationship Id="rId5" Type="http://schemas.openxmlformats.org/officeDocument/2006/relationships/image" Target="../media/image37.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4" Type="http://schemas.openxmlformats.org/officeDocument/2006/relationships/notesSlide" Target="../notesSlides/notesSlide310.xml"/><Relationship Id="rId5" Type="http://schemas.openxmlformats.org/officeDocument/2006/relationships/image" Target="../media/image156.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51515"/>
              </a:buClr>
              <a:buSzPts val="1300"/>
              <a:buFont typeface="Red Hat Text"/>
              <a:buNone/>
            </a:pPr>
            <a:r>
              <a:rPr b="1" i="0" lang="en-US" sz="1300" u="none" cap="none" strike="noStrike">
                <a:solidFill>
                  <a:srgbClr val="151515"/>
                </a:solidFill>
                <a:latin typeface="Red Hat Text"/>
                <a:ea typeface="Red Hat Text"/>
                <a:cs typeface="Red Hat Text"/>
                <a:sym typeface="Red Hat Text"/>
              </a:rPr>
              <a:t>Robert Sedor</a:t>
            </a:r>
            <a:endParaRPr b="0" i="0" sz="13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5A5A5A"/>
              </a:buClr>
              <a:buSzPts val="1150"/>
              <a:buFont typeface="Red Hat Text"/>
              <a:buNone/>
            </a:pPr>
            <a:r>
              <a:rPr b="0" i="0" lang="en-US" sz="1150" u="none" cap="none" strike="noStrike">
                <a:solidFill>
                  <a:srgbClr val="5A5A5A"/>
                </a:solidFill>
                <a:latin typeface="Red Hat Text"/>
                <a:ea typeface="Red Hat Text"/>
                <a:cs typeface="Red Hat Text"/>
                <a:sym typeface="Red Hat Text"/>
              </a:rPr>
              <a:t>Chief Architect, Application Development</a:t>
            </a:r>
            <a:endParaRPr b="1" i="0" sz="1500" u="none" cap="none" strike="noStrike">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J–L · .NET 10 Toolkit, Monolith → Microservices, Caching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P–R · .NET on Linux, Blazor,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dn/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dn/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the Windows world to Kubernetes</a:t>
            </a:r>
            <a:endParaRPr b="0" i="0" sz="3000" u="none" cap="none" strike="noStrike">
              <a:solidFill>
                <a:schemeClr val="dk1"/>
              </a:solidFill>
              <a:latin typeface="Calibri"/>
              <a:ea typeface="Calibri"/>
              <a:cs typeface="Calibri"/>
              <a:sym typeface="Calibri"/>
            </a:endParaRPr>
          </a:p>
        </p:txBody>
      </p:sp>
      <p:pic>
        <p:nvPicPr>
          <p:cNvPr descr="/home/claude/work/png-dn/01b-windows-to-k8s-bridge.png" id="91" name="Google Shape;91;p10"/>
          <p:cNvPicPr preferRelativeResize="0"/>
          <p:nvPr/>
        </p:nvPicPr>
        <p:blipFill rotWithShape="1">
          <a:blip r:embed="rId5">
            <a:alphaModFix/>
          </a:blip>
          <a:stretch/>
        </p:blipFill>
        <p:spPr>
          <a:xfrm>
            <a:off x="2054527" y="1600200"/>
            <a:ext cx="8082641" cy="4526279"/>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Almost every pattern you knew, from IIS and WCF to COM+ and MSMQ, maps onto a Kubernetes-native equivalent. Mostly a re-skin, not a rewrite of the concepts.</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dn/01-cloud-native-pillars.png" id="102" name="Google Shape;102;p1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 name="Google Shape;103;p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104" name="Google Shape;104;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5" name="Google Shape;105;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14" name="Google Shape;114;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5" name="Google Shape;115;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the dotnet CLI and NuGet (central package management via Directory.Packages.props) for reproducible builds; Microsoft.AspNetCore.OpenApi (or Swashbuckle) emits the OpenAPI spec; buf / protoc with Grpc.Tools for gRPC; HotChocolate exports the GraphQL SDL.</a:t>
            </a:r>
            <a:endParaRPr b="0" i="0" sz="1700" u="none" cap="none" strike="noStrike">
              <a:solidFill>
                <a:schemeClr val="dk1"/>
              </a:solidFill>
              <a:latin typeface="Calibri"/>
              <a:ea typeface="Calibri"/>
              <a:cs typeface="Calibri"/>
              <a:sym typeface="Calibri"/>
            </a:endParaRPr>
          </a:p>
        </p:txBody>
      </p:sp>
      <p:sp>
        <p:nvSpPr>
          <p:cNvPr id="124" name="Google Shape;124;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5" name="Google Shape;125;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2" name="Google Shape;132;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dn/44-twelve-factor-list.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dn/42-twelve-factor-map-sb.png" id="154" name="Google Shape;154;p16"/>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55" name="Google Shape;155;p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7" name="Google Shape;157;p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64" name="Google Shape;164;p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ASP.NET Core service, ready for the platform</a:t>
            </a:r>
            <a:endParaRPr b="0" i="0" sz="3000" u="none" cap="none" strike="noStrike">
              <a:solidFill>
                <a:schemeClr val="dk1"/>
              </a:solidFill>
              <a:latin typeface="Calibri"/>
              <a:ea typeface="Calibri"/>
              <a:cs typeface="Calibri"/>
              <a:sym typeface="Calibri"/>
            </a:endParaRPr>
          </a:p>
        </p:txBody>
      </p:sp>
      <p:sp>
        <p:nvSpPr>
          <p:cNvPr id="165" name="Google Shape;165;p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7"/>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 EF Core health checks</a:t>
            </a:r>
            <a:endParaRPr b="0" i="0" sz="1000" u="none" cap="none" strike="noStrike">
              <a:solidFill>
                <a:schemeClr val="dk1"/>
              </a:solidFill>
              <a:latin typeface="Calibri"/>
              <a:ea typeface="Calibri"/>
              <a:cs typeface="Calibri"/>
              <a:sym typeface="Calibri"/>
            </a:endParaRPr>
          </a:p>
        </p:txBody>
      </p:sp>
      <p:sp>
        <p:nvSpPr>
          <p:cNvPr id="167" name="Google Shape;167;p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Program.cs (excerpt), examples/01-cloud-native-principles/dotnet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builder.Services.AddDbContext&lt;OrdersContext&gt;(o =&gt; o.UseNpgsql(connString)); // factor III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builder.Services.AddHealthChecks()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.AddDbContextCheck&lt;OrdersContext&gt;("database", tags: ["ready"]);  // readiness: can connect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var app = builder.Build();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app.MapHealthChecks("/healthz", new HealthCheckOptions               // liveness: process up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Predicate = _ =&gt; false,                                           // no dependency checks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ResponseWriter = (ctx, _) =&gt; ctx.Response.WriteAsJsonAsync(new { status = "ok"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app.MapHealthChecks("/readyz", new HealthCheckOptions                // readiness: 200 or 503</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Predicate = r =&gt; r.Tags.Contains("ready"),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ResponseWriter = (ctx, report)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up = report.Status == HealthStatus.Healthy;               // down: out of rotation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ctx.Response.WriteAsJsonAsync(new { status = up ? "ready" :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checks = new { database = up ? "ok" : "unreachable" }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68" name="Google Shape;168;p1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 thin Program.cs are the price of admission for a Kubernetes Deployment. Same liveness/readiness split a WCF host had — just owned by the cluster now.</a:t>
            </a:r>
            <a:endParaRPr b="0" i="0" sz="1300" u="none" cap="none" strike="noStrike">
              <a:solidFill>
                <a:schemeClr val="dk1"/>
              </a:solidFill>
              <a:latin typeface="Calibri"/>
              <a:ea typeface="Calibri"/>
              <a:cs typeface="Calibri"/>
              <a:sym typeface="Calibri"/>
            </a:endParaRPr>
          </a:p>
        </p:txBody>
      </p:sp>
      <p:sp>
        <p:nvSpPr>
          <p:cNvPr id="169" name="Google Shape;169;p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70" name="Google Shape;170;p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5" name="Shape 175"/>
        <p:cNvGrpSpPr/>
        <p:nvPr/>
      </p:nvGrpSpPr>
      <p:grpSpPr>
        <a:xfrm>
          <a:off x="0" y="0"/>
          <a:ext cx="0" cy="0"/>
          <a:chOff x="0" y="0"/>
          <a:chExt cx="0" cy="0"/>
        </a:xfrm>
      </p:grpSpPr>
      <p:pic>
        <p:nvPicPr>
          <p:cNvPr descr="/home/claude/work/assets/rh-divider-bg.png" id="176" name="Google Shape;176;p1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7" name="Google Shape;177;p1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78" name="Google Shape;178;p1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79" name="Google Shape;179;p1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dn/03-comm-protocol-matrix.png" id="188" name="Google Shape;188;p19"/>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89" name="Google Shape;189;p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1" name="Google Shape;191;p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8" name="Google Shape;198;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ASP.NET Core</a:t>
            </a:r>
            <a:endParaRPr b="0" i="0" sz="30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20"/>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minimal APIs</a:t>
            </a:r>
            <a:endParaRPr b="0" i="0" sz="1000" u="none" cap="none" strike="noStrike">
              <a:solidFill>
                <a:schemeClr val="dk1"/>
              </a:solidFill>
              <a:latin typeface="Calibri"/>
              <a:ea typeface="Calibri"/>
              <a:cs typeface="Calibri"/>
              <a:sym typeface="Calibri"/>
            </a:endParaRPr>
          </a:p>
        </p:txBody>
      </p:sp>
      <p:sp>
        <p:nvSpPr>
          <p:cNvPr id="201" name="Google Shape;201;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Program.cs — minimal API style; FluentValidation for input contracts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app.MapGroup("/orders");     // Microsoft.AspNetCore.OpenApi documents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orders.MapPost("/", async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[FromBody] OrderIn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IValidator&lt;OrderIn&gt; validator,            // FluentValidation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IOrderService svc,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IEventPublisher events)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result = await validator.ValidateAsync(body);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(!result.IsValid) return Results.ValidationProblem(result.ToDictionary());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await svc.CreateAsync(body);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events.PublishAsync("order.placed", order);       // made safe by the outbox</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Results.Created($"/orders/{order.Id}", order);   // 201, not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 (string? after, int limit,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svc.Page(after, limit));                       // cursor pagination, not offset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request record: immutable, validated (types follow the top-level statements)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[Required, StringLength(64)] string Sku,</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[Range(1, 1_000)]            int    Quantity);</a:t>
            </a:r>
            <a:endParaRPr b="0" i="0" sz="1000" u="none" cap="none" strike="noStrike">
              <a:solidFill>
                <a:schemeClr val="dk1"/>
              </a:solidFill>
              <a:latin typeface="Calibri"/>
              <a:ea typeface="Calibri"/>
              <a:cs typeface="Calibri"/>
              <a:sym typeface="Calibri"/>
            </a:endParaRPr>
          </a:p>
        </p:txBody>
      </p:sp>
      <p:sp>
        <p:nvSpPr>
          <p:cNvPr id="202" name="Google Shape;202;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FluentValidation contracts, correct status codes, cursor pagination — the WCF endpoint replacement for the outside world.</a:t>
            </a:r>
            <a:endParaRPr b="0" i="0" sz="13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4" name="Google Shape;204;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1" name="Google Shape;211;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21"/>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csharp · .NET 10 + Grpc.AspNetCore</a:t>
            </a:r>
            <a:endParaRPr b="0" i="0" sz="1000" u="none" cap="none" strike="noStrike">
              <a:solidFill>
                <a:schemeClr val="dk1"/>
              </a:solidFill>
              <a:latin typeface="Calibri"/>
              <a:ea typeface="Calibri"/>
              <a:cs typeface="Calibri"/>
              <a:sym typeface="Calibri"/>
            </a:endParaRPr>
          </a:p>
        </p:txBody>
      </p:sp>
      <p:sp>
        <p:nvSpPr>
          <p:cNvPr id="214" name="Google Shape;214;p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inventory.proto — the contract, registered in Apicurio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syntax = "proto3";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 Inventory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rpc ReserveStock (ReserveRequest) returns (ReserveReply);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message ReserveRequest { string sku = 1; int32 quantity = 2;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message ReserveReply   { bool reserved = 1; int32 remaining = 2;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Grpc.AspNetCore + Grpc.Tools compiles .proto to C</a:t>
            </a:r>
            <a:r>
              <a:rPr b="0" i="0" lang="en-US" sz="900" u="none" cap="none" strike="noStrike">
                <a:solidFill>
                  <a:srgbClr val="8FB98F"/>
                </a:solidFill>
                <a:latin typeface="Red Hat Mono"/>
                <a:ea typeface="Red Hat Mono"/>
                <a:cs typeface="Red Hat Mono"/>
                <a:sym typeface="Red Hat Mono"/>
              </a:rPr>
              <a:t># at build time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cloud-native replacement for WCF NetTcpBinding service contracts)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InventoryService : Inventory.InventoryBase  // generated 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IStockRepository _stock;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InventoryService(IStockRepository stock) =&gt; _stock =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async Task&lt;ReserveReply&gt; ReserveStock(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ReserveRequest req, ServerCallContext ctx)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 = await _stock.ReserveAsync(req.Sku, req.Quantity);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new ReserveReply { Reserved = r.Ok, Remaining = r.Remaining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builder.Services.AddGrpc();                          // server registration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app.MapGrpcService&lt;InventoryService&gt;();              // expose the service</a:t>
            </a:r>
            <a:endParaRPr b="0" i="0" sz="9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WCF NetTcpBinding replacement for chatty internal paths. Test with ghz.</a:t>
            </a:r>
            <a:endParaRPr b="0" i="0" sz="13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dn/04-comm-sync-async.png" id="225" name="Google Shape;225;p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dn/05-comm-service-mesh.png" id="236" name="Google Shape;236;p23"/>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37" name="Google Shape;237;p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39" name="Google Shape;239;p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46" name="Google Shape;246;p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47" name="Google Shape;247;p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49" name="Google Shape;249;p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50" name="Google Shape;250;p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51" name="Google Shape;251;p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52" name="Google Shape;252;p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7" name="Shape 257"/>
        <p:cNvGrpSpPr/>
        <p:nvPr/>
      </p:nvGrpSpPr>
      <p:grpSpPr>
        <a:xfrm>
          <a:off x="0" y="0"/>
          <a:ext cx="0" cy="0"/>
          <a:chOff x="0" y="0"/>
          <a:chExt cx="0" cy="0"/>
        </a:xfrm>
      </p:grpSpPr>
      <p:pic>
        <p:nvPicPr>
          <p:cNvPr descr="/home/claude/work/assets/rh-divider-bg.png" id="258" name="Google Shape;258;p2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9" name="Google Shape;259;p2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60" name="Google Shape;260;p2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61" name="Google Shape;261;p2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dn/06-composition-federation.png" id="270" name="Google Shape;270;p26"/>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71" name="Google Shape;271;p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72" name="Google Shape;272;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3" name="Google Shape;273;p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0" name="Google Shape;280;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HotChocolate</a:t>
            </a:r>
            <a:endParaRPr b="0" i="0" sz="30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7"/>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283" name="Google Shape;283;p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HotChocolate (MIT, by ChilliCream) — the dominant open-source GraphQL server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for .NET. Code-first or schema-first. Built-in DataLoader for N+1.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Query                                   // the gateway's schema</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GetOrder(string id,    // REST call to order-service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[Service] IOrderClient orders)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orders.GetAsync(id);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[ExtendObjectType&lt;Order&gt;]                            // adds fields to Order type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OrderExtensions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batched per-request to kill N+1: one gRPC call for N 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Task&lt;int&gt; GetStock(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[Parent] Order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IInventoryStockDataLoader loader) =&gt;         // generated DataLoader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loader.LoadAsync(order.Sku);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registration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.AddGraphQLServer()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.AddQueryType&lt;Query&gt;()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.AddTypeExtension&lt;OrderExtensions&gt;()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.AddDataLoader&lt;IInventoryStockDataLoader, InventoryStockDataLoader&gt;();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app.MapGraphQL();                                    // POST /graphql + IDE</a:t>
            </a:r>
            <a:endParaRPr b="0" i="0" sz="900" u="none" cap="none" strike="noStrike">
              <a:solidFill>
                <a:schemeClr val="dk1"/>
              </a:solidFill>
              <a:latin typeface="Calibri"/>
              <a:ea typeface="Calibri"/>
              <a:cs typeface="Calibri"/>
              <a:sym typeface="Calibri"/>
            </a:endParaRPr>
          </a:p>
        </p:txBody>
      </p:sp>
      <p:sp>
        <p:nvSpPr>
          <p:cNvPr id="284" name="Google Shape;284;p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DataLoader batches N orders into one gRPC call.</a:t>
            </a:r>
            <a:endParaRPr b="0" i="0" sz="13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p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93" name="Google Shape;293;p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dn/07-composition-patterns.png" id="294" name="Google Shape;294;p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95" name="Google Shape;295;p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96" name="Google Shape;296;p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297" name="Google Shape;297;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304" name="Google Shape;304;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Server as a line-of-business BFF</a:t>
            </a:r>
            <a:endParaRPr b="0" i="0" sz="30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is inherently BFF-shaped: a server-side .NET process holds the UI's view-model and pushes UI diffs to the browser over a SignalR channel — the client is thin.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that server-side process you can aggregate from REST, gRPC and Kafka back-ends with normal .NET code (typed HttpClient, gRPC client, Confluent.Kafka consumer) — no client-side fan-out, no CORS dance, no token-passing through the browser.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Runs on Kubernetes as a regular ASP.NET Core Pod, with no managed hosting and no managed SignalR service. The SignalR backplane is open-source Redis (we cover the pinning + backplane story in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to choose it: internal LOB apps, admin consoles, dashboards — where you want server-rendered state, server-side auth, and a single trust boundary. Pair with Blazor WebAssembly for the offline / high-interactivity client surface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When not to choose it: SEO-critical public sites (use static rendering or SSR), or anything that must work without a persistent connection. Every Blazor Server interaction is a SignalR round-trip and inherits the WebSocket scaling concerns in Appendix C.</a:t>
            </a:r>
            <a:endParaRPr b="0" i="0" sz="17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12" name="Shape 312"/>
        <p:cNvGrpSpPr/>
        <p:nvPr/>
      </p:nvGrpSpPr>
      <p:grpSpPr>
        <a:xfrm>
          <a:off x="0" y="0"/>
          <a:ext cx="0" cy="0"/>
          <a:chOff x="0" y="0"/>
          <a:chExt cx="0" cy="0"/>
        </a:xfrm>
      </p:grpSpPr>
      <p:pic>
        <p:nvPicPr>
          <p:cNvPr descr="/home/claude/work/assets/rh-divider-bg.png" id="313" name="Google Shape;313;p3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14" name="Google Shape;314;p3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315" name="Google Shape;315;p3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316" name="Google Shape;316;p3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317" name="Google Shape;317;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dn/08-data-per-service-db.png" id="325" name="Google Shape;325;p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26" name="Google Shape;326;p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27" name="Google Shape;327;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28" name="Google Shape;328;p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5" name="Google Shape;335;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dn/08b-data-cqrs.png" id="336" name="Google Shape;336;p32"/>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37" name="Google Shape;337;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38" name="Google Shape;338;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39" name="Google Shape;339;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6" name="Google Shape;346;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47" name="Google Shape;347;p3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33"/>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Confluent.Kafka</a:t>
            </a:r>
            <a:endParaRPr b="0" i="0" sz="1000" u="none" cap="none" strike="noStrike">
              <a:solidFill>
                <a:schemeClr val="dk1"/>
              </a:solidFill>
              <a:latin typeface="Calibri"/>
              <a:ea typeface="Calibri"/>
              <a:cs typeface="Calibri"/>
              <a:sym typeface="Calibri"/>
            </a:endParaRPr>
          </a:p>
        </p:txBody>
      </p:sp>
      <p:sp>
        <p:nvSpPr>
          <p:cNvPr id="349" name="Google Shape;349;p3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Write side — the command handler commits, then emits the fact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OrderWriteController(WriteDb writes, IProducer&lt;string, string&gt; producer)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ControllerBase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Task&lt;ActionResult&lt;Order&gt;&gt; Create(OrderIn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new Order(body);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writes.Orders.Add(order);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writes.SaveChangesAsync(ct);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producer.ProduceAsync("order.placed", new Message&lt;string, string&gt;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Key = order.Id, Value = JsonSerializer.Serialize(order) },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Ok(order);                        // the outbox makes this crash-safe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 side — a different, denormalised store (OrderReadController(ReadDb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[HttpGet("{id}/summary")]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Task&lt;ActionResult&lt;OrderSummary&gt;&gt; Summary(string id,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reads.OrderSummaries.FindAsync([id], ct) is { } s ? Ok(s) : NotFound();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Projection — a BackgroundService on Confluent.Kafka, idempotent upsert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cr = consumer.Consume(stoppingToken);   // in ExecuteAsync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summary = OrderSummary.From(JsonSerializer.Deserialize&lt;Order&gt;(cr.Message.Value)!);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reads.UpsertAsync(summary, stoppingToken);                        // keyed by order 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consumer.Commit(cr);                                          // ack after the write</a:t>
            </a:r>
            <a:endParaRPr b="0" i="0" sz="900" u="none" cap="none" strike="noStrike">
              <a:solidFill>
                <a:schemeClr val="dk1"/>
              </a:solidFill>
              <a:latin typeface="Calibri"/>
              <a:ea typeface="Calibri"/>
              <a:cs typeface="Calibri"/>
              <a:sym typeface="Calibri"/>
            </a:endParaRPr>
          </a:p>
        </p:txBody>
      </p:sp>
      <p:sp>
        <p:nvSpPr>
          <p:cNvPr id="350" name="Google Shape;350;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1" name="Google Shape;351;p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8" name="Google Shape;358;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dn/08c-data-log-tailing.png" id="359" name="Google Shape;359;p34"/>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60" name="Google Shape;360;p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61" name="Google Shape;361;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2" name="Google Shape;362;p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7" name="Shape 367"/>
        <p:cNvGrpSpPr/>
        <p:nvPr/>
      </p:nvGrpSpPr>
      <p:grpSpPr>
        <a:xfrm>
          <a:off x="0" y="0"/>
          <a:ext cx="0" cy="0"/>
          <a:chOff x="0" y="0"/>
          <a:chExt cx="0" cy="0"/>
        </a:xfrm>
      </p:grpSpPr>
      <p:sp>
        <p:nvSpPr>
          <p:cNvPr id="368" name="Google Shape;368;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69" name="Google Shape;369;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dn/09-data-outbox-cdc.png" id="370" name="Google Shape;370;p35"/>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71" name="Google Shape;371;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3" name="Google Shape;373;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8" name="Shape 378"/>
        <p:cNvGrpSpPr/>
        <p:nvPr/>
      </p:nvGrpSpPr>
      <p:grpSpPr>
        <a:xfrm>
          <a:off x="0" y="0"/>
          <a:ext cx="0" cy="0"/>
          <a:chOff x="0" y="0"/>
          <a:chExt cx="0" cy="0"/>
        </a:xfrm>
      </p:grpSpPr>
      <p:sp>
        <p:nvSpPr>
          <p:cNvPr id="379" name="Google Shape;379;p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80" name="Google Shape;380;p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81" name="Google Shape;381;p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3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EF Core + Debezium CDC</a:t>
            </a:r>
            <a:endParaRPr b="0" i="0" sz="1000" u="none" cap="none" strike="noStrike">
              <a:solidFill>
                <a:schemeClr val="dk1"/>
              </a:solidFill>
              <a:latin typeface="Calibri"/>
              <a:ea typeface="Calibri"/>
              <a:cs typeface="Calibri"/>
              <a:sym typeface="Calibri"/>
            </a:endParaRPr>
          </a:p>
        </p:txBody>
      </p:sp>
      <p:sp>
        <p:nvSpPr>
          <p:cNvPr id="383" name="Google Shape;383;p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POST /orders (excerpt), examples/04-data/dotnet: EF Core + Debezium CDC, the .NET outbox.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For WCF/COM+ refugees: this replaces the MSDTC two-phase commit you used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to make 'save the order and queue the event' atomic across databases.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(OrderRequest request, OrdersContext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new Order { Id = Guid.NewGuid().ToString(), Sku = request.Sku,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Quantity = request.Quantity, Status = "confirmed"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dto = OrderDto.From(order);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db.Orders.Add(order);                         // state change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db.Outbox.Add(new OutboxEvent                 // same SaveChanges: outbox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AggregateId =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EventType = "order.placed",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JsonSerializer.SerializeToElement(dto, JsonSerializerOptions.Web),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                  // one local txn; Debezium tails the WAL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Results.Json(dto, statusCode: StatusCodes.Status201Created);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No Kafka call on the request path: if the broker is down, the order still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commits and the event ships when the Debezium connector catches 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Wolverine (MIT) ships an EF Core transactional outbox if you prefer a framework.</a:t>
            </a:r>
            <a:endParaRPr b="0" i="0" sz="900" u="none" cap="none" strike="noStrike">
              <a:solidFill>
                <a:schemeClr val="dk1"/>
              </a:solidFill>
              <a:latin typeface="Calibri"/>
              <a:ea typeface="Calibri"/>
              <a:cs typeface="Calibri"/>
              <a:sym typeface="Calibri"/>
            </a:endParaRPr>
          </a:p>
        </p:txBody>
      </p:sp>
      <p:sp>
        <p:nvSpPr>
          <p:cNvPr id="384" name="Google Shape;384;p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local DB commit replaces MSDTC. Debezium tails the write-ahead log and turns the outbox row into a guaranteed, ordered Kafka event.</a:t>
            </a:r>
            <a:endParaRPr b="0" i="0" sz="1300" u="none" cap="none" strike="noStrike">
              <a:solidFill>
                <a:schemeClr val="dk1"/>
              </a:solidFill>
              <a:latin typeface="Calibri"/>
              <a:ea typeface="Calibri"/>
              <a:cs typeface="Calibri"/>
              <a:sym typeface="Calibri"/>
            </a:endParaRPr>
          </a:p>
        </p:txBody>
      </p:sp>
      <p:sp>
        <p:nvSpPr>
          <p:cNvPr id="385" name="Google Shape;385;p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86" name="Google Shape;386;p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dn/10-data-saga.png" id="394" name="Google Shape;394;p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02" name="Shape 402"/>
        <p:cNvGrpSpPr/>
        <p:nvPr/>
      </p:nvGrpSpPr>
      <p:grpSpPr>
        <a:xfrm>
          <a:off x="0" y="0"/>
          <a:ext cx="0" cy="0"/>
          <a:chOff x="0" y="0"/>
          <a:chExt cx="0" cy="0"/>
        </a:xfrm>
      </p:grpSpPr>
      <p:pic>
        <p:nvPicPr>
          <p:cNvPr descr="/home/claude/work/assets/rh-divider-bg.png" id="403" name="Google Shape;403;p3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04" name="Google Shape;404;p3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405" name="Google Shape;405;p3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406" name="Google Shape;406;p3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407" name="Google Shape;407;p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2" name="Shape 412"/>
        <p:cNvGrpSpPr/>
        <p:nvPr/>
      </p:nvGrpSpPr>
      <p:grpSpPr>
        <a:xfrm>
          <a:off x="0" y="0"/>
          <a:ext cx="0" cy="0"/>
          <a:chOff x="0" y="0"/>
          <a:chExt cx="0" cy="0"/>
        </a:xfrm>
      </p:grpSpPr>
      <p:sp>
        <p:nvSpPr>
          <p:cNvPr id="413" name="Google Shape;413;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4" name="Google Shape;414;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dn/11-event-topology.png" id="415" name="Google Shape;415;p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16" name="Google Shape;416;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18" name="Google Shape;418;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5" name="Google Shape;425;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Confluent.Kafka</a:t>
            </a:r>
            <a:endParaRPr b="0" i="0" sz="3000" u="none" cap="none" strike="noStrike">
              <a:solidFill>
                <a:schemeClr val="dk1"/>
              </a:solidFill>
              <a:latin typeface="Calibri"/>
              <a:ea typeface="Calibri"/>
              <a:cs typeface="Calibri"/>
              <a:sym typeface="Calibri"/>
            </a:endParaRPr>
          </a:p>
        </p:txBody>
      </p:sp>
      <p:sp>
        <p:nvSpPr>
          <p:cNvPr id="426" name="Google Shape;426;p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40"/>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Confluent.Kafka 2.16.0</a:t>
            </a:r>
            <a:endParaRPr b="0" i="0" sz="1000" u="none" cap="none" strike="noStrike">
              <a:solidFill>
                <a:schemeClr val="dk1"/>
              </a:solidFill>
              <a:latin typeface="Calibri"/>
              <a:ea typeface="Calibri"/>
              <a:cs typeface="Calibri"/>
              <a:sym typeface="Calibri"/>
            </a:endParaRPr>
          </a:p>
        </p:txBody>
      </p:sp>
      <p:sp>
        <p:nvSpPr>
          <p:cNvPr id="428" name="Google Shape;428;p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Confluent.Kafka 2.16.0 — the low-level Kafka client (Apache 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Auto-commit off, commit after the work: at-least-once processing.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producer — order-service emits the 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producer = new ProducerBuilder&lt;Null, string&gt;(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ProducerConfig { BootstrapServers = kafkaBootstrap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producer.ProduceAsync("order.placed",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json });     // awaits the broker 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consumer — ShipmentWorker : BackgroundService; the host cancels stoppingToken on SIGTERM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var consumer = new ConsumerBuilder&lt;Ignore, string&gt;(new ConsumerConfig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BootstrapServers = config.GetValue("KAFKA_BOOTSTRAP", "kafka:9094"),</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GroupId          = "shipping-group",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AutoOffsetReset  = AutoOffsetReset.Earliest,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EnableAutoCommit = false,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consumer.Subscribe("order.placed");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(!stoppingToken.IsCancellationRequested)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cr = consumer.Consume(stoppingToken);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HandleAsync(cr.Message.Value);   // exists? skip; unique index on order_id backs 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consumer.Commit(cr);                   // ack after — at-least-once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429" name="Google Shape;429;p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Confluent.Kafka keeps the Kafka semantics visible: keys, partitions, offsets. Commit after the work; handlers are idempotent.</a:t>
            </a:r>
            <a:endParaRPr b="0" i="0" sz="1300" u="none" cap="none" strike="noStrike">
              <a:solidFill>
                <a:schemeClr val="dk1"/>
              </a:solidFill>
              <a:latin typeface="Calibri"/>
              <a:ea typeface="Calibri"/>
              <a:cs typeface="Calibri"/>
              <a:sym typeface="Calibri"/>
            </a:endParaRPr>
          </a:p>
        </p:txBody>
      </p:sp>
      <p:sp>
        <p:nvSpPr>
          <p:cNvPr id="430" name="Google Shape;430;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1" name="Google Shape;431;p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6" name="Shape 436"/>
        <p:cNvGrpSpPr/>
        <p:nvPr/>
      </p:nvGrpSpPr>
      <p:grpSpPr>
        <a:xfrm>
          <a:off x="0" y="0"/>
          <a:ext cx="0" cy="0"/>
          <a:chOff x="0" y="0"/>
          <a:chExt cx="0" cy="0"/>
        </a:xfrm>
      </p:grpSpPr>
      <p:sp>
        <p:nvSpPr>
          <p:cNvPr id="437" name="Google Shape;437;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8" name="Google Shape;438;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dn/12-event-schema-registry.png" id="439" name="Google Shape;439;p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40" name="Google Shape;440;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41" name="Google Shape;441;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2" name="Google Shape;442;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49" name="Google Shape;449;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dn/11b-event-sourcing-vs-streaming.png" id="450" name="Google Shape;450;p42"/>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51" name="Google Shape;451;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52" name="Google Shape;452;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3" name="Google Shape;453;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8" name="Shape 458"/>
        <p:cNvGrpSpPr/>
        <p:nvPr/>
      </p:nvGrpSpPr>
      <p:grpSpPr>
        <a:xfrm>
          <a:off x="0" y="0"/>
          <a:ext cx="0" cy="0"/>
          <a:chOff x="0" y="0"/>
          <a:chExt cx="0" cy="0"/>
        </a:xfrm>
      </p:grpSpPr>
      <p:sp>
        <p:nvSpPr>
          <p:cNvPr id="459" name="Google Shape;459;p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60" name="Google Shape;460;p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dn/11c-event-tooling-landscape.png" id="461" name="Google Shape;461;p43"/>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62" name="Google Shape;462;p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63" name="Google Shape;463;p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dn/13-event-log-repla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80" name="Shape 480"/>
        <p:cNvGrpSpPr/>
        <p:nvPr/>
      </p:nvGrpSpPr>
      <p:grpSpPr>
        <a:xfrm>
          <a:off x="0" y="0"/>
          <a:ext cx="0" cy="0"/>
          <a:chOff x="0" y="0"/>
          <a:chExt cx="0" cy="0"/>
        </a:xfrm>
      </p:grpSpPr>
      <p:pic>
        <p:nvPicPr>
          <p:cNvPr descr="/home/claude/work/assets/rh-divider-bg.png" id="481" name="Google Shape;481;p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82" name="Google Shape;482;p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83" name="Google Shape;483;p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84" name="Google Shape;484;p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85" name="Google Shape;485;p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2" name="Google Shape;492;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dn/14-stream-topology.png" id="493" name="Google Shape;493;p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94" name="Google Shape;494;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6" name="Google Shape;496;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3" name="Google Shape;503;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Streamiz.Kafka.Net</a:t>
            </a:r>
            <a:endParaRPr b="0" i="0" sz="3000" u="none" cap="none" strike="noStrike">
              <a:solidFill>
                <a:schemeClr val="dk1"/>
              </a:solidFill>
              <a:latin typeface="Calibri"/>
              <a:ea typeface="Calibri"/>
              <a:cs typeface="Calibri"/>
              <a:sym typeface="Calibri"/>
            </a:endParaRPr>
          </a:p>
        </p:txBody>
      </p:sp>
      <p:sp>
        <p:nvSpPr>
          <p:cNvPr id="504" name="Google Shape;504;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47"/>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Streamiz.Kafka.Net 1.8.2</a:t>
            </a:r>
            <a:endParaRPr b="0" i="0" sz="1000" u="none" cap="none" strike="noStrike">
              <a:solidFill>
                <a:schemeClr val="dk1"/>
              </a:solidFill>
              <a:latin typeface="Calibri"/>
              <a:ea typeface="Calibri"/>
              <a:cs typeface="Calibri"/>
              <a:sym typeface="Calibri"/>
            </a:endParaRPr>
          </a:p>
        </p:txBody>
      </p:sp>
      <p:sp>
        <p:nvSpPr>
          <p:cNvPr id="506" name="Google Shape;506;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StreamProcessor/RevenueStream.cs (excerpt), a BackgroundService — Streamiz.Kafka.Net 1.8.2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config = new StreamConfig&lt;StringSerDes, StringSerDes&gt;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ApplicationId    = "stream-processor",    // also the consumer group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BootstrapServers = kafkaBootstrap,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StateDir         = "/tmp/kafka-streams",  // local RocksDB, changelog-backed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builder = new StreamBuilder();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builder.Stream&lt;string, string&gt;("order.placed")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.Map((_, json, _) =&gt; Rekey(json))                     // key by merchant_id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.Filter((merchant, _, _) =&gt; merchant.Length &gt; 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.GroupByKey()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.WindowedBy(TumblingWindowOptions.Of(TimeSpan.FromSeconds(windowSeconds), TimeSpan.Zero))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.Aggregate(() =&gt; new Acc(),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(merchant, amount, acc) =&gt; Add(merchant, acc, amount),   // exact decimal total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RocksDbWindows.As&lt;string, Acc&gt;("revenue-store")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.WithKeySerdes(new StringSerDes())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.WithValueSerdes(new JsonSerDes&lt;Acc&gt;()))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.Map(...): window_start, merchant_id, order_count, revenue rounded half-up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.To&lt;StringSerDes, StringSerDes&gt;("revenue.by-merchant");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new KafkaStream(builder.Build(), config).StartAsync(stoppingToken);</a:t>
            </a:r>
            <a:endParaRPr b="0" i="0" sz="9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RocksDB + a Kafka changelog topic gives fault-tolerant aggregation — no JVM, no separate Flink cluster, just C# in a Pod.</a:t>
            </a:r>
            <a:endParaRPr b="0" i="0" sz="1300" u="none" cap="none" strike="noStrike">
              <a:solidFill>
                <a:schemeClr val="dk1"/>
              </a:solidFill>
              <a:latin typeface="Calibri"/>
              <a:ea typeface="Calibri"/>
              <a:cs typeface="Calibri"/>
              <a:sym typeface="Calibri"/>
            </a:endParaRPr>
          </a:p>
        </p:txBody>
      </p:sp>
      <p:sp>
        <p:nvSpPr>
          <p:cNvPr id="508" name="Google Shape;508;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09" name="Google Shape;509;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16" name="Google Shape;516;p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dn/15-stream-keda-scaling.png" id="517" name="Google Shape;517;p48"/>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518" name="Google Shape;518;p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519" name="Google Shape;519;p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20" name="Google Shape;520;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27" name="Google Shape;527;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28" name="Google Shape;528;p4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4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30" name="Google Shape;530;p4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ASP.NET Core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31" name="Google Shape;531;p4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38" name="Shape 538"/>
        <p:cNvGrpSpPr/>
        <p:nvPr/>
      </p:nvGrpSpPr>
      <p:grpSpPr>
        <a:xfrm>
          <a:off x="0" y="0"/>
          <a:ext cx="0" cy="0"/>
          <a:chOff x="0" y="0"/>
          <a:chExt cx="0" cy="0"/>
        </a:xfrm>
      </p:grpSpPr>
      <p:pic>
        <p:nvPicPr>
          <p:cNvPr descr="/home/claude/work/assets/rh-divider-bg.png" id="539" name="Google Shape;539;p5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40" name="Google Shape;540;p5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41" name="Google Shape;541;p5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42" name="Google Shape;542;p5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43" name="Google Shape;543;p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0" name="Google Shape;550;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dn/16-workflows-orchestration.png" id="551" name="Google Shape;551;p5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52" name="Google Shape;552;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4" name="Google Shape;554;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sp>
        <p:nvSpPr>
          <p:cNvPr id="560" name="Google Shape;560;p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61" name="Google Shape;561;p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62" name="Google Shape;562;p52"/>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52"/>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64" name="Google Shape;564;p52"/>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65" name="Google Shape;565;p52"/>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52"/>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67" name="Google Shape;567;p52"/>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68" name="Google Shape;568;p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69" name="Google Shape;569;p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dn/17-workflows-jobs.png" id="577" name="Google Shape;577;p53"/>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85" name="Shape 585"/>
        <p:cNvGrpSpPr/>
        <p:nvPr/>
      </p:nvGrpSpPr>
      <p:grpSpPr>
        <a:xfrm>
          <a:off x="0" y="0"/>
          <a:ext cx="0" cy="0"/>
          <a:chOff x="0" y="0"/>
          <a:chExt cx="0" cy="0"/>
        </a:xfrm>
      </p:grpSpPr>
      <p:pic>
        <p:nvPicPr>
          <p:cNvPr descr="/home/claude/work/assets/rh-divider-bg.png" id="586" name="Google Shape;586;p5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87" name="Google Shape;587;p5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88" name="Google Shape;588;p5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89" name="Google Shape;589;p5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90" name="Google Shape;590;p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97" name="Google Shape;597;p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dn/18-api-management-stack.png" id="598" name="Google Shape;598;p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99" name="Google Shape;599;p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600" name="Google Shape;600;p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01" name="Google Shape;601;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609" name="Google Shape;609;p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16" name="Shape 616"/>
        <p:cNvGrpSpPr/>
        <p:nvPr/>
      </p:nvGrpSpPr>
      <p:grpSpPr>
        <a:xfrm>
          <a:off x="0" y="0"/>
          <a:ext cx="0" cy="0"/>
          <a:chOff x="0" y="0"/>
          <a:chExt cx="0" cy="0"/>
        </a:xfrm>
      </p:grpSpPr>
      <p:pic>
        <p:nvPicPr>
          <p:cNvPr descr="/home/claude/work/assets/rh-divider-bg.png" id="617" name="Google Shape;617;p5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18" name="Google Shape;618;p5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619" name="Google Shape;619;p5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620" name="Google Shape;620;p5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21" name="Google Shape;621;p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28" name="Google Shape;628;p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dn/19-api-registry-apicurio.png" id="629" name="Google Shape;629;p5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30" name="Google Shape;630;p5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31" name="Google Shape;631;p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32" name="Google Shape;632;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40" name="Google Shape;640;p5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59"/>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CI + Apicurio v3 REST</a:t>
            </a:r>
            <a:endParaRPr b="0" i="0" sz="1000" u="none" cap="none" strike="noStrike">
              <a:solidFill>
                <a:schemeClr val="dk1"/>
              </a:solidFill>
              <a:latin typeface="Calibri"/>
              <a:ea typeface="Calibri"/>
              <a:cs typeface="Calibri"/>
              <a:sym typeface="Calibri"/>
            </a:endParaRPr>
          </a:p>
        </p:txBody>
      </p:sp>
      <p:sp>
        <p:nvSpPr>
          <p:cNvPr id="642" name="Google Shape;642;p5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No Maven plugin for .NET: gate breaking changes through the Apicurio v3 REST 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dryRun=true runs the COMPATIBILITY rule server-side and stores nothing.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.github/workflows/contracts.yml (runs on every PR; no app build needed)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jobs: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schema-compat: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runs-on: ubuntu-latest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uses: actions/checkout@v7</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Gate the new Avro schema against the registry 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env:</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 http://apicurio.registry.svc/apis/registry/v3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body=$(jq -n --rawfile s src/Schemas/order-placed.avsc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'{content: {content: $s, contentType: "application/json"}}')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code=$(curl -s -o resp.json -w '%{http_code}' -X POST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"$REGISTRY/groups/orders/artifacts/order-placed/versions?dryRun=true"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 'Content-Type: application/json' -d "$body")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400 with RuleViolationException: the COMPATIBILITY rule rejected 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"$code" = "200" ] || { echo 'Breaking schema change'; cat resp.json; exit 1; }</a:t>
            </a:r>
            <a:endParaRPr b="0" i="0" sz="1100" u="none" cap="none" strike="noStrike">
              <a:solidFill>
                <a:schemeClr val="dk1"/>
              </a:solidFill>
              <a:latin typeface="Calibri"/>
              <a:ea typeface="Calibri"/>
              <a:cs typeface="Calibri"/>
              <a:sym typeface="Calibri"/>
            </a:endParaRPr>
          </a:p>
        </p:txBody>
      </p:sp>
      <p:sp>
        <p:nvSpPr>
          <p:cNvPr id="643" name="Google Shape;643;p5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50" name="Shape 650"/>
        <p:cNvGrpSpPr/>
        <p:nvPr/>
      </p:nvGrpSpPr>
      <p:grpSpPr>
        <a:xfrm>
          <a:off x="0" y="0"/>
          <a:ext cx="0" cy="0"/>
          <a:chOff x="0" y="0"/>
          <a:chExt cx="0" cy="0"/>
        </a:xfrm>
      </p:grpSpPr>
      <p:pic>
        <p:nvPicPr>
          <p:cNvPr descr="/home/claude/work/assets/rh-divider-bg.png" id="651" name="Google Shape;651;p6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52" name="Google Shape;652;p6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53" name="Google Shape;653;p6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54" name="Google Shape;654;p6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55" name="Google Shape;655;p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0" name="Shape 660"/>
        <p:cNvGrpSpPr/>
        <p:nvPr/>
      </p:nvGrpSpPr>
      <p:grpSpPr>
        <a:xfrm>
          <a:off x="0" y="0"/>
          <a:ext cx="0" cy="0"/>
          <a:chOff x="0" y="0"/>
          <a:chExt cx="0" cy="0"/>
        </a:xfrm>
      </p:grpSpPr>
      <p:sp>
        <p:nvSpPr>
          <p:cNvPr id="661" name="Google Shape;661;p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62" name="Google Shape;662;p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dn/20-api-metadata-openmetadata.png" id="663" name="Google Shape;663;p6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64" name="Google Shape;664;p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65" name="Google Shape;665;p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66" name="Google Shape;666;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1" name="Shape 671"/>
        <p:cNvGrpSpPr/>
        <p:nvPr/>
      </p:nvGrpSpPr>
      <p:grpSpPr>
        <a:xfrm>
          <a:off x="0" y="0"/>
          <a:ext cx="0" cy="0"/>
          <a:chOff x="0" y="0"/>
          <a:chExt cx="0" cy="0"/>
        </a:xfrm>
      </p:grpSpPr>
      <p:sp>
        <p:nvSpPr>
          <p:cNvPr id="672" name="Google Shape;672;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74" name="Google Shape;674;p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81" name="Shape 681"/>
        <p:cNvGrpSpPr/>
        <p:nvPr/>
      </p:nvGrpSpPr>
      <p:grpSpPr>
        <a:xfrm>
          <a:off x="0" y="0"/>
          <a:ext cx="0" cy="0"/>
          <a:chOff x="0" y="0"/>
          <a:chExt cx="0" cy="0"/>
        </a:xfrm>
      </p:grpSpPr>
      <p:pic>
        <p:nvPicPr>
          <p:cNvPr descr="/home/claude/work/assets/rh-divider-bg.png" id="682" name="Google Shape;682;p6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83" name="Google Shape;683;p6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84" name="Google Shape;684;p6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85" name="Google Shape;685;p6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86" name="Google Shape;686;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1" name="Shape 691"/>
        <p:cNvGrpSpPr/>
        <p:nvPr/>
      </p:nvGrpSpPr>
      <p:grpSpPr>
        <a:xfrm>
          <a:off x="0" y="0"/>
          <a:ext cx="0" cy="0"/>
          <a:chOff x="0" y="0"/>
          <a:chExt cx="0" cy="0"/>
        </a:xfrm>
      </p:grpSpPr>
      <p:sp>
        <p:nvSpPr>
          <p:cNvPr id="692" name="Google Shape;692;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dn/21-observability-pillars.png" id="694" name="Google Shape;694;p6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95" name="Google Shape;695;p6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dn/21b-observability-signals.png" id="705" name="Google Shape;705;p6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06" name="Google Shape;706;p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707" name="Google Shape;707;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8" name="Google Shape;708;p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3" name="Shape 713"/>
        <p:cNvGrpSpPr/>
        <p:nvPr/>
      </p:nvGrpSpPr>
      <p:grpSpPr>
        <a:xfrm>
          <a:off x="0" y="0"/>
          <a:ext cx="0" cy="0"/>
          <a:chOff x="0" y="0"/>
          <a:chExt cx="0" cy="0"/>
        </a:xfrm>
      </p:grpSpPr>
      <p:sp>
        <p:nvSpPr>
          <p:cNvPr id="714" name="Google Shape;714;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18" name="Google Shape;718;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26" name="Google Shape;726;p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activitySource.StartActivity(...), activity.SetTag(...), activity.AddEvent(...).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28" name="Google Shape;728;p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3" name="Shape 733"/>
        <p:cNvGrpSpPr/>
        <p:nvPr/>
      </p:nvGrpSpPr>
      <p:grpSpPr>
        <a:xfrm>
          <a:off x="0" y="0"/>
          <a:ext cx="0" cy="0"/>
          <a:chOff x="0" y="0"/>
          <a:chExt cx="0" cy="0"/>
        </a:xfrm>
      </p:grpSpPr>
      <p:sp>
        <p:nvSpPr>
          <p:cNvPr id="734" name="Google Shape;734;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5" name="Google Shape;735;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OpenTelemetry .NET</a:t>
            </a:r>
            <a:endParaRPr b="0" i="0" sz="30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68"/>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OpenTelemetry.NET</a:t>
            </a:r>
            <a:endParaRPr b="0" i="0" sz="1000" u="none" cap="none" strike="noStrike">
              <a:solidFill>
                <a:schemeClr val="dk1"/>
              </a:solidFill>
              <a:latin typeface="Calibri"/>
              <a:ea typeface="Calibri"/>
              <a:cs typeface="Calibri"/>
              <a:sym typeface="Calibri"/>
            </a:endParaRPr>
          </a:p>
        </p:txBody>
      </p:sp>
      <p:sp>
        <p:nvSpPr>
          <p:cNvPr id="738" name="Google Shape;738;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 OpenTelemetry .NET replaces Windows performance counters,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ETW and the Event Log with one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builder.Services.AddOpenTelemetry()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.ConfigureResource(r =&gt; r.AddService("order-service"))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.WithTracing(t =&gt; 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.AddAspNetCoreInstrumentation()        // every HTTP request → span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.AddSource("order-service")            // your own ActivitySource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.AddOtlpExporter())                    // endpoint and protocol from the env</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.WithMetrics(m =&gt; 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.AddMeter("order-service")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.AddOtlpExporter());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compose: OTEL_EXPORTER_OTLP_ENDPOINT=http://lgtm:4318</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OTEL_EXPORTER_OTLP_PROTOCOL=http/protobuf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custom business spans use the BCL ActivitySource (no extra dependency)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activitySource = new ActivitySource("order-service");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...parse sku and quantity from the 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reserveSpan = activitySource.StartActivity("reserve-stock");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reserveSpan?.SetTag("sku", sku);</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reply = await inventoryClient.ReserveStockAsync(          // gRPC; HttpClient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ReserveRequest { Sku = sku, Quantity = quantity });   // carries traceparent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...insert the order, produce order.placed: trace_id rides every hop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ASP.NET Core requests become spans with no code; ActivitySource is the built-in API for your own spans. OTLP ships traces to Tempo, metrics to Mimir, logs to Loki.</a:t>
            </a:r>
            <a:endParaRPr b="0" i="0" sz="13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1" name="Google Shape;741;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6" name="Shape 746"/>
        <p:cNvGrpSpPr/>
        <p:nvPr/>
      </p:nvGrpSpPr>
      <p:grpSpPr>
        <a:xfrm>
          <a:off x="0" y="0"/>
          <a:ext cx="0" cy="0"/>
          <a:chOff x="0" y="0"/>
          <a:chExt cx="0" cy="0"/>
        </a:xfrm>
      </p:grpSpPr>
      <p:sp>
        <p:nvSpPr>
          <p:cNvPr id="747" name="Google Shape;747;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8" name="Google Shape;748;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dn/21c-observability-correlation.png" id="749" name="Google Shape;749;p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50" name="Google Shape;750;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2" name="Google Shape;752;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7" name="Shape 757"/>
        <p:cNvGrpSpPr/>
        <p:nvPr/>
      </p:nvGrpSpPr>
      <p:grpSpPr>
        <a:xfrm>
          <a:off x="0" y="0"/>
          <a:ext cx="0" cy="0"/>
          <a:chOff x="0" y="0"/>
          <a:chExt cx="0" cy="0"/>
        </a:xfrm>
      </p:grpSpPr>
      <p:sp>
        <p:nvSpPr>
          <p:cNvPr id="758" name="Google Shape;758;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9" name="Google Shape;759;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 name="Google Shape;761;p70"/>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OpenTelemetry Baggage + Confluent.Kafka</a:t>
            </a:r>
            <a:endParaRPr b="0" i="0" sz="1000" u="none" cap="none" strike="noStrike">
              <a:solidFill>
                <a:schemeClr val="dk1"/>
              </a:solidFill>
              <a:latin typeface="Calibri"/>
              <a:ea typeface="Calibri"/>
              <a:cs typeface="Calibri"/>
              <a:sym typeface="Calibri"/>
            </a:endParaRPr>
          </a:p>
        </p:txBody>
      </p:sp>
      <p:sp>
        <p:nvSpPr>
          <p:cNvPr id="762" name="Google Shape;762;p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OpenTelemetry;                        // Baggage: the W3C baggage 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OpenTelemetry.Context.Propagation;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set at the edge in middleware; the propagator writes the baggage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app.Use(async (ctx, next)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Baggage.SetBaggage("tenant_id",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ctx.Request.Headers["X-Tenant"].FirstOrDefault() ?? "unknown");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next();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Confluent.Kafka has no built-in propagation: the producer injects the context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into the record headers and the consumer extracts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parent = Propagators.DefaultTextMapPropagator.Extract(default,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cr.Message.Headers, ReadHeaders);      // ReadHeaders: UTF-8 values for a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Baggage.Current = parent.Baggage;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var span = source.StartActivity("process_shipment", ActivityKind.Consumer,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parent.ActivityContext);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tenant = Baggage.GetBaggage("tenant_id");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span?.SetTag("tenant_id", tenant);          // filterable in the trace UI</a:t>
            </a:r>
            <a:endParaRPr b="0" i="0" sz="1000" u="none" cap="none" strike="noStrike">
              <a:solidFill>
                <a:schemeClr val="dk1"/>
              </a:solidFill>
              <a:latin typeface="Calibri"/>
              <a:ea typeface="Calibri"/>
              <a:cs typeface="Calibri"/>
              <a:sym typeface="Calibri"/>
            </a:endParaRPr>
          </a:p>
        </p:txBody>
      </p:sp>
      <p:sp>
        <p:nvSpPr>
          <p:cNvPr id="763" name="Google Shape;763;p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Baggage.SetBaggage at the edge; extract from the record headers and GetBaggage downstream. SetTag to filter traces.</a:t>
            </a:r>
            <a:endParaRPr b="0" i="0" sz="1300" u="none" cap="none" strike="noStrike">
              <a:solidFill>
                <a:schemeClr val="dk1"/>
              </a:solidFill>
              <a:latin typeface="Calibri"/>
              <a:ea typeface="Calibri"/>
              <a:cs typeface="Calibri"/>
              <a:sym typeface="Calibri"/>
            </a:endParaRPr>
          </a:p>
        </p:txBody>
      </p:sp>
      <p:sp>
        <p:nvSpPr>
          <p:cNvPr id="764" name="Google Shape;764;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5" name="Google Shape;765;p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0" name="Shape 770"/>
        <p:cNvGrpSpPr/>
        <p:nvPr/>
      </p:nvGrpSpPr>
      <p:grpSpPr>
        <a:xfrm>
          <a:off x="0" y="0"/>
          <a:ext cx="0" cy="0"/>
          <a:chOff x="0" y="0"/>
          <a:chExt cx="0" cy="0"/>
        </a:xfrm>
      </p:grpSpPr>
      <p:sp>
        <p:nvSpPr>
          <p:cNvPr id="771" name="Google Shape;771;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dn/22-observability-trace.png" id="773" name="Google Shape;773;p7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74" name="Google Shape;774;p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dn/21d-observability-sampling.png" id="784" name="Google Shape;784;p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85" name="Google Shape;785;p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86" name="Google Shape;786;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7" name="Google Shape;787;p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94" name="Google Shape;794;p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95" name="Google Shape;795;p73"/>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96" name="Google Shape;796;p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797" name="Google Shape;797;p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2" name="Shape 802"/>
        <p:cNvGrpSpPr/>
        <p:nvPr/>
      </p:nvGrpSpPr>
      <p:grpSpPr>
        <a:xfrm>
          <a:off x="0" y="0"/>
          <a:ext cx="0" cy="0"/>
          <a:chOff x="0" y="0"/>
          <a:chExt cx="0" cy="0"/>
        </a:xfrm>
      </p:grpSpPr>
      <p:sp>
        <p:nvSpPr>
          <p:cNvPr id="803" name="Google Shape;803;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805" name="Google Shape;805;p7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812" name="Shape 812"/>
        <p:cNvGrpSpPr/>
        <p:nvPr/>
      </p:nvGrpSpPr>
      <p:grpSpPr>
        <a:xfrm>
          <a:off x="0" y="0"/>
          <a:ext cx="0" cy="0"/>
          <a:chOff x="0" y="0"/>
          <a:chExt cx="0" cy="0"/>
        </a:xfrm>
      </p:grpSpPr>
      <p:pic>
        <p:nvPicPr>
          <p:cNvPr descr="/home/claude/work/assets/rh-divider-bg.png" id="813" name="Google Shape;813;p7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14" name="Google Shape;814;p7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815" name="Google Shape;815;p7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816" name="Google Shape;816;p7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817" name="Google Shape;817;p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dn/100-security-4cs.png" id="825" name="Google Shape;825;p76"/>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26" name="Google Shape;826;p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27" name="Google Shape;827;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8" name="Google Shape;828;p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3" name="Shape 833"/>
        <p:cNvGrpSpPr/>
        <p:nvPr/>
      </p:nvGrpSpPr>
      <p:grpSpPr>
        <a:xfrm>
          <a:off x="0" y="0"/>
          <a:ext cx="0" cy="0"/>
          <a:chOff x="0" y="0"/>
          <a:chExt cx="0" cy="0"/>
        </a:xfrm>
      </p:grpSpPr>
      <p:sp>
        <p:nvSpPr>
          <p:cNvPr id="834" name="Google Shape;834;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36" name="Google Shape;836;p77"/>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dn/101-security-sidecar.png" id="856" name="Google Shape;856;p7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69" name="Google Shape;869;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4" name="Shape 874"/>
        <p:cNvGrpSpPr/>
        <p:nvPr/>
      </p:nvGrpSpPr>
      <p:grpSpPr>
        <a:xfrm>
          <a:off x="0" y="0"/>
          <a:ext cx="0" cy="0"/>
          <a:chOff x="0" y="0"/>
          <a:chExt cx="0" cy="0"/>
        </a:xfrm>
      </p:grpSpPr>
      <p:sp>
        <p:nvSpPr>
          <p:cNvPr id="875" name="Google Shape;875;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76" name="Google Shape;876;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dn/102-security-valet-key.png" id="877" name="Google Shape;877;p81"/>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78" name="Google Shape;878;p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0" name="Google Shape;880;p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82"/>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HMACSHA256</a:t>
            </a:r>
            <a:endParaRPr b="0" i="0" sz="1000" u="none" cap="none" strike="noStrike">
              <a:solidFill>
                <a:schemeClr val="dk1"/>
              </a:solidFill>
              <a:latin typeface="Calibri"/>
              <a:ea typeface="Calibri"/>
              <a:cs typeface="Calibri"/>
              <a:sym typeface="Calibri"/>
            </a:endParaRPr>
          </a:p>
        </p:txBody>
      </p:sp>
      <p:sp>
        <p:nvSpPr>
          <p:cNvPr id="890" name="Google Shape;890;p82"/>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Program.cs (excerpt), examples/12-security/dotnet: an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valetSecret = builder.Configuration.GetValue("VALET_SECRET",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"demo-secret-do-not-use-in-prod");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app.MapPost("/valet-key", (HttpContext ctx)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resource = ctx.Request.Query["resource"].ToString();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operation = ctx.Request.Query["operation"].FirstOrDefault() ?? "GET";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expires = DateTimeOffset.UtcNow.ToUnixTimeSeconds()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payload = $"{resource}:{operation}:{expires}";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sig = ComputeHmac(valetSecret, payload);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Results.Ok(new { resource, operation, expires, token = sig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GET /verify-valet: 403 once expired, then a constant-time compare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(DateTimeOffset.UtcNow.ToUnixTimeSeconds() &gt;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detail = "expired valet key" }, statusCode: 403);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expected = ComputeHmac(valetSecret, $"{resource}:{operation}:{expires}");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(!CryptographicOperations.FixedTimeEquals(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Encoding.UTF8.GetBytes(token), Encoding.UTF8.GetBytes(expected)))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detail = "invalid or expired valet key" }, statusCode: 403);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ComputeHmac: HMACSHA256 keyed with the secret, Convert.ToHexStringLower of the hash</a:t>
            </a:r>
            <a:endParaRPr b="0" i="0" sz="10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dn/103-security-zero-trust.png" id="910" name="Google Shape;910;p84"/>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22" name="Google Shape;922;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3" name="Google Shape;923;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8" name="Shape 928"/>
        <p:cNvGrpSpPr/>
        <p:nvPr/>
      </p:nvGrpSpPr>
      <p:grpSpPr>
        <a:xfrm>
          <a:off x="0" y="0"/>
          <a:ext cx="0" cy="0"/>
          <a:chOff x="0" y="0"/>
          <a:chExt cx="0" cy="0"/>
        </a:xfrm>
      </p:grpSpPr>
      <p:sp>
        <p:nvSpPr>
          <p:cNvPr id="929" name="Google Shape;929;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30" name="Google Shape;930;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dn/104-security-policy-as-code.png" id="931" name="Google Shape;931;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2" name="Google Shape;932;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33" name="Google Shape;933;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4" name="Google Shape;934;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9" name="Shape 939"/>
        <p:cNvGrpSpPr/>
        <p:nvPr/>
      </p:nvGrpSpPr>
      <p:grpSpPr>
        <a:xfrm>
          <a:off x="0" y="0"/>
          <a:ext cx="0" cy="0"/>
          <a:chOff x="0" y="0"/>
          <a:chExt cx="0" cy="0"/>
        </a:xfrm>
      </p:grpSpPr>
      <p:sp>
        <p:nvSpPr>
          <p:cNvPr id="940" name="Google Shape;940;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41" name="Google Shape;941;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42" name="Google Shape;942;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87"/>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44" name="Google Shape;944;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45" name="Google Shape;945;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6" name="Google Shape;946;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sp>
        <p:nvSpPr>
          <p:cNvPr id="952" name="Google Shape;952;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53" name="Google Shape;953;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dn/105-security-bulkhead.png" id="954" name="Google Shape;954;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5" name="Google Shape;955;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7" name="Google Shape;957;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2" name="Shape 962"/>
        <p:cNvGrpSpPr/>
        <p:nvPr/>
      </p:nvGrpSpPr>
      <p:grpSpPr>
        <a:xfrm>
          <a:off x="0" y="0"/>
          <a:ext cx="0" cy="0"/>
          <a:chOff x="0" y="0"/>
          <a:chExt cx="0" cy="0"/>
        </a:xfrm>
      </p:grpSpPr>
      <p:sp>
        <p:nvSpPr>
          <p:cNvPr id="963" name="Google Shape;963;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64" name="Google Shape;964;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in ASP.NET Core</a:t>
            </a:r>
            <a:endParaRPr b="0" i="0" sz="3000" u="none" cap="none" strike="noStrike">
              <a:solidFill>
                <a:schemeClr val="dk1"/>
              </a:solidFill>
              <a:latin typeface="Calibri"/>
              <a:ea typeface="Calibri"/>
              <a:cs typeface="Calibri"/>
              <a:sym typeface="Calibri"/>
            </a:endParaRPr>
          </a:p>
        </p:txBody>
      </p:sp>
      <p:sp>
        <p:nvSpPr>
          <p:cNvPr id="965" name="Google Shape;965;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89"/>
          <p:cNvSpPr/>
          <p:nvPr/>
        </p:nvSpPr>
        <p:spPr>
          <a:xfrm>
            <a:off x="8251617" y="1700784"/>
            <a:ext cx="3281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RateLimiting</a:t>
            </a:r>
            <a:endParaRPr b="0" i="0" sz="1000" u="none" cap="none" strike="noStrike">
              <a:solidFill>
                <a:schemeClr val="dk1"/>
              </a:solidFill>
              <a:latin typeface="Calibri"/>
              <a:ea typeface="Calibri"/>
              <a:cs typeface="Calibri"/>
              <a:sym typeface="Calibri"/>
            </a:endParaRPr>
          </a:p>
        </p:txBody>
      </p:sp>
      <p:sp>
        <p:nvSpPr>
          <p:cNvPr id="967" name="Google Shape;967;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examples/12-security/dotnet/OrderService/Program.cs (condensed excerpts)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One concurrency limiter per tenant (System.Threading.RateLimiting): 5 permits, no 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const int BulkheadLimit =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bulkhead = PartitionedRateLimiter.Create&lt;string, string&gt;(tenant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RateLimitPartition.GetConcurrencyLimiter(tenant, _ =&gt; new ConcurrencyLimiterOptions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PermitLimit = BulkheadLimit,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QueueLimit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POST /orders: A's storm can't drain B's capacity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(OrderRequest body,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lease = await bulkhead.AcquireAsync(body.Tenant);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(!lease.IsAcquired)   // the tenant's 5 permits are taken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detail = "tenant bulkhead full"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statusCode: StatusCodes.Status429TooManyRequests);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create the order while the lease is held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69" name="Google Shape;969;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76" name="Google Shape;976;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dn/106-security-claim-check.png" id="977" name="Google Shape;977;p9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78" name="Google Shape;978;p9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0" name="Google Shape;980;p9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87" name="Google Shape;987;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 name="Google Shape;989;p91"/>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Confluent.Kafka</a:t>
            </a:r>
            <a:endParaRPr b="0" i="0" sz="1000" u="none" cap="none" strike="noStrike">
              <a:solidFill>
                <a:schemeClr val="dk1"/>
              </a:solidFill>
              <a:latin typeface="Calibri"/>
              <a:ea typeface="Calibri"/>
              <a:cs typeface="Calibri"/>
              <a:sym typeface="Calibri"/>
            </a:endParaRPr>
          </a:p>
        </p:txBody>
      </p:sp>
      <p:sp>
        <p:nvSpPr>
          <p:cNvPr id="990" name="Google Shape;990;p9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key = $"payloads/{orderId}";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await store.PutAsync(key, largePayload, encrypt: true);   // encrypted at rest, ACL'd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expires = DateTimeOffset.UtcNow.ToUnixTimeSeconds() + 900;</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token = ComputeHmac(valetSecret, $"{key}:GET:{expires}");   // GET only, 15 minutes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await producer.ProduceAsync("order.documents",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Message&lt;Null, string&gt; { Value = JsonSerializer.Serialize(new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order_id = 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uri = $"https://objects.internal/{key}",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resource = key, operation = "GET", expires, 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                                             // claim only: small, routable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consumer: read the claim, fetch the body out of band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claim = JsonSerializer.Deserialize&lt;Claim&gt;(cr.Message.Value)!;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body = await store.GetAsync(claim.Uri, claim.Token);  // PII never touched the topic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consumer.Commit(cr);</a:t>
            </a:r>
            <a:endParaRPr b="0" i="0" sz="850" u="none" cap="none" strike="noStrike">
              <a:solidFill>
                <a:schemeClr val="dk1"/>
              </a:solidFill>
              <a:latin typeface="Calibri"/>
              <a:ea typeface="Calibri"/>
              <a:cs typeface="Calibri"/>
              <a:sym typeface="Calibri"/>
            </a:endParaRPr>
          </a:p>
        </p:txBody>
      </p:sp>
      <p:sp>
        <p:nvSpPr>
          <p:cNvPr id="991" name="Google Shape;991;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2" name="Google Shape;992;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7" name="Shape 997"/>
        <p:cNvGrpSpPr/>
        <p:nvPr/>
      </p:nvGrpSpPr>
      <p:grpSpPr>
        <a:xfrm>
          <a:off x="0" y="0"/>
          <a:ext cx="0" cy="0"/>
          <a:chOff x="0" y="0"/>
          <a:chExt cx="0" cy="0"/>
        </a:xfrm>
      </p:grpSpPr>
      <p:sp>
        <p:nvSpPr>
          <p:cNvPr id="998" name="Google Shape;998;p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9" name="Google Shape;999;p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1000" name="Google Shape;1000;p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1001" name="Google Shape;1001;p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02" name="Google Shape;1002;p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7" name="Shape 1007"/>
        <p:cNvGrpSpPr/>
        <p:nvPr/>
      </p:nvGrpSpPr>
      <p:grpSpPr>
        <a:xfrm>
          <a:off x="0" y="0"/>
          <a:ext cx="0" cy="0"/>
          <a:chOff x="0" y="0"/>
          <a:chExt cx="0" cy="0"/>
        </a:xfrm>
      </p:grpSpPr>
      <p:sp>
        <p:nvSpPr>
          <p:cNvPr id="1008" name="Google Shape;1008;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1009" name="Google Shape;1009;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17" name="Shape 1017"/>
        <p:cNvGrpSpPr/>
        <p:nvPr/>
      </p:nvGrpSpPr>
      <p:grpSpPr>
        <a:xfrm>
          <a:off x="0" y="0"/>
          <a:ext cx="0" cy="0"/>
          <a:chOff x="0" y="0"/>
          <a:chExt cx="0" cy="0"/>
        </a:xfrm>
      </p:grpSpPr>
      <p:pic>
        <p:nvPicPr>
          <p:cNvPr descr="/home/claude/work/assets/rh-divider-bg.png" id="1018" name="Google Shape;1018;p9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19" name="Google Shape;1019;p9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1020" name="Google Shape;1020;p9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21" name="Google Shape;1021;p9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22" name="Google Shape;1022;p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dn/23-anti-patterns-grid.png" id="1030" name="Google Shape;1030;p95"/>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31" name="Google Shape;1031;p9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3" name="Google Shape;1033;p9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8" name="Shape 1038"/>
        <p:cNvGrpSpPr/>
        <p:nvPr/>
      </p:nvGrpSpPr>
      <p:grpSpPr>
        <a:xfrm>
          <a:off x="0" y="0"/>
          <a:ext cx="0" cy="0"/>
          <a:chOff x="0" y="0"/>
          <a:chExt cx="0" cy="0"/>
        </a:xfrm>
      </p:grpSpPr>
      <p:sp>
        <p:nvSpPr>
          <p:cNvPr id="1039" name="Google Shape;1039;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3" name="Google Shape;1043;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8" name="Shape 1048"/>
        <p:cNvGrpSpPr/>
        <p:nvPr/>
      </p:nvGrpSpPr>
      <p:grpSpPr>
        <a:xfrm>
          <a:off x="0" y="0"/>
          <a:ext cx="0" cy="0"/>
          <a:chOff x="0" y="0"/>
          <a:chExt cx="0" cy="0"/>
        </a:xfrm>
      </p:grpSpPr>
      <p:sp>
        <p:nvSpPr>
          <p:cNvPr id="1049" name="Google Shape;1049;p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50" name="Google Shape;1050;p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51" name="Google Shape;1051;p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52" name="Google Shape;1052;p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53" name="Google Shape;1053;p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8" name="Shape 1058"/>
        <p:cNvGrpSpPr/>
        <p:nvPr/>
      </p:nvGrpSpPr>
      <p:grpSpPr>
        <a:xfrm>
          <a:off x="0" y="0"/>
          <a:ext cx="0" cy="0"/>
          <a:chOff x="0" y="0"/>
          <a:chExt cx="0" cy="0"/>
        </a:xfrm>
      </p:grpSpPr>
      <p:sp>
        <p:nvSpPr>
          <p:cNvPr id="1059" name="Google Shape;1059;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ASP.NET Core 10 reference (learn.microsoft.com/aspnet/core), OpenTelemetry .NET, Temporal .NET SDK (docs.temporal.io/dev-guide/dotnet), Confluent.Kafka, HotChocolate, Streamiz.Kafka.Net, EF Core and Debezium docs — for the runtime specifics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63" name="Google Shape;1063;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68" name="Shape 1068"/>
        <p:cNvGrpSpPr/>
        <p:nvPr/>
      </p:nvGrpSpPr>
      <p:grpSpPr>
        <a:xfrm>
          <a:off x="0" y="0"/>
          <a:ext cx="0" cy="0"/>
          <a:chOff x="0" y="0"/>
          <a:chExt cx="0" cy="0"/>
        </a:xfrm>
      </p:grpSpPr>
      <p:pic>
        <p:nvPicPr>
          <p:cNvPr descr="/home/claude/work/assets/rh-divider-bg.png" id="1069" name="Google Shape;1069;p9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0" name="Google Shape;1070;p99"/>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71" name="Google Shape;1071;p99"/>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72" name="Google Shape;1072;p9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7" name="Shape 1077"/>
        <p:cNvGrpSpPr/>
        <p:nvPr/>
      </p:nvGrpSpPr>
      <p:grpSpPr>
        <a:xfrm>
          <a:off x="0" y="0"/>
          <a:ext cx="0" cy="0"/>
          <a:chOff x="0" y="0"/>
          <a:chExt cx="0" cy="0"/>
        </a:xfrm>
      </p:grpSpPr>
      <p:sp>
        <p:nvSpPr>
          <p:cNvPr id="1078" name="Google Shape;1078;p1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9" name="Google Shape;1079;p1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80" name="Google Shape;1080;p10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which sets a key and its TTL atomically); ORM (Object-Relational Mapping); EF Core (Entity Framework Core, .NET's ORM); LINQ (Language-Integrated Query).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81" name="Google Shape;1081;p1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82" name="Google Shape;1082;p1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7" name="Shape 1087"/>
        <p:cNvGrpSpPr/>
        <p:nvPr/>
      </p:nvGrpSpPr>
      <p:grpSpPr>
        <a:xfrm>
          <a:off x="0" y="0"/>
          <a:ext cx="0" cy="0"/>
          <a:chOff x="0" y="0"/>
          <a:chExt cx="0" cy="0"/>
        </a:xfrm>
      </p:grpSpPr>
      <p:sp>
        <p:nvSpPr>
          <p:cNvPr id="1088" name="Google Shape;1088;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89" name="Google Shape;1089;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90" name="Google Shape;1090;p1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CLR (Common Language Runtime, .NET's execution engine); BCL (Base Class Library); JIT (Just-In-Time compilation); AOT (Ahead-Of-Time / Native AOT compilation); GC (Garbage Collection); DI (Dependency Injection); DTO (Data Transfer Object); LINQ (Language-Integrated Query).</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97" name="Shape 1097"/>
        <p:cNvGrpSpPr/>
        <p:nvPr/>
      </p:nvGrpSpPr>
      <p:grpSpPr>
        <a:xfrm>
          <a:off x="0" y="0"/>
          <a:ext cx="0" cy="0"/>
          <a:chOff x="0" y="0"/>
          <a:chExt cx="0" cy="0"/>
        </a:xfrm>
      </p:grpSpPr>
      <p:pic>
        <p:nvPicPr>
          <p:cNvPr descr="/home/claude/work/assets/rh-divider-bg.png" id="1098" name="Google Shape;1098;p10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99" name="Google Shape;1099;p10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100" name="Google Shape;1100;p10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101" name="Google Shape;1101;p10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102" name="Google Shape;1102;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7" name="Shape 1107"/>
        <p:cNvGrpSpPr/>
        <p:nvPr/>
      </p:nvGrpSpPr>
      <p:grpSpPr>
        <a:xfrm>
          <a:off x="0" y="0"/>
          <a:ext cx="0" cy="0"/>
          <a:chOff x="0" y="0"/>
          <a:chExt cx="0" cy="0"/>
        </a:xfrm>
      </p:grpSpPr>
      <p:sp>
        <p:nvSpPr>
          <p:cNvPr id="1108" name="Google Shape;1108;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9" name="Google Shape;1109;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dn/24-appA-paradigms.png" id="1110" name="Google Shape;1110;p10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11" name="Google Shape;1111;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112" name="Google Shape;1112;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3" name="Google Shape;1113;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0" name="Google Shape;1120;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dn/25-appA-fetching.png" id="1121" name="Google Shape;1121;p10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22" name="Google Shape;1122;p1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dn/26-appA-transport.png" id="1132" name="Google Shape;1132;p1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33" name="Google Shape;1133;p1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5" name="Google Shape;1135;p1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0" name="Shape 1140"/>
        <p:cNvGrpSpPr/>
        <p:nvPr/>
      </p:nvGrpSpPr>
      <p:grpSpPr>
        <a:xfrm>
          <a:off x="0" y="0"/>
          <a:ext cx="0" cy="0"/>
          <a:chOff x="0" y="0"/>
          <a:chExt cx="0" cy="0"/>
        </a:xfrm>
      </p:grpSpPr>
      <p:sp>
        <p:nvSpPr>
          <p:cNvPr id="1141" name="Google Shape;1141;p1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42" name="Google Shape;1142;p1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43" name="Google Shape;1143;p1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44" name="Google Shape;1144;p1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45" name="Google Shape;1145;p1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0" name="Shape 1150"/>
        <p:cNvGrpSpPr/>
        <p:nvPr/>
      </p:nvGrpSpPr>
      <p:grpSpPr>
        <a:xfrm>
          <a:off x="0" y="0"/>
          <a:ext cx="0" cy="0"/>
          <a:chOff x="0" y="0"/>
          <a:chExt cx="0" cy="0"/>
        </a:xfrm>
      </p:grpSpPr>
      <p:sp>
        <p:nvSpPr>
          <p:cNvPr id="1151" name="Google Shape;1151;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52" name="Google Shape;1152;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53" name="Google Shape;1153;p1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60" name="Shape 1160"/>
        <p:cNvGrpSpPr/>
        <p:nvPr/>
      </p:nvGrpSpPr>
      <p:grpSpPr>
        <a:xfrm>
          <a:off x="0" y="0"/>
          <a:ext cx="0" cy="0"/>
          <a:chOff x="0" y="0"/>
          <a:chExt cx="0" cy="0"/>
        </a:xfrm>
      </p:grpSpPr>
      <p:pic>
        <p:nvPicPr>
          <p:cNvPr descr="/home/claude/work/assets/rh-divider-bg.png" id="1161" name="Google Shape;1161;p1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62" name="Google Shape;1162;p1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63" name="Google Shape;1163;p1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64" name="Google Shape;1164;p1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65" name="Google Shape;1165;p1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0" name="Shape 1170"/>
        <p:cNvGrpSpPr/>
        <p:nvPr/>
      </p:nvGrpSpPr>
      <p:grpSpPr>
        <a:xfrm>
          <a:off x="0" y="0"/>
          <a:ext cx="0" cy="0"/>
          <a:chOff x="0" y="0"/>
          <a:chExt cx="0" cy="0"/>
        </a:xfrm>
      </p:grpSpPr>
      <p:sp>
        <p:nvSpPr>
          <p:cNvPr id="1171" name="Google Shape;1171;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2" name="Google Shape;1172;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dn/27-appB-rest-versioning.png" id="1173" name="Google Shape;1173;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4" name="Google Shape;1174;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6" name="Google Shape;1176;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1" name="Shape 1181"/>
        <p:cNvGrpSpPr/>
        <p:nvPr/>
      </p:nvGrpSpPr>
      <p:grpSpPr>
        <a:xfrm>
          <a:off x="0" y="0"/>
          <a:ext cx="0" cy="0"/>
          <a:chOff x="0" y="0"/>
          <a:chExt cx="0" cy="0"/>
        </a:xfrm>
      </p:grpSpPr>
      <p:sp>
        <p:nvSpPr>
          <p:cNvPr id="1182" name="Google Shape;1182;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3" name="Google Shape;1183;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ASP.NET Core</a:t>
            </a:r>
            <a:endParaRPr b="0" i="0" sz="3000" u="none" cap="none" strike="noStrike">
              <a:solidFill>
                <a:schemeClr val="dk1"/>
              </a:solidFill>
              <a:latin typeface="Calibri"/>
              <a:ea typeface="Calibri"/>
              <a:cs typeface="Calibri"/>
              <a:sym typeface="Calibri"/>
            </a:endParaRPr>
          </a:p>
        </p:txBody>
      </p:sp>
      <p:sp>
        <p:nvSpPr>
          <p:cNvPr id="1184" name="Google Shape;1184;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 name="Google Shape;1185;p110"/>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Asp.Versioning</a:t>
            </a:r>
            <a:endParaRPr b="0" i="0" sz="1000" u="none" cap="none" strike="noStrike">
              <a:solidFill>
                <a:schemeClr val="dk1"/>
              </a:solidFill>
              <a:latin typeface="Calibri"/>
              <a:ea typeface="Calibri"/>
              <a:cs typeface="Calibri"/>
              <a:sym typeface="Calibri"/>
            </a:endParaRPr>
          </a:p>
        </p:txBody>
      </p:sp>
      <p:sp>
        <p:nvSpPr>
          <p:cNvPr id="1186" name="Google Shape;1186;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Asp.Versioning.Http (MIT, .NET Foundation): media-type, URI segment,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query string or header versioning, picked centrally.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builder.Services.AddApiVersioning(o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o.ApiVersionReader = new MediaTypeApiVersionReaderBuilder()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.Template("application/vnd.acme.order.v{version}+json")   // Accept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o.DefaultApiVersion = new ApiVersion(1,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o.AssumeDefaultVersionWhenUnspecified = 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one resource URL, /orders/{id}; the representation is versioned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app.NewVersionedApi("Orders").MapGroup("/orders")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.HasApiVersion(1, 0).HasApiVersion(2,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 OrderV2.From(svc.Get(id)))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.MapToApiVersion(2,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 OrderV1.From(svc.Get(id)))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.MapToApiVersion(1, 0);                     // the default for old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OrderV1(string Id, double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OrderV2(string Id, double Total, string Currency);</a:t>
            </a:r>
            <a:endParaRPr b="0" i="0" sz="1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88" name="Google Shape;1188;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89" name="Google Shape;1189;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4" name="Shape 1194"/>
        <p:cNvGrpSpPr/>
        <p:nvPr/>
      </p:nvGrpSpPr>
      <p:grpSpPr>
        <a:xfrm>
          <a:off x="0" y="0"/>
          <a:ext cx="0" cy="0"/>
          <a:chOff x="0" y="0"/>
          <a:chExt cx="0" cy="0"/>
        </a:xfrm>
      </p:grpSpPr>
      <p:sp>
        <p:nvSpPr>
          <p:cNvPr id="1195" name="Google Shape;1195;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6" name="Google Shape;1196;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dn/28-appB-proto-evolution.png" id="1197" name="Google Shape;1197;p11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98" name="Google Shape;1198;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0" name="Google Shape;1200;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5" name="Shape 1205"/>
        <p:cNvGrpSpPr/>
        <p:nvPr/>
      </p:nvGrpSpPr>
      <p:grpSpPr>
        <a:xfrm>
          <a:off x="0" y="0"/>
          <a:ext cx="0" cy="0"/>
          <a:chOff x="0" y="0"/>
          <a:chExt cx="0" cy="0"/>
        </a:xfrm>
      </p:grpSpPr>
      <p:sp>
        <p:nvSpPr>
          <p:cNvPr id="1206" name="Google Shape;1206;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7" name="Google Shape;1207;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208" name="Google Shape;1208;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210" name="Google Shape;1210;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212" name="Google Shape;1212;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3" name="Google Shape;1213;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8" name="Shape 1218"/>
        <p:cNvGrpSpPr/>
        <p:nvPr/>
      </p:nvGrpSpPr>
      <p:grpSpPr>
        <a:xfrm>
          <a:off x="0" y="0"/>
          <a:ext cx="0" cy="0"/>
          <a:chOff x="0" y="0"/>
          <a:chExt cx="0" cy="0"/>
        </a:xfrm>
      </p:grpSpPr>
      <p:sp>
        <p:nvSpPr>
          <p:cNvPr id="1219" name="Google Shape;1219;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0" name="Google Shape;1220;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dn/29-appB-graphql-evolution.png" id="1221" name="Google Shape;1221;p1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22" name="Google Shape;1222;p1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4" name="Google Shape;1224;p1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9" name="Shape 1229"/>
        <p:cNvGrpSpPr/>
        <p:nvPr/>
      </p:nvGrpSpPr>
      <p:grpSpPr>
        <a:xfrm>
          <a:off x="0" y="0"/>
          <a:ext cx="0" cy="0"/>
          <a:chOff x="0" y="0"/>
          <a:chExt cx="0" cy="0"/>
        </a:xfrm>
      </p:grpSpPr>
      <p:sp>
        <p:nvSpPr>
          <p:cNvPr id="1230" name="Google Shape;1230;p1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31" name="Google Shape;1231;p1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HotChocolate</a:t>
            </a:r>
            <a:endParaRPr b="0" i="0" sz="3000" u="none" cap="none" strike="noStrike">
              <a:solidFill>
                <a:schemeClr val="dk1"/>
              </a:solidFill>
              <a:latin typeface="Calibri"/>
              <a:ea typeface="Calibri"/>
              <a:cs typeface="Calibri"/>
              <a:sym typeface="Calibri"/>
            </a:endParaRPr>
          </a:p>
        </p:txBody>
      </p:sp>
      <p:sp>
        <p:nvSpPr>
          <p:cNvPr id="1232" name="Google Shape;1232;p1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114"/>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graphql · .NET 10 + HotChocolate</a:t>
            </a:r>
            <a:endParaRPr b="0" i="0" sz="1000" u="none" cap="none" strike="noStrike">
              <a:solidFill>
                <a:schemeClr val="dk1"/>
              </a:solidFill>
              <a:latin typeface="Calibri"/>
              <a:ea typeface="Calibri"/>
              <a:cs typeface="Calibri"/>
              <a:sym typeface="Calibri"/>
            </a:endParaRPr>
          </a:p>
        </p:txBody>
      </p:sp>
      <p:sp>
        <p:nvSpPr>
          <p:cNvPr id="1234" name="Google Shape;1234;p1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HotChocolate — [GraphQLDeprecated] maps to the SDL @deprecated directive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string Id { get; init;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[GraphQLDeprecated("Use totalMinor (integer cents) instead.")]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double Total { get; init; }           // still served; shows in introspection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int TotalMinor =&gt; (int)(Total * 100); // the replacement, added additively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Schema-first alternative, if your team prefers .graphql files: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type Order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id: 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total: Float @deprecated(reason: "Use totalMinor (integer cents) instead.")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totalMinor: Int!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Per-field usage counters (a diagnostic event listener exporting to OpenTelemetry)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show when 'total' has zero callers. Only then remove it. No /v2 endpoint.</a:t>
            </a:r>
            <a:endParaRPr b="0" i="0" sz="1050" u="none" cap="none" strike="noStrike">
              <a:solidFill>
                <a:schemeClr val="dk1"/>
              </a:solidFill>
              <a:latin typeface="Calibri"/>
              <a:ea typeface="Calibri"/>
              <a:cs typeface="Calibri"/>
              <a:sym typeface="Calibri"/>
            </a:endParaRPr>
          </a:p>
        </p:txBody>
      </p:sp>
      <p:sp>
        <p:nvSpPr>
          <p:cNvPr id="1235" name="Google Shape;1235;p1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[GraphQLDeprecated]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36" name="Google Shape;1236;p1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37" name="Google Shape;1237;p1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2" name="Shape 1242"/>
        <p:cNvGrpSpPr/>
        <p:nvPr/>
      </p:nvGrpSpPr>
      <p:grpSpPr>
        <a:xfrm>
          <a:off x="0" y="0"/>
          <a:ext cx="0" cy="0"/>
          <a:chOff x="0" y="0"/>
          <a:chExt cx="0" cy="0"/>
        </a:xfrm>
      </p:grpSpPr>
      <p:sp>
        <p:nvSpPr>
          <p:cNvPr id="1243" name="Google Shape;1243;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45" name="Google Shape;1245;p11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47" name="Google Shape;1247;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52" name="Shape 1252"/>
        <p:cNvGrpSpPr/>
        <p:nvPr/>
      </p:nvGrpSpPr>
      <p:grpSpPr>
        <a:xfrm>
          <a:off x="0" y="0"/>
          <a:ext cx="0" cy="0"/>
          <a:chOff x="0" y="0"/>
          <a:chExt cx="0" cy="0"/>
        </a:xfrm>
      </p:grpSpPr>
      <p:pic>
        <p:nvPicPr>
          <p:cNvPr descr="/home/claude/work/assets/rh-divider-bg.png" id="1253" name="Google Shape;1253;p1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54" name="Google Shape;1254;p1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55" name="Google Shape;1255;p1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56" name="Google Shape;1256;p1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Raw WebSockets, pod pinning, the backplane, binary framing, reconnection — and where Blazor fits.</a:t>
            </a:r>
            <a:endParaRPr b="0" i="0" sz="1500" u="none" cap="none" strike="noStrike">
              <a:solidFill>
                <a:schemeClr val="dk1"/>
              </a:solidFill>
              <a:latin typeface="Calibri"/>
              <a:ea typeface="Calibri"/>
              <a:cs typeface="Calibri"/>
              <a:sym typeface="Calibri"/>
            </a:endParaRPr>
          </a:p>
        </p:txBody>
      </p:sp>
      <p:pic>
        <p:nvPicPr>
          <p:cNvPr descr="/home/claude/work/assets/rh-logo-white.png" id="1257" name="Google Shape;1257;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2" name="Shape 1262"/>
        <p:cNvGrpSpPr/>
        <p:nvPr/>
      </p:nvGrpSpPr>
      <p:grpSpPr>
        <a:xfrm>
          <a:off x="0" y="0"/>
          <a:ext cx="0" cy="0"/>
          <a:chOff x="0" y="0"/>
          <a:chExt cx="0" cy="0"/>
        </a:xfrm>
      </p:grpSpPr>
      <p:sp>
        <p:nvSpPr>
          <p:cNvPr id="1263" name="Google Shape;1263;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4" name="Google Shape;1264;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ASP.NET Core</a:t>
            </a:r>
            <a:endParaRPr b="0" i="0" sz="3000" u="none" cap="none" strike="noStrike">
              <a:solidFill>
                <a:schemeClr val="dk1"/>
              </a:solidFill>
              <a:latin typeface="Calibri"/>
              <a:ea typeface="Calibri"/>
              <a:cs typeface="Calibri"/>
              <a:sym typeface="Calibri"/>
            </a:endParaRPr>
          </a:p>
        </p:txBody>
      </p:sp>
      <p:sp>
        <p:nvSpPr>
          <p:cNvPr id="1265" name="Google Shape;1265;p1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 name="Google Shape;1266;p11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WebSockets</a:t>
            </a:r>
            <a:endParaRPr b="0" i="0" sz="1000" u="none" cap="none" strike="noStrike">
              <a:solidFill>
                <a:schemeClr val="dk1"/>
              </a:solidFill>
              <a:latin typeface="Calibri"/>
              <a:ea typeface="Calibri"/>
              <a:cs typeface="Calibri"/>
              <a:sym typeface="Calibri"/>
            </a:endParaRPr>
          </a:p>
        </p:txBody>
      </p:sp>
      <p:sp>
        <p:nvSpPr>
          <p:cNvPr id="1267" name="Google Shape;1267;p1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raw ASP.NET Core WebSockets, as in the running example (no SignalR)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app.UseWebSockets();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app.Map("/ws/{clientId}", async (HttpContext ctx, string clientId)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(!ctx.WebSockets.IsWebSocketRequest) { ctx.Response.StatusCode = 400; return;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ws = await ctx.WebSockets.AcceptWebSocketAsync();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clients[clientId] = ws;                             // per-pod 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buf = new byte[4096];</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while (ws.State == WebSocketState.Open)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result = await ws.ReceiveAsync(buf, CancellationToken.None);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(result.MessageType == WebSocketMessageType.Close) break;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msg = Encoding.UTF8.GetString(buf, 0, result.Count);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Broadcast(msg);                           // fan-out to this pod's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clients.TryRemove(clientId, out _);</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Raw ASP.NET Core WebSockets, as in the running example. The clients map lives in this Pod: that single fact is the scaling problem.</a:t>
            </a:r>
            <a:endParaRPr b="0" i="0" sz="13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dn/30-appC-pinning.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90" name="Google Shape;1290;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1" name="Google Shape;1291;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6" name="Shape 1296"/>
        <p:cNvGrpSpPr/>
        <p:nvPr/>
      </p:nvGrpSpPr>
      <p:grpSpPr>
        <a:xfrm>
          <a:off x="0" y="0"/>
          <a:ext cx="0" cy="0"/>
          <a:chOff x="0" y="0"/>
          <a:chExt cx="0" cy="0"/>
        </a:xfrm>
      </p:grpSpPr>
      <p:sp>
        <p:nvSpPr>
          <p:cNvPr id="1297" name="Google Shape;1297;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8" name="Google Shape;1298;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dn/31-appC-backplane.png" id="1299" name="Google Shape;1299;p1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00" name="Google Shape;1300;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2" name="Google Shape;1302;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7" name="Shape 1307"/>
        <p:cNvGrpSpPr/>
        <p:nvPr/>
      </p:nvGrpSpPr>
      <p:grpSpPr>
        <a:xfrm>
          <a:off x="0" y="0"/>
          <a:ext cx="0" cy="0"/>
          <a:chOff x="0" y="0"/>
          <a:chExt cx="0" cy="0"/>
        </a:xfrm>
      </p:grpSpPr>
      <p:sp>
        <p:nvSpPr>
          <p:cNvPr id="1308" name="Google Shape;1308;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9" name="Google Shape;1309;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310" name="Google Shape;1310;p1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12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Google.Protobuf + WebSockets</a:t>
            </a:r>
            <a:endParaRPr b="0" i="0" sz="1000" u="none" cap="none" strike="noStrike">
              <a:solidFill>
                <a:schemeClr val="dk1"/>
              </a:solidFill>
              <a:latin typeface="Calibri"/>
              <a:ea typeface="Calibri"/>
              <a:cs typeface="Calibri"/>
              <a:sym typeface="Calibri"/>
            </a:endParaRPr>
          </a:p>
        </p:txBody>
      </p:sp>
      <p:sp>
        <p:nvSpPr>
          <p:cNvPr id="1312" name="Google Shape;1312;p1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raw System.Net.WebSockets: a protobuf binary frame, not JSON text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async Task Push(WebSocket socket, ulong seq, OrderPlaced ev)</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env = new Envelope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Version = 2, Seq = seq, Type = "OrderPlaced",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Payload = ev.ToByteString() };                // nested protobuf</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socket.SendAsync(env.ToByteArray(),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WebSocketMessageType.Binary, endOfMessage: true,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receive: parse the Envelope, dispatch on 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result = await ws.ReceiveAsync(buf,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if (result.MessageType == WebSocketMessageType.Binary)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env = Envelope.Parser.ParseFrom(buf, 0, result.Count);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switch (env.Type)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case "OrderPlaced":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HandleOrderPlaced(env.Seq, OrderPlaced.Parser.ParseFrom(env.Payload));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0" name="Shape 1320"/>
        <p:cNvGrpSpPr/>
        <p:nvPr/>
      </p:nvGrpSpPr>
      <p:grpSpPr>
        <a:xfrm>
          <a:off x="0" y="0"/>
          <a:ext cx="0" cy="0"/>
          <a:chOff x="0" y="0"/>
          <a:chExt cx="0" cy="0"/>
        </a:xfrm>
      </p:grpSpPr>
      <p:sp>
        <p:nvSpPr>
          <p:cNvPr id="1321" name="Google Shape;1321;p1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22" name="Google Shape;1322;p1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dn/32-appC-reconnect.png" id="1323" name="Google Shape;1323;p1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24" name="Google Shape;1324;p1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25" name="Google Shape;1325;p1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26" name="Google Shape;1326;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1" name="Shape 1331"/>
        <p:cNvGrpSpPr/>
        <p:nvPr/>
      </p:nvGrpSpPr>
      <p:grpSpPr>
        <a:xfrm>
          <a:off x="0" y="0"/>
          <a:ext cx="0" cy="0"/>
          <a:chOff x="0" y="0"/>
          <a:chExt cx="0" cy="0"/>
        </a:xfrm>
      </p:grpSpPr>
      <p:sp>
        <p:nvSpPr>
          <p:cNvPr id="1332" name="Google Shape;1332;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33" name="Google Shape;1333;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34" name="Google Shape;1334;p12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(SignalR ships keep-alive built in: KeepAliveInterval defaults to 15s, ClientTimeoutInterval to 30s); reconnect with exponential backoff + jitter (also built into the JS / .NET clients);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on Kubernetes: Server vs WebAssembly</a:t>
            </a:r>
            <a:endParaRPr b="0" i="0" sz="3000" u="none" cap="none" strike="noStrike">
              <a:solidFill>
                <a:schemeClr val="dk1"/>
              </a:solidFill>
              <a:latin typeface="Calibri"/>
              <a:ea typeface="Calibri"/>
              <a:cs typeface="Calibri"/>
              <a:sym typeface="Calibri"/>
            </a:endParaRPr>
          </a:p>
        </p:txBody>
      </p:sp>
      <p:pic>
        <p:nvPicPr>
          <p:cNvPr descr="/home/claude/work/png-dn/32b-appC-blazor-architectures.png" id="1344" name="Google Shape;1344;p124"/>
          <p:cNvPicPr preferRelativeResize="0"/>
          <p:nvPr/>
        </p:nvPicPr>
        <p:blipFill rotWithShape="1">
          <a:blip r:embed="rId3">
            <a:alphaModFix/>
          </a:blip>
          <a:srcRect b="0" l="0" r="0" t="0"/>
          <a:stretch/>
        </p:blipFill>
        <p:spPr>
          <a:xfrm>
            <a:off x="1924011" y="1600200"/>
            <a:ext cx="8343675" cy="4526281"/>
          </a:xfrm>
          <a:prstGeom prst="rect">
            <a:avLst/>
          </a:prstGeom>
          <a:noFill/>
          <a:ln>
            <a:noFill/>
          </a:ln>
        </p:spPr>
      </p:pic>
      <p:sp>
        <p:nvSpPr>
          <p:cNvPr id="1345" name="Google Shape;1345;p1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Blazor hosting models with different scaling profiles; both run on plain ASP.NET Core Pods and need no managed SignalR service.</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47" name="Google Shape;1347;p1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2" name="Shape 1352"/>
        <p:cNvGrpSpPr/>
        <p:nvPr/>
      </p:nvGrpSpPr>
      <p:grpSpPr>
        <a:xfrm>
          <a:off x="0" y="0"/>
          <a:ext cx="0" cy="0"/>
          <a:chOff x="0" y="0"/>
          <a:chExt cx="0" cy="0"/>
        </a:xfrm>
      </p:grpSpPr>
      <p:sp>
        <p:nvSpPr>
          <p:cNvPr id="1353" name="Google Shape;1353;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54" name="Google Shape;1354;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Blazor Server and Blazor WebAssembly</a:t>
            </a:r>
            <a:endParaRPr b="0" i="0" sz="3000" u="none" cap="none" strike="noStrike">
              <a:solidFill>
                <a:schemeClr val="dk1"/>
              </a:solidFill>
              <a:latin typeface="Calibri"/>
              <a:ea typeface="Calibri"/>
              <a:cs typeface="Calibri"/>
              <a:sym typeface="Calibri"/>
            </a:endParaRPr>
          </a:p>
        </p:txBody>
      </p:sp>
      <p:sp>
        <p:nvSpPr>
          <p:cNvPr id="1355" name="Google Shape;1355;p1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 inherits everything in this appendix. SignalR-pinned; needs Redis backplane to scale (Microsoft.AspNetCore.SignalR.StackExchangeRedis, Apache 2.0); KEDA scales on connection count, not CPU; every deploy disconnects everyone.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WebAssembly — escapes everything in this appendix. No persistent connection; static-file host scales like nginx; deploys are an atomic file swap; client runs .NET in WASM with full C# capability.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Cost trade: Server has tiny client download but pays per-interaction round-trip latency and server-side memory per user. WebAssembly has a larger first-load (mitigated by AOT + trimming in .NET 8+, smaller again in .NET 10) but zero server state per user.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 trade: Server uses normal cookie / server-side identity (the WCF / IIS-era mental model). WebAssembly uses bearer tokens visible to the browser — OAuth2 / OIDC with public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Both are MIT, both run on Kubernetes as plain ASP.NET Core Pods, both work without any managed cloud service. Open-source Redis for the backplane is all you need.</a:t>
            </a:r>
            <a:endParaRPr b="0" i="0" sz="17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57" name="Google Shape;1357;p1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62" name="Shape 1362"/>
        <p:cNvGrpSpPr/>
        <p:nvPr/>
      </p:nvGrpSpPr>
      <p:grpSpPr>
        <a:xfrm>
          <a:off x="0" y="0"/>
          <a:ext cx="0" cy="0"/>
          <a:chOff x="0" y="0"/>
          <a:chExt cx="0" cy="0"/>
        </a:xfrm>
      </p:grpSpPr>
      <p:pic>
        <p:nvPicPr>
          <p:cNvPr descr="/home/claude/work/assets/rh-divider-bg.png" id="1363" name="Google Shape;1363;p1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64" name="Google Shape;1364;p1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65" name="Google Shape;1365;p1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66" name="Google Shape;1366;p1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67" name="Google Shape;1367;p1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2" name="Shape 1372"/>
        <p:cNvGrpSpPr/>
        <p:nvPr/>
      </p:nvGrpSpPr>
      <p:grpSpPr>
        <a:xfrm>
          <a:off x="0" y="0"/>
          <a:ext cx="0" cy="0"/>
          <a:chOff x="0" y="0"/>
          <a:chExt cx="0" cy="0"/>
        </a:xfrm>
      </p:grpSpPr>
      <p:sp>
        <p:nvSpPr>
          <p:cNvPr id="1373" name="Google Shape;1373;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4" name="Google Shape;1374;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dn/33-appD-state-options-dn.png" id="1375" name="Google Shape;1375;p12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76" name="Google Shape;1376;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77" name="Google Shape;1377;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78" name="Google Shape;1378;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3" name="Shape 1383"/>
        <p:cNvGrpSpPr/>
        <p:nvPr/>
      </p:nvGrpSpPr>
      <p:grpSpPr>
        <a:xfrm>
          <a:off x="0" y="0"/>
          <a:ext cx="0" cy="0"/>
          <a:chOff x="0" y="0"/>
          <a:chExt cx="0" cy="0"/>
        </a:xfrm>
      </p:grpSpPr>
      <p:sp>
        <p:nvSpPr>
          <p:cNvPr id="1384" name="Google Shape;1384;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5" name="Google Shape;1385;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(EF Core)</a:t>
            </a:r>
            <a:endParaRPr b="0" i="0" sz="3000" u="none" cap="none" strike="noStrike">
              <a:solidFill>
                <a:schemeClr val="dk1"/>
              </a:solidFill>
              <a:latin typeface="Calibri"/>
              <a:ea typeface="Calibri"/>
              <a:cs typeface="Calibri"/>
              <a:sym typeface="Calibri"/>
            </a:endParaRPr>
          </a:p>
        </p:txBody>
      </p:sp>
      <p:sp>
        <p:nvSpPr>
          <p:cNvPr id="1386" name="Google Shape;1386;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 name="Google Shape;1387;p128"/>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388" name="Google Shape;1388;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SagaEngine.cs (excerpt), examples/17-sagas/dotnet: one durable step per call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static readonly string[] Steps = { "charge_payment", "reserve_stock", "book_shipping"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 AdvanceAsync(string sagaId, CancellationToken ct = 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db = await dbFactory.CreateDbContextAsync(ct);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tx = await db.Database.BeginTransactionAsync(ct);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saga = (await db.Sagas.FromSql(                          // pessimistic row lock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 FROM sagas WHERE id = {sagaId} FOR UPDATE")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.ToListAsync(ct)).SingleOrDefault();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 is not { Status: "RUNNING" }) { await tx.CommitAsync(ct); return; }  // idempotent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(saga.StepIndex &gt;= Steps.Length) saga.Status = "COMPLETED";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step = Steps[saga.StepIndex];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saga.Context[step] = ExecuteStep(step, saga.Context);   // call the 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saga.StepIndex++;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saga.Status = "COMPENSATING";                           // hand off to the unwinder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durable after every step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tx.CommitAsync(ct);                                   // the caller advances again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389" name="Google Shape;1389;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AdvanceAsync again.'</a:t>
            </a:r>
            <a:endParaRPr b="0" i="0" sz="1300" u="none" cap="none" strike="noStrike">
              <a:solidFill>
                <a:schemeClr val="dk1"/>
              </a:solidFill>
              <a:latin typeface="Calibri"/>
              <a:ea typeface="Calibri"/>
              <a:cs typeface="Calibri"/>
              <a:sym typeface="Calibri"/>
            </a:endParaRPr>
          </a:p>
        </p:txBody>
      </p:sp>
      <p:sp>
        <p:nvSpPr>
          <p:cNvPr id="1390" name="Google Shape;1390;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1" name="Google Shape;1391;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6" name="Shape 1396"/>
        <p:cNvGrpSpPr/>
        <p:nvPr/>
      </p:nvGrpSpPr>
      <p:grpSpPr>
        <a:xfrm>
          <a:off x="0" y="0"/>
          <a:ext cx="0" cy="0"/>
          <a:chOff x="0" y="0"/>
          <a:chExt cx="0" cy="0"/>
        </a:xfrm>
      </p:grpSpPr>
      <p:sp>
        <p:nvSpPr>
          <p:cNvPr id="1397" name="Google Shape;1397;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8" name="Google Shape;1398;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dn/34-appD-compensation.png" id="1399" name="Google Shape;1399;p129"/>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400" name="Google Shape;1400;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2" name="Google Shape;1402;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7" name="Shape 1407"/>
        <p:cNvGrpSpPr/>
        <p:nvPr/>
      </p:nvGrpSpPr>
      <p:grpSpPr>
        <a:xfrm>
          <a:off x="0" y="0"/>
          <a:ext cx="0" cy="0"/>
          <a:chOff x="0" y="0"/>
          <a:chExt cx="0" cy="0"/>
        </a:xfrm>
      </p:grpSpPr>
      <p:sp>
        <p:nvSpPr>
          <p:cNvPr id="1408" name="Google Shape;1408;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9" name="Google Shape;1409;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410" name="Google Shape;1410;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 name="Google Shape;1411;p130"/>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412" name="Google Shape;1412;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static readonly Dictionary&lt;string, string&gt; Compensations = new()  // inverse per step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["charge_payment"] = "refund_payment",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["reserve_stock"]  = "release_stock",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["book_shipping"]  = "cancel_shipping",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 CompensateAsync(string sagaId,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tx = await db.Database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.BeginTransactionAsync(IsolationLevel.ReadCommitted,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 = await db.Sagas.FromSqlInterpolated(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 FROM sagas WHERE id = {sagaId} FOR UPDATE").FirstAsync(ct);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undo only the steps that actually completed, newest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step in Steps.Take(s.StepIndex).Reverse())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InvokeAsync(Compensations[step], s.Context,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idempotencyKey: $"{sagaId}:{step}", ct);   // safe to retry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s.Status = "COMPENSATED";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tx.CommitAsync(ct);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5" name="Google Shape;1415;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0" name="Shape 1420"/>
        <p:cNvGrpSpPr/>
        <p:nvPr/>
      </p:nvGrpSpPr>
      <p:grpSpPr>
        <a:xfrm>
          <a:off x="0" y="0"/>
          <a:ext cx="0" cy="0"/>
          <a:chOff x="0" y="0"/>
          <a:chExt cx="0" cy="0"/>
        </a:xfrm>
      </p:grpSpPr>
      <p:sp>
        <p:nvSpPr>
          <p:cNvPr id="1421" name="Google Shape;1421;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2" name="Google Shape;1422;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dn/35-appD-data-dependency.png" id="1423" name="Google Shape;1423;p13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24" name="Google Shape;1424;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6" name="Google Shape;1426;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1" name="Shape 1431"/>
        <p:cNvGrpSpPr/>
        <p:nvPr/>
      </p:nvGrpSpPr>
      <p:grpSpPr>
        <a:xfrm>
          <a:off x="0" y="0"/>
          <a:ext cx="0" cy="0"/>
          <a:chOff x="0" y="0"/>
          <a:chExt cx="0" cy="0"/>
        </a:xfrm>
      </p:grpSpPr>
      <p:sp>
        <p:nvSpPr>
          <p:cNvPr id="1432" name="Google Shape;1432;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3" name="Google Shape;1433;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make a saga durable without rolling your own</a:t>
            </a:r>
            <a:endParaRPr b="0" i="0" sz="3000" u="none" cap="none" strike="noStrike">
              <a:solidFill>
                <a:schemeClr val="dk1"/>
              </a:solidFill>
              <a:latin typeface="Calibri"/>
              <a:ea typeface="Calibri"/>
              <a:cs typeface="Calibri"/>
              <a:sym typeface="Calibri"/>
            </a:endParaRPr>
          </a:p>
        </p:txBody>
      </p:sp>
      <p:sp>
        <p:nvSpPr>
          <p:cNvPr id="1434" name="Google Shape;1434;p13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outgrow the hand-rolled EF Core state machine, you have two well-trodden open-source paths in the .NET ecosystem — both featured in the diagrams that follow.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.NET SDK — a durable execution engine (Temporal Server MIT, .NET SDK Apache 2.0, on NuGet as Temporalio). You write workflows and activities as plain C#; the Server persists every event and replays them deterministically on recovery. Most power,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Stateless — a tiny in-process state-machine library (Apache 2.0). States, triggers, transitions, guards, entry/exit actions; you persist the current state to your own DB. Lighter weight, no extra cluster, less ceremony.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reach for Temporal when the saga is long, complex, or shared across services and you want first-class retries, timers, signals and child workflows. Reach for Stateless when it's small, in-process and you'd rather keep one fewer thing to operate.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Sidebar: Dapr Workflows is a third option if your platform already runs Dapr sidecars (CNCF Incubating, MIT) — same durable-execution model as Temporal, exposed via the Dapr sidecar instead of a direct SDK. Use it when the team's already invested in Dapr.</a:t>
            </a:r>
            <a:endParaRPr b="0" i="0" sz="1700" u="none" cap="none" strike="noStrike">
              <a:solidFill>
                <a:schemeClr val="dk1"/>
              </a:solidFill>
              <a:latin typeface="Calibri"/>
              <a:ea typeface="Calibri"/>
              <a:cs typeface="Calibri"/>
              <a:sym typeface="Calibri"/>
            </a:endParaRPr>
          </a:p>
        </p:txBody>
      </p:sp>
      <p:sp>
        <p:nvSpPr>
          <p:cNvPr id="1435" name="Google Shape;1435;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36" name="Google Shape;1436;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1" name="Shape 1441"/>
        <p:cNvGrpSpPr/>
        <p:nvPr/>
      </p:nvGrpSpPr>
      <p:grpSpPr>
        <a:xfrm>
          <a:off x="0" y="0"/>
          <a:ext cx="0" cy="0"/>
          <a:chOff x="0" y="0"/>
          <a:chExt cx="0" cy="0"/>
        </a:xfrm>
      </p:grpSpPr>
      <p:sp>
        <p:nvSpPr>
          <p:cNvPr id="1442" name="Google Shape;1442;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43" name="Google Shape;1443;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a plain-C# saga the Server makes durable</a:t>
            </a:r>
            <a:endParaRPr b="0" i="0" sz="3000" u="none" cap="none" strike="noStrike">
              <a:solidFill>
                <a:schemeClr val="dk1"/>
              </a:solidFill>
              <a:latin typeface="Calibri"/>
              <a:ea typeface="Calibri"/>
              <a:cs typeface="Calibri"/>
              <a:sym typeface="Calibri"/>
            </a:endParaRPr>
          </a:p>
        </p:txBody>
      </p:sp>
      <p:pic>
        <p:nvPicPr>
          <p:cNvPr descr="/home/claude/work/png-dn/62-appD-temporal-dn.png" id="1444" name="Google Shape;1444;p13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5" name="Google Shape;1445;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ASP.NET Core BackgroundService)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46" name="Google Shape;1446;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47" name="Google Shape;1447;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2" name="Shape 1452"/>
        <p:cNvGrpSpPr/>
        <p:nvPr/>
      </p:nvGrpSpPr>
      <p:grpSpPr>
        <a:xfrm>
          <a:off x="0" y="0"/>
          <a:ext cx="0" cy="0"/>
          <a:chOff x="0" y="0"/>
          <a:chExt cx="0" cy="0"/>
        </a:xfrm>
      </p:grpSpPr>
      <p:sp>
        <p:nvSpPr>
          <p:cNvPr id="1453" name="Google Shape;1453;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54" name="Google Shape;1454;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workflow + activity, in ASP.NET Core</a:t>
            </a:r>
            <a:endParaRPr b="0" i="0" sz="3000" u="none" cap="none" strike="noStrike">
              <a:solidFill>
                <a:schemeClr val="dk1"/>
              </a:solidFill>
              <a:latin typeface="Calibri"/>
              <a:ea typeface="Calibri"/>
              <a:cs typeface="Calibri"/>
              <a:sym typeface="Calibri"/>
            </a:endParaRPr>
          </a:p>
        </p:txBody>
      </p:sp>
      <p:sp>
        <p:nvSpPr>
          <p:cNvPr id="1455" name="Google Shape;1455;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 name="Google Shape;1456;p134"/>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Temporalio + ASP.NET Core</a:t>
            </a:r>
            <a:endParaRPr b="0" i="0" sz="1000" u="none" cap="none" strike="noStrike">
              <a:solidFill>
                <a:schemeClr val="dk1"/>
              </a:solidFill>
              <a:latin typeface="Calibri"/>
              <a:ea typeface="Calibri"/>
              <a:cs typeface="Calibri"/>
              <a:sym typeface="Calibri"/>
            </a:endParaRPr>
          </a:p>
        </p:txBody>
      </p:sp>
      <p:sp>
        <p:nvSpPr>
          <p:cNvPr id="1457" name="Google Shape;1457;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PaymentActivities: [Activity] ChargeAsync / RefundAsync, plain C# methods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FulfillmentWorkflow    // deterministic C#, replayed by a Worker after a crash</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private static readonly ActivityOptions Opts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StartToCloseTimeout = TimeSpan.FromSeconds(10)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[WorkflowRun]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Task&lt;string&gt; RunAsync(SagaInput 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undo = new Stack&lt;Func&lt;Task&gt;&gt;();                // compensations, newest on top</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paymentId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(PaymentActivities a) =&gt; a.ChargeAsync(input),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undo.Push(()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(PaymentActivities a) =&gt; a.RefundAsync(paymentId),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reservationId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(InventoryActivities a) =&gt; a.ReserveAsync(input, paymentId),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undo.Push(()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(InventoryActivities a) =&gt; a.ReleaseAsync(reservationId),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(ShippingActivities a) =&gt; a.BookAsync(input, reservationId),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catch (ActivityFailureException) { while (undo.TryPop(out var u)) await u(); throw;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1458" name="Google Shape;1458;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and activities are plain C# classes; the workflow keeps its own compensation stack. State is durable on the Server.</a:t>
            </a:r>
            <a:endParaRPr b="0" i="0" sz="13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60" name="Google Shape;1460;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5" name="Shape 1465"/>
        <p:cNvGrpSpPr/>
        <p:nvPr/>
      </p:nvGrpSpPr>
      <p:grpSpPr>
        <a:xfrm>
          <a:off x="0" y="0"/>
          <a:ext cx="0" cy="0"/>
          <a:chOff x="0" y="0"/>
          <a:chExt cx="0" cy="0"/>
        </a:xfrm>
      </p:grpSpPr>
      <p:sp>
        <p:nvSpPr>
          <p:cNvPr id="1466" name="Google Shape;1466;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67" name="Google Shape;1467;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lighter, in-process, no extra cluster</a:t>
            </a:r>
            <a:endParaRPr b="0" i="0" sz="3000" u="none" cap="none" strike="noStrike">
              <a:solidFill>
                <a:schemeClr val="dk1"/>
              </a:solidFill>
              <a:latin typeface="Calibri"/>
              <a:ea typeface="Calibri"/>
              <a:cs typeface="Calibri"/>
              <a:sym typeface="Calibri"/>
            </a:endParaRPr>
          </a:p>
        </p:txBody>
      </p:sp>
      <p:pic>
        <p:nvPicPr>
          <p:cNvPr descr="/home/claude/work/png-dn/63-appD-stateless-dn.png" id="1468" name="Google Shape;1468;p135"/>
          <p:cNvPicPr preferRelativeResize="0"/>
          <p:nvPr/>
        </p:nvPicPr>
        <p:blipFill rotWithShape="1">
          <a:blip r:embed="rId5">
            <a:alphaModFix/>
          </a:blip>
          <a:stretch/>
        </p:blipFill>
        <p:spPr>
          <a:xfrm>
            <a:off x="1658319" y="1600200"/>
            <a:ext cx="8875060" cy="4526281"/>
          </a:xfrm>
          <a:prstGeom prst="rect">
            <a:avLst/>
          </a:prstGeom>
          <a:noFill/>
          <a:ln>
            <a:noFill/>
          </a:ln>
        </p:spPr>
      </p:pic>
      <p:sp>
        <p:nvSpPr>
          <p:cNvPr id="1469" name="Google Shape;1469;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States, triggers, transitions, guards — plus a tiny serialization of CurrentState to save/restore across crashes.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71" name="Google Shape;1471;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6" name="Shape 1476"/>
        <p:cNvGrpSpPr/>
        <p:nvPr/>
      </p:nvGrpSpPr>
      <p:grpSpPr>
        <a:xfrm>
          <a:off x="0" y="0"/>
          <a:ext cx="0" cy="0"/>
          <a:chOff x="0" y="0"/>
          <a:chExt cx="0" cy="0"/>
        </a:xfrm>
      </p:grpSpPr>
      <p:sp>
        <p:nvSpPr>
          <p:cNvPr id="1477" name="Google Shape;1477;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78" name="Google Shape;1478;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configure and drive</a:t>
            </a:r>
            <a:endParaRPr b="0" i="0" sz="3000" u="none" cap="none" strike="noStrike">
              <a:solidFill>
                <a:schemeClr val="dk1"/>
              </a:solidFill>
              <a:latin typeface="Calibri"/>
              <a:ea typeface="Calibri"/>
              <a:cs typeface="Calibri"/>
              <a:sym typeface="Calibri"/>
            </a:endParaRPr>
          </a:p>
        </p:txBody>
      </p:sp>
      <p:sp>
        <p:nvSpPr>
          <p:cNvPr id="1479" name="Google Shape;1479;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 name="Google Shape;1480;p136"/>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Stateless package + EF Core</a:t>
            </a:r>
            <a:endParaRPr b="0" i="0" sz="1000" u="none" cap="none" strike="noStrike">
              <a:solidFill>
                <a:schemeClr val="dk1"/>
              </a:solidFill>
              <a:latin typeface="Calibri"/>
              <a:ea typeface="Calibri"/>
              <a:cs typeface="Calibri"/>
              <a:sym typeface="Calibri"/>
            </a:endParaRPr>
          </a:p>
        </p:txBody>
      </p:sp>
      <p:sp>
        <p:nvSpPr>
          <p:cNvPr id="1481" name="Google Shape;1481;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enum State    { Created, Paid, Reserved, Shipped, Done, Compensating, Failed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enum Trigger  { PayOk, ReserveOk, ShipOk, Delivered, StepFail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FulfillmentSagaMachine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StateMachine&lt;State, Trigger&gt; _sm;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CurrentState =&gt; _sm.State; OrderId { get;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FulfillmentSagaMachine(string orderId, State initial,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IPaymentService payments,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IInventoryService inventory,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IShippingService shipping)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OrderId = 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 = new StateMachine&lt;State, Trigger&gt;(initial);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_sm.Configure(State.Created)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.Permit(Trigger.PayOk, State.Paid)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.OnEntryAsync(() =&gt; payments.ChargeAsync(orderId));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_sm.Configure(State.Paid)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.Permit(Trigger.ReserveOk, State.Reserved)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.Permit(Trigger.StepFail,  State.Compensating)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.OnEntryAsync(() =&gt; inventory.ReserveAsync(orderId));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Reserved -&gt; Shipped and Compensating -&gt; Failed are configured the same way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 FireAsync(Trigger t) =&gt; _sm.FireAsync(t);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drive it: FulfillmentService.OnAsync loads the saga row, builds the machine, fires, saves</a:t>
            </a:r>
            <a:endParaRPr b="0" i="0" sz="9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All in your ASP.NET Core process: states + triggers declared, entry actions invoke services, CurrentState persisted to your own DB.</a:t>
            </a:r>
            <a:endParaRPr b="0" i="0" sz="1300" u="none" cap="none" strike="noStrike">
              <a:solidFill>
                <a:schemeClr val="dk1"/>
              </a:solidFill>
              <a:latin typeface="Calibri"/>
              <a:ea typeface="Calibri"/>
              <a:cs typeface="Calibri"/>
              <a:sym typeface="Calibri"/>
            </a:endParaRPr>
          </a:p>
        </p:txBody>
      </p:sp>
      <p:sp>
        <p:nvSpPr>
          <p:cNvPr id="1483" name="Google Shape;1483;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84" name="Google Shape;1484;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89" name="Shape 1489"/>
        <p:cNvGrpSpPr/>
        <p:nvPr/>
      </p:nvGrpSpPr>
      <p:grpSpPr>
        <a:xfrm>
          <a:off x="0" y="0"/>
          <a:ext cx="0" cy="0"/>
          <a:chOff x="0" y="0"/>
          <a:chExt cx="0" cy="0"/>
        </a:xfrm>
      </p:grpSpPr>
      <p:pic>
        <p:nvPicPr>
          <p:cNvPr descr="/home/claude/work/assets/rh-divider-bg.png" id="1490" name="Google Shape;1490;p13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91" name="Google Shape;1491;p13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92" name="Google Shape;1492;p13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93" name="Google Shape;1493;p13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94" name="Google Shape;1494;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9" name="Shape 1499"/>
        <p:cNvGrpSpPr/>
        <p:nvPr/>
      </p:nvGrpSpPr>
      <p:grpSpPr>
        <a:xfrm>
          <a:off x="0" y="0"/>
          <a:ext cx="0" cy="0"/>
          <a:chOff x="0" y="0"/>
          <a:chExt cx="0" cy="0"/>
        </a:xfrm>
      </p:grpSpPr>
      <p:sp>
        <p:nvSpPr>
          <p:cNvPr id="1500" name="Google Shape;1500;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1" name="Google Shape;1501;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dn/36-appE-error-shape.png" id="1502" name="Google Shape;1502;p13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03" name="Google Shape;1503;p1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504" name="Google Shape;1504;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05" name="Google Shape;1505;p1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0" name="Shape 1510"/>
        <p:cNvGrpSpPr/>
        <p:nvPr/>
      </p:nvGrpSpPr>
      <p:grpSpPr>
        <a:xfrm>
          <a:off x="0" y="0"/>
          <a:ext cx="0" cy="0"/>
          <a:chOff x="0" y="0"/>
          <a:chExt cx="0" cy="0"/>
        </a:xfrm>
      </p:grpSpPr>
      <p:sp>
        <p:nvSpPr>
          <p:cNvPr id="1511" name="Google Shape;1511;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2" name="Google Shape;1512;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dn/37-appE-rest-errors.png" id="1513" name="Google Shape;1513;p1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14" name="Google Shape;1514;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515" name="Google Shape;1515;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16" name="Google Shape;1516;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1" name="Shape 1521"/>
        <p:cNvGrpSpPr/>
        <p:nvPr/>
      </p:nvGrpSpPr>
      <p:grpSpPr>
        <a:xfrm>
          <a:off x="0" y="0"/>
          <a:ext cx="0" cy="0"/>
          <a:chOff x="0" y="0"/>
          <a:chExt cx="0" cy="0"/>
        </a:xfrm>
      </p:grpSpPr>
      <p:sp>
        <p:nvSpPr>
          <p:cNvPr id="1522" name="Google Shape;1522;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3" name="Google Shape;1523;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ASP.NET Core ProblemDetails</a:t>
            </a:r>
            <a:endParaRPr b="0" i="0" sz="3000" u="none" cap="none" strike="noStrike">
              <a:solidFill>
                <a:schemeClr val="dk1"/>
              </a:solidFill>
              <a:latin typeface="Calibri"/>
              <a:ea typeface="Calibri"/>
              <a:cs typeface="Calibri"/>
              <a:sym typeface="Calibri"/>
            </a:endParaRPr>
          </a:p>
        </p:txBody>
      </p:sp>
      <p:sp>
        <p:nvSpPr>
          <p:cNvPr id="1524" name="Google Shape;1524;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 name="Google Shape;1525;p140"/>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IExceptionHandler</a:t>
            </a:r>
            <a:endParaRPr b="0" i="0" sz="1000" u="none" cap="none" strike="noStrike">
              <a:solidFill>
                <a:schemeClr val="dk1"/>
              </a:solidFill>
              <a:latin typeface="Calibri"/>
              <a:ea typeface="Calibri"/>
              <a:cs typeface="Calibri"/>
              <a:sym typeface="Calibri"/>
            </a:endParaRPr>
          </a:p>
        </p:txBody>
      </p:sp>
      <p:sp>
        <p:nvSpPr>
          <p:cNvPr id="1526" name="Google Shape;1526;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ProblemDetails (RFC 9457) in the box since .NET 6; IExceptionHandler since .NET 8.</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builder.Services.AddProblemDetails();             // standard problem+json output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builder.Services.AddExceptionHandler&lt;DomainExceptionHandler&gt;();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app.UseExceptionHandler();                        // wires up the chain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DomainExceptionHandler : IExceptionHandler      // one place: domain → wire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ValueTask&lt;bool&gt; TryHandleAsync(HttpContext ctx,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problem) = ex switch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StockException s =&gt; (StatusCodes.Status409Conflict, new ProblemDetails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Type = "https://errors.acme.io/stock", Title = "Insufficient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 = StatusCodes.Status409Conflict, Detail = s.Message,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Extensions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["traceId"] = Activity.Current?.TraceId.ToString()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(StatusCodes.Status500InternalServerError, new ProblemDetails())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ctx.Response.StatusCode = 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ctx.Response.WriteAsJsonAsync(problem, (JsonSerializerOptions?)null,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"application/problem+json", ct);                       // RFC 9457 media type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27" name="Google Shape;1527;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ProblemDetails + IExceptionHandler give you RFC 9457 out of the box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528" name="Google Shape;1528;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29" name="Google Shape;1529;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4" name="Shape 1534"/>
        <p:cNvGrpSpPr/>
        <p:nvPr/>
      </p:nvGrpSpPr>
      <p:grpSpPr>
        <a:xfrm>
          <a:off x="0" y="0"/>
          <a:ext cx="0" cy="0"/>
          <a:chOff x="0" y="0"/>
          <a:chExt cx="0" cy="0"/>
        </a:xfrm>
      </p:grpSpPr>
      <p:sp>
        <p:nvSpPr>
          <p:cNvPr id="1535" name="Google Shape;1535;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6" name="Google Shape;1536;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dn/38-appE-grpc-errors.png" id="1537" name="Google Shape;1537;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38" name="Google Shape;1538;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539" name="Google Shape;1539;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0" name="Google Shape;1540;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5" name="Shape 1545"/>
        <p:cNvGrpSpPr/>
        <p:nvPr/>
      </p:nvGrpSpPr>
      <p:grpSpPr>
        <a:xfrm>
          <a:off x="0" y="0"/>
          <a:ext cx="0" cy="0"/>
          <a:chOff x="0" y="0"/>
          <a:chExt cx="0" cy="0"/>
        </a:xfrm>
      </p:grpSpPr>
      <p:sp>
        <p:nvSpPr>
          <p:cNvPr id="1546" name="Google Shape;1546;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7" name="Google Shape;1547;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48" name="Google Shape;1548;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 name="Google Shape;1549;p142"/>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grpc-dotnet + Google.Rpc</a:t>
            </a:r>
            <a:endParaRPr b="0" i="0" sz="1000" u="none" cap="none" strike="noStrike">
              <a:solidFill>
                <a:schemeClr val="dk1"/>
              </a:solidFill>
              <a:latin typeface="Calibri"/>
              <a:ea typeface="Calibri"/>
              <a:cs typeface="Calibri"/>
              <a:sym typeface="Calibri"/>
            </a:endParaRPr>
          </a:p>
        </p:txBody>
      </p:sp>
      <p:sp>
        <p:nvSpPr>
          <p:cNvPr id="1550" name="Google Shape;1550;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Grpc.Core;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Google.Rpc;            // ErrorInfo, RetryInfo, 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override async Task&lt;ReserveReply&gt; ReserveStock(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ReserveRequest req, ServerCallContext context)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(_inventoryDown)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 new Google.Rpc.Status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(int)Code.Unavailable,        // canonical code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Message = "inventory temporarily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Details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Any.Pack(new ErrorInfo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Reason = "STOCK_DOWN", Domain = "inventory"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Any.Pack(new RetryInfo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RetryDelay = Duration.FromTimeSpan(TimeSpan.FromSeconds(2))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grpc-dotnet: throw RpcException with the rich status in trailers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throw status.ToRpcException();           // extension from Grpc.StatusProto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ToReply(await _stock.ReserveAsync(req));</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51" name="Google Shape;1551;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3" name="Google Shape;1553;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8" name="Shape 1558"/>
        <p:cNvGrpSpPr/>
        <p:nvPr/>
      </p:nvGrpSpPr>
      <p:grpSpPr>
        <a:xfrm>
          <a:off x="0" y="0"/>
          <a:ext cx="0" cy="0"/>
          <a:chOff x="0" y="0"/>
          <a:chExt cx="0" cy="0"/>
        </a:xfrm>
      </p:grpSpPr>
      <p:sp>
        <p:nvSpPr>
          <p:cNvPr id="1559" name="Google Shape;1559;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0" name="Google Shape;1560;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dn/39-appE-kafka-errors.png" id="1561" name="Google Shape;1561;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2" name="Google Shape;1562;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63" name="Google Shape;1563;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64" name="Google Shape;1564;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9" name="Shape 1569"/>
        <p:cNvGrpSpPr/>
        <p:nvPr/>
      </p:nvGrpSpPr>
      <p:grpSpPr>
        <a:xfrm>
          <a:off x="0" y="0"/>
          <a:ext cx="0" cy="0"/>
          <a:chOff x="0" y="0"/>
          <a:chExt cx="0" cy="0"/>
        </a:xfrm>
      </p:grpSpPr>
      <p:sp>
        <p:nvSpPr>
          <p:cNvPr id="1570" name="Google Shape;1570;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1" name="Google Shape;1571;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Confluent.Kafka</a:t>
            </a:r>
            <a:endParaRPr b="0" i="0" sz="3000" u="none" cap="none" strike="noStrike">
              <a:solidFill>
                <a:schemeClr val="dk1"/>
              </a:solidFill>
              <a:latin typeface="Calibri"/>
              <a:ea typeface="Calibri"/>
              <a:cs typeface="Calibri"/>
              <a:sym typeface="Calibri"/>
            </a:endParaRPr>
          </a:p>
        </p:txBody>
      </p:sp>
      <p:sp>
        <p:nvSpPr>
          <p:cNvPr id="1572" name="Google Shape;1572;p14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 name="Google Shape;1573;p144"/>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Confluent.Kafka + Polly 8</a:t>
            </a:r>
            <a:endParaRPr b="0" i="0" sz="1000" u="none" cap="none" strike="noStrike">
              <a:solidFill>
                <a:schemeClr val="dk1"/>
              </a:solidFill>
              <a:latin typeface="Calibri"/>
              <a:ea typeface="Calibri"/>
              <a:cs typeface="Calibri"/>
              <a:sym typeface="Calibri"/>
            </a:endParaRPr>
          </a:p>
        </p:txBody>
      </p:sp>
      <p:sp>
        <p:nvSpPr>
          <p:cNvPr id="1574" name="Google Shape;1574;p14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Confluent.Kafka + Polly 8: bounded in-place retries, a delayed-retry topic, a DLQ.</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pipeline = new ResiliencePipelineBuilder()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.AddRetry(new RetryStrategyOptions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MaxRetryAttempts = 3, Delay = TimeSpan.FromMilliseconds(200),   // in-place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BackoffType = DelayBackoffType.Exponential, UseJitter =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.Handle&lt;Exception&gt;(e =&gt; e is not ValidationException)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cr = consumer.Consume(ct);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pipeline.ExecuteAsync(async t =&gt; await HandleAsync(cr.Message.Value, t), ct);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attempts = cr.Message.Headers.TryGetLastBytes("retries", out var raw)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int.Parse(Encoding.UTF8.GetString(raw))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dlq = ex is ValidationException || attempts &gt;= MaxRetries;  // 4xx or exhausted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headers = new Headers();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(dlq) headers.Add("error", Encoding.UTF8.GetBytes(ex.GetType().Name));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headers.Add("retries", Encoding.UTF8.GetBytes((attempts + 1).ToString()));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producer.ProduceAsync(dlq ? "orders.DLQ" : "orders.retry.30s",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cr.Message.Value, Headers = headers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consumer.Commit(cr);                     // every branch commits: no head-of-line block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in-place retries, a delayed-retry topic, then a DLQ; the offset is committed on every branch, so a poison record can't stall the partition.</a:t>
            </a:r>
            <a:endParaRPr b="0" i="0" sz="13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77" name="Google Shape;1577;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2" name="Shape 1582"/>
        <p:cNvGrpSpPr/>
        <p:nvPr/>
      </p:nvGrpSpPr>
      <p:grpSpPr>
        <a:xfrm>
          <a:off x="0" y="0"/>
          <a:ext cx="0" cy="0"/>
          <a:chOff x="0" y="0"/>
          <a:chExt cx="0" cy="0"/>
        </a:xfrm>
      </p:grpSpPr>
      <p:sp>
        <p:nvSpPr>
          <p:cNvPr id="1583" name="Google Shape;1583;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84" name="Google Shape;1584;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dn/40-appE-graphql-errors.png" id="1585" name="Google Shape;1585;p14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86" name="Google Shape;1586;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87" name="Google Shape;1587;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88" name="Google Shape;1588;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3" name="Shape 1593"/>
        <p:cNvGrpSpPr/>
        <p:nvPr/>
      </p:nvGrpSpPr>
      <p:grpSpPr>
        <a:xfrm>
          <a:off x="0" y="0"/>
          <a:ext cx="0" cy="0"/>
          <a:chOff x="0" y="0"/>
          <a:chExt cx="0" cy="0"/>
        </a:xfrm>
      </p:grpSpPr>
      <p:sp>
        <p:nvSpPr>
          <p:cNvPr id="1594" name="Google Shape;1594;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HotChocolate</a:t>
            </a:r>
            <a:endParaRPr b="0" i="0" sz="30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 name="Google Shape;1597;p14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1598" name="Google Shape;1598;p14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GraphQLErrorFilter : IErrorFilter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IError OnError(IError error)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error.Exception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InventoryUnavailable iu =&gt; error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.WithMessage(iu.Message)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.WithCode("UNAVAILABLE")                  // → extensions.code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.SetExtension("retryable",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.SetExtension("traceId", Activity.Current?.TraceId.ToString())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.RemoveException(),                       // don't leak stack trace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error                                    // default for everything else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Program.cs: AddGraphQLServer().AddErrorFilter&lt;GraphQLErrorFilter&gt;()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[ExtendObjectType&lt;Order&gt;]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OrderExtensions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Task&lt;int&gt; GetStock(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[Parent] Order order, IInventoryService inventory)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RemainingAsync; on UpstreamException throws InventoryUnavailable (nulls the field)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an IErrorFilter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600" name="Google Shape;1600;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1" name="Google Shape;1601;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6" name="Shape 1606"/>
        <p:cNvGrpSpPr/>
        <p:nvPr/>
      </p:nvGrpSpPr>
      <p:grpSpPr>
        <a:xfrm>
          <a:off x="0" y="0"/>
          <a:ext cx="0" cy="0"/>
          <a:chOff x="0" y="0"/>
          <a:chExt cx="0" cy="0"/>
        </a:xfrm>
      </p:grpSpPr>
      <p:sp>
        <p:nvSpPr>
          <p:cNvPr id="1607" name="Google Shape;1607;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08" name="Google Shape;1608;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dn/41-appE-retry-storm.png" id="1609" name="Google Shape;1609;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10" name="Google Shape;1610;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611" name="Google Shape;1611;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12" name="Google Shape;1612;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7" name="Shape 1617"/>
        <p:cNvGrpSpPr/>
        <p:nvPr/>
      </p:nvGrpSpPr>
      <p:grpSpPr>
        <a:xfrm>
          <a:off x="0" y="0"/>
          <a:ext cx="0" cy="0"/>
          <a:chOff x="0" y="0"/>
          <a:chExt cx="0" cy="0"/>
        </a:xfrm>
      </p:grpSpPr>
      <p:sp>
        <p:nvSpPr>
          <p:cNvPr id="1618" name="Google Shape;1618;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621" name="Google Shape;1621;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22" name="Google Shape;1622;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27" name="Shape 1627"/>
        <p:cNvGrpSpPr/>
        <p:nvPr/>
      </p:nvGrpSpPr>
      <p:grpSpPr>
        <a:xfrm>
          <a:off x="0" y="0"/>
          <a:ext cx="0" cy="0"/>
          <a:chOff x="0" y="0"/>
          <a:chExt cx="0" cy="0"/>
        </a:xfrm>
      </p:grpSpPr>
      <p:pic>
        <p:nvPicPr>
          <p:cNvPr descr="/home/claude/work/assets/rh-divider-bg.png" id="1628" name="Google Shape;1628;p14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29" name="Google Shape;1629;p14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630" name="Google Shape;1630;p14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631" name="Google Shape;1631;p14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dn/45-appF-ddd-strategic.png" id="1650" name="Google Shape;1650;p15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3" name="Google Shape;1663;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8" name="Shape 1668"/>
        <p:cNvGrpSpPr/>
        <p:nvPr/>
      </p:nvGrpSpPr>
      <p:grpSpPr>
        <a:xfrm>
          <a:off x="0" y="0"/>
          <a:ext cx="0" cy="0"/>
          <a:chOff x="0" y="0"/>
          <a:chExt cx="0" cy="0"/>
        </a:xfrm>
      </p:grpSpPr>
      <p:sp>
        <p:nvSpPr>
          <p:cNvPr id="1669" name="Google Shape;1669;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0" name="Google Shape;1670;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dn/46-appF-context-map.png" id="1671" name="Google Shape;1671;p1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72" name="Google Shape;1672;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4" name="Google Shape;1674;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9" name="Shape 1679"/>
        <p:cNvGrpSpPr/>
        <p:nvPr/>
      </p:nvGrpSpPr>
      <p:grpSpPr>
        <a:xfrm>
          <a:off x="0" y="0"/>
          <a:ext cx="0" cy="0"/>
          <a:chOff x="0" y="0"/>
          <a:chExt cx="0" cy="0"/>
        </a:xfrm>
      </p:grpSpPr>
      <p:sp>
        <p:nvSpPr>
          <p:cNvPr id="1680" name="Google Shape;1680;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4" name="Google Shape;1684;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9" name="Shape 1689"/>
        <p:cNvGrpSpPr/>
        <p:nvPr/>
      </p:nvGrpSpPr>
      <p:grpSpPr>
        <a:xfrm>
          <a:off x="0" y="0"/>
          <a:ext cx="0" cy="0"/>
          <a:chOff x="0" y="0"/>
          <a:chExt cx="0" cy="0"/>
        </a:xfrm>
      </p:grpSpPr>
      <p:sp>
        <p:nvSpPr>
          <p:cNvPr id="1690" name="Google Shape;1690;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91" name="Google Shape;1691;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dn/47-appF-hexagonal.png" id="1692" name="Google Shape;1692;p15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93" name="Google Shape;1693;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94" name="Google Shape;1694;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695" name="Google Shape;1695;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0" name="Shape 1700"/>
        <p:cNvGrpSpPr/>
        <p:nvPr/>
      </p:nvGrpSpPr>
      <p:grpSpPr>
        <a:xfrm>
          <a:off x="0" y="0"/>
          <a:ext cx="0" cy="0"/>
          <a:chOff x="0" y="0"/>
          <a:chExt cx="0" cy="0"/>
        </a:xfrm>
      </p:grpSpPr>
      <p:sp>
        <p:nvSpPr>
          <p:cNvPr id="1701" name="Google Shape;1701;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 name="Google Shape;1704;p156"/>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ports &amp; adapters in .NET</a:t>
            </a:r>
            <a:endParaRPr b="0" i="0" sz="1000" u="none" cap="none" strike="noStrike">
              <a:solidFill>
                <a:schemeClr val="dk1"/>
              </a:solidFill>
              <a:latin typeface="Calibri"/>
              <a:ea typeface="Calibri"/>
              <a:cs typeface="Calibri"/>
              <a:sym typeface="Calibri"/>
            </a:endParaRPr>
          </a:p>
        </p:txBody>
      </p:sp>
      <p:sp>
        <p:nvSpPr>
          <p:cNvPr id="1705" name="Google Shape;1705;p15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domain — the core declares the interfaces (ports) it needs; no framework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IOrderRepository { Task SaveAsync(Order order); /* FindByIdAsync, ...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IEventPublisher  { Task PublishAsync(OrderPlaced evt);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pure application logic; C# 12 primary constructor — no DI annotations needed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PlaceOrderUseCase(IOrderRepository repo, IEventPublisher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ExecuteAsync(PlaceOrderCmd cmd)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Order.Create(cmd);                // aggregate enforces invariants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repo.SaveAsync(order);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events.PublishAsync(new OrderPlaced(order.Id, order.Sku, order.Quantity));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driving adapter — REST; the CLI adapter calls the same use case on a plain Host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(PlaceOrderCmd cmd, PlaceOrderUseCase placeOrder)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Results.Json(OrderView.From(await placeOrder.ExecuteAsync(cmd)), statusCode: 201));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driven adapters (Adapters/): EfOrderRepository : IOrderRepository over an OrdersContext,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LogEventPublisher : IEventPublisher.</a:t>
            </a:r>
            <a:endParaRPr b="0" i="0" sz="900" u="none" cap="none" strike="noStrike">
              <a:solidFill>
                <a:schemeClr val="dk1"/>
              </a:solidFill>
              <a:latin typeface="Calibri"/>
              <a:ea typeface="Calibri"/>
              <a:cs typeface="Calibri"/>
              <a:sym typeface="Calibri"/>
            </a:endParaRPr>
          </a:p>
        </p:txBody>
      </p:sp>
      <p:sp>
        <p:nvSpPr>
          <p:cNvPr id="1706" name="Google Shape;1706;p15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the .NET container injects the adapters (EF Core repo, log or Kafka publisher). Swap or add one without touching PlaceOrderUseCase.</a:t>
            </a:r>
            <a:endParaRPr b="0" i="0" sz="1300" u="none" cap="none" strike="noStrike">
              <a:solidFill>
                <a:schemeClr val="dk1"/>
              </a:solidFill>
              <a:latin typeface="Calibri"/>
              <a:ea typeface="Calibri"/>
              <a:cs typeface="Calibri"/>
              <a:sym typeface="Calibri"/>
            </a:endParaRPr>
          </a:p>
        </p:txBody>
      </p:sp>
      <p:sp>
        <p:nvSpPr>
          <p:cNvPr id="1707" name="Google Shape;1707;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08" name="Google Shape;1708;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3" name="Shape 1713"/>
        <p:cNvGrpSpPr/>
        <p:nvPr/>
      </p:nvGrpSpPr>
      <p:grpSpPr>
        <a:xfrm>
          <a:off x="0" y="0"/>
          <a:ext cx="0" cy="0"/>
          <a:chOff x="0" y="0"/>
          <a:chExt cx="0" cy="0"/>
        </a:xfrm>
      </p:grpSpPr>
      <p:sp>
        <p:nvSpPr>
          <p:cNvPr id="1714" name="Google Shape;1714;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15" name="Google Shape;1715;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717" name="Google Shape;1717;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18" name="Google Shape;1718;p1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3" name="Shape 1723"/>
        <p:cNvGrpSpPr/>
        <p:nvPr/>
      </p:nvGrpSpPr>
      <p:grpSpPr>
        <a:xfrm>
          <a:off x="0" y="0"/>
          <a:ext cx="0" cy="0"/>
          <a:chOff x="0" y="0"/>
          <a:chExt cx="0" cy="0"/>
        </a:xfrm>
      </p:grpSpPr>
      <p:sp>
        <p:nvSpPr>
          <p:cNvPr id="1724" name="Google Shape;1724;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727" name="Google Shape;1727;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28" name="Google Shape;1728;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33" name="Shape 1733"/>
        <p:cNvGrpSpPr/>
        <p:nvPr/>
      </p:nvGrpSpPr>
      <p:grpSpPr>
        <a:xfrm>
          <a:off x="0" y="0"/>
          <a:ext cx="0" cy="0"/>
          <a:chOff x="0" y="0"/>
          <a:chExt cx="0" cy="0"/>
        </a:xfrm>
      </p:grpSpPr>
      <p:pic>
        <p:nvPicPr>
          <p:cNvPr descr="/home/claude/work/assets/rh-divider-bg.png" id="1734" name="Google Shape;1734;p15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35" name="Google Shape;1735;p15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736" name="Google Shape;1736;p15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737" name="Google Shape;1737;p15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dn/48-appG-dimensions.png" id="1756" name="Google Shape;1756;p16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dn/49-appG-strength.png" id="1777" name="Google Shape;1777;p16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78" name="Google Shape;1778;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79" name="Google Shape;1779;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0" name="Google Shape;1780;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5" name="Shape 1785"/>
        <p:cNvGrpSpPr/>
        <p:nvPr/>
      </p:nvGrpSpPr>
      <p:grpSpPr>
        <a:xfrm>
          <a:off x="0" y="0"/>
          <a:ext cx="0" cy="0"/>
          <a:chOff x="0" y="0"/>
          <a:chExt cx="0" cy="0"/>
        </a:xfrm>
      </p:grpSpPr>
      <p:sp>
        <p:nvSpPr>
          <p:cNvPr id="1786" name="Google Shape;1786;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89" name="Google Shape;1789;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0" name="Google Shape;1790;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5" name="Shape 1795"/>
        <p:cNvGrpSpPr/>
        <p:nvPr/>
      </p:nvGrpSpPr>
      <p:grpSpPr>
        <a:xfrm>
          <a:off x="0" y="0"/>
          <a:ext cx="0" cy="0"/>
          <a:chOff x="0" y="0"/>
          <a:chExt cx="0" cy="0"/>
        </a:xfrm>
      </p:grpSpPr>
      <p:sp>
        <p:nvSpPr>
          <p:cNvPr id="1796" name="Google Shape;1796;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97" name="Google Shape;1797;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dn/50-appG-balance.png" id="1798" name="Google Shape;1798;p165"/>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99" name="Google Shape;1799;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800" name="Google Shape;1800;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1" name="Google Shape;1801;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6" name="Shape 1806"/>
        <p:cNvGrpSpPr/>
        <p:nvPr/>
      </p:nvGrpSpPr>
      <p:grpSpPr>
        <a:xfrm>
          <a:off x="0" y="0"/>
          <a:ext cx="0" cy="0"/>
          <a:chOff x="0" y="0"/>
          <a:chExt cx="0" cy="0"/>
        </a:xfrm>
      </p:grpSpPr>
      <p:sp>
        <p:nvSpPr>
          <p:cNvPr id="1807" name="Google Shape;1807;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809" name="Google Shape;1809;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11" name="Google Shape;1811;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6" name="Shape 1816"/>
        <p:cNvGrpSpPr/>
        <p:nvPr/>
      </p:nvGrpSpPr>
      <p:grpSpPr>
        <a:xfrm>
          <a:off x="0" y="0"/>
          <a:ext cx="0" cy="0"/>
          <a:chOff x="0" y="0"/>
          <a:chExt cx="0" cy="0"/>
        </a:xfrm>
      </p:grpSpPr>
      <p:sp>
        <p:nvSpPr>
          <p:cNvPr id="1817" name="Google Shape;1817;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18" name="Google Shape;1818;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21" name="Google Shape;1821;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6" name="Shape 1826"/>
        <p:cNvGrpSpPr/>
        <p:nvPr/>
      </p:nvGrpSpPr>
      <p:grpSpPr>
        <a:xfrm>
          <a:off x="0" y="0"/>
          <a:ext cx="0" cy="0"/>
          <a:chOff x="0" y="0"/>
          <a:chExt cx="0" cy="0"/>
        </a:xfrm>
      </p:grpSpPr>
      <p:sp>
        <p:nvSpPr>
          <p:cNvPr id="1827" name="Google Shape;1827;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31" name="Google Shape;1831;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36" name="Shape 1836"/>
        <p:cNvGrpSpPr/>
        <p:nvPr/>
      </p:nvGrpSpPr>
      <p:grpSpPr>
        <a:xfrm>
          <a:off x="0" y="0"/>
          <a:ext cx="0" cy="0"/>
          <a:chOff x="0" y="0"/>
          <a:chExt cx="0" cy="0"/>
        </a:xfrm>
      </p:grpSpPr>
      <p:pic>
        <p:nvPicPr>
          <p:cNvPr descr="/home/claude/work/assets/rh-divider-bg.png" id="1837" name="Google Shape;1837;p16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38" name="Google Shape;1838;p16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839" name="Google Shape;1839;p16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840" name="Google Shape;1840;p16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50" name="Google Shape;1850;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1" name="Google Shape;1851;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6" name="Shape 1856"/>
        <p:cNvGrpSpPr/>
        <p:nvPr/>
      </p:nvGrpSpPr>
      <p:grpSpPr>
        <a:xfrm>
          <a:off x="0" y="0"/>
          <a:ext cx="0" cy="0"/>
          <a:chOff x="0" y="0"/>
          <a:chExt cx="0" cy="0"/>
        </a:xfrm>
      </p:grpSpPr>
      <p:sp>
        <p:nvSpPr>
          <p:cNvPr id="1857" name="Google Shape;1857;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58" name="Google Shape;1858;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dn/51-appH-termination.png" id="1859" name="Google Shape;1859;p17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60" name="Google Shape;1860;p1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70" name="Google Shape;1870;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71" name="Google Shape;1871;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2" name="Google Shape;1872;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7" name="Shape 1877"/>
        <p:cNvGrpSpPr/>
        <p:nvPr/>
      </p:nvGrpSpPr>
      <p:grpSpPr>
        <a:xfrm>
          <a:off x="0" y="0"/>
          <a:ext cx="0" cy="0"/>
          <a:chOff x="0" y="0"/>
          <a:chExt cx="0" cy="0"/>
        </a:xfrm>
      </p:grpSpPr>
      <p:sp>
        <p:nvSpPr>
          <p:cNvPr id="1878" name="Google Shape;1878;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9" name="Google Shape;1879;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dn/52-appH-workloads.png" id="1880" name="Google Shape;1880;p17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81" name="Google Shape;1881;p17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ASP.NET Core</a:t>
            </a:r>
            <a:endParaRPr b="0" i="0" sz="3000" u="none" cap="none" strike="noStrike">
              <a:solidFill>
                <a:schemeClr val="dk1"/>
              </a:solidFill>
              <a:latin typeface="Calibri"/>
              <a:ea typeface="Calibri"/>
              <a:cs typeface="Calibri"/>
              <a:sym typeface="Calibri"/>
            </a:endParaRPr>
          </a:p>
        </p:txBody>
      </p:sp>
      <p:sp>
        <p:nvSpPr>
          <p:cNvPr id="1891" name="Google Shape;1891;p17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 name="Google Shape;1892;p174"/>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a:t>
            </a:r>
            <a:endParaRPr b="0" i="0" sz="1000" u="none" cap="none" strike="noStrike">
              <a:solidFill>
                <a:schemeClr val="dk1"/>
              </a:solidFill>
              <a:latin typeface="Calibri"/>
              <a:ea typeface="Calibri"/>
              <a:cs typeface="Calibri"/>
              <a:sym typeface="Calibri"/>
            </a:endParaRPr>
          </a:p>
        </p:txBody>
      </p:sp>
      <p:sp>
        <p:nvSpPr>
          <p:cNvPr id="1893" name="Google Shape;1893;p17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and DrainService.cs (excerpt), examples/21-graceful-shutdown/dotnet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default ConsoleLifetime turns one SIGTERM into a graceful stop; the drain is a hosted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service step and HostOptions.ShutdownTimeout bounds the whole stop.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builder.Services.AddSingleton&lt;ShutdownState&gt;();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builder.Services.AddHostedService&lt;DrainService&gt;();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builder.Services.Configure&lt;HostOptions&gt;(o =&gt; o.ShutdownTimeout = TimeSpan.FromSeconds(20));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builder.Services.AddHealthChecks().AddCheck&lt;ShutdownHealthCheck&gt;("shutdown", tags: ["ready"]);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GET /readyz answers 503 once ShutdownState.ShuttingDown is set; /healthz stays 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sealed class DrainService(ShutdownState state, IConfiguration config,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ILogger&lt;DrainService&gt; logger) : IHostedLifecycleService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 StoppingAsync(CancellationToken cancellationToken)  // before StopAsync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state.MarkShuttingDown();                          // 1. readiness fails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delay = TimeSpan.FromSeconds(config.GetValue("DRAIN_DELAY_SECONDS",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Task.Delay(delay, cancellationToken); }   // 2. serve on: endpoints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(OperationCanceledException)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logger.LogInformation("shutting down HTTP server (in_flight={InFlight})",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3. Kestrel stops in StopAsync: no new requests, drains 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4. the DbContext services are disposed with the host; exit 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894" name="Google Shape;1894;p174"/>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StoppingAsync waits DRAIN_DELAY_SECONDS, then Kestrel drains in-flight requests within ShutdownTimeout (20 s).</a:t>
            </a:r>
            <a:endParaRPr b="0" i="0" sz="1300" u="none" cap="none" strike="noStrike">
              <a:solidFill>
                <a:schemeClr val="dk1"/>
              </a:solidFill>
              <a:latin typeface="Calibri"/>
              <a:ea typeface="Calibri"/>
              <a:cs typeface="Calibri"/>
              <a:sym typeface="Calibri"/>
            </a:endParaRPr>
          </a:p>
        </p:txBody>
      </p:sp>
      <p:sp>
        <p:nvSpPr>
          <p:cNvPr id="1895" name="Google Shape;1895;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896" name="Google Shape;1896;p1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1" name="Shape 1901"/>
        <p:cNvGrpSpPr/>
        <p:nvPr/>
      </p:nvGrpSpPr>
      <p:grpSpPr>
        <a:xfrm>
          <a:off x="0" y="0"/>
          <a:ext cx="0" cy="0"/>
          <a:chOff x="0" y="0"/>
          <a:chExt cx="0" cy="0"/>
        </a:xfrm>
      </p:grpSpPr>
      <p:sp>
        <p:nvSpPr>
          <p:cNvPr id="1902" name="Google Shape;1902;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03" name="Google Shape;1903;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 name="Google Shape;1905;p17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906" name="Google Shape;1906;p17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907" name="Google Shape;1907;p175"/>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908" name="Google Shape;1908;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09" name="Google Shape;1909;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4" name="Shape 1914"/>
        <p:cNvGrpSpPr/>
        <p:nvPr/>
      </p:nvGrpSpPr>
      <p:grpSpPr>
        <a:xfrm>
          <a:off x="0" y="0"/>
          <a:ext cx="0" cy="0"/>
          <a:chOff x="0" y="0"/>
          <a:chExt cx="0" cy="0"/>
        </a:xfrm>
      </p:grpSpPr>
      <p:sp>
        <p:nvSpPr>
          <p:cNvPr id="1915" name="Google Shape;1915;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16" name="Google Shape;1916;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918" name="Google Shape;1918;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19" name="Google Shape;1919;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4" name="Shape 1924"/>
        <p:cNvGrpSpPr/>
        <p:nvPr/>
      </p:nvGrpSpPr>
      <p:grpSpPr>
        <a:xfrm>
          <a:off x="0" y="0"/>
          <a:ext cx="0" cy="0"/>
          <a:chOff x="0" y="0"/>
          <a:chExt cx="0" cy="0"/>
        </a:xfrm>
      </p:grpSpPr>
      <p:sp>
        <p:nvSpPr>
          <p:cNvPr id="1925" name="Google Shape;1925;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ASP.NET Core hosting — “BackgroundService / IHostedService” and “IHostApplicationLifetime” on learn.microsoft.com; HostOptions.ShutdownTimeout; Confluent.Kafka consumer Close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928" name="Google Shape;1928;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29" name="Google Shape;1929;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934" name="Shape 1934"/>
        <p:cNvGrpSpPr/>
        <p:nvPr/>
      </p:nvGrpSpPr>
      <p:grpSpPr>
        <a:xfrm>
          <a:off x="0" y="0"/>
          <a:ext cx="0" cy="0"/>
          <a:chOff x="0" y="0"/>
          <a:chExt cx="0" cy="0"/>
        </a:xfrm>
      </p:grpSpPr>
      <p:pic>
        <p:nvPicPr>
          <p:cNvPr descr="/home/claude/work/assets/rh-divider-bg.png" id="1935" name="Google Shape;1935;p17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936" name="Google Shape;1936;p17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937" name="Google Shape;1937;p17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938" name="Google Shape;1938;p17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47" name="Google Shape;1947;p17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YARP, NRules — plus a YAML or two.</a:t>
            </a:r>
            <a:endParaRPr b="0" i="0" sz="17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49" name="Google Shape;1949;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4" name="Shape 1954"/>
        <p:cNvGrpSpPr/>
        <p:nvPr/>
      </p:nvGrpSpPr>
      <p:grpSpPr>
        <a:xfrm>
          <a:off x="0" y="0"/>
          <a:ext cx="0" cy="0"/>
          <a:chOff x="0" y="0"/>
          <a:chExt cx="0" cy="0"/>
        </a:xfrm>
      </p:grpSpPr>
      <p:sp>
        <p:nvSpPr>
          <p:cNvPr id="1955" name="Google Shape;1955;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6" name="Google Shape;1956;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dn/53-appI-l4-vs-l7.png" id="1957" name="Google Shape;1957;p18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58" name="Google Shape;1958;p18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69" name="Google Shape;1969;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0" name="Google Shape;1970;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5" name="Shape 1975"/>
        <p:cNvGrpSpPr/>
        <p:nvPr/>
      </p:nvGrpSpPr>
      <p:grpSpPr>
        <a:xfrm>
          <a:off x="0" y="0"/>
          <a:ext cx="0" cy="0"/>
          <a:chOff x="0" y="0"/>
          <a:chExt cx="0" cy="0"/>
        </a:xfrm>
      </p:grpSpPr>
      <p:sp>
        <p:nvSpPr>
          <p:cNvPr id="1976" name="Google Shape;1976;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7" name="Google Shape;1977;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dn/54-appI-stack-sb.png" id="1978" name="Google Shape;1978;p182"/>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979" name="Google Shape;1979;p1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1" name="Google Shape;1981;p1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6" name="Shape 1986"/>
        <p:cNvGrpSpPr/>
        <p:nvPr/>
      </p:nvGrpSpPr>
      <p:grpSpPr>
        <a:xfrm>
          <a:off x="0" y="0"/>
          <a:ext cx="0" cy="0"/>
          <a:chOff x="0" y="0"/>
          <a:chExt cx="0" cy="0"/>
        </a:xfrm>
      </p:grpSpPr>
      <p:sp>
        <p:nvSpPr>
          <p:cNvPr id="1987" name="Google Shape;1987;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8" name="Google Shape;1988;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dn/55-appI-journey.png" id="1989" name="Google Shape;1989;p183"/>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90" name="Google Shape;1990;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91" name="Google Shape;1991;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2" name="Google Shape;1992;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7" name="Shape 1997"/>
        <p:cNvGrpSpPr/>
        <p:nvPr/>
      </p:nvGrpSpPr>
      <p:grpSpPr>
        <a:xfrm>
          <a:off x="0" y="0"/>
          <a:ext cx="0" cy="0"/>
          <a:chOff x="0" y="0"/>
          <a:chExt cx="0" cy="0"/>
        </a:xfrm>
      </p:grpSpPr>
      <p:sp>
        <p:nvSpPr>
          <p:cNvPr id="1998" name="Google Shape;1998;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9" name="Google Shape;1999;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2000" name="Google Shape;2000;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YARP: opinionated API gateways with plugin ecosystems. YARP (Yet Another Reverse Proxy, MIT, from Microsoft) is the .NET-native one — a reverse proxy library you embed in an ASP.NET Core app for full code-level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Kafka consumer + NRules: when the routing logic is a business rule, push it into the app — a content-based router + a rule engine.</a:t>
            </a:r>
            <a:endParaRPr b="0" i="0" sz="1700" u="none" cap="none" strike="noStrike">
              <a:solidFill>
                <a:schemeClr val="dk1"/>
              </a:solidFill>
              <a:latin typeface="Calibri"/>
              <a:ea typeface="Calibri"/>
              <a:cs typeface="Calibri"/>
              <a:sym typeface="Calibri"/>
            </a:endParaRPr>
          </a:p>
        </p:txBody>
      </p:sp>
      <p:sp>
        <p:nvSpPr>
          <p:cNvPr id="2001" name="Google Shape;2001;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2" name="Google Shape;2002;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7" name="Shape 2007"/>
        <p:cNvGrpSpPr/>
        <p:nvPr/>
      </p:nvGrpSpPr>
      <p:grpSpPr>
        <a:xfrm>
          <a:off x="0" y="0"/>
          <a:ext cx="0" cy="0"/>
          <a:chOff x="0" y="0"/>
          <a:chExt cx="0" cy="0"/>
        </a:xfrm>
      </p:grpSpPr>
      <p:sp>
        <p:nvSpPr>
          <p:cNvPr id="2008" name="Google Shape;2008;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9" name="Google Shape;2009;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2010" name="Google Shape;2010;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 name="Google Shape;2011;p18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2012" name="Google Shape;2012;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2013" name="Google Shape;2013;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2014" name="Google Shape;2014;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15" name="Google Shape;2015;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0" name="Shape 2020"/>
        <p:cNvGrpSpPr/>
        <p:nvPr/>
      </p:nvGrpSpPr>
      <p:grpSpPr>
        <a:xfrm>
          <a:off x="0" y="0"/>
          <a:ext cx="0" cy="0"/>
          <a:chOff x="0" y="0"/>
          <a:chExt cx="0" cy="0"/>
        </a:xfrm>
      </p:grpSpPr>
      <p:sp>
        <p:nvSpPr>
          <p:cNvPr id="2021" name="Google Shape;2021;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2" name="Google Shape;2022;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2023" name="Google Shape;2023;p18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 name="Google Shape;2024;p18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2025" name="Google Shape;2025;p18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026" name="Google Shape;2026;p18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28" name="Google Shape;2028;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3" name="Shape 2033"/>
        <p:cNvGrpSpPr/>
        <p:nvPr/>
      </p:nvGrpSpPr>
      <p:grpSpPr>
        <a:xfrm>
          <a:off x="0" y="0"/>
          <a:ext cx="0" cy="0"/>
          <a:chOff x="0" y="0"/>
          <a:chExt cx="0" cy="0"/>
        </a:xfrm>
      </p:grpSpPr>
      <p:sp>
        <p:nvSpPr>
          <p:cNvPr id="2034" name="Google Shape;2034;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5" name="Google Shape;2035;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2036" name="Google Shape;2036;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187"/>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2038" name="Google Shape;2038;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50" name="Google Shape;2050;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1" name="Google Shape;2051;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6" name="Shape 2056"/>
        <p:cNvGrpSpPr/>
        <p:nvPr/>
      </p:nvGrpSpPr>
      <p:grpSpPr>
        <a:xfrm>
          <a:off x="0" y="0"/>
          <a:ext cx="0" cy="0"/>
          <a:chOff x="0" y="0"/>
          <a:chExt cx="0" cy="0"/>
        </a:xfrm>
      </p:grpSpPr>
      <p:sp>
        <p:nvSpPr>
          <p:cNvPr id="2057" name="Google Shape;2057;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8" name="Google Shape;2058;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dn/56-appI-sticky.png" id="2059" name="Google Shape;2059;p18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60" name="Google Shape;2060;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2" name="Google Shape;2062;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7" name="Shape 2067"/>
        <p:cNvGrpSpPr/>
        <p:nvPr/>
      </p:nvGrpSpPr>
      <p:grpSpPr>
        <a:xfrm>
          <a:off x="0" y="0"/>
          <a:ext cx="0" cy="0"/>
          <a:chOff x="0" y="0"/>
          <a:chExt cx="0" cy="0"/>
        </a:xfrm>
      </p:grpSpPr>
      <p:sp>
        <p:nvSpPr>
          <p:cNvPr id="2068" name="Google Shape;2068;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9" name="Google Shape;2069;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70" name="Google Shape;2070;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2071" name="Google Shape;2071;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2" name="Google Shape;2072;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7" name="Shape 2077"/>
        <p:cNvGrpSpPr/>
        <p:nvPr/>
      </p:nvGrpSpPr>
      <p:grpSpPr>
        <a:xfrm>
          <a:off x="0" y="0"/>
          <a:ext cx="0" cy="0"/>
          <a:chOff x="0" y="0"/>
          <a:chExt cx="0" cy="0"/>
        </a:xfrm>
      </p:grpSpPr>
      <p:sp>
        <p:nvSpPr>
          <p:cNvPr id="2078" name="Google Shape;2078;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9" name="Google Shape;2079;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dn/57-appI-steering.png" id="2080" name="Google Shape;2080;p19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81" name="Google Shape;2081;p19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82" name="Google Shape;2082;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83" name="Google Shape;2083;p19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8" name="Shape 2088"/>
        <p:cNvGrpSpPr/>
        <p:nvPr/>
      </p:nvGrpSpPr>
      <p:grpSpPr>
        <a:xfrm>
          <a:off x="0" y="0"/>
          <a:ext cx="0" cy="0"/>
          <a:chOff x="0" y="0"/>
          <a:chExt cx="0" cy="0"/>
        </a:xfrm>
      </p:grpSpPr>
      <p:sp>
        <p:nvSpPr>
          <p:cNvPr id="2089" name="Google Shape;2089;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0" name="Google Shape;2090;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91" name="Google Shape;2091;p19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2" name="Google Shape;2092;p19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93" name="Google Shape;2093;p19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94" name="Google Shape;2094;p19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95" name="Google Shape;2095;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096" name="Google Shape;2096;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1" name="Shape 2101"/>
        <p:cNvGrpSpPr/>
        <p:nvPr/>
      </p:nvGrpSpPr>
      <p:grpSpPr>
        <a:xfrm>
          <a:off x="0" y="0"/>
          <a:ext cx="0" cy="0"/>
          <a:chOff x="0" y="0"/>
          <a:chExt cx="0" cy="0"/>
        </a:xfrm>
      </p:grpSpPr>
      <p:sp>
        <p:nvSpPr>
          <p:cNvPr id="2102" name="Google Shape;2102;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3" name="Google Shape;2103;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104" name="Google Shape;2104;p19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5" name="Google Shape;2105;p193"/>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106" name="Google Shape;2106;p19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108" name="Google Shape;2108;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09" name="Google Shape;2109;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4" name="Shape 2114"/>
        <p:cNvGrpSpPr/>
        <p:nvPr/>
      </p:nvGrpSpPr>
      <p:grpSpPr>
        <a:xfrm>
          <a:off x="0" y="0"/>
          <a:ext cx="0" cy="0"/>
          <a:chOff x="0" y="0"/>
          <a:chExt cx="0" cy="0"/>
        </a:xfrm>
      </p:grpSpPr>
      <p:sp>
        <p:nvSpPr>
          <p:cNvPr id="2115" name="Google Shape;2115;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6" name="Google Shape;2116;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117" name="Google Shape;2117;p1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19" name="Google Shape;2119;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4" name="Shape 2124"/>
        <p:cNvGrpSpPr/>
        <p:nvPr/>
      </p:nvGrpSpPr>
      <p:grpSpPr>
        <a:xfrm>
          <a:off x="0" y="0"/>
          <a:ext cx="0" cy="0"/>
          <a:chOff x="0" y="0"/>
          <a:chExt cx="0" cy="0"/>
        </a:xfrm>
      </p:grpSpPr>
      <p:sp>
        <p:nvSpPr>
          <p:cNvPr id="2125" name="Google Shape;2125;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6" name="Google Shape;2126;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127" name="Google Shape;2127;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8" name="Google Shape;2128;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129" name="Google Shape;2129;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130" name="Google Shape;2130;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2" name="Google Shape;2132;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7" name="Shape 2137"/>
        <p:cNvGrpSpPr/>
        <p:nvPr/>
      </p:nvGrpSpPr>
      <p:grpSpPr>
        <a:xfrm>
          <a:off x="0" y="0"/>
          <a:ext cx="0" cy="0"/>
          <a:chOff x="0" y="0"/>
          <a:chExt cx="0" cy="0"/>
        </a:xfrm>
      </p:grpSpPr>
      <p:sp>
        <p:nvSpPr>
          <p:cNvPr id="2138" name="Google Shape;2138;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9" name="Google Shape;2139;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140" name="Google Shape;2140;p1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 Kafka consumer, Wolverine routing, a custom dispatcher) calls a rule engine (NRules)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2" name="Google Shape;2142;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7" name="Shape 2147"/>
        <p:cNvGrpSpPr/>
        <p:nvPr/>
      </p:nvGrpSpPr>
      <p:grpSpPr>
        <a:xfrm>
          <a:off x="0" y="0"/>
          <a:ext cx="0" cy="0"/>
          <a:chOff x="0" y="0"/>
          <a:chExt cx="0" cy="0"/>
        </a:xfrm>
      </p:grpSpPr>
      <p:sp>
        <p:nvSpPr>
          <p:cNvPr id="2148" name="Google Shape;2148;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9" name="Google Shape;2149;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 + Confluent.Kafka + NRules: rule-based routing</a:t>
            </a:r>
            <a:endParaRPr b="0" i="0" sz="3000" u="none" cap="none" strike="noStrike">
              <a:solidFill>
                <a:schemeClr val="dk1"/>
              </a:solidFill>
              <a:latin typeface="Calibri"/>
              <a:ea typeface="Calibri"/>
              <a:cs typeface="Calibri"/>
              <a:sym typeface="Calibri"/>
            </a:endParaRPr>
          </a:p>
        </p:txBody>
      </p:sp>
      <p:pic>
        <p:nvPicPr>
          <p:cNvPr descr="/home/claude/work/png-dn/58-appI-masstransit-routingslip-dn.png" id="2150" name="Google Shape;2150;p197"/>
          <p:cNvPicPr preferRelativeResize="0"/>
          <p:nvPr/>
        </p:nvPicPr>
        <p:blipFill rotWithShape="1">
          <a:blip r:embed="rId5">
            <a:alphaModFix/>
          </a:blip>
          <a:stretch/>
        </p:blipFill>
        <p:spPr>
          <a:xfrm>
            <a:off x="1788310" y="1964946"/>
            <a:ext cx="8615076" cy="3796787"/>
          </a:xfrm>
          <a:prstGeom prst="rect">
            <a:avLst/>
          </a:prstGeom>
          <a:noFill/>
          <a:ln>
            <a:noFill/>
          </a:ln>
        </p:spPr>
      </p:pic>
      <p:sp>
        <p:nvSpPr>
          <p:cNvPr id="2151" name="Google Shape;2151;p19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Kafka consumer owns the plumbing; NRules owns the decision logic; the whole thing runs in-process behind the Istio mesh.</a:t>
            </a:r>
            <a:endParaRPr b="0" i="0" sz="1200" u="none" cap="none" strike="noStrike">
              <a:solidFill>
                <a:schemeClr val="dk1"/>
              </a:solidFill>
              <a:latin typeface="Calibri"/>
              <a:ea typeface="Calibri"/>
              <a:cs typeface="Calibri"/>
              <a:sym typeface="Calibri"/>
            </a:endParaRPr>
          </a:p>
        </p:txBody>
      </p:sp>
      <p:sp>
        <p:nvSpPr>
          <p:cNvPr id="2152" name="Google Shape;2152;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3" name="Google Shape;2153;p1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8" name="Shape 2158"/>
        <p:cNvGrpSpPr/>
        <p:nvPr/>
      </p:nvGrpSpPr>
      <p:grpSpPr>
        <a:xfrm>
          <a:off x="0" y="0"/>
          <a:ext cx="0" cy="0"/>
          <a:chOff x="0" y="0"/>
          <a:chExt cx="0" cy="0"/>
        </a:xfrm>
      </p:grpSpPr>
      <p:sp>
        <p:nvSpPr>
          <p:cNvPr id="2159" name="Google Shape;2159;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0" name="Google Shape;2160;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Kafka consumer in .NET, calling NRules</a:t>
            </a:r>
            <a:endParaRPr b="0" i="0" sz="3000" u="none" cap="none" strike="noStrike">
              <a:solidFill>
                <a:schemeClr val="dk1"/>
              </a:solidFill>
              <a:latin typeface="Calibri"/>
              <a:ea typeface="Calibri"/>
              <a:cs typeface="Calibri"/>
              <a:sym typeface="Calibri"/>
            </a:endParaRPr>
          </a:p>
        </p:txBody>
      </p:sp>
      <p:sp>
        <p:nvSpPr>
          <p:cNvPr id="2161" name="Google Shape;2161;p19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198"/>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Confluent.Kafka + NRules</a:t>
            </a:r>
            <a:endParaRPr b="0" i="0" sz="1000" u="none" cap="none" strike="noStrike">
              <a:solidFill>
                <a:schemeClr val="dk1"/>
              </a:solidFill>
              <a:latin typeface="Calibri"/>
              <a:ea typeface="Calibri"/>
              <a:cs typeface="Calibri"/>
              <a:sym typeface="Calibri"/>
            </a:endParaRPr>
          </a:p>
        </p:txBody>
      </p:sp>
      <p:sp>
        <p:nvSpPr>
          <p:cNvPr id="2163" name="Google Shape;2163;p19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NRules + Confluent.Kafka — the consumer enriches, evaluates, dispatches.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record OrderFact(OrderId, AmountCents, Customer) with a settable WhereTo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OrderRouter(HttpClient http, ISessionFactory rules,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IProducer&lt;Null, string&gt; producer)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 Route(OrderInbound msg)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customer = await http.GetFromJsonAsync&lt;Customer&gt;(          // 1) enrich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$"http://customer-svc/lookup/{msg.OrderId}") ?? throw new NotFoundException();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fact = new OrderFact(msg.OrderId, msg.AmountCents, customer);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session = rules.CreateSession();     // 2) evaluate; one session per message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session.Insert(fact); session.Fire();    // matching rules set fact.WhereTo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body = JsonSerializer.Serialize(msg); // 3) dispatch: kafka:&lt;topic&gt;, http:&lt;url&gt;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dest in (fact.WhereTo ?? "kafka:orders.default").Split(','))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parts = dest.Split(':', 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(parts[0] == "kafka")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producer.ProduceAsync(parts[1],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if (parts[0] ==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http.PostAsync(parts[1],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StringContent(body, Encoding.UTF8,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NRules evaluate → dispatch to Kafka or HTTP: the content-based router, with the decision externalised to NRules.</a:t>
            </a:r>
            <a:endParaRPr b="0" i="0" sz="13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6" name="Google Shape;2166;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1" name="Shape 2171"/>
        <p:cNvGrpSpPr/>
        <p:nvPr/>
      </p:nvGrpSpPr>
      <p:grpSpPr>
        <a:xfrm>
          <a:off x="0" y="0"/>
          <a:ext cx="0" cy="0"/>
          <a:chOff x="0" y="0"/>
          <a:chExt cx="0" cy="0"/>
        </a:xfrm>
      </p:grpSpPr>
      <p:sp>
        <p:nvSpPr>
          <p:cNvPr id="2172" name="Google Shape;2172;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3" name="Google Shape;2173;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An NRules rule: the decision, externalised</a:t>
            </a:r>
            <a:endParaRPr b="0" i="0" sz="30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5" name="Google Shape;2175;p199"/>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NRules.Fluent  (or external NRules.Language DSL)</a:t>
            </a:r>
            <a:endParaRPr b="0" i="0" sz="1000" u="none" cap="none" strike="noStrike">
              <a:solidFill>
                <a:schemeClr val="dk1"/>
              </a:solidFill>
              <a:latin typeface="Calibri"/>
              <a:ea typeface="Calibri"/>
              <a:cs typeface="Calibri"/>
              <a:sym typeface="Calibri"/>
            </a:endParaRPr>
          </a:p>
        </p:txBody>
      </p:sp>
      <p:sp>
        <p:nvSpPr>
          <p:cNvPr id="2176" name="Google Shape;2176;p19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HighValueVipRule : 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            // declare the fact binding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.Match&lt;OrderFact&gt;(() =&gt;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f.AmountCents &gt; 50_000,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f.Customer.Tier == "VIP");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.Do(ctx =&gt; order.WhereTo = "kafka:orders.priority,http:notify-vip");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EuropeanOrderRule: Customer.Region == "EU" sets WhereTo = "kafka:orders.eu"</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[Name("Default route")] [Priority(-100)]    // salience equivalent — fires last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DefaultRouteRule : 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f.WhereTo == 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Compile-time-checked, IDE-friendly, unit-testable — or move to NRules.Language for domain-expert ownership.</a:t>
            </a:r>
            <a:endParaRPr b="0" i="0" sz="13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dn/59-appI-latency-sb.png" id="2187" name="Google Shape;2187;p200"/>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88" name="Google Shape;2188;p20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89" name="Google Shape;2189;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0" name="Google Shape;2190;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5" name="Shape 2195"/>
        <p:cNvGrpSpPr/>
        <p:nvPr/>
      </p:nvGrpSpPr>
      <p:grpSpPr>
        <a:xfrm>
          <a:off x="0" y="0"/>
          <a:ext cx="0" cy="0"/>
          <a:chOff x="0" y="0"/>
          <a:chExt cx="0" cy="0"/>
        </a:xfrm>
      </p:grpSpPr>
      <p:sp>
        <p:nvSpPr>
          <p:cNvPr id="2196" name="Google Shape;2196;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98" name="Google Shape;2198;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0" name="Google Shape;2200;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5" name="Shape 2205"/>
        <p:cNvGrpSpPr/>
        <p:nvPr/>
      </p:nvGrpSpPr>
      <p:grpSpPr>
        <a:xfrm>
          <a:off x="0" y="0"/>
          <a:ext cx="0" cy="0"/>
          <a:chOff x="0" y="0"/>
          <a:chExt cx="0" cy="0"/>
        </a:xfrm>
      </p:grpSpPr>
      <p:sp>
        <p:nvSpPr>
          <p:cNvPr id="2206" name="Google Shape;2206;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7" name="Google Shape;2207;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dn/60-appI-east-west.png" id="2208" name="Google Shape;2208;p202"/>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209" name="Google Shape;2209;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1" name="Google Shape;2211;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6" name="Shape 2216"/>
        <p:cNvGrpSpPr/>
        <p:nvPr/>
      </p:nvGrpSpPr>
      <p:grpSpPr>
        <a:xfrm>
          <a:off x="0" y="0"/>
          <a:ext cx="0" cy="0"/>
          <a:chOff x="0" y="0"/>
          <a:chExt cx="0" cy="0"/>
        </a:xfrm>
      </p:grpSpPr>
      <p:sp>
        <p:nvSpPr>
          <p:cNvPr id="2217" name="Google Shape;2217;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8" name="Google Shape;2218;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1" name="Google Shape;2221;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6" name="Shape 2226"/>
        <p:cNvGrpSpPr/>
        <p:nvPr/>
      </p:nvGrpSpPr>
      <p:grpSpPr>
        <a:xfrm>
          <a:off x="0" y="0"/>
          <a:ext cx="0" cy="0"/>
          <a:chOff x="0" y="0"/>
          <a:chExt cx="0" cy="0"/>
        </a:xfrm>
      </p:grpSpPr>
      <p:sp>
        <p:nvSpPr>
          <p:cNvPr id="2227" name="Google Shape;2227;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28" name="Google Shape;2228;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229" name="Google Shape;2229;p20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0" name="Google Shape;2230;p204"/>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231" name="Google Shape;2231;p20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232" name="Google Shape;2232;p20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233" name="Google Shape;2233;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34" name="Google Shape;2234;p2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9" name="Shape 2239"/>
        <p:cNvGrpSpPr/>
        <p:nvPr/>
      </p:nvGrpSpPr>
      <p:grpSpPr>
        <a:xfrm>
          <a:off x="0" y="0"/>
          <a:ext cx="0" cy="0"/>
          <a:chOff x="0" y="0"/>
          <a:chExt cx="0" cy="0"/>
        </a:xfrm>
      </p:grpSpPr>
      <p:sp>
        <p:nvSpPr>
          <p:cNvPr id="2240" name="Google Shape;2240;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43" name="Google Shape;2243;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44" name="Google Shape;2244;p2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9" name="Shape 2249"/>
        <p:cNvGrpSpPr/>
        <p:nvPr/>
      </p:nvGrpSpPr>
      <p:grpSpPr>
        <a:xfrm>
          <a:off x="0" y="0"/>
          <a:ext cx="0" cy="0"/>
          <a:chOff x="0" y="0"/>
          <a:chExt cx="0" cy="0"/>
        </a:xfrm>
      </p:grpSpPr>
      <p:sp>
        <p:nvSpPr>
          <p:cNvPr id="2250" name="Google Shape;2250;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51" name="Google Shape;2251;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 Kafka consumer + NRules):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62" name="Google Shape;2262;p2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Confluent.Kafka .NET client documentation; NRules documentation (Fluent API + NRules.Language + NRules.Testing); YARP docs for the reverse-proxy library. For DMN specifically, the Apache KIE (Kogito) DMN docs — run as a separate service called over REST when you need decision tables.</a:t>
            </a:r>
            <a:endParaRPr b="0" i="0" sz="17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69" name="Shape 2269"/>
        <p:cNvGrpSpPr/>
        <p:nvPr/>
      </p:nvGrpSpPr>
      <p:grpSpPr>
        <a:xfrm>
          <a:off x="0" y="0"/>
          <a:ext cx="0" cy="0"/>
          <a:chOff x="0" y="0"/>
          <a:chExt cx="0" cy="0"/>
        </a:xfrm>
      </p:grpSpPr>
      <p:pic>
        <p:nvPicPr>
          <p:cNvPr descr="/home/claude/work/assets/rh-divider-bg.png" id="2270" name="Google Shape;2270;p2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71" name="Google Shape;2271;p2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J</a:t>
            </a:r>
            <a:endParaRPr b="0" i="0" sz="2200" u="none" cap="none" strike="noStrike">
              <a:solidFill>
                <a:schemeClr val="dk1"/>
              </a:solidFill>
              <a:latin typeface="Calibri"/>
              <a:ea typeface="Calibri"/>
              <a:cs typeface="Calibri"/>
              <a:sym typeface="Calibri"/>
            </a:endParaRPr>
          </a:p>
        </p:txBody>
      </p:sp>
      <p:sp>
        <p:nvSpPr>
          <p:cNvPr id="2272" name="Google Shape;2272;p2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J · .NET 10 Toolkit &amp; Migration</a:t>
            </a:r>
            <a:endParaRPr b="0" i="0" sz="4000" u="none" cap="none" strike="noStrike">
              <a:solidFill>
                <a:schemeClr val="dk1"/>
              </a:solidFill>
              <a:latin typeface="Calibri"/>
              <a:ea typeface="Calibri"/>
              <a:cs typeface="Calibri"/>
              <a:sym typeface="Calibri"/>
            </a:endParaRPr>
          </a:p>
        </p:txBody>
      </p:sp>
      <p:sp>
        <p:nvSpPr>
          <p:cNvPr id="2273" name="Google Shape;2273;p2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Pinned stack, expanded migration table, known gaps.</a:t>
            </a:r>
            <a:endParaRPr b="0" i="0" sz="1500" u="none" cap="none" strike="noStrike">
              <a:solidFill>
                <a:schemeClr val="dk1"/>
              </a:solidFill>
              <a:latin typeface="Calibri"/>
              <a:ea typeface="Calibri"/>
              <a:cs typeface="Calibri"/>
              <a:sym typeface="Calibri"/>
            </a:endParaRPr>
          </a:p>
        </p:txBody>
      </p:sp>
      <p:pic>
        <p:nvPicPr>
          <p:cNvPr descr="/home/claude/work/assets/rh-logo-white.png" id="2274" name="Google Shape;2274;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9" name="Shape 2279"/>
        <p:cNvGrpSpPr/>
        <p:nvPr/>
      </p:nvGrpSpPr>
      <p:grpSpPr>
        <a:xfrm>
          <a:off x="0" y="0"/>
          <a:ext cx="0" cy="0"/>
          <a:chOff x="0" y="0"/>
          <a:chExt cx="0" cy="0"/>
        </a:xfrm>
      </p:grpSpPr>
      <p:sp>
        <p:nvSpPr>
          <p:cNvPr id="2280" name="Google Shape;2280;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81" name="Google Shape;2281;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.NET 10 toolkit</a:t>
            </a:r>
            <a:endParaRPr b="0" i="0" sz="3000" u="none" cap="none" strike="noStrike">
              <a:solidFill>
                <a:schemeClr val="dk1"/>
              </a:solidFill>
              <a:latin typeface="Calibri"/>
              <a:ea typeface="Calibri"/>
              <a:cs typeface="Calibri"/>
              <a:sym typeface="Calibri"/>
            </a:endParaRPr>
          </a:p>
        </p:txBody>
      </p:sp>
      <p:pic>
        <p:nvPicPr>
          <p:cNvPr descr="/home/claude/work/png-dn/70-appJ-pinned-libraries-dn.png" id="2282" name="Google Shape;2282;p209"/>
          <p:cNvPicPr preferRelativeResize="0"/>
          <p:nvPr/>
        </p:nvPicPr>
        <p:blipFill rotWithShape="1">
          <a:blip r:embed="rId3">
            <a:alphaModFix/>
          </a:blip>
          <a:stretch/>
        </p:blipFill>
        <p:spPr>
          <a:xfrm>
            <a:off x="2728795" y="1600200"/>
            <a:ext cx="6734102" cy="4526278"/>
          </a:xfrm>
          <a:prstGeom prst="rect">
            <a:avLst/>
          </a:prstGeom>
          <a:noFill/>
          <a:ln>
            <a:noFill/>
          </a:ln>
        </p:spPr>
      </p:pic>
      <p:sp>
        <p:nvSpPr>
          <p:cNvPr id="2283" name="Google Shape;2283;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library in your csproj: purpose, license, NuGet package. All MIT, Apache 2.0 or BSD-3; no cloud-vendor lock-in.</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5" name="Google Shape;2285;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0" name="Shape 2290"/>
        <p:cNvGrpSpPr/>
        <p:nvPr/>
      </p:nvGrpSpPr>
      <p:grpSpPr>
        <a:xfrm>
          <a:off x="0" y="0"/>
          <a:ext cx="0" cy="0"/>
          <a:chOff x="0" y="0"/>
          <a:chExt cx="0" cy="0"/>
        </a:xfrm>
      </p:grpSpPr>
      <p:sp>
        <p:nvSpPr>
          <p:cNvPr id="2291" name="Google Shape;2291;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92" name="Google Shape;2292;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cloud-native platform stack</a:t>
            </a:r>
            <a:endParaRPr b="0" i="0" sz="3000" u="none" cap="none" strike="noStrike">
              <a:solidFill>
                <a:schemeClr val="dk1"/>
              </a:solidFill>
              <a:latin typeface="Calibri"/>
              <a:ea typeface="Calibri"/>
              <a:cs typeface="Calibri"/>
              <a:sym typeface="Calibri"/>
            </a:endParaRPr>
          </a:p>
        </p:txBody>
      </p:sp>
      <p:pic>
        <p:nvPicPr>
          <p:cNvPr descr="/home/claude/work/png-dn/71-appJ-pinned-platform-dn.png" id="2293" name="Google Shape;2293;p210"/>
          <p:cNvPicPr preferRelativeResize="0"/>
          <p:nvPr/>
        </p:nvPicPr>
        <p:blipFill rotWithShape="1">
          <a:blip r:embed="rId5">
            <a:alphaModFix/>
          </a:blip>
          <a:stretch/>
        </p:blipFill>
        <p:spPr>
          <a:xfrm>
            <a:off x="1493156" y="1617884"/>
            <a:ext cx="9205386" cy="4490913"/>
          </a:xfrm>
          <a:prstGeom prst="rect">
            <a:avLst/>
          </a:prstGeom>
          <a:noFill/>
          <a:ln>
            <a:noFill/>
          </a:ln>
        </p:spPr>
      </p:pic>
      <p:sp>
        <p:nvSpPr>
          <p:cNvPr id="2294" name="Google Shape;2294;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cluster-side OSS components your .NET Pods rely on — standard CNCF-friendly stack.</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6" name="Google Shape;2296;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1" name="Shape 2301"/>
        <p:cNvGrpSpPr/>
        <p:nvPr/>
      </p:nvGrpSpPr>
      <p:grpSpPr>
        <a:xfrm>
          <a:off x="0" y="0"/>
          <a:ext cx="0" cy="0"/>
          <a:chOff x="0" y="0"/>
          <a:chExt cx="0" cy="0"/>
        </a:xfrm>
      </p:grpSpPr>
      <p:sp>
        <p:nvSpPr>
          <p:cNvPr id="2302" name="Google Shape;2302;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MIGRATION</a:t>
            </a:r>
            <a:endParaRPr b="0" i="0" sz="1200" u="none" cap="none" strike="noStrike">
              <a:solidFill>
                <a:schemeClr val="dk1"/>
              </a:solidFill>
              <a:latin typeface="Calibri"/>
              <a:ea typeface="Calibri"/>
              <a:cs typeface="Calibri"/>
              <a:sym typeface="Calibri"/>
            </a:endParaRPr>
          </a:p>
        </p:txBody>
      </p:sp>
      <p:sp>
        <p:nvSpPr>
          <p:cNvPr id="2303" name="Google Shape;2303;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Windows / .NET 4.x to Kubernetes / .NET 10</a:t>
            </a:r>
            <a:endParaRPr b="0" i="0" sz="3000" u="none" cap="none" strike="noStrike">
              <a:solidFill>
                <a:schemeClr val="dk1"/>
              </a:solidFill>
              <a:latin typeface="Calibri"/>
              <a:ea typeface="Calibri"/>
              <a:cs typeface="Calibri"/>
              <a:sym typeface="Calibri"/>
            </a:endParaRPr>
          </a:p>
        </p:txBody>
      </p:sp>
      <p:pic>
        <p:nvPicPr>
          <p:cNvPr descr="/home/claude/work/png-dn/72-appJ-migration-reference-dn.png" id="2304" name="Google Shape;2304;p211"/>
          <p:cNvPicPr preferRelativeResize="0"/>
          <p:nvPr/>
        </p:nvPicPr>
        <p:blipFill rotWithShape="1">
          <a:blip r:embed="rId5">
            <a:alphaModFix/>
          </a:blip>
          <a:stretch/>
        </p:blipFill>
        <p:spPr>
          <a:xfrm>
            <a:off x="2838707" y="2153339"/>
            <a:ext cx="6514284" cy="3419999"/>
          </a:xfrm>
          <a:prstGeom prst="rect">
            <a:avLst/>
          </a:prstGeom>
          <a:noFill/>
          <a:ln>
            <a:noFill/>
          </a:ln>
        </p:spPr>
      </p:pic>
      <p:sp>
        <p:nvSpPr>
          <p:cNvPr id="2305" name="Google Shape;2305;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Concrete patterns, side by side, with a one-line rationale per row. Print this and keep it on your desk.</a:t>
            </a:r>
            <a:endParaRPr b="0" i="0" sz="1200" u="none" cap="none" strike="noStrike">
              <a:solidFill>
                <a:schemeClr val="dk1"/>
              </a:solidFill>
              <a:latin typeface="Calibri"/>
              <a:ea typeface="Calibri"/>
              <a:cs typeface="Calibri"/>
              <a:sym typeface="Calibri"/>
            </a:endParaRPr>
          </a:p>
        </p:txBody>
      </p:sp>
      <p:sp>
        <p:nvSpPr>
          <p:cNvPr id="2306" name="Google Shape;2306;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7" name="Google Shape;2307;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2" name="Shape 2312"/>
        <p:cNvGrpSpPr/>
        <p:nvPr/>
      </p:nvGrpSpPr>
      <p:grpSpPr>
        <a:xfrm>
          <a:off x="0" y="0"/>
          <a:ext cx="0" cy="0"/>
          <a:chOff x="0" y="0"/>
          <a:chExt cx="0" cy="0"/>
        </a:xfrm>
      </p:grpSpPr>
      <p:sp>
        <p:nvSpPr>
          <p:cNvPr id="2313" name="Google Shape;2313;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GAPS</a:t>
            </a:r>
            <a:endParaRPr b="0" i="0" sz="1200" u="none" cap="none" strike="noStrike">
              <a:solidFill>
                <a:schemeClr val="dk1"/>
              </a:solidFill>
              <a:latin typeface="Calibri"/>
              <a:ea typeface="Calibri"/>
              <a:cs typeface="Calibri"/>
              <a:sym typeface="Calibri"/>
            </a:endParaRPr>
          </a:p>
        </p:txBody>
      </p:sp>
      <p:sp>
        <p:nvSpPr>
          <p:cNvPr id="2314" name="Google Shape;2314;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.NET cloud-native story lacks</a:t>
            </a:r>
            <a:endParaRPr b="0" i="0" sz="3000" u="none" cap="none" strike="noStrike">
              <a:solidFill>
                <a:schemeClr val="dk1"/>
              </a:solidFill>
              <a:latin typeface="Calibri"/>
              <a:ea typeface="Calibri"/>
              <a:cs typeface="Calibri"/>
              <a:sym typeface="Calibri"/>
            </a:endParaRPr>
          </a:p>
        </p:txBody>
      </p:sp>
      <p:sp>
        <p:nvSpPr>
          <p:cNvPr id="2315" name="Google Shape;2315;p2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Native DMN runtime — .NET doesn't ship an open-source DMN (Decision Model and Notation) engine. If you need spreadsheet-style decision tables for non-developers, run a DMN engine such as Apache KIE (Kogito) as a separate service and call it over REST from your enrichment step. NRules covers the rule-engine slot but not the DMN UX.</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Apache Camel ecosystem — nothing in .NET matches the breadth of Camel's 300+ component connectors. For integration with long-tail systems (HL7, AS2, EDI, mainframe connectors) you may still want a Camel sidecar in a JVM Pod.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Stream processing — Streamiz.Kafka.Net is excellent but is one project (one maintainer, MIT) compared to Kafka Streams' larger contributor base. Flink remains the heavyweight option — typically as a separate JVM service if your stream workloads are central.</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DI complexity — Microsoft.Extensions.DependencyInjection is simple by design. For property injection, decorators, or advanced lifetime scopes, look at Autofac (MIT) or Lamar (MIT) — both drop-in replacements.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MediatR is no longer open source — it moved to a commercial license in 2025. Wolverine (MIT) is the modern OSS equivalent; consider it for new projects.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These are real gaps with known workarounds: in each case there is either a workable .NET path or a polyglot path. The .NET cloud-native story is solid for &gt;95% of cases; the remaining 5% is where you mix runtimes or accept a different trade-off.</a:t>
            </a:r>
            <a:endParaRPr b="0" i="0" sz="15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17" name="Google Shape;2317;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2" name="Shape 2322"/>
        <p:cNvGrpSpPr/>
        <p:nvPr/>
      </p:nvGrpSpPr>
      <p:grpSpPr>
        <a:xfrm>
          <a:off x="0" y="0"/>
          <a:ext cx="0" cy="0"/>
          <a:chOff x="0" y="0"/>
          <a:chExt cx="0" cy="0"/>
        </a:xfrm>
      </p:grpSpPr>
      <p:sp>
        <p:nvSpPr>
          <p:cNvPr id="2323" name="Google Shape;2323;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RECIPE</a:t>
            </a:r>
            <a:endParaRPr b="0" i="0" sz="1200" u="none" cap="none" strike="noStrike">
              <a:solidFill>
                <a:schemeClr val="dk1"/>
              </a:solidFill>
              <a:latin typeface="Calibri"/>
              <a:ea typeface="Calibri"/>
              <a:cs typeface="Calibri"/>
              <a:sym typeface="Calibri"/>
            </a:endParaRPr>
          </a:p>
        </p:txBody>
      </p:sp>
      <p:sp>
        <p:nvSpPr>
          <p:cNvPr id="2324" name="Google Shape;2324;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five-line recipe for a new .NET 10 cloud-native service</a:t>
            </a:r>
            <a:endParaRPr b="0" i="0" sz="3000" u="none" cap="none" strike="noStrike">
              <a:solidFill>
                <a:schemeClr val="dk1"/>
              </a:solidFill>
              <a:latin typeface="Calibri"/>
              <a:ea typeface="Calibri"/>
              <a:cs typeface="Calibri"/>
              <a:sym typeface="Calibri"/>
            </a:endParaRPr>
          </a:p>
        </p:txBody>
      </p:sp>
      <p:sp>
        <p:nvSpPr>
          <p:cNvPr id="2325" name="Google Shape;2325;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1. dotnet new web; add Microsoft.AspNetCore.OpenApi, Microsoft.Extensions.Diagnostics.HealthChecks.EntityFrameworkCore, OpenTelemetry.Extensions.Hosting. AddHealthChecks with AddDbContextCheck, MapHealthChecks at /healthz and /readyz; expose ActivitySource-based telemetry from line one.</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2. Pick exactly the protocols you need: ASP.NET Core minimal APIs for REST at the edge, Grpc.AspNetCore for internal service-to-service, HotChocolate only if you need GraphQL aggregation. Don't surface all three by default.</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3. For data: EF Core for the OLTP store, with the outbox table in the same DbContext as your aggregates. Add Debezium to Kafka via Strimzi. Produce and consume with Confluent.Kafka directly; it keeps the Kafka semantics (keys, partitions, offsets) visible.</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4. For state across calls: Temporal .NET SDK if the saga is durable, long, or cross-service; Stateless if it's small and in-process. Persist every transition; never trust in-memory state to survive a Pod restart.</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1" i="0" lang="en-US" sz="1450" u="none" cap="none" strike="noStrike">
                <a:solidFill>
                  <a:srgbClr val="151515"/>
                </a:solidFill>
                <a:latin typeface="Red Hat Text"/>
                <a:ea typeface="Red Hat Text"/>
                <a:cs typeface="Red Hat Text"/>
                <a:sym typeface="Red Hat Text"/>
              </a:rPr>
              <a:t>5. Ship it on Kubernetes with KEDA scaling on lag (Kafka) or RPS (HTTP); behind Istio for mTLS and retries; with OpenTelemetry exporting to LGTM. Use Asp.Versioning for media-type evolution; never invent your own.</a:t>
            </a:r>
            <a:endParaRPr b="0" i="0" sz="145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200"/>
              <a:buFont typeface="Red Hat Text"/>
              <a:buChar char="–"/>
            </a:pPr>
            <a:r>
              <a:rPr b="0" i="0" lang="en-US" sz="1200" u="none" cap="none" strike="noStrike">
                <a:solidFill>
                  <a:srgbClr val="5A5A5A"/>
                </a:solidFill>
                <a:latin typeface="Red Hat Text"/>
                <a:ea typeface="Red Hat Text"/>
                <a:cs typeface="Red Hat Text"/>
                <a:sym typeface="Red Hat Text"/>
              </a:rPr>
              <a:t>Six libraries get you 95% of the way: ASP.NET Core, EF Core, Confluent.Kafka, Temporalio, OpenTelemetry, Polly. Add NRules / Streamiz / HotChocolate / SignalR per workload — only when the use case earns them.</a:t>
            </a:r>
            <a:endParaRPr b="0" i="0" sz="1450" u="none" cap="none" strike="noStrike">
              <a:solidFill>
                <a:schemeClr val="dk1"/>
              </a:solidFill>
              <a:latin typeface="Calibri"/>
              <a:ea typeface="Calibri"/>
              <a:cs typeface="Calibri"/>
              <a:sym typeface="Calibri"/>
            </a:endParaRPr>
          </a:p>
        </p:txBody>
      </p:sp>
      <p:sp>
        <p:nvSpPr>
          <p:cNvPr id="2326" name="Google Shape;2326;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27" name="Google Shape;2327;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32" name="Shape 2332"/>
        <p:cNvGrpSpPr/>
        <p:nvPr/>
      </p:nvGrpSpPr>
      <p:grpSpPr>
        <a:xfrm>
          <a:off x="0" y="0"/>
          <a:ext cx="0" cy="0"/>
          <a:chOff x="0" y="0"/>
          <a:chExt cx="0" cy="0"/>
        </a:xfrm>
      </p:grpSpPr>
      <p:pic>
        <p:nvPicPr>
          <p:cNvPr descr="/home/claude/work/assets/rh-divider-bg.png" id="2333" name="Google Shape;2333;p2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34" name="Google Shape;2334;p2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335" name="Google Shape;2335;p2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336" name="Google Shape;2336;p2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337" name="Google Shape;2337;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2" name="Shape 2342"/>
        <p:cNvGrpSpPr/>
        <p:nvPr/>
      </p:nvGrpSpPr>
      <p:grpSpPr>
        <a:xfrm>
          <a:off x="0" y="0"/>
          <a:ext cx="0" cy="0"/>
          <a:chOff x="0" y="0"/>
          <a:chExt cx="0" cy="0"/>
        </a:xfrm>
      </p:grpSpPr>
      <p:sp>
        <p:nvSpPr>
          <p:cNvPr id="2343" name="Google Shape;2343;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344" name="Google Shape;2344;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dn/80-appK-monolith-deployment.png" id="2345" name="Google Shape;2345;p21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6" name="Google Shape;2346;p2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347" name="Google Shape;2347;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8" name="Google Shape;2348;p2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3" name="Shape 2353"/>
        <p:cNvGrpSpPr/>
        <p:nvPr/>
      </p:nvGrpSpPr>
      <p:grpSpPr>
        <a:xfrm>
          <a:off x="0" y="0"/>
          <a:ext cx="0" cy="0"/>
          <a:chOff x="0" y="0"/>
          <a:chExt cx="0" cy="0"/>
        </a:xfrm>
      </p:grpSpPr>
      <p:sp>
        <p:nvSpPr>
          <p:cNvPr id="2354" name="Google Shape;2354;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355" name="Google Shape;2355;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dn/81-appK-modular-monolith.png" id="2356" name="Google Shape;2356;p2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57" name="Google Shape;2357;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358" name="Google Shape;2358;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9" name="Google Shape;2359;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4" name="Shape 2364"/>
        <p:cNvGrpSpPr/>
        <p:nvPr/>
      </p:nvGrpSpPr>
      <p:grpSpPr>
        <a:xfrm>
          <a:off x="0" y="0"/>
          <a:ext cx="0" cy="0"/>
          <a:chOff x="0" y="0"/>
          <a:chExt cx="0" cy="0"/>
        </a:xfrm>
      </p:grpSpPr>
      <p:sp>
        <p:nvSpPr>
          <p:cNvPr id="2365" name="Google Shape;2365;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366" name="Google Shape;2366;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dn/82-appK-modular-monolith-decomposed-db.png" id="2367" name="Google Shape;2367;p21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68" name="Google Shape;2368;p21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369" name="Google Shape;2369;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0" name="Google Shape;2370;p2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5" name="Shape 2375"/>
        <p:cNvGrpSpPr/>
        <p:nvPr/>
      </p:nvGrpSpPr>
      <p:grpSpPr>
        <a:xfrm>
          <a:off x="0" y="0"/>
          <a:ext cx="0" cy="0"/>
          <a:chOff x="0" y="0"/>
          <a:chExt cx="0" cy="0"/>
        </a:xfrm>
      </p:grpSpPr>
      <p:sp>
        <p:nvSpPr>
          <p:cNvPr id="2376" name="Google Shape;2376;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77" name="Google Shape;2377;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dn/83-appK-strangler-identify-move-redirect.png" id="2378" name="Google Shape;2378;p21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79" name="Google Shape;2379;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380" name="Google Shape;2380;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1" name="Google Shape;2381;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6" name="Shape 2386"/>
        <p:cNvGrpSpPr/>
        <p:nvPr/>
      </p:nvGrpSpPr>
      <p:grpSpPr>
        <a:xfrm>
          <a:off x="0" y="0"/>
          <a:ext cx="0" cy="0"/>
          <a:chOff x="0" y="0"/>
          <a:chExt cx="0" cy="0"/>
        </a:xfrm>
      </p:grpSpPr>
      <p:sp>
        <p:nvSpPr>
          <p:cNvPr id="2387" name="Google Shape;2387;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88" name="Google Shape;2388;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dn/84-appK-strangler-proxy.png" id="2389" name="Google Shape;2389;p21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90" name="Google Shape;2390;p2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391" name="Google Shape;2391;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392" name="Google Shape;2392;p2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7" name="Shape 2397"/>
        <p:cNvGrpSpPr/>
        <p:nvPr/>
      </p:nvGrpSpPr>
      <p:grpSpPr>
        <a:xfrm>
          <a:off x="0" y="0"/>
          <a:ext cx="0" cy="0"/>
          <a:chOff x="0" y="0"/>
          <a:chExt cx="0" cy="0"/>
        </a:xfrm>
      </p:grpSpPr>
      <p:sp>
        <p:nvSpPr>
          <p:cNvPr id="2398" name="Google Shape;2398;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99" name="Google Shape;2399;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dn/85-appK-strangler-proxy-redirection.png" id="2400" name="Google Shape;2400;p2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401" name="Google Shape;2401;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402" name="Google Shape;2402;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410" name="Google Shape;2410;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dn/86-appK-strangler-shared-database.png" id="2411" name="Google Shape;2411;p221"/>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412" name="Google Shape;2412;p2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413" name="Google Shape;241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421" name="Google Shape;242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422" name="Google Shape;2422;p22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3" name="Google Shape;2423;p222"/>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minimal API + IHttpClientFactory</a:t>
            </a:r>
            <a:endParaRPr b="0" i="0" sz="1000" u="none" cap="none" strike="noStrike">
              <a:solidFill>
                <a:schemeClr val="dk1"/>
              </a:solidFill>
              <a:latin typeface="Calibri"/>
              <a:ea typeface="Calibri"/>
              <a:cs typeface="Calibri"/>
              <a:sym typeface="Calibri"/>
            </a:endParaRPr>
          </a:p>
        </p:txBody>
      </p:sp>
      <p:sp>
        <p:nvSpPr>
          <p:cNvPr id="2424" name="Google Shape;2424;p22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ASP.NET Core minimal API + IHttpClientFactory — content-aware proxy that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reads the request body and forwards to the new service or the monolith.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builder.Services.AddHttpClient("monolith", c =&gt; c.BaseAddress = new("http://monolith.svc:8080"));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builder.Services.AddHttpClient("orders",   c =&gt; c.BaseAddress = new("http://orders.svc:8080"));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builder.Services.AddHttpClient("ordersEu", c =&gt; c.BaseAddress = new("http://orders-eu.svc:8080"));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IHttpClientFactory factory)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body = await ctx.Request.ReadFromJsonAsync&lt;JsonObject&gt;()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throw new BadHttpRequestException("empty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decide by payload content, not URL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tenant = body["tenant"]?.GetValue&lt;string&gt;()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region = body["region"]?.GetValue&lt;string&gt;()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upstream = (tenant, region)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("acme", _) =&gt; factory.CreateClient("orders"),    // new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"EU")  =&gt; factory.CreateClient("ordersEu"),  // regional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factory.CreateClient("monolith")   // default: legacy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response = await upstream.PostAsJsonAsync("/orders",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stream =&gt; await response.Content.CopyToAsync(stream),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response.Content.Headers.ContentType?.ToString());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25" name="Google Shape;2425;p22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via IHttpClientFactory named clients.</a:t>
            </a:r>
            <a:endParaRPr b="0" i="0" sz="1300" u="none" cap="none" strike="noStrike">
              <a:solidFill>
                <a:schemeClr val="dk1"/>
              </a:solidFill>
              <a:latin typeface="Calibri"/>
              <a:ea typeface="Calibri"/>
              <a:cs typeface="Calibri"/>
              <a:sym typeface="Calibri"/>
            </a:endParaRPr>
          </a:p>
        </p:txBody>
      </p:sp>
      <p:sp>
        <p:nvSpPr>
          <p:cNvPr id="2426" name="Google Shape;2426;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34" name="Google Shape;2434;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dn/88-appK-decorating-collaborator.png" id="2435" name="Google Shape;2435;p22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437" name="Google Shape;243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45" name="Google Shape;244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ASP.NET Core</a:t>
            </a:r>
            <a:endParaRPr b="0" i="0" sz="3000" u="none" cap="none" strike="noStrike">
              <a:solidFill>
                <a:schemeClr val="dk1"/>
              </a:solidFill>
              <a:latin typeface="Calibri"/>
              <a:ea typeface="Calibri"/>
              <a:cs typeface="Calibri"/>
              <a:sym typeface="Calibri"/>
            </a:endParaRPr>
          </a:p>
        </p:txBody>
      </p:sp>
      <p:sp>
        <p:nvSpPr>
          <p:cNvPr id="2446" name="Google Shape;2446;p2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224"/>
          <p:cNvSpPr/>
          <p:nvPr/>
        </p:nvSpPr>
        <p:spPr>
          <a:xfrm>
            <a:off x="6422817" y="1700784"/>
            <a:ext cx="5110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StackExchange.Redis + Confluent.Kafka</a:t>
            </a:r>
            <a:endParaRPr b="0" i="0" sz="1000" u="none" cap="none" strike="noStrike">
              <a:solidFill>
                <a:schemeClr val="dk1"/>
              </a:solidFill>
              <a:latin typeface="Calibri"/>
              <a:ea typeface="Calibri"/>
              <a:cs typeface="Calibri"/>
              <a:sym typeface="Calibri"/>
            </a:endParaRPr>
          </a:p>
        </p:txBody>
      </p:sp>
      <p:sp>
        <p:nvSpPr>
          <p:cNvPr id="2448" name="Google Shape;2448;p2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Wraps the legacy /orders API: Redis cache, Kafka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app.MapGet("/orders/{id}", async (string id,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redis.GetDatabase().StringGetAsync($"order:{id}");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(cached.HasValue)                                                  // 1. cache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Results.Content(cached!,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legacyClient.GetAsync($"/orders/{id}");              // 2. legacy fallback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json = await resp.Content.ReadAsStringAsync();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redis.GetDatabase().StringSetAsync(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$"order:{id}", json, TimeSpan.FromSeconds(60));                   //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Results.Content(json,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body = await JsonDocument.ParseAsync(ctx.Request.Body);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legacyClient.PostAsync("/orders",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StringContent(body.RootElement.GetRawText(), Encoding.UTF8,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json = await resp.Content.ReadAsStringAsync();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order = JsonDocument.Parse(json);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orderId = order.RootElement.GetProperty("id").GetString()!;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producer.ProduceAsync("order.placed",                           // Confluent.Kafka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json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redis.GetDatabase().KeyDeleteAsync($"order:{orderId}");         // invalidate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Results.Content(json, "application/json", statusCode: 201);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49" name="Google Shape;2449;p2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450" name="Google Shape;2450;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458" name="Google Shape;2458;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459" name="Google Shape;2459;p2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Modular monolith first, microservices later — with multi-project .NET solutions and ArchUnitNET enforcing module boundaries, the cheapest decomposition is often inside one ASP.NET Core process. Many systems never need to leave this state.</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AddDbContext&lt;T&gt; registrations is much cheaper than coordinating across services.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Always introduce the proxy first (YARP, nginx, or Istio) — the routing layer is what makes incremental cutover possible. No proxy = no incremental migration.</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Strangler with shared database is a transition state. Plan its end before you start it. EF Core migration coordination is debt that accrues.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1" i="0" lang="en-US" sz="155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550" u="none" cap="none" strike="noStrike">
              <a:solidFill>
                <a:schemeClr val="dk1"/>
              </a:solidFill>
              <a:latin typeface="Calibri"/>
              <a:ea typeface="Calibri"/>
              <a:cs typeface="Calibri"/>
              <a:sym typeface="Calibri"/>
            </a:endParaRPr>
          </a:p>
        </p:txBody>
      </p:sp>
      <p:sp>
        <p:nvSpPr>
          <p:cNvPr id="2460" name="Google Shape;2460;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61" name="Google Shape;2461;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6" name="Shape 2466"/>
        <p:cNvGrpSpPr/>
        <p:nvPr/>
      </p:nvGrpSpPr>
      <p:grpSpPr>
        <a:xfrm>
          <a:off x="0" y="0"/>
          <a:ext cx="0" cy="0"/>
          <a:chOff x="0" y="0"/>
          <a:chExt cx="0" cy="0"/>
        </a:xfrm>
      </p:grpSpPr>
      <p:pic>
        <p:nvPicPr>
          <p:cNvPr descr="/home/claude/work/assets/rh-divider-bg.png" id="2467" name="Google Shape;2467;p2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68" name="Google Shape;2468;p2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469" name="Google Shape;2469;p2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470" name="Google Shape;2470;p2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471" name="Google Shape;2471;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6" name="Shape 2476"/>
        <p:cNvGrpSpPr/>
        <p:nvPr/>
      </p:nvGrpSpPr>
      <p:grpSpPr>
        <a:xfrm>
          <a:off x="0" y="0"/>
          <a:ext cx="0" cy="0"/>
          <a:chOff x="0" y="0"/>
          <a:chExt cx="0" cy="0"/>
        </a:xfrm>
      </p:grpSpPr>
      <p:sp>
        <p:nvSpPr>
          <p:cNvPr id="2477" name="Google Shape;2477;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478" name="Google Shape;2478;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479" name="Google Shape;2479;p22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a:t>
            </a:r>
            <a:endParaRPr b="0" i="0" sz="1700" u="none" cap="none" strike="noStrike">
              <a:solidFill>
                <a:schemeClr val="dk1"/>
              </a:solidFill>
              <a:latin typeface="Calibri"/>
              <a:ea typeface="Calibri"/>
              <a:cs typeface="Calibri"/>
              <a:sym typeface="Calibri"/>
            </a:endParaRPr>
          </a:p>
        </p:txBody>
      </p:sp>
      <p:sp>
        <p:nvSpPr>
          <p:cNvPr id="2480" name="Google Shape;2480;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1" name="Google Shape;2481;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6" name="Shape 2486"/>
        <p:cNvGrpSpPr/>
        <p:nvPr/>
      </p:nvGrpSpPr>
      <p:grpSpPr>
        <a:xfrm>
          <a:off x="0" y="0"/>
          <a:ext cx="0" cy="0"/>
          <a:chOff x="0" y="0"/>
          <a:chExt cx="0" cy="0"/>
        </a:xfrm>
      </p:grpSpPr>
      <p:sp>
        <p:nvSpPr>
          <p:cNvPr id="2487" name="Google Shape;2487;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88" name="Google Shape;2488;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dn/90-appL-cache-aside.png" id="2489" name="Google Shape;2489;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90" name="Google Shape;2490;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491" name="Google Shape;2491;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2" name="Google Shape;2492;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7" name="Shape 2497"/>
        <p:cNvGrpSpPr/>
        <p:nvPr/>
      </p:nvGrpSpPr>
      <p:grpSpPr>
        <a:xfrm>
          <a:off x="0" y="0"/>
          <a:ext cx="0" cy="0"/>
          <a:chOff x="0" y="0"/>
          <a:chExt cx="0" cy="0"/>
        </a:xfrm>
      </p:grpSpPr>
      <p:sp>
        <p:nvSpPr>
          <p:cNvPr id="2498" name="Google Shape;2498;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99" name="Google Shape;2499;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ASP.NET Core with Redis</a:t>
            </a:r>
            <a:endParaRPr b="0" i="0" sz="3000" u="none" cap="none" strike="noStrike">
              <a:solidFill>
                <a:schemeClr val="dk1"/>
              </a:solidFill>
              <a:latin typeface="Calibri"/>
              <a:ea typeface="Calibri"/>
              <a:cs typeface="Calibri"/>
              <a:sym typeface="Calibri"/>
            </a:endParaRPr>
          </a:p>
        </p:txBody>
      </p:sp>
      <p:sp>
        <p:nvSpPr>
          <p:cNvPr id="2500" name="Google Shape;2500;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1" name="Google Shape;2501;p229"/>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Redis</a:t>
            </a:r>
            <a:endParaRPr b="0" i="0" sz="1000" u="none" cap="none" strike="noStrike">
              <a:solidFill>
                <a:schemeClr val="dk1"/>
              </a:solidFill>
              <a:latin typeface="Calibri"/>
              <a:ea typeface="Calibri"/>
              <a:cs typeface="Calibri"/>
              <a:sym typeface="Calibri"/>
            </a:endParaRPr>
          </a:p>
        </p:txBody>
      </p:sp>
      <p:sp>
        <p:nvSpPr>
          <p:cNvPr id="2502" name="Google Shape;2502;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cache-aside on a Redis client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app.MapGet("/cache-aside/products/{pid}", async (string pid,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$"ca:product:{pid}";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SafeCacheGet(key);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Results.Json(Merge("cache", JsonSerializer.Deserialize&lt;JsonElement&gt;(cached)));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db.Products.AsNoTracking().Where(p =&gt; p.Id == pid)   // 2. DB on a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null) return Results.NotFound(new { error = "not found"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SafeCacheSet(key, JsonSerializer.Serialize(product, CacheJson.Options)); // 3. fill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Results.Json(Merge("db", 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ProductUpdate update,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db.Products.Where(p =&gt; p.Id == pid).ExecuteUpdateAsync(s =&gt; 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p.Name, update.Name)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p.PriceCents, update.PriceCents));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SafeCacheDelete($"ca:product:{pid}");            // 4.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"cache-aside", action = "invalidated"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03" name="Google Shape;2503;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EF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504" name="Google Shape;250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5" name="Google Shape;250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12" name="Google Shape;251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dn/91-appL-read-through.png" id="2513" name="Google Shape;2513;p23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14" name="Google Shape;251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515" name="Google Shape;251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16" name="Google Shape;251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1" name="Shape 2521"/>
        <p:cNvGrpSpPr/>
        <p:nvPr/>
      </p:nvGrpSpPr>
      <p:grpSpPr>
        <a:xfrm>
          <a:off x="0" y="0"/>
          <a:ext cx="0" cy="0"/>
          <a:chOff x="0" y="0"/>
          <a:chExt cx="0" cy="0"/>
        </a:xfrm>
      </p:grpSpPr>
      <p:sp>
        <p:nvSpPr>
          <p:cNvPr id="2522" name="Google Shape;252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23" name="Google Shape;252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ASP.NET Core with HybridCache</a:t>
            </a:r>
            <a:endParaRPr b="0" i="0" sz="3000" u="none" cap="none" strike="noStrike">
              <a:solidFill>
                <a:schemeClr val="dk1"/>
              </a:solidFill>
              <a:latin typeface="Calibri"/>
              <a:ea typeface="Calibri"/>
              <a:cs typeface="Calibri"/>
              <a:sym typeface="Calibri"/>
            </a:endParaRPr>
          </a:p>
        </p:txBody>
      </p:sp>
      <p:sp>
        <p:nvSpPr>
          <p:cNvPr id="2524" name="Google Shape;2524;p23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5" name="Google Shape;2525;p231"/>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HybridCache + Redis (L2)</a:t>
            </a:r>
            <a:endParaRPr b="0" i="0" sz="1000" u="none" cap="none" strike="noStrike">
              <a:solidFill>
                <a:schemeClr val="dk1"/>
              </a:solidFill>
              <a:latin typeface="Calibri"/>
              <a:ea typeface="Calibri"/>
              <a:cs typeface="Calibri"/>
              <a:sym typeface="Calibri"/>
            </a:endParaRPr>
          </a:p>
        </p:txBody>
      </p:sp>
      <p:sp>
        <p:nvSpPr>
          <p:cNvPr id="2526" name="Google Shape;2526;p23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HybridCache is read-through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builder.Services.AddStackExchangeRedisCache(o =&gt; o.Configuration = redisUrl);   // L2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builder.Services.AddHybridCache(o =&gt; o.DefaultEntryOptions = new HybridCacheEntryOptions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Expiration = 60 s, LocalCacheExpiration = 60 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CacheContext db, HybridCache cache)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$"rt:product:{pid}";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source =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cache.GetOrCreateAsync&lt;ProductDto?&gt;(key, async ct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source = "db";                                     // the loader ran: a miss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db.Products.AsNoTracking().Where(p =&gt; p.Id ==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ProductDto.From(p)).FirstOrDefaultAsync(ct);             // loader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null) { await cache.RemoveAsync(key); return Results.NotFound();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Results.Json(Merge(source, 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 write invalidates both levels: await cache.RemoveAsync(key)</a:t>
            </a:r>
            <a:endParaRPr b="0" i="0" sz="900" u="none" cap="none" strike="noStrike">
              <a:solidFill>
                <a:schemeClr val="dk1"/>
              </a:solidFill>
              <a:latin typeface="Calibri"/>
              <a:ea typeface="Calibri"/>
              <a:cs typeface="Calibri"/>
              <a:sym typeface="Calibri"/>
            </a:endParaRPr>
          </a:p>
        </p:txBody>
      </p:sp>
      <p:sp>
        <p:nvSpPr>
          <p:cNvPr id="2527" name="Google Shape;2527;p23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GetOrCreateAsync is read-through. The loader runs only on a miss. Built-in stampede protection.</a:t>
            </a:r>
            <a:endParaRPr b="0" i="0" sz="1300" u="none" cap="none" strike="noStrike">
              <a:solidFill>
                <a:schemeClr val="dk1"/>
              </a:solidFill>
              <a:latin typeface="Calibri"/>
              <a:ea typeface="Calibri"/>
              <a:cs typeface="Calibri"/>
              <a:sym typeface="Calibri"/>
            </a:endParaRPr>
          </a:p>
        </p:txBody>
      </p:sp>
      <p:sp>
        <p:nvSpPr>
          <p:cNvPr id="2528" name="Google Shape;2528;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29" name="Google Shape;2529;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4" name="Shape 2534"/>
        <p:cNvGrpSpPr/>
        <p:nvPr/>
      </p:nvGrpSpPr>
      <p:grpSpPr>
        <a:xfrm>
          <a:off x="0" y="0"/>
          <a:ext cx="0" cy="0"/>
          <a:chOff x="0" y="0"/>
          <a:chExt cx="0" cy="0"/>
        </a:xfrm>
      </p:grpSpPr>
      <p:sp>
        <p:nvSpPr>
          <p:cNvPr id="2535" name="Google Shape;2535;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36" name="Google Shape;2536;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dn/92-appL-write-through.png" id="2537" name="Google Shape;2537;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8" name="Google Shape;2538;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539" name="Google Shape;2539;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5" name="Shape 2545"/>
        <p:cNvGrpSpPr/>
        <p:nvPr/>
      </p:nvGrpSpPr>
      <p:grpSpPr>
        <a:xfrm>
          <a:off x="0" y="0"/>
          <a:ext cx="0" cy="0"/>
          <a:chOff x="0" y="0"/>
          <a:chExt cx="0" cy="0"/>
        </a:xfrm>
      </p:grpSpPr>
      <p:sp>
        <p:nvSpPr>
          <p:cNvPr id="2546" name="Google Shape;254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47" name="Google Shape;254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ASP.NET Core</a:t>
            </a:r>
            <a:endParaRPr b="0" i="0" sz="3000" u="none" cap="none" strike="noStrike">
              <a:solidFill>
                <a:schemeClr val="dk1"/>
              </a:solidFill>
              <a:latin typeface="Calibri"/>
              <a:ea typeface="Calibri"/>
              <a:cs typeface="Calibri"/>
              <a:sym typeface="Calibri"/>
            </a:endParaRPr>
          </a:p>
        </p:txBody>
      </p:sp>
      <p:sp>
        <p:nvSpPr>
          <p:cNvPr id="2548" name="Google Shape;2548;p23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9" name="Google Shape;2549;p233"/>
          <p:cNvSpPr/>
          <p:nvPr/>
        </p:nvSpPr>
        <p:spPr>
          <a:xfrm>
            <a:off x="6499017" y="1700784"/>
            <a:ext cx="5034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StackExchange.Redis</a:t>
            </a:r>
            <a:endParaRPr b="0" i="0" sz="1000" u="none" cap="none" strike="noStrike">
              <a:solidFill>
                <a:schemeClr val="dk1"/>
              </a:solidFill>
              <a:latin typeface="Calibri"/>
              <a:ea typeface="Calibri"/>
              <a:cs typeface="Calibri"/>
              <a:sym typeface="Calibri"/>
            </a:endParaRPr>
          </a:p>
        </p:txBody>
      </p:sp>
      <p:sp>
        <p:nvSpPr>
          <p:cNvPr id="2550" name="Google Shape;2550;p23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write-through, DB first then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app.MapPut("/write-through/products/{pid}",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ProductUpdate update,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db.Products.Where(p =&gt; p.Id == pid)               // 1. DB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.ExecuteUpdateAsync(s =&gt; s.SetProperty(p =&gt; p.Name, update.Name)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p.PriceCents, update.PriceCents));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db.Products.AsNoTracking().Where(p =&gt; p.Id ==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not null)                                // 2. cache second: set, not remove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SafeCacheSet($"wt:product:{pid}",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JsonSerializer.Serialize(product, CacheJson.Options));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"write-through", action = "set"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FusionCache flavour — SetAsync writes the value directly.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L1 (memory) and L2 (Redis) both get updated; backplane invalidates other Pods' L1.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await cache.SetAsync($"product:{id}", p, token: ct);</a:t>
            </a:r>
            <a:endParaRPr b="0" i="0" sz="900" u="none" cap="none" strike="noStrike">
              <a:solidFill>
                <a:schemeClr val="dk1"/>
              </a:solidFill>
              <a:latin typeface="Calibri"/>
              <a:ea typeface="Calibri"/>
              <a:cs typeface="Calibri"/>
              <a:sym typeface="Calibri"/>
            </a:endParaRPr>
          </a:p>
        </p:txBody>
      </p:sp>
      <p:sp>
        <p:nvSpPr>
          <p:cNvPr id="2551" name="Google Shape;2551;p23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(set, not remove). FusionCache.SetAsync handles L1+L2 + backplane.</a:t>
            </a:r>
            <a:endParaRPr b="0" i="0" sz="1300" u="none" cap="none" strike="noStrike">
              <a:solidFill>
                <a:schemeClr val="dk1"/>
              </a:solidFill>
              <a:latin typeface="Calibri"/>
              <a:ea typeface="Calibri"/>
              <a:cs typeface="Calibri"/>
              <a:sym typeface="Calibri"/>
            </a:endParaRPr>
          </a:p>
        </p:txBody>
      </p:sp>
      <p:sp>
        <p:nvSpPr>
          <p:cNvPr id="2552" name="Google Shape;2552;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3" name="Google Shape;2553;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8" name="Shape 2558"/>
        <p:cNvGrpSpPr/>
        <p:nvPr/>
      </p:nvGrpSpPr>
      <p:grpSpPr>
        <a:xfrm>
          <a:off x="0" y="0"/>
          <a:ext cx="0" cy="0"/>
          <a:chOff x="0" y="0"/>
          <a:chExt cx="0" cy="0"/>
        </a:xfrm>
      </p:grpSpPr>
      <p:sp>
        <p:nvSpPr>
          <p:cNvPr id="2559" name="Google Shape;2559;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60" name="Google Shape;2560;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dn/93-appL-write-around.png" id="2561" name="Google Shape;2561;p2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62" name="Google Shape;2562;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563" name="Google Shape;2563;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64" name="Google Shape;2564;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9" name="Shape 2569"/>
        <p:cNvGrpSpPr/>
        <p:nvPr/>
      </p:nvGrpSpPr>
      <p:grpSpPr>
        <a:xfrm>
          <a:off x="0" y="0"/>
          <a:ext cx="0" cy="0"/>
          <a:chOff x="0" y="0"/>
          <a:chExt cx="0" cy="0"/>
        </a:xfrm>
      </p:grpSpPr>
      <p:sp>
        <p:nvSpPr>
          <p:cNvPr id="2570" name="Google Shape;2570;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71" name="Google Shape;2571;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ASP.NET Core</a:t>
            </a:r>
            <a:endParaRPr b="0" i="0" sz="3000" u="none" cap="none" strike="noStrike">
              <a:solidFill>
                <a:schemeClr val="dk1"/>
              </a:solidFill>
              <a:latin typeface="Calibri"/>
              <a:ea typeface="Calibri"/>
              <a:cs typeface="Calibri"/>
              <a:sym typeface="Calibri"/>
            </a:endParaRPr>
          </a:p>
        </p:txBody>
      </p:sp>
      <p:sp>
        <p:nvSpPr>
          <p:cNvPr id="2572" name="Google Shape;2572;p23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3" name="Google Shape;2573;p235"/>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Redis</a:t>
            </a:r>
            <a:endParaRPr b="0" i="0" sz="1000" u="none" cap="none" strike="noStrike">
              <a:solidFill>
                <a:schemeClr val="dk1"/>
              </a:solidFill>
              <a:latin typeface="Calibri"/>
              <a:ea typeface="Calibri"/>
              <a:cs typeface="Calibri"/>
              <a:sym typeface="Calibri"/>
            </a:endParaRPr>
          </a:p>
        </p:txBody>
      </p:sp>
      <p:sp>
        <p:nvSpPr>
          <p:cNvPr id="2574" name="Google Shape;2574;p23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writes skip the cache; reads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app.MapPost("/write-around/events", async (EventRequest request,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db.Events.Add(new EventRecord { Id = request.Id, Type = request.Type,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request.Payload ?? JsonSerializer.SerializeToElement(new {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                           // DB only, cache untouched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"write-around", action = "db-only"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app.MapGet("/write-around/events/{eid}", async (string eid,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$"wa:event:{eid}";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SafeCacheGet(key);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Results.Json(Merge("cache", JsonSerializer.Deserialize&lt;JsonElement&gt;(cached)));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evt = await db.Events.AsNoTracking().Where(e =&gt; e.Id == eid)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.Select(e =&gt; EventDto.From(e)).FirstOrDefaultAsync();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(evt is null) return Results.NotFound(new { error = "not found"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SafeCacheSet(key, JsonSerializer.Serialize(evt, CacheJson.Options)); // 1st read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Results.Json(Merge("db", evt));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75" name="Google Shape;2575;p23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576" name="Google Shape;2576;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77" name="Google Shape;2577;p23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2" name="Shape 2582"/>
        <p:cNvGrpSpPr/>
        <p:nvPr/>
      </p:nvGrpSpPr>
      <p:grpSpPr>
        <a:xfrm>
          <a:off x="0" y="0"/>
          <a:ext cx="0" cy="0"/>
          <a:chOff x="0" y="0"/>
          <a:chExt cx="0" cy="0"/>
        </a:xfrm>
      </p:grpSpPr>
      <p:sp>
        <p:nvSpPr>
          <p:cNvPr id="2583" name="Google Shape;2583;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84" name="Google Shape;2584;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dn/94-appL-write-back.png" id="2585" name="Google Shape;2585;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6" name="Google Shape;2586;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587" name="Google Shape;2587;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88" name="Google Shape;2588;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3" name="Shape 2593"/>
        <p:cNvGrpSpPr/>
        <p:nvPr/>
      </p:nvGrpSpPr>
      <p:grpSpPr>
        <a:xfrm>
          <a:off x="0" y="0"/>
          <a:ext cx="0" cy="0"/>
          <a:chOff x="0" y="0"/>
          <a:chExt cx="0" cy="0"/>
        </a:xfrm>
      </p:grpSpPr>
      <p:sp>
        <p:nvSpPr>
          <p:cNvPr id="2594" name="Google Shape;2594;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95" name="Google Shape;2595;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ASP.NET Core</a:t>
            </a:r>
            <a:endParaRPr b="0" i="0" sz="3000" u="none" cap="none" strike="noStrike">
              <a:solidFill>
                <a:schemeClr val="dk1"/>
              </a:solidFill>
              <a:latin typeface="Calibri"/>
              <a:ea typeface="Calibri"/>
              <a:cs typeface="Calibri"/>
              <a:sym typeface="Calibri"/>
            </a:endParaRPr>
          </a:p>
        </p:txBody>
      </p:sp>
      <p:sp>
        <p:nvSpPr>
          <p:cNvPr id="2596" name="Google Shape;2596;p23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7" name="Google Shape;2597;p237"/>
          <p:cNvSpPr/>
          <p:nvPr/>
        </p:nvSpPr>
        <p:spPr>
          <a:xfrm>
            <a:off x="5508417" y="1700784"/>
            <a:ext cx="602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StackExchange.Redis + EF Core</a:t>
            </a:r>
            <a:endParaRPr b="0" i="0" sz="1000" u="none" cap="none" strike="noStrike">
              <a:solidFill>
                <a:schemeClr val="dk1"/>
              </a:solidFill>
              <a:latin typeface="Calibri"/>
              <a:ea typeface="Calibri"/>
              <a:cs typeface="Calibri"/>
              <a:sym typeface="Calibri"/>
            </a:endParaRPr>
          </a:p>
        </p:txBody>
      </p:sp>
      <p:sp>
        <p:nvSpPr>
          <p:cNvPr id="2598" name="Google Shape;2598;p23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and CacheWorkers.cs (excerpt), examples/25-caching/dotnet: write-back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app.MapPut("/write-back/metrics/{mid}", async (string mid, MetricRequest request)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HSET metric:&lt;mid&gt; {value, tags}; SADD metric:dirty &lt;mid&gt;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"write-back", action = "cached-for-flush"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statusCode: StatusCodes.Status202Accepted);          // 202: queued, not yet durable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builder.Services.AddHostedService&lt;MetricFlusher&gt;();      // the flusher, started with the host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MetricFlusher : BackgroundService, in ExecuteAsync(CancellationToken stoppingToken):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(!stoppingToken.IsCancellationRequested)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Task.Delay(Math.Min(FlushPeriodMs &lt;&lt; failures, MaxFlushBackoffMs), stoppingToken);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ids = await db.SetPopAsync("metric:dirty", 100);      // atomic batch dequeue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(ids.Length == 0) continue;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failed = new List&lt;RedisValue&gt;();  // Upsert: HGETALL, one ExecuteSqlAsync ON CONFLICT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mid in ids)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Upsert(mid); await db.HashDeleteAsync("metric:attempts", mid);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logger.LogError(ex, "flush failed for {Id}", (string?)mid); failed.Add(mid);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(failed.Count == 0) { failures = 0; continue;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Math.Min(failures + 1, 3);                    // back off: 2 s, 4 s, 8 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Requeue(db, failed);   // HINCRBY metric:attempts: dirty again, failed after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1" name="Google Shape;2601;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6" name="Shape 2606"/>
        <p:cNvGrpSpPr/>
        <p:nvPr/>
      </p:nvGrpSpPr>
      <p:grpSpPr>
        <a:xfrm>
          <a:off x="0" y="0"/>
          <a:ext cx="0" cy="0"/>
          <a:chOff x="0" y="0"/>
          <a:chExt cx="0" cy="0"/>
        </a:xfrm>
      </p:grpSpPr>
      <p:sp>
        <p:nvSpPr>
          <p:cNvPr id="2607" name="Google Shape;2607;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08" name="Google Shape;2608;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dn/95-appL-refresh-ahead.png" id="2609" name="Google Shape;2609;p23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10" name="Google Shape;2610;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2" name="Google Shape;2612;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7" name="Shape 2617"/>
        <p:cNvGrpSpPr/>
        <p:nvPr/>
      </p:nvGrpSpPr>
      <p:grpSpPr>
        <a:xfrm>
          <a:off x="0" y="0"/>
          <a:ext cx="0" cy="0"/>
          <a:chOff x="0" y="0"/>
          <a:chExt cx="0" cy="0"/>
        </a:xfrm>
      </p:grpSpPr>
      <p:sp>
        <p:nvSpPr>
          <p:cNvPr id="2618" name="Google Shape;2618;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19" name="Google Shape;2619;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ASP.NET Core</a:t>
            </a:r>
            <a:endParaRPr b="0" i="0" sz="30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1" name="Google Shape;2621;p239"/>
          <p:cNvSpPr/>
          <p:nvPr/>
        </p:nvSpPr>
        <p:spPr>
          <a:xfrm>
            <a:off x="7342267" y="1700784"/>
            <a:ext cx="4191000" cy="457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BackgroundService + StackExchange.Redis sorted set or FusionCache eager-refresh</a:t>
            </a:r>
            <a:endParaRPr b="0" i="0" sz="1000" u="none" cap="none" strike="noStrike">
              <a:solidFill>
                <a:schemeClr val="dk1"/>
              </a:solidFill>
              <a:latin typeface="Calibri"/>
              <a:ea typeface="Calibri"/>
              <a:cs typeface="Calibri"/>
              <a:sym typeface="Calibri"/>
            </a:endParaRPr>
          </a:p>
        </p:txBody>
      </p:sp>
      <p:sp>
        <p:nvSpPr>
          <p:cNvPr id="2622" name="Google Shape;2622;p23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Two approaches: (1) BackgroundService + sorted-set hot-key tracking,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(2) FusionCache built-in EagerRefreshThreshold.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ProductService.FindAsync: ZADD product:hot &lt;now&gt;, then cache-aside on product:{id}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HotKeyRefresher(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IConnectionMultiplexer redis,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IServiceScopeFactory scopes) : BackgroundService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override async Task ExecuteAsync(CancellationToken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 = redis.GetDatabase();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Task.Delay(5000,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remove keys not touched in 5 minutes; refresh those with low TTL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cutoff = DateTimeOffset.UtcNow.AddMinutes(-5).ToUnixTimeMilliseconds();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r.SortedSetRemoveRangeByScoreAsync("product:hot",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hotIds = await r.SortedSetRangeByRankAsync("product:hot");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for each hot id with a TTL under 10 s: reload from ShopDb, SET with a fresh TTL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Approach 2: FusionCache built-in eager refresh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builder.Services.AddFusionCache().WithDefaultEntryOptions(o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o.Duration = TimeSpan.FromSeconds(60)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.SetEagerRefresh(0.8f));    // refresh when 80% of TTL elapsed</a:t>
            </a:r>
            <a:endParaRPr b="0" i="0" sz="900" u="none" cap="none" strike="noStrike">
              <a:solidFill>
                <a:schemeClr val="dk1"/>
              </a:solidFill>
              <a:latin typeface="Calibri"/>
              <a:ea typeface="Calibri"/>
              <a:cs typeface="Calibri"/>
              <a:sym typeface="Calibri"/>
            </a:endParaRPr>
          </a:p>
        </p:txBody>
      </p:sp>
      <p:sp>
        <p:nvSpPr>
          <p:cNvPr id="2623" name="Google Shape;2623;p23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Or use FusionCache's built-in EagerRefresh.</a:t>
            </a:r>
            <a:endParaRPr b="0" i="0" sz="13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read patterns first — OpenTelemetry's cache metrics give you hit/miss ratios per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AbsoluteExpirationRelativeToNow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ASP.NET Core Pods all miss at once, they all hit the DB. Mitigate with DistributedLock.NET per-key locks, or HybridCache (collapses concurrent misses per Pod),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Always RemoveAsync on writes, or use a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an EF Core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634" name="Google Shape;2634;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5" name="Google Shape;2635;p2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0" name="Shape 2640"/>
        <p:cNvGrpSpPr/>
        <p:nvPr/>
      </p:nvGrpSpPr>
      <p:grpSpPr>
        <a:xfrm>
          <a:off x="0" y="0"/>
          <a:ext cx="0" cy="0"/>
          <a:chOff x="0" y="0"/>
          <a:chExt cx="0" cy="0"/>
        </a:xfrm>
      </p:grpSpPr>
      <p:sp>
        <p:nvSpPr>
          <p:cNvPr id="2641" name="Google Shape;2641;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642" name="Google Shape;2642;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(HybridCache.GetOrCreateAsync) — use when the read path is repetitive and you want declarative caching with built-in stampede protection. FusionCache adds fail-safe stale fallback and eager refresh.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(HybridCache.SetAsync or IDistributedCache.SetStringAsync)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(BackgroundService + dirty-set)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(FusionCache eager-refresh, or BackgroundService)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HybridCache is the in-box default for read-through with stampede protection; FusionCache adds fail-safe, eager refresh and a backplane; use IDistributedCache directly where you need full control. Mix patterns; don't pick one as the rule.</a:t>
            </a:r>
            <a:endParaRPr b="0" i="0" sz="17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5" name="Google Shape;2645;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650" name="Shape 2650"/>
        <p:cNvGrpSpPr/>
        <p:nvPr/>
      </p:nvGrpSpPr>
      <p:grpSpPr>
        <a:xfrm>
          <a:off x="0" y="0"/>
          <a:ext cx="0" cy="0"/>
          <a:chOff x="0" y="0"/>
          <a:chExt cx="0" cy="0"/>
        </a:xfrm>
      </p:grpSpPr>
      <p:pic>
        <p:nvPicPr>
          <p:cNvPr descr="/home/claude/work/assets/rh-divider-bg.png" id="2651" name="Google Shape;2651;p24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652" name="Google Shape;2652;p24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653" name="Google Shape;2653;p24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654" name="Google Shape;2654;p24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655" name="Google Shape;2655;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0" name="Shape 2660"/>
        <p:cNvGrpSpPr/>
        <p:nvPr/>
      </p:nvGrpSpPr>
      <p:grpSpPr>
        <a:xfrm>
          <a:off x="0" y="0"/>
          <a:ext cx="0" cy="0"/>
          <a:chOff x="0" y="0"/>
          <a:chExt cx="0" cy="0"/>
        </a:xfrm>
      </p:grpSpPr>
      <p:sp>
        <p:nvSpPr>
          <p:cNvPr id="2661" name="Google Shape;2661;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62" name="Google Shape;2662;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663" name="Google Shape;2663;p24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664" name="Google Shape;2664;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65" name="Google Shape;2665;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0" name="Shape 2670"/>
        <p:cNvGrpSpPr/>
        <p:nvPr/>
      </p:nvGrpSpPr>
      <p:grpSpPr>
        <a:xfrm>
          <a:off x="0" y="0"/>
          <a:ext cx="0" cy="0"/>
          <a:chOff x="0" y="0"/>
          <a:chExt cx="0" cy="0"/>
        </a:xfrm>
      </p:grpSpPr>
      <p:sp>
        <p:nvSpPr>
          <p:cNvPr id="2671" name="Google Shape;2671;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72" name="Google Shape;2672;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dn/110-failure-taxonomy.png" id="2673" name="Google Shape;2673;p244"/>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674" name="Google Shape;2674;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675" name="Google Shape;2675;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6" name="Google Shape;2676;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1" name="Shape 2681"/>
        <p:cNvGrpSpPr/>
        <p:nvPr/>
      </p:nvGrpSpPr>
      <p:grpSpPr>
        <a:xfrm>
          <a:off x="0" y="0"/>
          <a:ext cx="0" cy="0"/>
          <a:chOff x="0" y="0"/>
          <a:chExt cx="0" cy="0"/>
        </a:xfrm>
      </p:grpSpPr>
      <p:sp>
        <p:nvSpPr>
          <p:cNvPr id="2682" name="Google Shape;2682;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83" name="Google Shape;2683;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dn/111-failure-network-partition.png" id="2684" name="Google Shape;2684;p24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85" name="Google Shape;2685;p2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686" name="Google Shape;2686;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7" name="Google Shape;2687;p2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2" name="Shape 2692"/>
        <p:cNvGrpSpPr/>
        <p:nvPr/>
      </p:nvGrpSpPr>
      <p:grpSpPr>
        <a:xfrm>
          <a:off x="0" y="0"/>
          <a:ext cx="0" cy="0"/>
          <a:chOff x="0" y="0"/>
          <a:chExt cx="0" cy="0"/>
        </a:xfrm>
      </p:grpSpPr>
      <p:sp>
        <p:nvSpPr>
          <p:cNvPr id="2693" name="Google Shape;2693;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94" name="Google Shape;2694;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dn/112-failure-split-brain.png" id="2695" name="Google Shape;2695;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96" name="Google Shape;2696;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697" name="Google Shape;2697;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8" name="Google Shape;2698;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3" name="Shape 2703"/>
        <p:cNvGrpSpPr/>
        <p:nvPr/>
      </p:nvGrpSpPr>
      <p:grpSpPr>
        <a:xfrm>
          <a:off x="0" y="0"/>
          <a:ext cx="0" cy="0"/>
          <a:chOff x="0" y="0"/>
          <a:chExt cx="0" cy="0"/>
        </a:xfrm>
      </p:grpSpPr>
      <p:sp>
        <p:nvSpPr>
          <p:cNvPr id="2704" name="Google Shape;2704;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05" name="Google Shape;2705;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dn/113-failure-partial.png" id="2706" name="Google Shape;2706;p24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7" name="Google Shape;2707;p2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708" name="Google Shape;2708;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9" name="Google Shape;2709;p2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4" name="Shape 2714"/>
        <p:cNvGrpSpPr/>
        <p:nvPr/>
      </p:nvGrpSpPr>
      <p:grpSpPr>
        <a:xfrm>
          <a:off x="0" y="0"/>
          <a:ext cx="0" cy="0"/>
          <a:chOff x="0" y="0"/>
          <a:chExt cx="0" cy="0"/>
        </a:xfrm>
      </p:grpSpPr>
      <p:sp>
        <p:nvSpPr>
          <p:cNvPr id="2715" name="Google Shape;2715;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16" name="Google Shape;2716;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dn/114-failure-gray.png" id="2717" name="Google Shape;2717;p248"/>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718" name="Google Shape;2718;p2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719" name="Google Shape;2719;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20" name="Google Shape;2720;p2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5" name="Shape 2725"/>
        <p:cNvGrpSpPr/>
        <p:nvPr/>
      </p:nvGrpSpPr>
      <p:grpSpPr>
        <a:xfrm>
          <a:off x="0" y="0"/>
          <a:ext cx="0" cy="0"/>
          <a:chOff x="0" y="0"/>
          <a:chExt cx="0" cy="0"/>
        </a:xfrm>
      </p:grpSpPr>
      <p:sp>
        <p:nvSpPr>
          <p:cNvPr id="2726" name="Google Shape;2726;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27" name="Google Shape;2727;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dn/115-failure-amplification.png" id="2728" name="Google Shape;2728;p2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29" name="Google Shape;2729;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730" name="Google Shape;2730;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31" name="Google Shape;2731;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6" name="Shape 2736"/>
        <p:cNvGrpSpPr/>
        <p:nvPr/>
      </p:nvGrpSpPr>
      <p:grpSpPr>
        <a:xfrm>
          <a:off x="0" y="0"/>
          <a:ext cx="0" cy="0"/>
          <a:chOff x="0" y="0"/>
          <a:chExt cx="0" cy="0"/>
        </a:xfrm>
      </p:grpSpPr>
      <p:sp>
        <p:nvSpPr>
          <p:cNvPr id="2737" name="Google Shape;2737;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38" name="Google Shape;2738;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dn/116-failure-cascading.png" id="2739" name="Google Shape;2739;p25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40" name="Google Shape;2740;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741" name="Google Shape;2741;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42" name="Google Shape;2742;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7" name="Shape 2747"/>
        <p:cNvGrpSpPr/>
        <p:nvPr/>
      </p:nvGrpSpPr>
      <p:grpSpPr>
        <a:xfrm>
          <a:off x="0" y="0"/>
          <a:ext cx="0" cy="0"/>
          <a:chOff x="0" y="0"/>
          <a:chExt cx="0" cy="0"/>
        </a:xfrm>
      </p:grpSpPr>
      <p:sp>
        <p:nvSpPr>
          <p:cNvPr id="2748" name="Google Shape;2748;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9" name="Google Shape;2749;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750" name="Google Shape;2750;p25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751" name="Google Shape;2751;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52" name="Google Shape;2752;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7" name="Shape 2757"/>
        <p:cNvGrpSpPr/>
        <p:nvPr/>
      </p:nvGrpSpPr>
      <p:grpSpPr>
        <a:xfrm>
          <a:off x="0" y="0"/>
          <a:ext cx="0" cy="0"/>
          <a:chOff x="0" y="0"/>
          <a:chExt cx="0" cy="0"/>
        </a:xfrm>
      </p:grpSpPr>
      <p:sp>
        <p:nvSpPr>
          <p:cNvPr id="2758" name="Google Shape;2758;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59" name="Google Shape;2759;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dn/119-failure-timeout-deadline.png" id="2760" name="Google Shape;2760;p25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761" name="Google Shape;2761;p25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762" name="Google Shape;2762;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63" name="Google Shape;2763;p2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8" name="Shape 2768"/>
        <p:cNvGrpSpPr/>
        <p:nvPr/>
      </p:nvGrpSpPr>
      <p:grpSpPr>
        <a:xfrm>
          <a:off x="0" y="0"/>
          <a:ext cx="0" cy="0"/>
          <a:chOff x="0" y="0"/>
          <a:chExt cx="0" cy="0"/>
        </a:xfrm>
      </p:grpSpPr>
      <p:sp>
        <p:nvSpPr>
          <p:cNvPr id="2769" name="Google Shape;2769;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70" name="Google Shape;2770;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771" name="Google Shape;2771;p25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2" name="Google Shape;2772;p253"/>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773" name="Google Shape;2773;p25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examples/26-failure-modes/dotnet/EdgeService/Program.cs (condensed excerpts)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 Polly pipeline caps a call at 2 s; TimeoutRejectedException reports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builder.Services.AddResiliencePipeline&lt;string, HttpResponseMessage&gt;("timeout", p =&gt; 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.AddTimeout(TimeSpan.FromSeconds(2)));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try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resp = await pipelines.GetPipeline&lt;HttpResponseMessage&gt;("timeout")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.ExecuteAsync(backend.ProcessAsync);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status = (int)resp.StatusCode, body = await BodyAsync(resp)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catch (TimeoutRejectedException)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error = "timeout", pattern = "timeout"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/with-deadline: the remaining budget bounds the call and travels as X-Deadline-Ms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var cts = new CancellationTokenSource(remaining);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resp = await backend.ProcessAsync(cts.Token, remaining);</a:t>
            </a:r>
            <a:endParaRPr b="0" i="0" sz="1000" u="none" cap="none" strike="noStrike">
              <a:solidFill>
                <a:schemeClr val="dk1"/>
              </a:solidFill>
              <a:latin typeface="Calibri"/>
              <a:ea typeface="Calibri"/>
              <a:cs typeface="Calibri"/>
              <a:sym typeface="Calibri"/>
            </a:endParaRPr>
          </a:p>
        </p:txBody>
      </p:sp>
      <p:sp>
        <p:nvSpPr>
          <p:cNvPr id="2774" name="Google Shape;2774;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75" name="Google Shape;2775;p2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0" name="Shape 2780"/>
        <p:cNvGrpSpPr/>
        <p:nvPr/>
      </p:nvGrpSpPr>
      <p:grpSpPr>
        <a:xfrm>
          <a:off x="0" y="0"/>
          <a:ext cx="0" cy="0"/>
          <a:chOff x="0" y="0"/>
          <a:chExt cx="0" cy="0"/>
        </a:xfrm>
      </p:grpSpPr>
      <p:sp>
        <p:nvSpPr>
          <p:cNvPr id="2781" name="Google Shape;2781;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82" name="Google Shape;2782;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dn/118-failure-retry-backoff.png" id="2783" name="Google Shape;2783;p25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84" name="Google Shape;2784;p25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785" name="Google Shape;2785;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6" name="Google Shape;2786;p2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1" name="Shape 2791"/>
        <p:cNvGrpSpPr/>
        <p:nvPr/>
      </p:nvGrpSpPr>
      <p:grpSpPr>
        <a:xfrm>
          <a:off x="0" y="0"/>
          <a:ext cx="0" cy="0"/>
          <a:chOff x="0" y="0"/>
          <a:chExt cx="0" cy="0"/>
        </a:xfrm>
      </p:grpSpPr>
      <p:sp>
        <p:nvSpPr>
          <p:cNvPr id="2792" name="Google Shape;2792;p2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93" name="Google Shape;2793;p2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794" name="Google Shape;2794;p25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5" name="Google Shape;2795;p255"/>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796" name="Google Shape;2796;p25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examples/26-failure-modes/dotnet/EdgeService/Program.cs (condensed excerpts)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HTTP retry options from Microsoft.Extensions.Http.Resilience: a 5xx, a timeout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or a connection failure is retried.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builder.Services.AddResiliencePipeline&lt;string, HttpResponseMessage&gt;("retry", p =&gt; 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.AddRetry(new HttpRetryStrategyOptions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MaxRetryAttempts = 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Delay = TimeSpan.FromMilliseconds(100),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BackoffType = DelayBackoffType.Exponential,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UseJitter = true,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MaxDelay = TimeSpan.FromSeconds(2),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.AddTimeout(TimeSpan.FromSeconds(2)));      // each attempt gets 2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attempts = 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resp = await pipelines.GetPipeline&lt;HttpResponseMessage&gt;("retry").ExecuteAsync(ct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attempts++;                                 // reported by /with-retry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backend.ProcessAsync(ct);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797" name="Google Shape;2797;p2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8" name="Google Shape;2798;p25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3" name="Shape 2803"/>
        <p:cNvGrpSpPr/>
        <p:nvPr/>
      </p:nvGrpSpPr>
      <p:grpSpPr>
        <a:xfrm>
          <a:off x="0" y="0"/>
          <a:ext cx="0" cy="0"/>
          <a:chOff x="0" y="0"/>
          <a:chExt cx="0" cy="0"/>
        </a:xfrm>
      </p:grpSpPr>
      <p:sp>
        <p:nvSpPr>
          <p:cNvPr id="2804" name="Google Shape;2804;p2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05" name="Google Shape;2805;p2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dn/117-failure-circuit-breaker.png" id="2806" name="Google Shape;2806;p2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07" name="Google Shape;2807;p2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808" name="Google Shape;2808;p2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226</a:t>
            </a:r>
            <a:endParaRPr b="0" i="0" sz="1000" u="none" cap="none" strike="noStrike">
              <a:solidFill>
                <a:schemeClr val="dk1"/>
              </a:solidFill>
              <a:latin typeface="Calibri"/>
              <a:ea typeface="Calibri"/>
              <a:cs typeface="Calibri"/>
              <a:sym typeface="Calibri"/>
            </a:endParaRPr>
          </a:p>
        </p:txBody>
      </p:sp>
      <p:pic>
        <p:nvPicPr>
          <p:cNvPr descr="/home/claude/work/assets/rh-logo.png" id="2809" name="Google Shape;2809;p2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4" name="Shape 2814"/>
        <p:cNvGrpSpPr/>
        <p:nvPr/>
      </p:nvGrpSpPr>
      <p:grpSpPr>
        <a:xfrm>
          <a:off x="0" y="0"/>
          <a:ext cx="0" cy="0"/>
          <a:chOff x="0" y="0"/>
          <a:chExt cx="0" cy="0"/>
        </a:xfrm>
      </p:grpSpPr>
      <p:sp>
        <p:nvSpPr>
          <p:cNvPr id="2815" name="Google Shape;2815;p2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16" name="Google Shape;2816;p2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817" name="Google Shape;2817;p25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8" name="Google Shape;2818;p25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819" name="Google Shape;2819;p25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examples/26-failure-modes/dotnet/EdgeService/Program.cs (condensed excerpts)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breakerState = new CircuitBreakerStateProvider();        // read by /breaker-state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builder.Services.AddResiliencePipeline&lt;string, HttpResponseMessage&gt;("breaker", p =&gt;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.AddCircuitBreaker(new HttpCircuitBreakerStrategyOptions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FailureRatio = 1.0,                          // 5 failed calls out of 5 open 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MinimumThroughput =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SamplingDuration = TimeSpan.FromSeconds(30),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BreakDuration = TimeSpan.FromSeconds(10),    // then one trial call decides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StateProvider = breakerState,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.AddTimeout(TimeSpan.FromSeconds(2)));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pipelines.GetPipeline&lt;HttpResponseMessage&gt;("breaker")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.ExecuteAsync(backend.ProcessAsync);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code = (int)resp.StatusCode;          // a 5xx is a failure the breaker counted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code &gt;= 500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Results.Json(new { source = "fallback", reason = $"upstream_{code}"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Results.Json(new { source = "live", body = await BodyAsync(resp)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(BrokenCircuitException) {            // open: the backend is not called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source = "fallback", reason = "circuit_open"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820" name="Google Shape;2820;p2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227</a:t>
            </a:r>
            <a:endParaRPr b="0" i="0" sz="1000" u="none" cap="none" strike="noStrike">
              <a:solidFill>
                <a:schemeClr val="dk1"/>
              </a:solidFill>
              <a:latin typeface="Calibri"/>
              <a:ea typeface="Calibri"/>
              <a:cs typeface="Calibri"/>
              <a:sym typeface="Calibri"/>
            </a:endParaRPr>
          </a:p>
        </p:txBody>
      </p:sp>
      <p:pic>
        <p:nvPicPr>
          <p:cNvPr descr="/home/claude/work/assets/rh-logo.png" id="2821" name="Google Shape;2821;p2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6" name="Shape 2826"/>
        <p:cNvGrpSpPr/>
        <p:nvPr/>
      </p:nvGrpSpPr>
      <p:grpSpPr>
        <a:xfrm>
          <a:off x="0" y="0"/>
          <a:ext cx="0" cy="0"/>
          <a:chOff x="0" y="0"/>
          <a:chExt cx="0" cy="0"/>
        </a:xfrm>
      </p:grpSpPr>
      <p:sp>
        <p:nvSpPr>
          <p:cNvPr id="2827" name="Google Shape;2827;p2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828" name="Google Shape;2828;p2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829" name="Google Shape;2829;p2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Polly v8 AddConcurrencyLimiter strategy on a ResiliencePipeline, paired with AddTimeout.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830" name="Google Shape;2830;p2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228</a:t>
            </a:r>
            <a:endParaRPr b="0" i="0" sz="1000" u="none" cap="none" strike="noStrike">
              <a:solidFill>
                <a:schemeClr val="dk1"/>
              </a:solidFill>
              <a:latin typeface="Calibri"/>
              <a:ea typeface="Calibri"/>
              <a:cs typeface="Calibri"/>
              <a:sym typeface="Calibri"/>
            </a:endParaRPr>
          </a:p>
        </p:txBody>
      </p:sp>
      <p:pic>
        <p:nvPicPr>
          <p:cNvPr descr="/home/claude/work/assets/rh-logo.png" id="2831" name="Google Shape;2831;p2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6" name="Shape 2836"/>
        <p:cNvGrpSpPr/>
        <p:nvPr/>
      </p:nvGrpSpPr>
      <p:grpSpPr>
        <a:xfrm>
          <a:off x="0" y="0"/>
          <a:ext cx="0" cy="0"/>
          <a:chOff x="0" y="0"/>
          <a:chExt cx="0" cy="0"/>
        </a:xfrm>
      </p:grpSpPr>
      <p:sp>
        <p:nvSpPr>
          <p:cNvPr id="2837" name="Google Shape;2837;p2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838" name="Google Shape;2838;p2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839" name="Google Shape;2839;p2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840" name="Google Shape;2840;p2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229</a:t>
            </a:r>
            <a:endParaRPr b="0" i="0" sz="1000" u="none" cap="none" strike="noStrike">
              <a:solidFill>
                <a:schemeClr val="dk1"/>
              </a:solidFill>
              <a:latin typeface="Calibri"/>
              <a:ea typeface="Calibri"/>
              <a:cs typeface="Calibri"/>
              <a:sym typeface="Calibri"/>
            </a:endParaRPr>
          </a:p>
        </p:txBody>
      </p:sp>
      <p:pic>
        <p:nvPicPr>
          <p:cNvPr descr="/home/claude/work/assets/rh-logo.png" id="2841" name="Google Shape;2841;p2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6" name="Shape 2846"/>
        <p:cNvGrpSpPr/>
        <p:nvPr/>
      </p:nvGrpSpPr>
      <p:grpSpPr>
        <a:xfrm>
          <a:off x="0" y="0"/>
          <a:ext cx="0" cy="0"/>
          <a:chOff x="0" y="0"/>
          <a:chExt cx="0" cy="0"/>
        </a:xfrm>
      </p:grpSpPr>
      <p:sp>
        <p:nvSpPr>
          <p:cNvPr id="2847" name="Google Shape;2847;p2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848" name="Google Shape;2848;p2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dn/120-failure-istio-resilience.png" id="2849" name="Google Shape;2849;p26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850" name="Google Shape;2850;p26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851" name="Google Shape;2851;p2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230</a:t>
            </a:r>
            <a:endParaRPr b="0" i="0" sz="1000" u="none" cap="none" strike="noStrike">
              <a:solidFill>
                <a:schemeClr val="dk1"/>
              </a:solidFill>
              <a:latin typeface="Calibri"/>
              <a:ea typeface="Calibri"/>
              <a:cs typeface="Calibri"/>
              <a:sym typeface="Calibri"/>
            </a:endParaRPr>
          </a:p>
        </p:txBody>
      </p:sp>
      <p:pic>
        <p:nvPicPr>
          <p:cNvPr descr="/home/claude/work/assets/rh-logo.png" id="2852" name="Google Shape;2852;p2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57" name="Shape 2857"/>
        <p:cNvGrpSpPr/>
        <p:nvPr/>
      </p:nvGrpSpPr>
      <p:grpSpPr>
        <a:xfrm>
          <a:off x="0" y="0"/>
          <a:ext cx="0" cy="0"/>
          <a:chOff x="0" y="0"/>
          <a:chExt cx="0" cy="0"/>
        </a:xfrm>
      </p:grpSpPr>
      <p:sp>
        <p:nvSpPr>
          <p:cNvPr id="2858" name="Google Shape;2858;p2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859" name="Google Shape;2859;p2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860" name="Google Shape;2860;p26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1" name="Google Shape;2861;p261"/>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a:t>
            </a:r>
            <a:endParaRPr b="0" i="0" sz="1000" u="none" cap="none" strike="noStrike">
              <a:solidFill>
                <a:schemeClr val="dk1"/>
              </a:solidFill>
              <a:latin typeface="Calibri"/>
              <a:ea typeface="Calibri"/>
              <a:cs typeface="Calibri"/>
              <a:sym typeface="Calibri"/>
            </a:endParaRPr>
          </a:p>
        </p:txBody>
      </p:sp>
      <p:sp>
        <p:nvSpPr>
          <p:cNvPr id="2862" name="Google Shape;2862;p26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OrderService (excerpt, example 21): the default ConsoleLifetime plus one hosted 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builder.Services.AddSingleton&lt;ShutdownState&gt;();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builder.Services.AddHostedService&lt;DrainService&gt;();     // StoppingAsync runs first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builder.Services.Configure&lt;HostOptions&gt;(o =&gt; o.ShutdownTimeout = TimeSpan.FromSeconds(20));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builder.Services.AddHealthChecks()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.AddCheck&lt;ShutdownHealthCheck&gt;("shutdown", tags: ["ready"])     // 503 once draining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.AddDbContextCheck&lt;OrdersContext&gt;("database", tags: ["ready"]);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DrainService.StoppingAsync, on the single SIGTERM: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state.MarkShuttingDown();                  // 1. readiness → 503: the Service stops routing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await Task.Delay(delay, cancellationToken);           // 2. endpoints update (5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3. Kestrel stops in StopAsync and drains in-flight (ShutdownTimeout 20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app.MapHealthChecks("/healthz", ...);                // liveness stays 200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app.MapHealthChecks("/readyz", ...);                 // ready tag: shutdown + database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app.MapPost("/orders", async (OrderRequest request, OrdersContext db, ShutdownState state)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(state.ShuttingDown)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Results.Json(new { error = "shutting down" }, statusCode: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 in-flight requests finish before the host stops; 4. the context is disposed, exit 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863" name="Google Shape;2863;p2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231</a:t>
            </a:r>
            <a:endParaRPr b="0" i="0" sz="1000" u="none" cap="none" strike="noStrike">
              <a:solidFill>
                <a:schemeClr val="dk1"/>
              </a:solidFill>
              <a:latin typeface="Calibri"/>
              <a:ea typeface="Calibri"/>
              <a:cs typeface="Calibri"/>
              <a:sym typeface="Calibri"/>
            </a:endParaRPr>
          </a:p>
        </p:txBody>
      </p:sp>
      <p:pic>
        <p:nvPicPr>
          <p:cNvPr descr="/home/claude/work/assets/rh-logo.png" id="2864" name="Google Shape;2864;p26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9" name="Shape 2869"/>
        <p:cNvGrpSpPr/>
        <p:nvPr/>
      </p:nvGrpSpPr>
      <p:grpSpPr>
        <a:xfrm>
          <a:off x="0" y="0"/>
          <a:ext cx="0" cy="0"/>
          <a:chOff x="0" y="0"/>
          <a:chExt cx="0" cy="0"/>
        </a:xfrm>
      </p:grpSpPr>
      <p:sp>
        <p:nvSpPr>
          <p:cNvPr id="2870" name="Google Shape;2870;p2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871" name="Google Shape;2871;p2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872" name="Google Shape;2872;p2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873" name="Google Shape;2873;p2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232</a:t>
            </a:r>
            <a:endParaRPr b="0" i="0" sz="1000" u="none" cap="none" strike="noStrike">
              <a:solidFill>
                <a:schemeClr val="dk1"/>
              </a:solidFill>
              <a:latin typeface="Calibri"/>
              <a:ea typeface="Calibri"/>
              <a:cs typeface="Calibri"/>
              <a:sym typeface="Calibri"/>
            </a:endParaRPr>
          </a:p>
        </p:txBody>
      </p:sp>
      <p:pic>
        <p:nvPicPr>
          <p:cNvPr descr="/home/claude/work/assets/rh-logo.png" id="2874" name="Google Shape;2874;p2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9" name="Shape 2879"/>
        <p:cNvGrpSpPr/>
        <p:nvPr/>
      </p:nvGrpSpPr>
      <p:grpSpPr>
        <a:xfrm>
          <a:off x="0" y="0"/>
          <a:ext cx="0" cy="0"/>
          <a:chOff x="0" y="0"/>
          <a:chExt cx="0" cy="0"/>
        </a:xfrm>
      </p:grpSpPr>
      <p:sp>
        <p:nvSpPr>
          <p:cNvPr id="2880" name="Google Shape;2880;p2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81" name="Google Shape;2881;p2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dn/121-failure-matrix.png" id="2882" name="Google Shape;2882;p2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883" name="Google Shape;2883;p2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884" name="Google Shape;2884;p2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233</a:t>
            </a:r>
            <a:endParaRPr b="0" i="0" sz="1000" u="none" cap="none" strike="noStrike">
              <a:solidFill>
                <a:schemeClr val="dk1"/>
              </a:solidFill>
              <a:latin typeface="Calibri"/>
              <a:ea typeface="Calibri"/>
              <a:cs typeface="Calibri"/>
              <a:sym typeface="Calibri"/>
            </a:endParaRPr>
          </a:p>
        </p:txBody>
      </p:sp>
      <p:pic>
        <p:nvPicPr>
          <p:cNvPr descr="/home/claude/work/assets/rh-logo.png" id="2885" name="Google Shape;2885;p2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0" name="Shape 2890"/>
        <p:cNvGrpSpPr/>
        <p:nvPr/>
      </p:nvGrpSpPr>
      <p:grpSpPr>
        <a:xfrm>
          <a:off x="0" y="0"/>
          <a:ext cx="0" cy="0"/>
          <a:chOff x="0" y="0"/>
          <a:chExt cx="0" cy="0"/>
        </a:xfrm>
      </p:grpSpPr>
      <p:sp>
        <p:nvSpPr>
          <p:cNvPr id="2891" name="Google Shape;2891;p2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92" name="Google Shape;2892;p2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893" name="Google Shape;2893;p2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894" name="Google Shape;2894;p2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234</a:t>
            </a:r>
            <a:endParaRPr b="0" i="0" sz="1000" u="none" cap="none" strike="noStrike">
              <a:solidFill>
                <a:schemeClr val="dk1"/>
              </a:solidFill>
              <a:latin typeface="Calibri"/>
              <a:ea typeface="Calibri"/>
              <a:cs typeface="Calibri"/>
              <a:sym typeface="Calibri"/>
            </a:endParaRPr>
          </a:p>
        </p:txBody>
      </p:sp>
      <p:pic>
        <p:nvPicPr>
          <p:cNvPr descr="/home/claude/work/assets/rh-logo.png" id="2895" name="Google Shape;2895;p2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Program.cs — set the provider once at startup (OpenFeature + flagd provider)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await Api.Instance.SetProviderAsync(new FlagdProvider(new Uri("http://flagd:8013")));</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app.MapPost("/checkout", async (Cart cart, [FromHeader(Name = "X-User")] string user) =&gt;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flags = Api.Instance.GetClient();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ctx = EvaluationContext.Builder()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.SetTargetingKey(user)                     // sticky key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.Set("plan", cart.Plan).Set("region", cart.Region).Build();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useNew = await flags.GetBooleanValueAsync("new-checkout", false, ctx);</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Task&lt;Recommendations&gt; Recommend(string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(!await flags.GetBooleanValueAsync("recommendations-enabled",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_recs.FetchAsync(user);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.NET — run the service,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dotnet run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P</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P · .NET on Linux</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Runtime, Kestrel, and Containers — what changes when Windows goes away.</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 is a language. .NET is a platform.</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is a statically-typed, garbage-collected language — one of several that target .NET. F# and VB.NET are the others. All three compile to the same intermediate representation.</a:t>
            </a:r>
          </a:p>
          <a:p>
            <a:pPr>
              <a:spcAft>
                <a:spcPts val="600"/>
              </a:spcAft>
            </a:pPr>
          </a:p>
          <a:p>
            <a:pPr>
              <a:spcAft>
                <a:spcPts val="600"/>
              </a:spcAft>
            </a:pPr>
            <a:r>
              <a:rPr sz="1700" b="0">
                <a:solidFill>
                  <a:srgbClr val="151515"/>
                </a:solidFill>
                <a:latin typeface="Red Hat Text"/>
              </a:rPr>
              <a:t>.NET (since .NET 5) is the platform: CoreCLR runtime, Base Class Library (System.*, Microsoft.Extensions.*), the Roslyn compiler, NuGet, and the dotnet CLI. The platform is cross-platform.</a:t>
            </a:r>
          </a:p>
          <a:p>
            <a:pPr>
              <a:spcAft>
                <a:spcPts val="600"/>
              </a:spcAft>
            </a:pPr>
          </a:p>
          <a:p>
            <a:pPr>
              <a:spcAft>
                <a:spcPts val="600"/>
              </a:spcAft>
            </a:pPr>
            <a:r>
              <a:rPr sz="1700" b="0">
                <a:solidFill>
                  <a:srgbClr val="151515"/>
                </a:solidFill>
                <a:latin typeface="Red Hat Text"/>
              </a:rPr>
              <a:t>When this book says “.NET 10,” it means the platform. When it says “C#,” it means the language. A .csproj targets a .NET version (net10.0), not a C# version, because the platform version determines what APIs are available.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distinction matters because conflating them causes architectural confusion — the runtime is language-agnostic.</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COMPILATION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CIL: what dotnet build produces</a:t>
            </a:r>
          </a:p>
        </p:txBody>
      </p:sp>
      <p:pic>
        <p:nvPicPr>
          <p:cNvPr id="4" name="Picture 3" descr="29-dotnet-compilation.png"/>
          <p:cNvPicPr>
            <a:picLocks noChangeAspect="1"/>
          </p:cNvPicPr>
          <p:nvPr/>
        </p:nvPicPr>
        <p:blipFill>
          <a:blip r:embed="rId4"/>
          <a:stretch>
            <a:fillRect/>
          </a:stretch>
        </p:blipFill>
        <p:spPr>
          <a:xfrm>
            <a:off x="1644767" y="1600200"/>
            <a:ext cx="8902139" cy="3440041"/>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Roslyn compiles C# to CIL bytecode — RyuJIT compiles CIL to native code method-at-a-time at runtime.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258</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CoreCLR on Linux: libcoreclr.so</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JIT compilation (RyuJIT) — CIL to native x86-64 or ARM64, one method at a time, first call only.</a:t>
            </a:r>
          </a:p>
          <a:p>
            <a:pPr>
              <a:spcAft>
                <a:spcPts val="600"/>
              </a:spcAft>
            </a:pPr>
            <a:r>
              <a:rPr sz="1700" b="0">
                <a:solidFill>
                  <a:srgbClr val="151515"/>
                </a:solidFill>
                <a:latin typeface="Red Hat Text"/>
              </a:rPr>
              <a:t>Garbage collection — generational, concurrent GC. Server GC mode (default in ASP.NET Core) allocates one heap per CPU core.</a:t>
            </a:r>
          </a:p>
          <a:p>
            <a:pPr>
              <a:spcAft>
                <a:spcPts val="600"/>
              </a:spcAft>
            </a:pPr>
            <a:r>
              <a:rPr sz="1700" b="0">
                <a:solidFill>
                  <a:srgbClr val="151515"/>
                </a:solidFill>
                <a:latin typeface="Red Hat Text"/>
              </a:rPr>
              <a:t>Type system — reflection, generics, interface dispatch.</a:t>
            </a:r>
          </a:p>
          <a:p>
            <a:pPr>
              <a:spcAft>
                <a:spcPts val="600"/>
              </a:spcAft>
            </a:pPr>
            <a:r>
              <a:rPr sz="1700" b="0">
                <a:solidFill>
                  <a:srgbClr val="151515"/>
                </a:solidFill>
                <a:latin typeface="Red Hat Text"/>
              </a:rPr>
              <a:t>Threading — maps .NET threads to pthreads; Task and async/await run on the thread pool.</a:t>
            </a:r>
          </a:p>
          <a:p>
            <a:pPr>
              <a:spcAft>
                <a:spcPts val="600"/>
              </a:spcAft>
            </a:pPr>
            <a:r>
              <a:rPr sz="1700" b="0">
                <a:solidFill>
                  <a:srgbClr val="151515"/>
                </a:solidFill>
                <a:latin typeface="Red Hat Text"/>
              </a:rPr>
              <a:t>P/Invoke — call native C libraries directly (libpq, librdkafka, openssl).</a:t>
            </a:r>
          </a:p>
          <a:p>
            <a:pPr>
              <a:spcAft>
                <a:spcPts val="600"/>
              </a:spcAft>
            </a:pPr>
          </a:p>
          <a:p>
            <a:pPr>
              <a:spcAft>
                <a:spcPts val="600"/>
              </a:spcAft>
            </a:pPr>
            <a:r>
              <a:rPr sz="1700" b="0">
                <a:solidFill>
                  <a:srgbClr val="151515"/>
                </a:solidFill>
                <a:latin typeface="Red Hat Text"/>
              </a:rPr>
              <a:t>NativeAOT alternative: ahead-of-time compilation to a single native binary. Faster startup, less memory, but no Reflection.Emit — JIT is the default for full library compatibility.</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After JIT, a .NET method is indistinguishable from one compiled by GCC. The runtime stays for GC and exceptions, but the hot path is native code.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Kestrel: the web server that replaced IIS</a:t>
            </a:r>
          </a:p>
        </p:txBody>
      </p:sp>
      <p:pic>
        <p:nvPicPr>
          <p:cNvPr id="4" name="Picture 3" descr="29-kestrel-pipeline.png"/>
          <p:cNvPicPr>
            <a:picLocks noChangeAspect="1"/>
          </p:cNvPicPr>
          <p:nvPr/>
        </p:nvPicPr>
        <p:blipFill>
          <a:blip r:embed="rId4"/>
          <a:stretch>
            <a:fillRect/>
          </a:stretch>
        </p:blipFill>
        <p:spPr>
          <a:xfrm>
            <a:off x="1645470" y="1600200"/>
            <a:ext cx="8900734" cy="384638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Built into ASP.NET Core — no IIS, no nginx needed. Listens on TCP, handles TLS via OpenSSL, parses HTTP, runs the middleware pipeline.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260</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Why not nginx or Apache in front?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In Kubernetes, the service mesh handles TLS termination, load balancing, and retries. Kestrel handles everything else.</a:t>
            </a:r>
          </a:p>
          <a:p>
            <a:pPr>
              <a:spcAft>
                <a:spcPts val="600"/>
              </a:spcAft>
            </a:pPr>
          </a:p>
          <a:p>
            <a:pPr>
              <a:spcAft>
                <a:spcPts val="600"/>
              </a:spcAft>
            </a:pPr>
            <a:r>
              <a:rPr sz="1700" b="0">
                <a:solidFill>
                  <a:srgbClr val="151515"/>
                </a:solidFill>
                <a:latin typeface="Red Hat Text"/>
              </a:rPr>
              <a:t>Adding nginx as a sidecar adds latency, memory, and operational complexity for features Kestrel already provides.</a:t>
            </a:r>
          </a:p>
          <a:p>
            <a:pPr>
              <a:spcAft>
                <a:spcPts val="600"/>
              </a:spcAft>
            </a:pPr>
          </a:p>
          <a:p>
            <a:pPr>
              <a:spcAft>
                <a:spcPts val="600"/>
              </a:spcAft>
            </a:pPr>
            <a:r>
              <a:rPr sz="1700" b="0">
                <a:solidFill>
                  <a:srgbClr val="151515"/>
                </a:solidFill>
                <a:latin typeface="Red Hat Text"/>
              </a:rPr>
              <a:t>Every example in this book: builder.WebHost.UseUrls("http://+:8080")</a:t>
            </a:r>
          </a:p>
          <a:p>
            <a:pPr>
              <a:spcAft>
                <a:spcPts val="600"/>
              </a:spcAft>
            </a:pPr>
            <a:r>
              <a:rPr sz="1700" b="0">
                <a:solidFill>
                  <a:srgbClr val="151515"/>
                </a:solidFill>
                <a:latin typeface="Red Hat Text"/>
              </a:rPr>
              <a:t>For gRPC (HTTP/2 only): builder.WebHost.ConfigureKestrel(k =&gt; k.ListenAnyIP(50051, o =&gt; o.Protocols = HttpProtocols.Http2))</a:t>
            </a:r>
          </a:p>
          <a:p>
            <a:pPr>
              <a:spcAft>
                <a:spcPts val="600"/>
              </a:spcAft>
            </a:pPr>
          </a:p>
          <a:p>
            <a:pPr>
              <a:spcAft>
                <a:spcPts val="600"/>
              </a:spcAft>
            </a:pPr>
            <a:r>
              <a:rPr sz="1700" b="0">
                <a:solidFill>
                  <a:srgbClr val="151515"/>
                </a:solidFill>
                <a:latin typeface="Red Hat Text"/>
              </a:rPr>
              <a:t>Port 8080 because ports below 1024 require root, which containers should not run as.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Kestrel supports HTTP/1.1, HTTP/2, HTTP/3 natively — gRPC, WebSockets, and REST share the same host.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Multi-stage container build</a:t>
            </a:r>
          </a:p>
        </p:txBody>
      </p:sp>
      <p:pic>
        <p:nvPicPr>
          <p:cNvPr id="4" name="Picture 3" descr="29-container-layers.png"/>
          <p:cNvPicPr>
            <a:picLocks noChangeAspect="1"/>
          </p:cNvPicPr>
          <p:nvPr/>
        </p:nvPicPr>
        <p:blipFill>
          <a:blip r:embed="rId5"/>
          <a:stretch>
            <a:fillRect/>
          </a:stretch>
        </p:blipFill>
        <p:spPr>
          <a:xfrm>
            <a:off x="1942313" y="1600200"/>
            <a:ext cx="8307049" cy="434339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SDK compiles (∼780 MB image), only the runtime + app DLLs ship (∼200 MB image). The SDK never reaches production.</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262</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Red Hat UBI: what ships to production</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UBI9 base (∼70 MB) — glibc, openssl, ca-certificates, tzdata, libicu.</a:t>
            </a:r>
          </a:p>
          <a:p>
            <a:pPr>
              <a:spcAft>
                <a:spcPts val="600"/>
              </a:spcAft>
            </a:pPr>
            <a:r>
              <a:rPr sz="1700" b="0">
                <a:solidFill>
                  <a:srgbClr val="151515"/>
                </a:solidFill>
                <a:latin typeface="Red Hat Text"/>
              </a:rPr>
              <a:t>ASP.NET Core runtime (∼100 MB) — libcoreclr.so, libclrjit.so, BCL assemblies, ASP.NET shared framework.</a:t>
            </a:r>
          </a:p>
          <a:p>
            <a:pPr>
              <a:spcAft>
                <a:spcPts val="600"/>
              </a:spcAft>
            </a:pPr>
            <a:r>
              <a:rPr sz="1700" b="0">
                <a:solidFill>
                  <a:srgbClr val="151515"/>
                </a:solidFill>
                <a:latin typeface="Red Hat Text"/>
              </a:rPr>
              <a:t>Your application (∼5–80 MB) — compiled .dll files, NuGet package DLLs, appsettings.json.</a:t>
            </a:r>
          </a:p>
          <a:p>
            <a:pPr>
              <a:spcAft>
                <a:spcPts val="600"/>
              </a:spcAft>
            </a:pPr>
          </a:p>
          <a:p>
            <a:pPr>
              <a:spcAft>
                <a:spcPts val="600"/>
              </a:spcAft>
            </a:pPr>
            <a:r>
              <a:rPr sz="1700" b="0">
                <a:solidFill>
                  <a:srgbClr val="151515"/>
                </a:solidFill>
                <a:latin typeface="Red Hat Text"/>
              </a:rPr>
              <a:t>Not in the image: SDK, MSBuild, Roslyn, NuGet, source code, obj/ and bin/ intermediates, test projects.</a:t>
            </a:r>
          </a:p>
          <a:p>
            <a:pPr>
              <a:spcAft>
                <a:spcPts val="600"/>
              </a:spcAft>
            </a:pPr>
          </a:p>
          <a:p>
            <a:pPr>
              <a:spcAft>
                <a:spcPts val="600"/>
              </a:spcAft>
            </a:pPr>
            <a:r>
              <a:rPr sz="1700" b="0">
                <a:solidFill>
                  <a:srgbClr val="151515"/>
                </a:solidFill>
                <a:latin typeface="Red Hat Text"/>
              </a:rPr>
              <a:t>UBI images are freely redistributable, based on RHEL 9, and run on any Kubernetes cluster. Red Hat publishes no UBI 10 .NET image, so .NET stays on UBI 9 while the other languages use UBI 10. They contain the same .NET runtime bits as Microsoft’s images — the difference is the base OS layer.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ubi9/dotnet-100:9.8-1791421718 (SDK, build only) → ubi9/dotnet-100-aspnet:9.8-1791363520 (runtime, ships), both from registry.access.redhat.com.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263</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LIFECYCLE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Container runtime lifecycle</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1. CoreCLR initializes — loads libcoreclr.so, starts the GC, initializes the thread pool.</a:t>
            </a:r>
          </a:p>
          <a:p>
            <a:pPr>
              <a:spcAft>
                <a:spcPts val="600"/>
              </a:spcAft>
            </a:pPr>
            <a:r>
              <a:rPr sz="1700" b="0">
                <a:solidFill>
                  <a:srgbClr val="151515"/>
                </a:solidFill>
                <a:latin typeface="Red Hat Text"/>
              </a:rPr>
              <a:t>2. Host builder runs — registers services (DI), configures logging, sets up OpenTelemetry.</a:t>
            </a:r>
          </a:p>
          <a:p>
            <a:pPr>
              <a:spcAft>
                <a:spcPts val="600"/>
              </a:spcAft>
            </a:pPr>
            <a:r>
              <a:rPr sz="1700" b="0">
                <a:solidFill>
                  <a:srgbClr val="151515"/>
                </a:solidFill>
                <a:latin typeface="Red Hat Text"/>
              </a:rPr>
              <a:t>3. Kestrel binds to port 8080 — begins accepting HTTP connections.</a:t>
            </a:r>
          </a:p>
          <a:p>
            <a:pPr>
              <a:spcAft>
                <a:spcPts val="600"/>
              </a:spcAft>
            </a:pPr>
            <a:r>
              <a:rPr sz="1700" b="0">
                <a:solidFill>
                  <a:srgbClr val="151515"/>
                </a:solidFill>
                <a:latin typeface="Red Hat Text"/>
              </a:rPr>
              <a:t>4. Application is ready — Kubernetes starts sending liveness and readiness probes.</a:t>
            </a:r>
          </a:p>
          <a:p>
            <a:pPr>
              <a:spcAft>
                <a:spcPts val="600"/>
              </a:spcAft>
            </a:pPr>
            <a:r>
              <a:rPr sz="1700" b="0">
                <a:solidFill>
                  <a:srgbClr val="151515"/>
                </a:solidFill>
                <a:latin typeface="Red Hat Text"/>
              </a:rPr>
              <a:t>5. On shutdown, SIGTERM arrives — .NET host catches it and begins graceful shutdown: stops accepting new requests, drains in-flight, flushes telemetry, disposes services.</a:t>
            </a:r>
          </a:p>
          <a:p>
            <a:pPr>
              <a:spcAft>
                <a:spcPts val="600"/>
              </a:spcAft>
            </a:pPr>
          </a:p>
          <a:p>
            <a:pPr>
              <a:spcAft>
                <a:spcPts val="600"/>
              </a:spcAft>
            </a:pPr>
            <a:r>
              <a:rPr sz="1700" b="0">
                <a:solidFill>
                  <a:srgbClr val="151515"/>
                </a:solidFill>
                <a:latin typeface="Red Hat Text"/>
              </a:rPr>
              <a:t>The entire lifecycle is the same as any Linux process. No IIS app pool recycle, no w3wp.exe, no application domain.</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container is the process boundary — SIGTERM is your shutdown signal, HostOptions.ShutdownTimeout is your budget.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264</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compiles to CIL bytecode, not native code. The CoreCLR JIT (RyuJIT) compiles to native at runtime, method-at-a-time. After that first call, performance is identical to C or C++.</a:t>
            </a:r>
          </a:p>
          <a:p>
            <a:pPr>
              <a:spcAft>
                <a:spcPts val="600"/>
              </a:spcAft>
            </a:pPr>
            <a:r>
              <a:rPr sz="1700" b="0">
                <a:solidFill>
                  <a:srgbClr val="151515"/>
                </a:solidFill>
                <a:latin typeface="Red Hat Text"/>
              </a:rPr>
              <a:t>Kestrel is the built-in web server — it handles TLS (via OpenSSL), HTTP/1.1+2+3, gRPC, and WebSockets natively. No reverse proxy layer is needed inside the Pod.</a:t>
            </a:r>
          </a:p>
          <a:p>
            <a:pPr>
              <a:spcAft>
                <a:spcPts val="600"/>
              </a:spcAft>
            </a:pPr>
            <a:r>
              <a:rPr sz="1700" b="0">
                <a:solidFill>
                  <a:srgbClr val="151515"/>
                </a:solidFill>
                <a:latin typeface="Red Hat Text"/>
              </a:rPr>
              <a:t>Multi-stage Containerfiles separate the SDK (∼780 MB) from the runtime (∼170 MB). Only the published DLLs and the ASP.NET runtime ship to production.</a:t>
            </a:r>
          </a:p>
          <a:p>
            <a:pPr>
              <a:spcAft>
                <a:spcPts val="600"/>
              </a:spcAft>
            </a:pPr>
            <a:r>
              <a:rPr sz="1700" b="0">
                <a:solidFill>
                  <a:srgbClr val="151515"/>
                </a:solidFill>
                <a:latin typeface="Red Hat Text"/>
              </a:rPr>
              <a:t>Red Hat UBI 9 images (no UBI 10 .NET image exists) are the same .NET runtime on a RHEL 9 base — freely redistributable, and run on any Kubernetes cluster.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References: .NET runtime architecture (docs.microsoft.com) · Kestrel web server (ASP.NET Core docs) · Red Hat UBI .NET images (access.redhat.com)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265</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Q</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Q · Blazor Server + SignalR</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Real-time .NET — server-rendered UI, push updates, and the Redis backplane.</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BLAZOR SERVER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What Blazor Server is</a:t>
            </a:r>
          </a:p>
        </p:txBody>
      </p:sp>
      <p:sp>
        <p:nvSpPr>
          <p:cNvPr id="4" name="TextBox 3"/>
          <p:cNvSpPr txBox="1"/>
          <p:nvPr/>
        </p:nvSpPr>
        <p:spPr>
          <a:xfrm>
            <a:off x="566928" y="1600200"/>
            <a:ext cx="11057700" cy="2100000"/>
          </a:xfrm>
          <a:prstGeom prst="rect">
            <a:avLst/>
          </a:prstGeom>
          <a:noFill/>
        </p:spPr>
        <p:txBody>
          <a:bodyPr wrap="square">
            <a:normAutofit/>
          </a:bodyPr>
          <a:lstStyle/>
          <a:p>
            <a:pPr>
              <a:spcAft>
                <a:spcPts val="600"/>
              </a:spcAft>
            </a:pPr>
            <a:r>
              <a:rPr sz="1700" b="0">
                <a:solidFill>
                  <a:srgbClr val="151515"/>
                </a:solidFill>
                <a:latin typeface="Red Hat Text"/>
              </a:rPr>
              <a:t>Blazor Server is a hosting model where all C# component logic runs on the server. The browser runs a thin JavaScript runtime that sends UI events (clicks, keystrokes) over a persistent WebSocket and applies DOM diffs returned by the server.</a:t>
            </a:r>
          </a:p>
          <a:p>
            <a:r>
              <a:rPr sz="1700" b="0">
                <a:solidFill>
                  <a:srgbClr val="151515"/>
                </a:solidFill>
                <a:latin typeface="Red Hat Text"/>
              </a:rPr>
              <a:t/>
            </a:r>
          </a:p>
          <a:p>
            <a:r>
              <a:rPr sz="1700" b="0">
                <a:solidFill>
                  <a:srgbClr val="151515"/>
                </a:solidFill>
                <a:latin typeface="Red Hat Text"/>
              </a:rPr>
              <a:t>The WebSocket is a SignalR “circuit” — one per browser tab. The server keeps a component tree in memory for each circuit, re-renders on state change, and sends only the diff (a binary serialized RenderBatch).</a:t>
            </a:r>
          </a:p>
          <a:p>
            <a:r>
              <a:rPr sz="1700" b="0">
                <a:solidFill>
                  <a:srgbClr val="151515"/>
                </a:solidFill>
                <a:latin typeface="Red Hat Text"/>
              </a:rPr>
              <a:t/>
            </a:r>
          </a:p>
          <a:p>
            <a:r>
              <a:rPr sz="1700" b="0">
                <a:solidFill>
                  <a:srgbClr val="151515"/>
                </a:solidFill>
                <a:latin typeface="Red Hat Text"/>
              </a:rPr>
              <a:t>No WASM, no client-side .NET. The trade-off: latency per interaction (each event round-trips), but zero download size and full access to server-side resources (databases, internal APIs, secrets).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Blazor Server requires a persistent WebSocket per tab — the scaling challenge from Appendix C applies directly.</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266</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blazor-circuit.png"/>
          <p:cNvPicPr>
            <a:picLocks noChangeAspect="1"/>
          </p:cNvPicPr>
          <p:nvPr/>
        </p:nvPicPr>
        <p:blipFill>
          <a:blip r:embed="rId3"/>
          <a:stretch>
            <a:fillRect/>
          </a:stretch>
        </p:blipFill>
        <p:spPr>
          <a:xfrm>
            <a:off x="566928" y="3800200"/>
            <a:ext cx="10086588" cy="2143400"/>
          </a:xfrm>
          <a:prstGeom prst="rect">
            <a:avLst/>
          </a:prstGeom>
        </p:spPr>
      </p:pic>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SIGNALR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SignalR: the transport underneath</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SignalR is ASP.NET Core’s real-time communication library. It abstracts WebSockets (preferred), Server-Sent Events, and long-polling behind a single Hub API.</a:t>
            </a:r>
          </a:p>
          <a:p>
            <a:r>
              <a:rPr sz="1700" b="0">
                <a:solidFill>
                  <a:srgbClr val="151515"/>
                </a:solidFill>
                <a:latin typeface="Red Hat Text"/>
              </a:rPr>
              <a:t/>
            </a:r>
          </a:p>
          <a:p>
            <a:r>
              <a:rPr sz="1700" b="0">
                <a:solidFill>
                  <a:srgbClr val="151515"/>
                </a:solidFill>
                <a:latin typeface="Red Hat Text"/>
              </a:rPr>
              <a:t>A Hub is a server-side class with methods that clients can call (client → server), and the server can invoke methods on connected clients (server → client). Groups let you broadcast to subsets of connections.</a:t>
            </a:r>
          </a:p>
          <a:p>
            <a:r>
              <a:rPr sz="1700" b="0">
                <a:solidFill>
                  <a:srgbClr val="151515"/>
                </a:solidFill>
                <a:latin typeface="Red Hat Text"/>
              </a:rPr>
              <a:t/>
            </a:r>
          </a:p>
          <a:p>
            <a:r>
              <a:rPr sz="1700" b="0">
                <a:solidFill>
                  <a:srgbClr val="151515"/>
                </a:solidFill>
                <a:latin typeface="Red Hat Text"/>
              </a:rPr>
              <a:t>Blazor Server uses SignalR internally for its circuit, but you can also use SignalR directly in any ASP.NET Core app for push notifications, live feeds, or collaborative editing — independent of Blazor.</a:t>
            </a:r>
          </a:p>
          <a:p>
            <a:r>
              <a:rPr sz="1700" b="0">
                <a:solidFill>
                  <a:srgbClr val="151515"/>
                </a:solidFill>
                <a:latin typeface="Red Hat Text"/>
              </a:rPr>
              <a:t/>
            </a:r>
          </a:p>
          <a:p>
            <a:r>
              <a:rPr sz="1700" b="0">
                <a:solidFill>
                  <a:srgbClr val="151515"/>
                </a:solidFill>
                <a:latin typeface="Red Hat Text"/>
              </a:rPr>
              <a:t>The Hub pattern: clients call server methods by name, server invokes client methods by name. No manual frame parsing, no custom protocol — SignalR handles serialization (JSON or MessagePack), reconnection, and connection lifecycle.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SignalR is not Blazor-specific — it is a general-purpose real-time library that Blazor Server happens to use as its transport.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SCALING</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Scaling with the Redis backplane</a:t>
            </a:r>
          </a:p>
        </p:txBody>
      </p:sp>
      <p:sp>
        <p:nvSpPr>
          <p:cNvPr id="4" name="TextBox 3"/>
          <p:cNvSpPr txBox="1"/>
          <p:nvPr/>
        </p:nvSpPr>
        <p:spPr>
          <a:xfrm>
            <a:off x="566928" y="1600200"/>
            <a:ext cx="11057700" cy="1600000"/>
          </a:xfrm>
          <a:prstGeom prst="rect">
            <a:avLst/>
          </a:prstGeom>
          <a:noFill/>
        </p:spPr>
        <p:txBody>
          <a:bodyPr wrap="square">
            <a:normAutofit/>
          </a:bodyPr>
          <a:lstStyle/>
          <a:p>
            <a:pPr>
              <a:spcAft>
                <a:spcPts val="600"/>
              </a:spcAft>
            </a:pPr>
            <a:r>
              <a:rPr sz="1700" b="0">
                <a:solidFill>
                  <a:srgbClr val="151515"/>
                </a:solidFill>
                <a:latin typeface="Red Hat Text"/>
              </a:rPr>
              <a:t>The same per-pod pinning problem from Appendix C appears here: a SignalR connection is pinned to the pod that accepted it. If pod A calls Clients.Group("dashboard").SendAsync(), only clients connected to pod A receive the message.</a:t>
            </a:r>
          </a:p>
          <a:p>
            <a:r>
              <a:rPr sz="1700" b="0">
                <a:solidFill>
                  <a:srgbClr val="151515"/>
                </a:solidFill>
                <a:latin typeface="Red Hat Text"/>
              </a:rPr>
              <a:t/>
            </a:r>
          </a:p>
          <a:p>
            <a:r>
              <a:rPr sz="1700" b="0">
                <a:solidFill>
                  <a:srgbClr val="151515"/>
                </a:solidFill>
                <a:latin typeface="Red Hat Text"/>
              </a:rPr>
              <a:t>SignalR’s built-in Redis backplane solves this. One line of configuration, AddSignalR().AddStackExchangeRedis(redisConn), and every hub invocation is published to Redis Pub/Sub. All pods subscribe, so all connected clients receive the update.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builder.Services.AddSignalR().AddStackExchangeRedis(redisConn) — that is the entire backplane setup.</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268</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signalr-backplane.png"/>
          <p:cNvPicPr>
            <a:picLocks noChangeAspect="1"/>
          </p:cNvPicPr>
          <p:nvPr/>
        </p:nvPicPr>
        <p:blipFill>
          <a:blip r:embed="rId3"/>
          <a:stretch>
            <a:fillRect/>
          </a:stretch>
        </p:blipFill>
        <p:spPr>
          <a:xfrm>
            <a:off x="566928" y="3300200"/>
            <a:ext cx="11057700" cy="2142429"/>
          </a:xfrm>
          <a:prstGeom prst="rect">
            <a:avLst/>
          </a:prstGeom>
        </p:spPr>
      </p:pic>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CODE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The order dashboard: how the pieces connect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OrderHub.cs — a SignalR Hub with a JoinDashboard method. Clients call it to join the “dashboard” group. The hub itself has no push logic — it is just a group-management entry point.</a:t>
            </a:r>
          </a:p>
          <a:p>
            <a:r>
              <a:rPr sz="1700" b="0">
                <a:solidFill>
                  <a:srgbClr val="151515"/>
                </a:solidFill>
                <a:latin typeface="Red Hat Text"/>
              </a:rPr>
              <a:t/>
            </a:r>
          </a:p>
          <a:p>
            <a:r>
              <a:rPr sz="1700" b="0">
                <a:solidFill>
                  <a:srgbClr val="151515"/>
                </a:solidFill>
                <a:latin typeface="Red Hat Text"/>
              </a:rPr>
              <a:t>POST /orders — the REST endpoint creates an order in Postgres, then calls hub.Clients.Group("dashboard").SendAsync("OrderPlaced", order). This pushes the order to every connected dashboard client.</a:t>
            </a:r>
          </a:p>
          <a:p>
            <a:r>
              <a:rPr sz="1700" b="0">
                <a:solidFill>
                  <a:srgbClr val="151515"/>
                </a:solidFill>
                <a:latin typeface="Red Hat Text"/>
              </a:rPr>
              <a:t/>
            </a:r>
          </a:p>
          <a:p>
            <a:r>
              <a:rPr sz="1700" b="0">
                <a:solidFill>
                  <a:srgbClr val="151515"/>
                </a:solidFill>
                <a:latin typeface="Red Hat Text"/>
              </a:rPr>
              <a:t>Dashboard.razor — a Blazor Server component. On initialization, it connects a HubConnection to /hubs/orders, calls JoinDashboard, and registers a handler for “OrderPlaced” that prepends the order to the list and calls StateHasChanged().</a:t>
            </a:r>
          </a:p>
          <a:p>
            <a:r>
              <a:rPr sz="1700" b="0">
                <a:solidFill>
                  <a:srgbClr val="151515"/>
                </a:solidFill>
                <a:latin typeface="Red Hat Text"/>
              </a:rPr>
              <a:t/>
            </a:r>
          </a:p>
          <a:p>
            <a:r>
              <a:rPr sz="1700" b="0">
                <a:solidFill>
                  <a:srgbClr val="151515"/>
                </a:solidFill>
                <a:latin typeface="Red Hat Text"/>
              </a:rPr>
              <a:t>The result: POST an order via curl, and the Blazor dashboard updates in real time with no polling. The SignalR circuit carries both the Blazor DOM diffs and the explicit OrderPlaced messages.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example runs on docker compose: two Blazor app instances (ports 8080 and 8081) on one Redis backplane, plus Postgres and the LGTM stack.</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COMPARISON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When to use what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Raw WebSockets (Appendix C): full control, cross-language, works anywhere. Use when you need a custom binary protocol (protobuf frames), or when clients are not .NET.</a:t>
            </a:r>
          </a:p>
          <a:p>
            <a:r>
              <a:rPr sz="1700" b="0">
                <a:solidFill>
                  <a:srgbClr val="151515"/>
                </a:solidFill>
                <a:latin typeface="Red Hat Text"/>
              </a:rPr>
              <a:t/>
            </a:r>
          </a:p>
          <a:p>
            <a:r>
              <a:rPr sz="1700" b="0">
                <a:solidFill>
                  <a:srgbClr val="151515"/>
                </a:solidFill>
                <a:latin typeface="Red Hat Text"/>
              </a:rPr>
              <a:t>SignalR: managed reconnection, groups, Hub RPC pattern, MessagePack serialization. Use when the server is ASP.NET Core and you want push without managing WebSocket lifecycle.</a:t>
            </a:r>
          </a:p>
          <a:p>
            <a:r>
              <a:rPr sz="1700" b="0">
                <a:solidFill>
                  <a:srgbClr val="151515"/>
                </a:solidFill>
                <a:latin typeface="Red Hat Text"/>
              </a:rPr>
              <a:t/>
            </a:r>
          </a:p>
          <a:p>
            <a:r>
              <a:rPr sz="1700" b="0">
                <a:solidFill>
                  <a:srgbClr val="151515"/>
                </a:solidFill>
                <a:latin typeface="Red Hat Text"/>
              </a:rPr>
              <a:t>Blazor Server: server-rendered UI with no client-side framework. Use for internal tools, dashboards, admin panels — where the user count is low and server-side access matters more than offline support.</a:t>
            </a:r>
          </a:p>
          <a:p>
            <a:r>
              <a:rPr sz="1700" b="0">
                <a:solidFill>
                  <a:srgbClr val="151515"/>
                </a:solidFill>
                <a:latin typeface="Red Hat Text"/>
              </a:rPr>
              <a:t/>
            </a:r>
          </a:p>
          <a:p>
            <a:r>
              <a:rPr sz="1700" b="0">
                <a:solidFill>
                  <a:srgbClr val="151515"/>
                </a:solidFill>
                <a:latin typeface="Red Hat Text"/>
              </a:rPr>
              <a:t>Blazor WebAssembly: client-side .NET in the browser. Use when you need offline support or want to reduce server load. Not covered here — the scaling model is different (no persistent circuit).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Choose the lowest abstraction that meets your requirements — raw WS for cross-language, SignalR for .NET push, Blazor Server for .NET UI.</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270</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Blazor Server runs all UI logic on the server — the browser is a thin terminal connected by a SignalR circuit. No WASM download, full server access, but every interaction round-trips.</a:t>
            </a:r>
          </a:p>
          <a:p>
            <a:r>
              <a:rPr sz="1700" b="0">
                <a:solidFill>
                  <a:srgbClr val="151515"/>
                </a:solidFill>
                <a:latin typeface="Red Hat Text"/>
              </a:rPr>
              <a:t/>
            </a:r>
          </a:p>
          <a:p>
            <a:r>
              <a:rPr sz="1700" b="0">
                <a:solidFill>
                  <a:srgbClr val="151515"/>
                </a:solidFill>
                <a:latin typeface="Red Hat Text"/>
              </a:rPr>
              <a:t>SignalR abstracts WebSockets behind a Hub API with groups, automatic reconnection, and serialization. It is a general-purpose real-time library, not Blazor-specific.</a:t>
            </a:r>
          </a:p>
          <a:p>
            <a:r>
              <a:rPr sz="1700" b="0">
                <a:solidFill>
                  <a:srgbClr val="151515"/>
                </a:solidFill>
                <a:latin typeface="Red Hat Text"/>
              </a:rPr>
              <a:t/>
            </a:r>
          </a:p>
          <a:p>
            <a:r>
              <a:rPr sz="1700" b="0">
                <a:solidFill>
                  <a:srgbClr val="151515"/>
                </a:solidFill>
                <a:latin typeface="Red Hat Text"/>
              </a:rPr>
              <a:t>The Redis backplane (AddStackExchangeRedis) lets multiple pods broadcast to all connected clients — the same per-pod pinning solution from Appendix C, built into SignalR.</a:t>
            </a:r>
          </a:p>
          <a:p>
            <a:r>
              <a:rPr sz="1700" b="0">
                <a:solidFill>
                  <a:srgbClr val="151515"/>
                </a:solidFill>
                <a:latin typeface="Red Hat Text"/>
              </a:rPr>
              <a:t/>
            </a:r>
          </a:p>
          <a:p>
            <a:r>
              <a:rPr sz="1700" b="0">
                <a:solidFill>
                  <a:srgbClr val="151515"/>
                </a:solidFill>
                <a:latin typeface="Red Hat Text"/>
              </a:rPr>
              <a:t>For internal dashboards with low user counts and high data freshness, Blazor Server + SignalR is a pragmatic choice. For public-facing, high-scale, or cross-language scenarios, use raw WebSockets.</a:t>
            </a:r>
          </a:p>
          <a:p>
            <a:r>
              <a:rPr sz="1700" b="0">
                <a:solidFill>
                  <a:srgbClr val="151515"/>
                </a:solidFill>
                <a:latin typeface="Red Hat Text"/>
              </a:rPr>
              <a:t/>
            </a:r>
          </a:p>
          <a:p>
            <a:r>
              <a:rPr sz="1700" b="0">
                <a:solidFill>
                  <a:srgbClr val="151515"/>
                </a:solidFill>
                <a:latin typeface="Red Hat Text"/>
              </a:rPr>
              <a:t>References: ASP.NET Core Blazor hosting models (docs.microsoft.com) · SignalR documentation · Appendix C: WebSocket scaling</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272</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273</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k8s/overlays/dotnet/kustomization.yaml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localhost/cndp-05/dotnet-order-service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DATABASE_URL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"Host=cndp-postgres-rw;Port=5432;Database=appdb;\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Username=$(PG_USER);Password=$(PG_PASSWORD)"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order-service only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SERVICE_VERSION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"1.0.0"</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dotnet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dotnet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