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53"/>
    <p:sldId id="505" r:id="rId254"/>
    <p:sldId id="506" r:id="rId255"/>
    <p:sldId id="507" r:id="rId256"/>
    <p:sldId id="508" r:id="rId257"/>
    <p:sldId id="509" r:id="rId258"/>
    <p:sldId id="510" r:id="rId259"/>
    <p:sldId id="511" r:id="rId260"/>
    <p:sldId id="512" r:id="rId261"/>
    <p:sldId id="513" r:id="rId262"/>
    <p:sldId id="514" r:id="rId263"/>
    <p:sldId id="515" r:id="rId264"/>
    <p:sldId id="516" r:id="rId265"/>
    <p:sldId id="517" r:id="rId266"/>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 id="537" r:id="rId298"/>
    <p:sldId id="538" r:id="rId299"/>
    <p:sldId id="539" r:id="rId300"/>
    <p:sldId id="540" r:id="rId301"/>
    <p:sldId id="541" r:id="rId302"/>
    <p:sldId id="542" r:id="rId303"/>
    <p:sldId id="543" r:id="rId304"/>
    <p:sldId id="544" r:id="rId305"/>
    <p:sldId id="545" r:id="rId306"/>
    <p:sldId id="546" r:id="rId307"/>
    <p:sldId id="547" r:id="rId308"/>
    <p:sldId id="548" r:id="rId309"/>
    <p:sldId id="549" r:id="rId310"/>
    <p:sldId id="550" r:id="rId311"/>
    <p:sldId id="551" r:id="rId312"/>
    <p:sldId id="552" r:id="rId313"/>
    <p:sldId id="553" r:id="rId314"/>
    <p:sldId id="554" r:id="rId315"/>
    <p:sldId id="555" r:id="rId316"/>
    <p:sldId id="556" r:id="rId317"/>
    <p:sldId id="557" r:id="rId318"/>
    <p:sldId id="558" r:id="rId319"/>
  </p:sldIdLst>
  <p:sldSz cy="6858000" cx="12191675"/>
  <p:notesSz cx="6858000" cy="12191675"/>
  <p:embeddedFontLst>
    <p:embeddedFont>
      <p:font typeface="Overpass SemiBold"/>
      <p:regular r:id="rId267"/>
      <p:bold r:id="rId268"/>
      <p:italic r:id="rId269"/>
      <p:boldItalic r:id="rId270"/>
    </p:embeddedFont>
    <p:embeddedFont>
      <p:font typeface="Red Hat Text"/>
      <p:regular r:id="rId271"/>
      <p:bold r:id="rId272"/>
      <p:italic r:id="rId273"/>
      <p:boldItalic r:id="rId274"/>
    </p:embeddedFont>
    <p:embeddedFont>
      <p:font typeface="Red Hat Mono"/>
      <p:regular r:id="rId275"/>
      <p:bold r:id="rId276"/>
      <p:italic r:id="rId277"/>
      <p:boldItalic r:id="rId27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slide" Target="slides/slide249.xml"/><Relationship Id="rId254" Type="http://schemas.openxmlformats.org/officeDocument/2006/relationships/slide" Target="slides/slide250.xml"/><Relationship Id="rId255" Type="http://schemas.openxmlformats.org/officeDocument/2006/relationships/slide" Target="slides/slide251.xml"/><Relationship Id="rId256" Type="http://schemas.openxmlformats.org/officeDocument/2006/relationships/slide" Target="slides/slide252.xml"/><Relationship Id="rId257" Type="http://schemas.openxmlformats.org/officeDocument/2006/relationships/slide" Target="slides/slide253.xml"/><Relationship Id="rId258" Type="http://schemas.openxmlformats.org/officeDocument/2006/relationships/slide" Target="slides/slide254.xml"/><Relationship Id="rId259" Type="http://schemas.openxmlformats.org/officeDocument/2006/relationships/slide" Target="slides/slide255.xml"/><Relationship Id="rId260" Type="http://schemas.openxmlformats.org/officeDocument/2006/relationships/slide" Target="slides/slide256.xml"/><Relationship Id="rId261" Type="http://schemas.openxmlformats.org/officeDocument/2006/relationships/slide" Target="slides/slide257.xml"/><Relationship Id="rId262" Type="http://schemas.openxmlformats.org/officeDocument/2006/relationships/slide" Target="slides/slide258.xml"/><Relationship Id="rId263" Type="http://schemas.openxmlformats.org/officeDocument/2006/relationships/slide" Target="slides/slide259.xml"/><Relationship Id="rId264" Type="http://schemas.openxmlformats.org/officeDocument/2006/relationships/slide" Target="slides/slide260.xml"/><Relationship Id="rId265" Type="http://schemas.openxmlformats.org/officeDocument/2006/relationships/slide" Target="slides/slide261.xml"/><Relationship Id="rId266" Type="http://schemas.openxmlformats.org/officeDocument/2006/relationships/slide" Target="slides/slide262.xml"/><Relationship Id="rId267" Type="http://schemas.openxmlformats.org/officeDocument/2006/relationships/font" Target="fonts/OverpassSemiBold-regular.fntdata"/><Relationship Id="rId268" Type="http://schemas.openxmlformats.org/officeDocument/2006/relationships/font" Target="fonts/OverpassSemiBold-bold.fntdata"/><Relationship Id="rId269" Type="http://schemas.openxmlformats.org/officeDocument/2006/relationships/font" Target="fonts/OverpassSemiBold-italic.fntdata"/><Relationship Id="rId270" Type="http://schemas.openxmlformats.org/officeDocument/2006/relationships/font" Target="fonts/OverpassSemiBold-boldItalic.fntdata"/><Relationship Id="rId271" Type="http://schemas.openxmlformats.org/officeDocument/2006/relationships/font" Target="fonts/RedHatText-regular.fntdata"/><Relationship Id="rId272" Type="http://schemas.openxmlformats.org/officeDocument/2006/relationships/font" Target="fonts/RedHatText-bold.fntdata"/><Relationship Id="rId273" Type="http://schemas.openxmlformats.org/officeDocument/2006/relationships/font" Target="fonts/RedHatText-italic.fntdata"/><Relationship Id="rId274" Type="http://schemas.openxmlformats.org/officeDocument/2006/relationships/font" Target="fonts/RedHatText-boldItalic.fntdata"/><Relationship Id="rId275" Type="http://schemas.openxmlformats.org/officeDocument/2006/relationships/font" Target="fonts/RedHatMono-regular.fntdata"/><Relationship Id="rId276" Type="http://schemas.openxmlformats.org/officeDocument/2006/relationships/font" Target="fonts/RedHatMono-bold.fntdata"/><Relationship Id="rId277" Type="http://schemas.openxmlformats.org/officeDocument/2006/relationships/font" Target="fonts/RedHatMono-italic.fntdata"/><Relationship Id="rId278" Type="http://schemas.openxmlformats.org/officeDocument/2006/relationships/font" Target="fonts/RedHatMono-boldItalic.fntdata"/><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 Id="rId298" Type="http://schemas.openxmlformats.org/officeDocument/2006/relationships/slide" Target="slides/slide282.xml"/><Relationship Id="rId299" Type="http://schemas.openxmlformats.org/officeDocument/2006/relationships/slide" Target="slides/slide283.xml"/><Relationship Id="rId300" Type="http://schemas.openxmlformats.org/officeDocument/2006/relationships/slide" Target="slides/slide284.xml"/><Relationship Id="rId301" Type="http://schemas.openxmlformats.org/officeDocument/2006/relationships/slide" Target="slides/slide285.xml"/><Relationship Id="rId302" Type="http://schemas.openxmlformats.org/officeDocument/2006/relationships/slide" Target="slides/slide286.xml"/><Relationship Id="rId303" Type="http://schemas.openxmlformats.org/officeDocument/2006/relationships/slide" Target="slides/slide287.xml"/><Relationship Id="rId304" Type="http://schemas.openxmlformats.org/officeDocument/2006/relationships/slide" Target="slides/slide288.xml"/><Relationship Id="rId305" Type="http://schemas.openxmlformats.org/officeDocument/2006/relationships/slide" Target="slides/slide289.xml"/><Relationship Id="rId306" Type="http://schemas.openxmlformats.org/officeDocument/2006/relationships/slide" Target="slides/slide290.xml"/><Relationship Id="rId307" Type="http://schemas.openxmlformats.org/officeDocument/2006/relationships/slide" Target="slides/slide291.xml"/><Relationship Id="rId308" Type="http://schemas.openxmlformats.org/officeDocument/2006/relationships/slide" Target="slides/slide292.xml"/><Relationship Id="rId309" Type="http://schemas.openxmlformats.org/officeDocument/2006/relationships/slide" Target="slides/slide293.xml"/><Relationship Id="rId310" Type="http://schemas.openxmlformats.org/officeDocument/2006/relationships/slide" Target="slides/slide294.xml"/><Relationship Id="rId311" Type="http://schemas.openxmlformats.org/officeDocument/2006/relationships/slide" Target="slides/slide295.xml"/><Relationship Id="rId312" Type="http://schemas.openxmlformats.org/officeDocument/2006/relationships/slide" Target="slides/slide296.xml"/><Relationship Id="rId313" Type="http://schemas.openxmlformats.org/officeDocument/2006/relationships/slide" Target="slides/slide297.xml"/><Relationship Id="rId314" Type="http://schemas.openxmlformats.org/officeDocument/2006/relationships/slide" Target="slides/slide298.xml"/><Relationship Id="rId315" Type="http://schemas.openxmlformats.org/officeDocument/2006/relationships/slide" Target="slides/slide299.xml"/><Relationship Id="rId316" Type="http://schemas.openxmlformats.org/officeDocument/2006/relationships/slide" Target="slides/slide300.xml"/><Relationship Id="rId317" Type="http://schemas.openxmlformats.org/officeDocument/2006/relationships/slide" Target="slides/slide301.xml"/><Relationship Id="rId318" Type="http://schemas.openxmlformats.org/officeDocument/2006/relationships/slide" Target="slides/slide302.xml"/><Relationship Id="rId319" Type="http://schemas.openxmlformats.org/officeDocument/2006/relationships/slide" Target="slides/slide30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and framing. This is a working architect's tour of designing cloud-native APIs on .NET 10 — not a survey of buzzwords. The audience: .NET developers who lived on .NET Framework 4.x, IIS, WCF and COM+ and now need to ship on Kubernetes. We'll bridge that world to this one at every step, not pretend the old world didn't exist. Set expectations: we build one realistic system (five services and a gateway) and re-examine it from twelve angles, then deep-dive appendices on protocol internals, versioning, WebSockets (including Blazor's place in this story), and saga mechanics. Mention the running stack up front: .NET 10 (LTS through 2028, MIT) with ASP.NET Core for REST, Grpc.AspNetCore for gRPC, HotChocolate for GraphQL, MassTransit + Confluent.Kafka for events, Streamiz.Kafka.Net for stream processing, Temporal .NET SDK for durable workflows (Stateless for the lightweight alternative), SignalR for WebSockets, OpenTelemetry .NET for observability — every library MIT or Apache 2.0. On Kubernetes with Kafka (Strimzi), Istio and KEDA. The platform around the code — Strimzi, Apicurio, OpenMetadata, the LGTM stack — is unchanged from any language choice; .NET 10 is just how we write the services.</a:t>
            </a:r>
            <a:endParaRPr/>
          </a:p>
        </p:txBody>
      </p:sp>
      <p:sp>
        <p:nvSpPr>
          <p:cNvPr id="14" name="Google Shape;14;p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p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agenda — thirteen sections plus a short setup, and the deep-dive appendices at the end. The setup slide motivates why patterns matter in the age of AI. Sections 1–6 build the system from principles up through data and streaming; 7–13 cover the operational platform around it (workflows, management, registry, metadata, observability), then security as a first-class section, and close on anti-patterns. The appendices (A–L, plus a glossary) are backup material for the questions that always come up — protocols, versioning, WebSockets, sagas, errors, DDD, coupling, shutdown, L7 routing, monolith→microservices decomposition, and caching patterns. Tell the audience which sections you'll cover given the session length. The next slide reframes this as the narrative arc — what we build and in what order.</a:t>
            </a:r>
            <a:endParaRPr/>
          </a:p>
        </p:txBody>
      </p:sp>
      <p:sp>
        <p:nvSpPr>
          <p:cNvPr id="25" name="Google Shape;25;p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p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arc quickly; don't dwell. The order is deliberate: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there are four deep-dive appendices at the end (protocols, versioning, WebSockets, sagas) they can jump to. For a 90-minute talk, cover the main twelve; for the full three hours, work through the appendices too.</a:t>
            </a:r>
            <a:endParaRPr/>
          </a:p>
        </p:txBody>
      </p:sp>
      <p:sp>
        <p:nvSpPr>
          <p:cNvPr id="36" name="Google Shape;36;p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deck by naming the elephant. AI coding tools — Claude, Claude Code, Cursor, Copilot, every frontier model — are now in production engineering workflows. They produce code very fluently. They will produce a microservices decomposition, a saga, a cache layer, a strangler fig wrapper, a CQRS write side — plausible enough to compile, deploy and run — from a one-sentence prompt.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 the focus of this deck — span services, data and runtime (sagas, caching, the strangler fig, outbox, decomposition, L7 routing). The four maxims are the philosophical spine. ‘Least-worst decision’: every architecture choice is a set of trades — latency for throughput, consistency for availability, simplicity for flexibility — and the job is not to find the optionless option but to make the trades visible and deliberate.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easy and cheap. The closing line is the audience take-home: AI is the amplifier; the patterns are the literacy that decides which direction it amplifies.</a:t>
            </a:r>
            <a:endParaRPr/>
          </a:p>
        </p:txBody>
      </p:sp>
      <p:sp>
        <p:nvSpPr>
          <p:cNvPr id="46" name="Google Shape;46;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visual companion to the previous slide. Three stacked boxes: design patterns at the bottom (Gang of Four — factory, strategy, observer, decorator, repository, etc.); architecture patterns in the middle (hexagonal, microservices, modular monolith, BFF, federation, pipes-and-filters, event-driven, layered); and at the top, system design patterns — the scope of this deck —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that follow you through the rest of the deck — every concrete choice you'll see is a deliberate exercise in those four principles. Make the audience comfortable with the maxims, especially the last one (no problem cannot be made worse) — it's the warning at the heart of using AI tooling well.</a:t>
            </a:r>
            <a:endParaRPr/>
          </a:p>
        </p:txBody>
      </p:sp>
      <p:sp>
        <p:nvSpPr>
          <p:cNvPr id="56" name="Google Shape;56;p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p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p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p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 Before the pillars themselves, one slide for the audience: a Rosetta-stone from the Windows world (IIS, WCF, COM+, MSMQ) to the Kubernetes world. Almost every pattern you knew has a direct cloud-native analog — the platform owns more, your code owns less.</a:t>
            </a:r>
            <a:endParaRPr/>
          </a:p>
        </p:txBody>
      </p:sp>
      <p:sp>
        <p:nvSpPr>
          <p:cNvPr id="77" name="Google Shape;77;p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is the orientation gift to the audience. Most of you spent years on .NET Framework 4.x, hosting in IIS, talking via WCF, doing distributed transactions with MSDTC and COM+, queuing with MSMQ or SQL Server Service Broker, and configuring everything through web.config. Cloud-native isn't a rejection of those patterns — it's a re-platforming where Kubernetes owns the host and the messaging substrate, and your code owns less infrastructure plumbing. Walk the audience through 4-5 rows they'll recognise: app pool → Pod, app pool recycle → graceful shutdown + rolling deploy, WCF service → gRPC or ASP.NET Core, COM+ distributed transactions → saga + outbox (which we'll cover deeply in Appendix D), MSMQ → Kafka. The bottom line below the table is the architectural shift to make explicit: you stop owning the host and start owning the code, because the platform now provides the host as a primitive. The pillars on the next slide are the rubric Kubernetes is enforcing on you when you make that switch.</a:t>
            </a:r>
            <a:endParaRPr/>
          </a:p>
        </p:txBody>
      </p:sp>
      <p:sp>
        <p:nvSpPr>
          <p:cNvPr id="87" name="Google Shape;87;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rest of the talk — every design decision later either earns or spends one of these properties. Tie back to the previous slide: IIS gave you some of these (process recycle, health monitoring) but on a single Windows host; Kubernetes gives you all six, across many hosts, declaratively.</a:t>
            </a:r>
            <a:endParaRPr/>
          </a:p>
        </p:txBody>
      </p:sp>
      <p:sp>
        <p:nvSpPr>
          <p:cNvPr id="98" name="Google Shape;98;p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 name="Google Shape;108;p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109" name="Google Shape;109;p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 name="Google Shape;118;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Design-first is the cultural prerequisite for everything that follows. The contract — OpenAPI, .proto, AsyncAPI — is agreed and registered before code is written, owned by the producing domain, and gated in CI. Consumers code against the contract and generated stubs, never against your database. Make the point that this is what actually delivers independent deployability: the promise the contract encodes is the service boundary. If you skip this, you get distributed coupling that's worse than a monolith because it fails over the network. In the .NET world the contract artifacts come naturally: Microsoft.AspNetCore.OpenApi (built into .NET 9+) emits the REST spec from your controller and minimal-API endpoints, Grpc.Tools compiles the .proto into both server bases and client stubs at build time, and HotChocolate generates the GraphQL SDL from your code-first types (or loads .graphql files if you prefer schema-first) — all checked into the registry.</a:t>
            </a:r>
            <a:endParaRPr/>
          </a:p>
        </p:txBody>
      </p:sp>
      <p:sp>
        <p:nvSpPr>
          <p:cNvPr id="119" name="Google Shape;119;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p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 don't recite the list; split it into the few factors you still write (config from the environment, stateless processes, fast clean startup and shutdown, logs as event streams) versus the many the platform now provides for free (build/release/run via images and GitOps, concurrency via KEDA, attached backing services). Note that in a microservices/event-driven world several factors deepen — backing services now includes Kafka and the registry, and 'logs' has become full observability. End by teeing up the list and the mapping diagrams.</a:t>
            </a:r>
            <a:endParaRPr/>
          </a:p>
        </p:txBody>
      </p:sp>
      <p:sp>
        <p:nvSpPr>
          <p:cNvPr id="129" name="Google Shape;129;p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p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lot of people nod along to ‘twelve-factor’ without being able to name the twelve, so here they are at a glance, one line each. Don't read them aloud — let people scan. Two takeaways to say: first, this 2011 list essentially predicted cloud-native a decade early; second, notice how many are now handled by the platform (build/release/run, concurrency, disposability, port binding, backing services) versus the few you still actively write (config from the environment, statelessness, logs as streams). That sets up the next slide, which maps each factor onto our architecture.</a:t>
            </a:r>
            <a:endParaRPr/>
          </a:p>
        </p:txBody>
      </p:sp>
      <p:sp>
        <p:nvSpPr>
          <p:cNvPr id="139" name="Google Shape;139;p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payoff — not the traditional twelve-factor table, but a map of where each factor actually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50" name="Google Shape;150;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p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code: ASP.NET Core 10 uses minimal hosting (Program.cs as a top-level script). Config flows from appsettings.json overridden by environment variables (factor III) — the cloud-native equivalent of web.config Transforms and ASP.NET configBuilders, but the cluster injects the values via ConfigMaps and Secrets instead of an MSDeploy package. Health checks are first-class: IHealthCheck instances are tagged 'live' or 'ready' and mapped to separate endpoints. Liveness asks 'am I alive? if not, restart me' (Kubernetes kills the Pod); readiness asks 'can I serve? if not, take me out of rotation but don't kill me' (Kubernetes removes the Pod from the Service endpoints). Getting these wrong is a top cause of cascading restarts — the same way wrong IIS app-pool ping settings used to crash apps under load. Bonus: the AspNetCore.HealthChecks.* community packages (MIT) ship probes for Postgres, Redis, Kafka, RabbitMQ, SQL Server, and 50+ other dependencies, so you almost never write your own. The .NET runtime side: this is published as a Linux container image (dotnet publish -t:PublishContainer in .NET 8+), not an MSI deployed to IIS.</a:t>
            </a:r>
            <a:endParaRPr/>
          </a:p>
        </p:txBody>
      </p:sp>
      <p:sp>
        <p:nvSpPr>
          <p:cNvPr id="161" name="Google Shape;161;p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two. The thesis: there is no single right protocol — there is a right protocol per interaction. Resist the urge to standardize on one wire for everything. The next slides give you a decision rule and then show each protocol in code against the running system.</a:t>
            </a:r>
            <a:endParaRPr/>
          </a:p>
        </p:txBody>
      </p:sp>
      <p:sp>
        <p:nvSpPr>
          <p:cNvPr id="174" name="Google Shape;174;p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84" name="Google Shape;184;p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p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edge surface. For WCF refugees the mental shift: a Controller or minimal-API endpoint replaces an OperationContract; DataContract becomes a C# record with validation attributes; the binding (BasicHttp, NetTcp, MSMQ) becomes 'pick the right protocol per call' — here REST, gRPC and Kafka coexist instead of one endpoint multi-bound. Point out four things teams routinely get wrong: (1) resource-shaped URLs (nouns, not verbs) — not /GetOrder?id=123 like an .asmx service; (2) request contracts validated declaratively — records with [Required], [Range], or FluentValidation rules, so bad input never reaches your logic; (3) correct status codes — Results.Created (201) on create, Results.ValidationProblem (RFC 9457) for validation failures, not 200 with success=false in the body; (4) cursor pagination, not offset, because offset breaks under concurrent writes and gets slow at depth. Microsoft.AspNetCore.OpenApi (built in since .NET 9) emits the OpenAPI spec automatically — the equivalent of WCF's WSDL but generated at build time, versioned in the registry, and gated in CI. NSwag and Swashbuckle (both MIT) are the alternatives if you need richer customisation.</a:t>
            </a:r>
            <a:endParaRPr/>
          </a:p>
        </p:txBody>
      </p:sp>
      <p:sp>
        <p:nvSpPr>
          <p:cNvPr id="195" name="Google Shape;195;p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for the internal paths. For WCF refugees this is the most familiar protocol in cloud-native: the .proto file IS the service contract, exactly like a WCF [ServiceContract] interface, and the wire format is binary like NetTcpBinding. The Grpc.Tools NuGet package compiles the .proto with protoc at build time, generating both the C# message classes (similar to DataContracts) and an Inventory.InventoryBase abstract class — you derive from it and override the operations. Highlight that the field numbers (=1, =2) are the wire contract — we return to exactly why in Appendix B. Streaming RPCs (server, client, bidirectional) are first-class through IAsyncEnumerable&lt;T&gt;. The right default for chatty service-to-service calls where you control both ends, and the natural migration target for internal WCF endpoints. Load-test it with ghz. (Optional: mention that for browser clients, gRPC-Web via Grpc.AspNetCore.Web exposes the same service over HTTP/1.1 with limitations.)</a:t>
            </a:r>
            <a:endParaRPr/>
          </a:p>
        </p:txBody>
      </p:sp>
      <p:sp>
        <p:nvSpPr>
          <p:cNvPr id="208" name="Google Shape;208;p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p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21" name="Google Shape;221;p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p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next slide shows the actual config.</a:t>
            </a:r>
            <a:endParaRPr/>
          </a:p>
        </p:txBody>
      </p:sp>
      <p:sp>
        <p:nvSpPr>
          <p:cNvPr id="232" name="Google Shape;232;p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2" name="Google Shape;242;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43" name="Google Shape;243;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p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56" name="Google Shape;256;p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p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federation against the running system. The gateway presents one schema to clients and fans out to REST and gRPC back-ends, then joins and shapes the result. The client makes one round trip and asks for exactly the fields it needs. Crucially, the services stay unaware of each other — the gateway owns the composition. Contrast this with services calling services, which we'll warn against on the patterns slide. Next slide shows the resolver code.</a:t>
            </a:r>
            <a:endParaRPr/>
          </a:p>
        </p:txBody>
      </p:sp>
      <p:sp>
        <p:nvSpPr>
          <p:cNvPr id="266" name="Google Shape;266;p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p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resolver makes federation concrete in HotChocolate. The top-level GetOrder Query calls order-service over REST; [ExtendObjectType&lt;Order&gt;] adds a stock field that resolves against inventory-service over gRPC. Each field resolves against its owning service — the gateway is just the composition layer. Mention the N+1 risk: naive per-field resolution can explode into many back-end calls — HotChocolate's DataLoader (in fact the same DataLoader pattern Facebook open-sourced for JavaScript) batches N orders into one upstream call automatically; the IInventoryStockDataLoader interface is generated by source-generators from your loader implementation. HotChocolate ships first-class Apollo Federation support if you go that route. The schema is exposed at POST /graphql plus an in-browser GraphQL IDE (Banana Cake Pop / Nitro) at /graphql in development. Where this lands for a .NET-from-Windows audience: think of it as the long-overdue replacement for SOAP composition or for hand-rolled aggregation endpoints — one wire, one schema, many backends.</a:t>
            </a:r>
            <a:endParaRPr/>
          </a:p>
        </p:txBody>
      </p:sp>
      <p:sp>
        <p:nvSpPr>
          <p:cNvPr id="277" name="Google Shape;277;p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quietly rebuilds the monolith with network latency between the pieces.</a:t>
            </a:r>
            <a:endParaRPr/>
          </a:p>
        </p:txBody>
      </p:sp>
      <p:sp>
        <p:nvSpPr>
          <p:cNvPr id="290" name="Google Shape;290;p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slide makes the BFF pattern from the previous diagram concrete in the .NET world. Blazor Server is more than a UI framework — architecturally it IS a backend-for-frontend: the server-side process maintains the user's session-scoped component tree and pushes UI updates (Render Tree Diffs) to a thin JavaScript client over SignalR. That means everything happens server-side: authentication is server-side cookie-based, calls to inventory and pricing are server-to-server (typed HttpClient or gRPC stub), and the browser never sees a back-end URL or token. For LOB and admin tooling this collapses three problems at once (composition, auth boundary, real-time updates) into one server-side process. The Kubernetes posture is straightforward: containerized ASP.NET Core, plus Redis as the SignalR backplane (covered in Appendix C). What we explicitly avoid: Azure SignalR Service (cloud-coupled, paid), Azure App Service hosting (Kubernetes is the deployment target), Azure Static Web Apps (Blazor WASM is hosted as static files inside an nginx Pod or the ASP.NET Core process itself). The trade-off in the bold line is the real one: every interaction is a round-trip, every component instance is a per-user session living in a Pod, and SCALING THE BLAZOR SERVER POOL has the same head-of-line / pinning / connection-count concerns we cover in Appendix C — don't pick it for traffic shapes where those bite. For high-interactivity client-side execution use Blazor WebAssembly, also covered in Appendix C.</a:t>
            </a:r>
            <a:endParaRPr/>
          </a:p>
        </p:txBody>
      </p:sp>
      <p:sp>
        <p:nvSpPr>
          <p:cNvPr id="301" name="Google Shape;301;p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p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four, and arguably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311" name="Google Shape;311;p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0" name="Google Shape;320;p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21" name="Google Shape;321;p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1" name="Google Shape;331;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CQRS — Command Query Responsibility Segregation —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 either domain events emitted by the write side, or the database commit log itself via CDC (the next slide). The cost: eventual consistency — there is a small lag between the write committing and the read model catching up. The benefit: each side can scale, schema-evolve and even be stored independently. Use this pattern when reads and writes have GENUINELY different shapes and access patterns. Avoid it when a single store happily handles both —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 we cover both distinctions in section 5.</a:t>
            </a:r>
            <a:endParaRPr/>
          </a:p>
        </p:txBody>
      </p:sp>
      <p:sp>
        <p:nvSpPr>
          <p:cNvPr id="332" name="Google Shape;332;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2" name="Google Shape;342;p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with primary constructors. Two ApiControllers: OrderWriteController handles writes via WriteDb (EF Core context wired to the write database), OrderReadController handles reads via ReadDb (a separate context wired to the read database — could be a different Postgres, an Elasticsearch via a custom provider, or anything). MassTransit's IPublishEndpoint emits the OrderCreatedEvent which routes to Kafka, RabbitMQ, or Azure Service Bus depending on transport configuration. The projection is a MassTransit IConsumer&lt;OrderCreatedEvent&gt; that updates the read model — the SaveChangesAsync is idempotent because we use Update (or you'd use ON CONFLICT semantics via a database-specific upsert). Different scaling for read vs write side.</a:t>
            </a:r>
            <a:endParaRPr/>
          </a:p>
        </p:txBody>
      </p:sp>
      <p:sp>
        <p:nvSpPr>
          <p:cNvPr id="343" name="Google Shape;343;p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4" name="Google Shape;354;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mechanism that makes CQRS projections AND the outbox pattern (next slide) work: Change Data Capture, or CDC. The application writes ordinary SQL. The database commits and the change lands in the write-ahead log (WAL on Postgres, redo log on Oracle, binlog on MySQL, transaction log on SQL Server). Debezium — an Apache 2.0 open-source project running as a set of Kafka Connect connectors —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we get to the outbox slides: the outbox is just a deliberate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55" name="Google Shape;355;p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5" name="Google Shape;365;p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Next slide is the actual transaction.</a:t>
            </a:r>
            <a:endParaRPr/>
          </a:p>
        </p:txBody>
      </p:sp>
      <p:sp>
        <p:nvSpPr>
          <p:cNvPr id="366" name="Google Shape;366;p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6" name="Google Shape;376;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the WCF/COM+ audience this is THE most important pattern. You used to write code like 'TransactionScope: save order, write to MSMQ, commit' — and MSDTC made it atomic across the SQL Server and MSMQ resource managers. Kubernetes has no MSDTC. You DON'T want one (two-phase commits across services don't scale and create coupling). Instead: write the state change AND an outbox row in ONE local database transaction — atomic by definition because it's a single resource manager. There's no Kafka call inside the request path — if Kafka is down, the order still commits, and the event ships later when Debezium tails the Postgres WAL (or SQL Server CDC) and relays the outbox row in commit order. This decouples your request latency and availability from Kafka's, which COM+ never could. Two ways to wire it up in .NET: write the OutboxEntry entity manually as shown (Postgres/SQL Server + the Debezium Outbox Event Router single-message transform handles the unwrap on the connector side); OR use MassTransit's built-in transactional outbox, which gives you the same guarantees with framework-managed plumbing — we'll see MassTransit for events on the next section. Either way: this same commit-together discipline reappears in the saga appendix.</a:t>
            </a:r>
            <a:endParaRPr/>
          </a:p>
        </p:txBody>
      </p:sp>
      <p:sp>
        <p:nvSpPr>
          <p:cNvPr id="377" name="Google Shape;377;p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 payment fails — you don't roll back; you run compensating actions for the steps that already committed (cancel the order). Flag that Appendix D goes deep on saga state, compensation and a genuinely tricky data-dependency case, for anyone who wants the mechanics.</a:t>
            </a:r>
            <a:endParaRPr/>
          </a:p>
        </p:txBody>
      </p:sp>
      <p:sp>
        <p:nvSpPr>
          <p:cNvPr id="390" name="Google Shape;390;p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p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is what truly decouples services in time and ownership.</a:t>
            </a:r>
            <a:endParaRPr/>
          </a:p>
        </p:txBody>
      </p:sp>
      <p:sp>
        <p:nvSpPr>
          <p:cNvPr id="401" name="Google Shape;401;p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411" name="Google Shape;411;p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p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this audience MassTransit lands as 'BizTalk for the open-source cloud-native era' — one programming model that abstracts over Kafka, RabbitMQ, Azure Service Bus, and Amazon SQS. The IConsumer&lt;T&gt; interface replaces what you'd have done with a BizTalk orchestration receive shape or a Windows Service polling MSMQ. Two things to drill home: (1) we ack only AFTER the work succeeds — if you ack before and then crash, you've lost the work. Because we ack after, a crash mid-handler means redelivery, so delivery is at-least-once and your handlers MUST be idempotent (dedupe by message id or an idempotency key). Exactly-once is mostly at-least-once plus idempotency. (2) MassTransit handles the Kafka consumer-group, offset commits, retry policies, faulted-message routing and even has a built-in transactional outbox — you almost never touch Confluent.Kafka directly unless you need stream processing (Section 6) or very low-level control. The alternative if MassTransit is too opinionated: KafkaFlow (MIT) is lighter; Silverback (MIT) has strong schema-registry integration; or plain Confluent.Kafka if you want zero abstraction. Apicurio holds the schemas.</a:t>
            </a:r>
            <a:endParaRPr/>
          </a:p>
        </p:txBody>
      </p:sp>
      <p:sp>
        <p:nvSpPr>
          <p:cNvPr id="422" name="Google Shape;422;p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4" name="Google Shape;434;p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Events need contracts just as much as REST and gRPC do — arguably more, because consumers are anonymous and you can't just call them to coordinate. The schema (Avro, Protobuf or JSON Schema) lives in Apicurio. Producers and consumers fetch it; compatibility is checked at publish time so a breaking change is rejected before it ever reaches the topic. This is what makes adding-a-consumer-safely actually safe. We come back to event versioning rules in Appendix B.</a:t>
            </a:r>
            <a:endParaRPr/>
          </a:p>
        </p:txBody>
      </p:sp>
      <p:sp>
        <p:nvSpPr>
          <p:cNvPr id="435" name="Google Shape;435;p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3" name="Shape 443"/>
        <p:cNvGrpSpPr/>
        <p:nvPr/>
      </p:nvGrpSpPr>
      <p:grpSpPr>
        <a:xfrm>
          <a:off x="0" y="0"/>
          <a:ext cx="0" cy="0"/>
          <a:chOff x="0" y="0"/>
          <a:chExt cx="0" cy="0"/>
        </a:xfrm>
      </p:grpSpPr>
      <p:sp>
        <p:nvSpPr>
          <p:cNvPr id="444" name="Google Shape;444;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5" name="Google Shape;445;p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 sourcing is a deliberate choice for domains where audit and replay are core.</a:t>
            </a:r>
            <a:endParaRPr/>
          </a:p>
        </p:txBody>
      </p:sp>
      <p:sp>
        <p:nvSpPr>
          <p:cNvPr id="446" name="Google Shape;446;p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tools, four different jobs. KAFKA is the SUBSTRATE — a partitioned, ordered, durable log. Consumers track their own offsets and can replay. It's the de facto event spine for cloud-native architectures; Strimzi runs it natively on Kubernetes. PULSAR is also substrate —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 not a transport layer at all,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 a visual dataflow / ETL tool with 200+ source-and-sink connectors and back-pressure built in. Think of it as the answer to 'I need to get data from SFTP to Kafka to S3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 pick by the question your team is asking: durably hold events (substrate), compute over them (Flink), move them around (NiFi/Debezium).</a:t>
            </a:r>
            <a:endParaRPr/>
          </a:p>
        </p:txBody>
      </p:sp>
      <p:sp>
        <p:nvSpPr>
          <p:cNvPr id="457" name="Google Shape;457;p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p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correction most people need: Kafka is a log, not a queue. Messages aren't deleted when read — they're retained, and each consumer group tracks its own offset. That means replay is just rewinding an offset: a new consumer can process all of history, and a buggy consumer can be fixed and replayed. This is the foundation for event sourcing and for rebuilding stream-processing state, which is the next section. Strimzi runs Kafka on Kubernetes; Pulsar offers similar log semantics with tiered storage.</a:t>
            </a:r>
            <a:endParaRPr/>
          </a:p>
        </p:txBody>
      </p:sp>
      <p:sp>
        <p:nvSpPr>
          <p:cNvPr id="468" name="Google Shape;468;p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p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six builds directly on the log. Once events are a durable, replayable stream, you can compute over them continuously — filtering, joining, windowing, aggregating — and emit new derived streams. This is where real-time analytics, materialized views and complex event reactions live.</a:t>
            </a:r>
            <a:endParaRPr/>
          </a:p>
        </p:txBody>
      </p:sp>
      <p:sp>
        <p:nvSpPr>
          <p:cNvPr id="479" name="Google Shape;479;p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8" name="Google Shape;488;p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89" name="Google Shape;489;p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9" name="Google Shape;499;p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where .NET pulls level with the JVM: Streamiz.Kafka.Net is an MIT-licensed .NET rewrite of Kafka Streams, very actively maintained (1.8.0 shipped March 2026, ~990K NuGet downloads). Same Topology / state-store / changelog model, same windowing primitives (tumbling, hopping, session, sliding), native C# all the way down. The Materialized state store is the key idea: the per-merchant running total is local RocksDB, but it's backed by a Kafka changelog topic, so if the Pod dies the state rebuilds by replaying the changelog — fault-tolerant local state with no external database in the hot path. Run the KafkaStream as an IHostedService in your ASP.NET Core app, and it joins/leaves the consumer group on graceful shutdown automatically. The 5-minute tumbling window buckets the aggregation by time. For this audience: this is the stream-processing slot you'd previously have filled with SQL Server Service Broker activation procedures or a hand-rolled Windows Service consuming MSMQ — except now it's a horizontally-scalable, fault-tolerant streaming computation that KEDA can scale on lag. The alternative if Streamiz doesn't fit: Apache Flink in a separate cluster, called over Kafka from .NET; Akka.NET Streams (Apache 2.0) for in-process reactive streams; or Orleans Streams (MIT) if you're already on the virtual-actor model.</a:t>
            </a:r>
            <a:endParaRPr/>
          </a:p>
        </p:txBody>
      </p:sp>
      <p:sp>
        <p:nvSpPr>
          <p:cNvPr id="500" name="Google Shape;500;p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0" name="Shape 510"/>
        <p:cNvGrpSpPr/>
        <p:nvPr/>
      </p:nvGrpSpPr>
      <p:grpSpPr>
        <a:xfrm>
          <a:off x="0" y="0"/>
          <a:ext cx="0" cy="0"/>
          <a:chOff x="0" y="0"/>
          <a:chExt cx="0" cy="0"/>
        </a:xfrm>
      </p:grpSpPr>
      <p:sp>
        <p:nvSpPr>
          <p:cNvPr id="511" name="Google Shape;51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2" name="Google Shape;512;p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KEDA closes the elasticity loop. The right scaling signal for an event consumer is consumer lag — how far behind the log it is — not CPU. KEDA reads that lag and scales workers up, and crucially down to zero when there's no lag. For synchronous HTTP services, the KEDA http-add-on scales on request concurrency/rate. One mechanism, two signals. Scale-to-zero is a real cost lever for spiky workloads. The next slide shows both configs.</a:t>
            </a:r>
            <a:endParaRPr/>
          </a:p>
        </p:txBody>
      </p:sp>
      <p:sp>
        <p:nvSpPr>
          <p:cNvPr id="513" name="Google Shape;513;p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3" name="Google Shape;523;p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24" name="Google Shape;524;p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p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seven. A lot of real work isn't a synchronous request at all — it's a multi-step business process, or batch and scheduled work. This section covers how to coordinate multi-step flows (orchestration vs choreography) and where long-running and periodic work belongs on Kubernetes. For orchestration in this stack we feature the Temporal .NET SDK for durable execution as the primary approach, with the Stateless library as a lighter-weight in-process alternative for state-driven flows. Dapr Workflows gets a brief mention for environments that prefer the sidecar pattern. Appendix D shows the primary pair (Temporal .NET + Stateless), side by side, against the saga from the data section.</a:t>
            </a:r>
            <a:endParaRPr/>
          </a:p>
        </p:txBody>
      </p:sp>
      <p:sp>
        <p:nvSpPr>
          <p:cNvPr id="537" name="Google Shape;537;p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6" name="Google Shape;546;p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 ways to coordinate a multi-step process. Orchestration: a central coordinator explicitly commands each service in turn — easy to follow and observe, but the coordinator can become a god-service. Choreography: each service reacts to the previous one's event with no central brain — maximally decoupled, but the end-to-end flow is emergent and hard to see. Neither is universally right; the next slide gives the selection criteria. This connects straight to the saga discussion and Appendix D.</a:t>
            </a:r>
            <a:endParaRPr/>
          </a:p>
        </p:txBody>
      </p:sp>
      <p:sp>
        <p:nvSpPr>
          <p:cNvPr id="547" name="Google Shape;547;p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p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58" name="Google Shape;558;p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p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 In-app, BackgroundService with PeriodicTimer (or Quartz.NET for cron expressions, with DistributedLock for cluster-aware locking) covers recurring work in the same process; Kubernetes Jobs and CronJobs own the heavier or isolated batch runs; and KEDA's Cron scaler is the declarative way to wake a worker on a schedule — typically how Windows Scheduled Tasks become cloud-native.</a:t>
            </a:r>
            <a:endParaRPr/>
          </a:p>
        </p:txBody>
      </p:sp>
      <p:sp>
        <p:nvSpPr>
          <p:cNvPr id="573" name="Google Shape;573;p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p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eight zooms out from individual services to the API surface as a whole. Management isn't a product you buy — it's four cooperating concerns: runtime control (gateway and mesh), contracts (registry), discovery (metadata), and signals (observability). The next three sections each take one of these in depth.</a:t>
            </a:r>
            <a:endParaRPr/>
          </a:p>
        </p:txBody>
      </p:sp>
      <p:sp>
        <p:nvSpPr>
          <p:cNvPr id="584" name="Google Shape;584;p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p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what's actually happening. The point: these are distinct responsibilities with distinct owners, not one monolithic 'API gateway product' that tries to do everything.</a:t>
            </a:r>
            <a:endParaRPr/>
          </a:p>
        </p:txBody>
      </p:sp>
      <p:sp>
        <p:nvSpPr>
          <p:cNvPr id="594" name="Google Shape;594;p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2" name="Shape 602"/>
        <p:cNvGrpSpPr/>
        <p:nvPr/>
      </p:nvGrpSpPr>
      <p:grpSpPr>
        <a:xfrm>
          <a:off x="0" y="0"/>
          <a:ext cx="0" cy="0"/>
          <a:chOff x="0" y="0"/>
          <a:chExt cx="0" cy="0"/>
        </a:xfrm>
      </p:grpSpPr>
      <p:sp>
        <p:nvSpPr>
          <p:cNvPr id="603" name="Google Shape;603;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4" name="Google Shape;604;p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Versioning is a management concern, not an afterthought. The core discipline: evolve additively — add optional fields and new endpoints, never repurpose or silently remove.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605" name="Google Shape;605;p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p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615" name="Google Shape;615;p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2" name="Shape 622"/>
        <p:cNvGrpSpPr/>
        <p:nvPr/>
      </p:nvGrpSpPr>
      <p:grpSpPr>
        <a:xfrm>
          <a:off x="0" y="0"/>
          <a:ext cx="0" cy="0"/>
          <a:chOff x="0" y="0"/>
          <a:chExt cx="0" cy="0"/>
        </a:xfrm>
      </p:grpSpPr>
      <p:sp>
        <p:nvSpPr>
          <p:cNvPr id="623" name="Google Shape;623;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4" name="Google Shape;624;p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Next slide shows the CI gate that turns this into an automatic guardrail.</a:t>
            </a:r>
            <a:endParaRPr/>
          </a:p>
        </p:txBody>
      </p:sp>
      <p:sp>
        <p:nvSpPr>
          <p:cNvPr id="625" name="Google Shape;625;p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5" name="Google Shape;635;p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guardrail that makes the whole contract story real, done the .NET way. A CI step posts the new schema to the Apicurio Registry v3 REST API as a dry-run create-version, which runs the artifact's compatibility rule server-side WITHOUT persisting it — and fails the build (and the merge) if it's incompatible. The point to make: the contract is enforced before code ships, not discovered broken in production by a downstream team. The rule (e.g. BACKWARD — new consumers can read old data) is set once per artifact and enforced automatically forever; a separate (non-dry-run) POST publishes the version on the main branch after merge. Tie it back: this is design-first from section 1, now mechanized in the build.</a:t>
            </a:r>
            <a:endParaRPr/>
          </a:p>
        </p:txBody>
      </p:sp>
      <p:sp>
        <p:nvSpPr>
          <p:cNvPr id="636" name="Google Shape;636;p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49" name="Google Shape;649;p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p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OpenMetadata is the catalog in this stack. It ingests from many sources — OpenAPI specs, the Apicurio registry, Kafka topics, Postgres schemas —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Next slide lists what consumers actually get from it.</a:t>
            </a:r>
            <a:endParaRPr/>
          </a:p>
        </p:txBody>
      </p:sp>
      <p:sp>
        <p:nvSpPr>
          <p:cNvPr id="659" name="Google Shape;659;p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9" name="Google Shape;669;p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70" name="Google Shape;670;p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p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only become powerful when they share a trace_id so you can pivot between them.</a:t>
            </a:r>
            <a:endParaRPr/>
          </a:p>
        </p:txBody>
      </p:sp>
      <p:sp>
        <p:nvSpPr>
          <p:cNvPr id="680" name="Google Shape;680;p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7" name="Shape 687"/>
        <p:cNvGrpSpPr/>
        <p:nvPr/>
      </p:nvGrpSpPr>
      <p:grpSpPr>
        <a:xfrm>
          <a:off x="0" y="0"/>
          <a:ext cx="0" cy="0"/>
          <a:chOff x="0" y="0"/>
          <a:chExt cx="0" cy="0"/>
        </a:xfrm>
      </p:grpSpPr>
      <p:sp>
        <p:nvSpPr>
          <p:cNvPr id="688" name="Google Shape;688;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9" name="Google Shape;689;p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 Tempo for traces, Mimir/Prometheus for metrics, Loki for logs — and Grafana joins them. The magic is the shared trace_id linking a metric spike to the exact traces and logs behind it. Next slide shows the instrumentation, then the trace.</a:t>
            </a:r>
            <a:endParaRPr/>
          </a:p>
        </p:txBody>
      </p:sp>
      <p:sp>
        <p:nvSpPr>
          <p:cNvPr id="690" name="Google Shape;690;p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p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Expand the 'three pillars' framing into the five signals modern observability actually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701" name="Google Shape;701;p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9" name="Shape 709"/>
        <p:cNvGrpSpPr/>
        <p:nvPr/>
      </p:nvGrpSpPr>
      <p:grpSpPr>
        <a:xfrm>
          <a:off x="0" y="0"/>
          <a:ext cx="0" cy="0"/>
          <a:chOff x="0" y="0"/>
          <a:chExt cx="0" cy="0"/>
        </a:xfrm>
      </p:grpSpPr>
      <p:sp>
        <p:nvSpPr>
          <p:cNvPr id="710" name="Google Shape;710;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1" name="Google Shape;711;p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for free along the same mechanism —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712" name="Google Shape;712;p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1" name="Google Shape;721;p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slide the user specifically asked for: distinguish auto-INJECTION from auto-INSTRUMENTATION from MANUAL instrumentation — three things people conflate. Manual: you call the tracer API yourself; necessary for domain operations. Auto-instrumentation: the OTel instrumentation libraries (or a language agent) wrap known frameworks — your HTTP handler, your DB driver, your Kafka client all emit spans without you touching them. Auto-injection: a Kubernetes-level mechanism — the OpenTelemetry Operator sees a pod annotation and injects the language agent + config as an init container / env vars at admission time, so you don't even put the agent in your image. Per-language specifics: Python — 'opentelemetry-instrument' wrapper or the operator injects it; instrumentation packages per library. Java/Quarkus — the OTel Java agent (-javaagent) auto-instruments everything; Quarkus also has build-time OTel extension. Spring — Micrometer Tracing + the OTel bridge, or the Java agent. .NET —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22" name="Google Shape;722;p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9" name="Shape 729"/>
        <p:cNvGrpSpPr/>
        <p:nvPr/>
      </p:nvGrpSpPr>
      <p:grpSpPr>
        <a:xfrm>
          <a:off x="0" y="0"/>
          <a:ext cx="0" cy="0"/>
          <a:chOff x="0" y="0"/>
          <a:chExt cx="0" cy="0"/>
        </a:xfrm>
      </p:grpSpPr>
      <p:sp>
        <p:nvSpPr>
          <p:cNvPr id="730" name="Google Shape;730;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1" name="Google Shape;731;p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OpenTelemetry .NET is a first-class implementation of the OTel spec, and the .NET runtime itself was designed for it — System.Diagnostics.ActivitySource is the OTel-equivalent type baked into the BCL since .NET 6, so 'starting a span' has zero extra dependencies. The Add*Instrumentation calls plug in auto-instrumentation for the framework hot paths: every HTTP request handled by ASP.NET Core, every outbound HttpClient call, every gRPC stub invocation, every EF Core query — all emit spans with W3C Trace Context propagation. AddRuntimeInstrumentation gets you GC, threadpool, exception and allocation metrics out of the box (which is where Windows perf counters land in this model). For custom business operations: declare a static ActivitySource once and start activities anywhere with 'using var activity = source.StartActivity(...)' — the using ensures it's stopped when the scope exits. The OTLP exporter ships everything to the Collector keyed by trace_id, then Tempo/Mimir/Loki/Grafana correlate it. The trade for this audience: this REPLACES Windows performance counters, ETW providers, the Event Log, and bespoke logging libraries with one model that works the same on Linux containers, in CI, in dev, and on any cluster.</a:t>
            </a:r>
            <a:endParaRPr/>
          </a:p>
        </p:txBody>
      </p:sp>
      <p:sp>
        <p:nvSpPr>
          <p:cNvPr id="732" name="Google Shape;732;p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p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45" name="Google Shape;745;p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3" name="Shape 753"/>
        <p:cNvGrpSpPr/>
        <p:nvPr/>
      </p:nvGrpSpPr>
      <p:grpSpPr>
        <a:xfrm>
          <a:off x="0" y="0"/>
          <a:ext cx="0" cy="0"/>
          <a:chOff x="0" y="0"/>
          <a:chExt cx="0" cy="0"/>
        </a:xfrm>
      </p:grpSpPr>
      <p:sp>
        <p:nvSpPr>
          <p:cNvPr id="754" name="Google Shape;754;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5" name="Google Shape;755;p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 .NET, baggage lives on System.Diagnostics.Activity (which is what OpenTelemetry .NET builds on — an Activity IS a span). AddBaggage at the edge in middleware; the OTel SDK propagates it via the W3C baggage header on every downstream call (HttpClient, gRPC, MassTransit to Kafka) automatically. A downstream MassTransit consumer reads Activity.Current.GetBaggageItem('tenant_id') with no explicit plumbing. Note the distinction in .NET: AddBaggage propagates across services (on the wire); SetTag (span attributes) does NOT propagate but IS recorded on the span for querying. The idiom is to read baggage and re-tag it on the local span so it's filterable in the trace UI. Caution: baggage is on the wire to every downstream hop — never put secrets or PII in it.</a:t>
            </a:r>
            <a:endParaRPr/>
          </a:p>
        </p:txBody>
      </p:sp>
      <p:sp>
        <p:nvSpPr>
          <p:cNvPr id="756" name="Google Shape;756;p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69" name="Google Shape;769;p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p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Note that metrics and logs are usually NOT sampled the same way — metrics aggregate everything (you don't sample a counter), and logs are typically kept in full with retention limits or sampled on their own policy.</a:t>
            </a:r>
            <a:endParaRPr/>
          </a:p>
        </p:txBody>
      </p:sp>
      <p:sp>
        <p:nvSpPr>
          <p:cNvPr id="780" name="Google Shape;780;p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is the most powerful: because the Collector sees the whole trace before deciding, it can guarantee you keep every error and every slow request, which is exactly the traces you actually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the user asked for: traces, metrics and logs are sampled differently — you never sample a metric counter, and logs typically follow their own retention or are sampled to match their parent trace.</a:t>
            </a:r>
            <a:endParaRPr/>
          </a:p>
        </p:txBody>
      </p:sp>
      <p:sp>
        <p:nvSpPr>
          <p:cNvPr id="791" name="Google Shape;791;p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0" name="Google Shape;800;p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Keep testing pragmatic — you don't need a heavy framework to validate this architecture. curl and Postman exercise REST contracts and check status codes and pagination. hey throws quick HTTP load so you can watch latency and error rate and literally see the KEDA http-add-on add replicas. ghz is the gRPC load tester — confirm your Istio timeouts and retries behave under pressure. The GraphQL IDE (Nitro / Banana Cake Pop, which HotChocolate serves at /graphql in dev)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801" name="Google Shape;801;p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p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the layer below it is not enough on its own.</a:t>
            </a:r>
            <a:endParaRPr/>
          </a:p>
        </p:txBody>
      </p:sp>
      <p:sp>
        <p:nvSpPr>
          <p:cNvPr id="811" name="Google Shape;811;p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p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mental model from the CNCF security paper. Four concentric layers of responsibility, each enforcing controls appropriate to its scope. Cloud is the outermost — IAM, VPC, KMS, audit logs, region selection — owned by the platform team or cloud admin. Cluster is the Kubernetes layer — RBAC, NetworkPolicy, Pod Security Standards, admission control — owned by platform/SRE. Container is the workload — minimal base images, non-root users, signed images, vulnerability scanning, secret mounting — owned jointly by app teams and platform. Code is the innermost — secure defaults, input validation, dependency scanning, secrets handling — owned by app teams. The point of the concentric metaphor: a weakness in any layer leaks into the inner ones. Strong code on a weak container is still vulnerable. Strong container on a weak cluster is still vulnerable. We design controls at all four. The next slide covers what each layer's controls actually are.</a:t>
            </a:r>
            <a:endParaRPr/>
          </a:p>
        </p:txBody>
      </p:sp>
      <p:sp>
        <p:nvSpPr>
          <p:cNvPr id="821" name="Google Shape;821;p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1" name="Google Shape;831;p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each layer. The Cloud layer is where you control the perimeter and the identities and the keys; failures here often look like 'someone left an S3 bucket open'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next slide opens the pattern catalog — seven patterns that show up across these four layers.</a:t>
            </a:r>
            <a:endParaRPr/>
          </a:p>
        </p:txBody>
      </p:sp>
      <p:sp>
        <p:nvSpPr>
          <p:cNvPr id="832" name="Google Shape;832;p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roadmap for the next fourteen slides. Note that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next slides alternate between pattern-and-implementation pairs.</a:t>
            </a:r>
            <a:endParaRPr/>
          </a:p>
        </p:txBody>
      </p:sp>
      <p:sp>
        <p:nvSpPr>
          <p:cNvPr id="842" name="Google Shape;842;p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p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is powerful: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52" name="Google Shape;852;p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audience point: the sidecar pattern only works if the app actually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63" name="Google Shape;863;p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2" name="Google Shape;872;p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service to validate tokens (S3, Azure Blob, GCS all do); the token's permissions and TTL must be carefully scoped — a leaked token still has its window. The canonical implementations: S3 pre-signed URLs (15-minute upload tokens for a specific bucket+key+method), Azure SAS tokens (Shared Access Signatures with per-resource scoping), GCS signed URLs, AWS STS AssumeRole with a tight scoping policy. The next slide shows the code.</a:t>
            </a:r>
            <a:endParaRPr/>
          </a:p>
        </p:txBody>
      </p:sp>
      <p:sp>
        <p:nvSpPr>
          <p:cNvPr id="873" name="Google Shape;873;p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1" name="Shape 881"/>
        <p:cNvGrpSpPr/>
        <p:nvPr/>
      </p:nvGrpSpPr>
      <p:grpSpPr>
        <a:xfrm>
          <a:off x="0" y="0"/>
          <a:ext cx="0" cy="0"/>
          <a:chOff x="0" y="0"/>
          <a:chExt cx="0" cy="0"/>
        </a:xfrm>
      </p:grpSpPr>
      <p:sp>
        <p:nvSpPr>
          <p:cNvPr id="882" name="Google Shape;882;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3" name="Google Shape;883;p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[Authorize(Roles=...)] enforces RBAC at the action; User.Identity carries the authenticated principal. IAmazonS3 from the AWS SDK for .NET (registered via AWSSDK.Extensions.NETCore.Setup) generates the pre-signed URL. The Verb, ContentType and Expires are all enforced by S3 on the PUT itself — the application is out of the data path. For Azure-native shops the equivalent is Azure Blob SAS tokens via BlobSasBuilder; same valet-key semantics, different SDK.</a:t>
            </a:r>
            <a:endParaRPr/>
          </a:p>
        </p:txBody>
      </p:sp>
      <p:sp>
        <p:nvSpPr>
          <p:cNvPr id="884" name="Google Shape;884;p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p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96" name="Google Shape;896;p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p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there is no trusted network. Every request, from any source, to any service, on every hop — authenticated and authorised. The old model (top of the diagram) was 'get inside the VPN, everything inside is trusted' — once an attacker is in, they move laterally trivially.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906" name="Google Shape;906;p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p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p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Concrete implementations to ground the model. The edge IAP is what your users hit — they authenticate against your IdP (Keycloak, Auth0, Azure AD, Google Workspace),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917" name="Google Shape;917;p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4" name="Shape 924"/>
        <p:cNvGrpSpPr/>
        <p:nvPr/>
      </p:nvGrpSpPr>
      <p:grpSpPr>
        <a:xfrm>
          <a:off x="0" y="0"/>
          <a:ext cx="0" cy="0"/>
          <a:chOff x="0" y="0"/>
          <a:chExt cx="0" cy="0"/>
        </a:xfrm>
      </p:grpSpPr>
      <p:sp>
        <p:nvSpPr>
          <p:cNvPr id="925" name="Google Shape;925;p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6" name="Google Shape;926;p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27" name="Google Shape;927;p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p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7" name="Google Shape;937;p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Equivalent Kyverno expression is much more YAML-native if your team prefers it; Rego is more powerful for complex logic.</a:t>
            </a:r>
            <a:endParaRPr/>
          </a:p>
        </p:txBody>
      </p:sp>
      <p:sp>
        <p:nvSpPr>
          <p:cNvPr id="938" name="Google Shape;938;p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p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9" name="Google Shape;949;p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borrowed from naval architecture, where watertight compartments stop one breach from sinking the ship. In software, you isolate resources — connection pools, thread pools, async semaphores, queues —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50" name="Google Shape;950;p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is the modern .NET fault-tolerance composition. AddConcurrencyLimiter is the bulkhead — PermitLimit caps concurrent in-flight work; QueueLimit caps waiting work; further requests are rejected immediately. Combined with AddTimeout to fail fast on slow downstream. For per-tenant isolation, cache one pipeline per tenant in a ConcurrentDictionary; each tenant gets its own concurrency budget. Microsoft.Extensions.Http.Resilience can also register pipelines onto named HttpClients via AddHttpClient(...).AddResilienceHandler(...). At the platform layer, Istio (if you run with mesh) gives you connection-pool-level bulkheading per destination, complementing these in-process limits.</a:t>
            </a:r>
            <a:endParaRPr/>
          </a:p>
        </p:txBody>
      </p:sp>
      <p:sp>
        <p:nvSpPr>
          <p:cNvPr id="961" name="Google Shape;961;p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p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2" name="Google Shape;972;p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claim-check pattern: a producer puts the (large or sensitive) payload into a secure object store (S3, Azure Blob, GCS)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 you don't push 50MB messages through the message bus — but in this section we frame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73" name="Google Shape;973;p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1" name="Shape 981"/>
        <p:cNvGrpSpPr/>
        <p:nvPr/>
      </p:nvGrpSpPr>
      <p:grpSpPr>
        <a:xfrm>
          <a:off x="0" y="0"/>
          <a:ext cx="0" cy="0"/>
          <a:chOff x="0" y="0"/>
          <a:chExt cx="0" cy="0"/>
        </a:xfrm>
      </p:grpSpPr>
      <p:sp>
        <p:nvSpPr>
          <p:cNvPr id="982" name="Google Shape;982;p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3" name="Google Shape;983;p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IAmazonS3 (AWS SDK for .NET) is registered via AWSSDK.Extensions.NETCore.Setup in Program.cs. The publisher PUTs the payload to S3 with AES256 server-side encryption, then publishes only a ClaimTicket via MassTransit's IPublishEndpoint (which routes to Kafka, RabbitMQ, or Azure Service Bus depending on transport configuration). The consumer is an IConsumer&lt;ClaimTicket&gt; that fetches the payload from S3 and processes it. The audit trail is on S3 (CloudTrail GetObject events with the principal that fetched), not on the message bus — better for compliance reporting.</a:t>
            </a:r>
            <a:endParaRPr/>
          </a:p>
        </p:txBody>
      </p:sp>
      <p:sp>
        <p:nvSpPr>
          <p:cNvPr id="984" name="Google Shape;984;p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p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5" name="Google Shape;995;p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section with the decision rules. The cost lines are deliberately included — every pattern is a trade. Sidecar costs a container per Pod (a few MB of memory, a couple hundred ms of startup); for most systems the security uniformity makes it worth that. Valet key requires storage-side validation — S3, Azure Blob, GCS all support it natively, so the cost is usually just understanding the SDK.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real production systems use all seven, in deliberate combinations per concern — not as a one-size-fits-all checklist.</a:t>
            </a:r>
            <a:endParaRPr/>
          </a:p>
        </p:txBody>
      </p:sp>
      <p:sp>
        <p:nvSpPr>
          <p:cNvPr id="996" name="Google Shape;996;p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p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5" name="Google Shape;1005;p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1006" name="Google Shape;1006;p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p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p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1016" name="Google Shape;1016;p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p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p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next slide turns these into positive heuristics.</a:t>
            </a:r>
            <a:endParaRPr/>
          </a:p>
        </p:txBody>
      </p:sp>
      <p:sp>
        <p:nvSpPr>
          <p:cNvPr id="1026" name="Google Shape;1026;p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p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6" name="Google Shape;1036;p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are the five tests to apply in design and code review. (1) If two services must deploy together, they're really one —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37" name="Google Shape;1037;p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6" name="Google Shape;1046;p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47" name="Google Shape;1047;p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4" name="Shape 1054"/>
        <p:cNvGrpSpPr/>
        <p:nvPr/>
      </p:nvGrpSpPr>
      <p:grpSpPr>
        <a:xfrm>
          <a:off x="0" y="0"/>
          <a:ext cx="0" cy="0"/>
          <a:chOff x="0" y="0"/>
          <a:chExt cx="0" cy="0"/>
        </a:xfrm>
      </p:grpSpPr>
      <p:sp>
        <p:nvSpPr>
          <p:cNvPr id="1055" name="Google Shape;1055;p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6" name="Google Shape;1056;p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architecture books are language-agnostic — they apply whether you build on .NET, Java, Go, or anything else. The ASP.NET Core reference docs, OpenTelemetry .NET guides, Temporal .NET SDK docs and Debezium docs are the practical references for the runtime specifics shown in the code. Tell people the slides and these references are enough to actually build the system, not just talk about it.</a:t>
            </a:r>
            <a:endParaRPr/>
          </a:p>
        </p:txBody>
      </p:sp>
      <p:sp>
        <p:nvSpPr>
          <p:cNvPr id="1057" name="Google Shape;1057;p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6" name="Google Shape;1066;p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End of the main talk. Thank the audience and open for questions. The four appendices that follow are deep-dive backup material — pull them up on demand during Q&amp;A, or work through them directly if you're running the full-length session. They cover the questions that always come up: how the three protocols really differ, how to version each one, how to run WebSockets on Kubernetes, and the hard parts of saga state and compensation.</a:t>
            </a:r>
            <a:endParaRPr/>
          </a:p>
        </p:txBody>
      </p:sp>
      <p:sp>
        <p:nvSpPr>
          <p:cNvPr id="1067" name="Google Shape;1067;p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p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5" name="Google Shape;1075;p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The ACL ambiguity is worth flagging out loud: in the DDD/data sections ACL means Anti-Corruption Layer; in the security section it means Access Control List.</a:t>
            </a:r>
            <a:endParaRPr/>
          </a:p>
        </p:txBody>
      </p:sp>
      <p:sp>
        <p:nvSpPr>
          <p:cNvPr id="1076" name="Google Shape;1076;p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5" name="Google Shape;1085;p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SAS is Azure's valet-key token;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86" name="Google Shape;1086;p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p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p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A. This is the deep dive behind the 'pick the protocol' slide from section 2. We compare the three on three axes: the mental model each imposes, how they handle fetching and round trips, and what actually travels on the wire. By the end the audience should be able to defend a protocol choice on technical grounds, not fashion.</a:t>
            </a:r>
            <a:endParaRPr/>
          </a:p>
        </p:txBody>
      </p:sp>
      <p:sp>
        <p:nvSpPr>
          <p:cNvPr id="1096" name="Google Shape;1096;p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1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5" name="Google Shape;1105;p1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really arguments about which mental model fits the problem — and often the answer is different per interaction.</a:t>
            </a:r>
            <a:endParaRPr/>
          </a:p>
        </p:txBody>
      </p:sp>
      <p:sp>
        <p:nvSpPr>
          <p:cNvPr id="1106" name="Google Shape;1106;p1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p1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6" name="Google Shape;1116;p1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 no field selection, but extremely fast. The trade: GraphQL gives clients flexibility at the cost of gateway complexity; gRPC gives speed at the cost of rigidity; REST gives reach and simplicity at the cost of round trips.</a:t>
            </a:r>
            <a:endParaRPr/>
          </a:p>
        </p:txBody>
      </p:sp>
      <p:sp>
        <p:nvSpPr>
          <p:cNvPr id="1117" name="Google Shape;1117;p1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actually travels,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28" name="Google Shape;1128;p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6" name="Shape 1136"/>
        <p:cNvGrpSpPr/>
        <p:nvPr/>
      </p:nvGrpSpPr>
      <p:grpSpPr>
        <a:xfrm>
          <a:off x="0" y="0"/>
          <a:ext cx="0" cy="0"/>
          <a:chOff x="0" y="0"/>
          <a:chExt cx="0" cy="0"/>
        </a:xfrm>
      </p:grpSpPr>
      <p:sp>
        <p:nvSpPr>
          <p:cNvPr id="1137" name="Google Shape;1137;p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8" name="Google Shape;1138;p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decision guide, said plainly.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 'we're a gRPC shop' or 'everything is GraphQL' — is itself an anti-pattern, because you'll be paying gRPC's browser tax or GraphQL's gateway complexity where a plain cacheable GET would have done.</a:t>
            </a:r>
            <a:endParaRPr/>
          </a:p>
        </p:txBody>
      </p:sp>
      <p:sp>
        <p:nvSpPr>
          <p:cNvPr id="1139" name="Google Shape;1139;p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6" name="Shape 1146"/>
        <p:cNvGrpSpPr/>
        <p:nvPr/>
      </p:nvGrpSpPr>
      <p:grpSpPr>
        <a:xfrm>
          <a:off x="0" y="0"/>
          <a:ext cx="0" cy="0"/>
          <a:chOff x="0" y="0"/>
          <a:chExt cx="0" cy="0"/>
        </a:xfrm>
      </p:grpSpPr>
      <p:sp>
        <p:nvSpPr>
          <p:cNvPr id="1147" name="Google Shape;1147;p1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8" name="Google Shape;1148;p1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49" name="Google Shape;1149;p1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p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p1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59" name="Google Shape;1159;p1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6" name="Shape 1166"/>
        <p:cNvGrpSpPr/>
        <p:nvPr/>
      </p:nvGrpSpPr>
      <p:grpSpPr>
        <a:xfrm>
          <a:off x="0" y="0"/>
          <a:ext cx="0" cy="0"/>
          <a:chOff x="0" y="0"/>
          <a:chExt cx="0" cy="0"/>
        </a:xfrm>
      </p:grpSpPr>
      <p:sp>
        <p:nvSpPr>
          <p:cNvPr id="1167" name="Google Shape;1167;p1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68" name="Google Shape;1168;p1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four strategies, ordered from coarse to fine. URI path (/v2/orders): visible, trivial to route, but couples the version to the URL and arguably breaks REST's idea that a URL identifies a resource, not a representation. Query param: easy to default but muddies caches. Custom header: keeps URLs clean but is invisible and easy to forget. Media-type versioning (Accept: application/vnd.acme.order.v2+json): content negotiation, the URL stays stable and identifies the resource, the representation is what's versioned — this is the genuinely RESTful approach. The honest take: URI versioning is the most common because it's pragmatic; media-type is the most correct. Know which you're choosing and why. Code on the next slide.</a:t>
            </a:r>
            <a:endParaRPr/>
          </a:p>
        </p:txBody>
      </p:sp>
      <p:sp>
        <p:nvSpPr>
          <p:cNvPr id="1169" name="Google Shape;1169;p1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7" name="Shape 1177"/>
        <p:cNvGrpSpPr/>
        <p:nvPr/>
      </p:nvGrpSpPr>
      <p:grpSpPr>
        <a:xfrm>
          <a:off x="0" y="0"/>
          <a:ext cx="0" cy="0"/>
          <a:chOff x="0" y="0"/>
          <a:chExt cx="0" cy="0"/>
        </a:xfrm>
      </p:grpSpPr>
      <p:sp>
        <p:nvSpPr>
          <p:cNvPr id="1178" name="Google Shape;1178;p1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9" name="Google Shape;1179;p1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a versioning library since the early Core days; in .NET 8+ it lives under the Asp.Versioning namespace (Apache 2.0, hosted by the .NET Foundation). The strategy is pluggable: MediaTypeApiVersionReader picks the version from the Accept media-type (the most RESTful choice), and you can swap in UrlSegmentApiVersionReader (path /v2/orders), QueryStringApiVersionReader, or HeaderApiVersionReader without changing your handlers. There's one URL for the order resource — it never changes. Two handler registrations share the path but declare different versions; ASP.NET Core's content negotiation routes to the right one based on the Accept header. New clients ask for the v2 media type and get the currency field; old clients send the default and get v1, completely unaffected. Contrast with /v2/orders, where you've now got two URLs for the same underlying thing. The OrderV1 / OrderV2 records are explicit representation DTOs — exactly the pattern that keeps your wire contract decoupled from your domain entity (a discipline WCF DataContracts taught you, but for HTTP).</a:t>
            </a:r>
            <a:endParaRPr/>
          </a:p>
        </p:txBody>
      </p:sp>
      <p:sp>
        <p:nvSpPr>
          <p:cNvPr id="1180" name="Google Shape;1180;p1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0" name="Shape 1190"/>
        <p:cNvGrpSpPr/>
        <p:nvPr/>
      </p:nvGrpSpPr>
      <p:grpSpPr>
        <a:xfrm>
          <a:off x="0" y="0"/>
          <a:ext cx="0" cy="0"/>
          <a:chOff x="0" y="0"/>
          <a:chExt cx="0" cy="0"/>
        </a:xfrm>
      </p:grpSpPr>
      <p:sp>
        <p:nvSpPr>
          <p:cNvPr id="1191" name="Google Shape;1191;p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2" name="Google Shape;1192;p1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93" name="Google Shape;1193;p1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1" name="Shape 1201"/>
        <p:cNvGrpSpPr/>
        <p:nvPr/>
      </p:nvGrpSpPr>
      <p:grpSpPr>
        <a:xfrm>
          <a:off x="0" y="0"/>
          <a:ext cx="0" cy="0"/>
          <a:chOff x="0" y="0"/>
          <a:chExt cx="0" cy="0"/>
        </a:xfrm>
      </p:grpSpPr>
      <p:sp>
        <p:nvSpPr>
          <p:cNvPr id="1202" name="Google Shape;1202;p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3" name="Google Shape;1203;p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safe pattern. We removed an old 'notes' field — so we reserve both its tag number (4) AND its name, permanently, so nobody can ever reuse them and silently corrupt old data on the wire. We add currency and state as brand-new fields with new tag numbers; old clients simply ignore unknown fields, new clients read them — that's forward and backward compatibility for free.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204" name="Google Shape;1204;p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p1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6" name="Google Shape;1216;p1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takes a completely different stance: there are no versions. There's one schema that evolves continuously. The lifecycle on screen: ADD new fields and types (additive is always safe — existing queries are unaffected because they didn't ask for the new field); mark superseded fields @deprecated with a reason and a pointer to the replacement, while still serving them; WATCH field-level usage metrics to see who still queries the old field and drive their migration; and only RETIRE — the single breaking step — once usage hits zero. The insight: GraphQL pushes you toward data-driven deprecation instead of big-bang version cutovers. Code shows the @deprecated directive next.</a:t>
            </a:r>
            <a:endParaRPr/>
          </a:p>
        </p:txBody>
      </p:sp>
      <p:sp>
        <p:nvSpPr>
          <p:cNvPr id="1217" name="Google Shape;1217;p1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5" name="Shape 1225"/>
        <p:cNvGrpSpPr/>
        <p:nvPr/>
      </p:nvGrpSpPr>
      <p:grpSpPr>
        <a:xfrm>
          <a:off x="0" y="0"/>
          <a:ext cx="0" cy="0"/>
          <a:chOff x="0" y="0"/>
          <a:chExt cx="0" cy="0"/>
        </a:xfrm>
      </p:grpSpPr>
      <p:sp>
        <p:nvSpPr>
          <p:cNvPr id="1226" name="Google Shape;1226;p1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7" name="Google Shape;1227;p1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mechanics in HotChocolate. Code-first is the dominant style in .NET GraphQL: you write a C# record (or class) and HotChocolate infers the schema from your types. We add TotalMinor additively and mark the old Total field with [GraphQLDeprecated("reason")] — the attribute maps directly to GraphQL's native @deprecated schema directive. If your team prefers schema-first, the .graphql file syntax works identically and the C# resolvers bind to it. The field keeps working — nothing breaks — but the deprecation shows up in introspection, in any IDE plugin that reads the schema, and in HotChocolate's bundled GraphQL IDE (called Banana Cake Pop / Nitro) at /graphql. The crucial operational piece is the comment: you instrument field-level usage (HotChocolate has IDiagnosticEventListener hooks; pair with OpenTelemetry to push per-field counters), and you only remove Total when its usage drops to zero. That's the whole GraphQL philosophy — evolution governed by data, with the breaking removal deferred until provably safe. Three protocols, three genuinely different answers to the same problem.</a:t>
            </a:r>
            <a:endParaRPr/>
          </a:p>
        </p:txBody>
      </p:sp>
      <p:sp>
        <p:nvSpPr>
          <p:cNvPr id="1228" name="Google Shape;1228;p1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8" name="Shape 1238"/>
        <p:cNvGrpSpPr/>
        <p:nvPr/>
      </p:nvGrpSpPr>
      <p:grpSpPr>
        <a:xfrm>
          <a:off x="0" y="0"/>
          <a:ext cx="0" cy="0"/>
          <a:chOff x="0" y="0"/>
          <a:chExt cx="0" cy="0"/>
        </a:xfrm>
      </p:grpSpPr>
      <p:sp>
        <p:nvSpPr>
          <p:cNvPr id="1239" name="Google Shape;1239;p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0" name="Google Shape;1240;p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41" name="Google Shape;1241;p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8" name="Shape 1248"/>
        <p:cNvGrpSpPr/>
        <p:nvPr/>
      </p:nvGrpSpPr>
      <p:grpSpPr>
        <a:xfrm>
          <a:off x="0" y="0"/>
          <a:ext cx="0" cy="0"/>
          <a:chOff x="0" y="0"/>
          <a:chExt cx="0" cy="0"/>
        </a:xfrm>
      </p:grpSpPr>
      <p:sp>
        <p:nvSpPr>
          <p:cNvPr id="1249" name="Google Shape;1249;p1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0" name="Google Shape;1250;p1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C tackles the protocol we deliberately left out of the main interaction-styles discussion, because it behaves so differently on Kubernetes. WebSockets are long-lived, stateful and pinned to a Pod — the opposite of the stateless request model the platform assumes. We'll build one with SignalR (the de-facto .NET WebSocket library), see why it fights scaling, fix it with a Redis backplane (no Azure SignalR Service), make it fast and versioned with MessagePack, and make it survivable with reconnection. Then we close on Blazor — because Blazor Server sits on the SignalR pinning side of this discussion, and Blazor WebAssembly sits on the opposite side; both run on Kubernetes as plain ASP.NET Core Pods.</a:t>
            </a:r>
            <a:endParaRPr/>
          </a:p>
        </p:txBody>
      </p:sp>
      <p:sp>
        <p:nvSpPr>
          <p:cNvPr id="1251" name="Google Shape;1251;p1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8" name="Shape 1258"/>
        <p:cNvGrpSpPr/>
        <p:nvPr/>
      </p:nvGrpSpPr>
      <p:grpSpPr>
        <a:xfrm>
          <a:off x="0" y="0"/>
          <a:ext cx="0" cy="0"/>
          <a:chOff x="0" y="0"/>
          <a:chExt cx="0" cy="0"/>
        </a:xfrm>
      </p:grpSpPr>
      <p:sp>
        <p:nvSpPr>
          <p:cNvPr id="1259" name="Google Shape;1259;p1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0" name="Google Shape;1260;p1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SignalR is .NET's WebSocket framework and one of the best in any language. The Hub abstraction handles a lot for you: connection lifecycle (OnConnectedAsync, OnDisconnectedAsync), heartbeats, automatic JSON/MessagePack protocol negotiation, transport fallback (WebSockets → Server-Sent Events → long polling), client-callable methods (RPC-style invocation), and server-pushed Groups. The client SDK (JavaScript, .NET, Java, Swift) gives you automatic reconnection with backoff out of the box — which is more than you'd typically build by hand. But point hard at the implicit state: the Groups dictionary, the connection registry, the per-connection heartbeats all live in THIS Pod's memory. SignalR's strength is the framework leans into per-Pod state by default — which is also why it scales poorly without a backplane. Every Hub instance is created per-invocation (transient) but the connection bookkeeping lives in the Pod-scoped IHubContext. The next few slides cover the pinning problem and the Redis backplane fix — no Azure SignalR Service needed, the open-source Redis backplane is built in.</a:t>
            </a:r>
            <a:endParaRPr/>
          </a:p>
        </p:txBody>
      </p:sp>
      <p:sp>
        <p:nvSpPr>
          <p:cNvPr id="1261" name="Google Shape;1261;p1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p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p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Here's the collision with Kubernetes. A WebSocket connection, once established through the load balancer, is pinned to one pod for its entire lifetime. Two problems follow. Scale-up: the HPA or KEDA adds ws-pod-3, but it gets zero existing connections — only new ones —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isn't to avoid scaling — it's to stop making any single pod the home of a conversation, which is the backplane.</a:t>
            </a:r>
            <a:endParaRPr/>
          </a:p>
        </p:txBody>
      </p:sp>
      <p:sp>
        <p:nvSpPr>
          <p:cNvPr id="1274" name="Google Shape;1274;p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p1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p1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 the bold point — you scale on open-connection count and file descriptors and memory, not CPU, so your KEDA/HPA trigger has to change too. Every one of these is solved or eased by the backplane on the next slide.</a:t>
            </a:r>
            <a:endParaRPr/>
          </a:p>
        </p:txBody>
      </p:sp>
      <p:sp>
        <p:nvSpPr>
          <p:cNvPr id="1285" name="Google Shape;1285;p1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2" name="Shape 1292"/>
        <p:cNvGrpSpPr/>
        <p:nvPr/>
      </p:nvGrpSpPr>
      <p:grpSpPr>
        <a:xfrm>
          <a:off x="0" y="0"/>
          <a:ext cx="0" cy="0"/>
          <a:chOff x="0" y="0"/>
          <a:chExt cx="0" cy="0"/>
        </a:xfrm>
      </p:grpSpPr>
      <p:sp>
        <p:nvSpPr>
          <p:cNvPr id="1293" name="Google Shape;1293;p1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4" name="Google Shape;1294;p1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that makes WebSockets horizontally scalable. Each Pod still owns only its own sockets — that's fine — but every Pod subscribes and publishes to a shared backplane: Redis pub/sub for low latency, or a Kafka topic if you want durability and replay. In SignalR specifically, this is one line of code: services.AddSignalR().AddStackExchangeRedis("redis:6379") wires up the Microsoft.AspNetCore.SignalR.StackExchangeRedis package (Apache 2.0). When a publisher calls Clients.User("X").SendAsync(…), the message goes to the backplane without knowing which Pod holds X; the backplane fans it to all Pods, and the one Pod that actually holds X's connection delivers it. Now scale-up and zero-downtime rollouts work again, because no Pod is the single home of a conversation — connections can land anywhere and still receive everything. Redis is the common open-source default; Kafka if you already run it and want the durability. Notably: we do NOT use Azure SignalR Service — that's the cloud-coupled option; the OSS Redis backplane is what runs on your own Kubernetes.</a:t>
            </a:r>
            <a:endParaRPr/>
          </a:p>
        </p:txBody>
      </p:sp>
      <p:sp>
        <p:nvSpPr>
          <p:cNvPr id="1295" name="Google Shape;1295;p1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3" name="Shape 1303"/>
        <p:cNvGrpSpPr/>
        <p:nvPr/>
      </p:nvGrpSpPr>
      <p:grpSpPr>
        <a:xfrm>
          <a:off x="0" y="0"/>
          <a:ext cx="0" cy="0"/>
          <a:chOff x="0" y="0"/>
          <a:chExt cx="0" cy="0"/>
        </a:xfrm>
      </p:grpSpPr>
      <p:sp>
        <p:nvSpPr>
          <p:cNvPr id="1304" name="Google Shape;1304;p1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5" name="Google Shape;1305;p1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wins in one slide. Performance: SignalR negotiates a hub protocol per connection — JSON by default, MessagePack when both client and server have AddMessagePackProtocol() registered. MessagePack binary frames are markedly smaller and cheaper to parse than JSON, meaningful when pushing high-frequency updates to many connections. The MessagePack-CSharp library (MIT) is already a dependency of the SignalR MessagePack protocol, and its source-generator-driven serialization is fast enough that JSON is rarely the right choice for high-throughput hubs. Versioning: because WebSocket messages have no URL to hang a version on, you version the envelope. A Version field lets the client detect an incompatible payload format and renegotiate; the Type field dispatches to the right typed payload; and — critically for the next slide — a monotonic Seq number per connection is what makes reconnection and replay possible. So the envelope solves both 'make it fast' and 'how do I version a socket message' at once. SignalR also supports custom hub protocols if MessagePack isn't enough — you can plug in protobuf with a small adapter — but for &gt;95% of cases the built-in MessagePack option is the right call.</a:t>
            </a:r>
            <a:endParaRPr/>
          </a:p>
        </p:txBody>
      </p:sp>
      <p:sp>
        <p:nvSpPr>
          <p:cNvPr id="1306" name="Google Shape;1306;p1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p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p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319" name="Google Shape;1319;p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7" name="Shape 1327"/>
        <p:cNvGrpSpPr/>
        <p:nvPr/>
      </p:nvGrpSpPr>
      <p:grpSpPr>
        <a:xfrm>
          <a:off x="0" y="0"/>
          <a:ext cx="0" cy="0"/>
          <a:chOff x="0" y="0"/>
          <a:chExt cx="0" cy="0"/>
        </a:xfrm>
      </p:grpSpPr>
      <p:sp>
        <p:nvSpPr>
          <p:cNvPr id="1328" name="Google Shape;1328;p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9" name="Google Shape;1329;p1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that's easy to forget: authenticate on connect AND re-authenticate on resume, because a resume is a new TCP connection that could come from anywhere. Do these and WebSockets are just another well-behaved cloud-native workload.</a:t>
            </a:r>
            <a:endParaRPr/>
          </a:p>
        </p:txBody>
      </p:sp>
      <p:sp>
        <p:nvSpPr>
          <p:cNvPr id="1330" name="Google Shape;1330;p1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p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p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Blazor deserves its own slide in this appendix because it sits on BOTH sides of the WebSocket scaling discussion. Walk the picture left to right. Blazor Server (left): a server-side ASP.NET Core process holds the user's component tree and view-model; a thin JS client renders DOM diffs streamed over a persistent SignalR WebSocket. Every UI interaction — every button click — is a round-trip. Every component instance is pinned to one Pod for its session lifetime. Calls to inventory, payment, etc. happen server-to-server. Once you scale to N Pods, you need a Redis backplane (one line: AddStackExchangeRedis), and every pinning / connection-count / drain concern from this appendix applies in full — it IS a WebSocket workload, just one that drives UI updates. Blazor WebAssembly (right): the entire .NET runtime ships to the browser as WebAssembly; your C# components run client-side; the Pod is just a static-file host (nginx or ASP.NET Core serving .wasm + .dll + .css + .html). No SignalR, no per-user server state, no backplane — scales like any other static site. The trade: WASM has a one-time download cost (.NET 8+ AOT trims it considerably; .NET 10 trims it further) and your APIs must be browser-callable (CORS, public auth, gRPC-Web instead of gRPC). The decision rule at the bottom: pick Server for line-of-business apps where you want server-side auth and real-time state with minimal client work; pick WebAssembly for offline, high-interactivity, or SEO-friendly client surfaces. Most production .NET shops run BOTH — Blazor Server for the admin console, Blazor WebAssembly for the customer-facing app. The cloud-native posture in either case: a containerised ASP.NET Core Pod, open-source Redis if needed, KEDA scaling on connections (Server) or RPS (WASM static host).</a:t>
            </a:r>
            <a:endParaRPr/>
          </a:p>
        </p:txBody>
      </p:sp>
      <p:sp>
        <p:nvSpPr>
          <p:cNvPr id="1340" name="Google Shape;1340;p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8" name="Shape 1348"/>
        <p:cNvGrpSpPr/>
        <p:nvPr/>
      </p:nvGrpSpPr>
      <p:grpSpPr>
        <a:xfrm>
          <a:off x="0" y="0"/>
          <a:ext cx="0" cy="0"/>
          <a:chOff x="0" y="0"/>
          <a:chExt cx="0" cy="0"/>
        </a:xfrm>
      </p:grpSpPr>
      <p:sp>
        <p:nvSpPr>
          <p:cNvPr id="1349" name="Google Shape;1349;p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0" name="Google Shape;1350;p1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take-home for the audience. For the WCF/IIS-era developer, Blazor Server feels familiar — server-side state, cookie auth, classic web app shape — which is both its appeal and its scaling problem. Blazor WebAssembly feels foreign at first (real client-side .NET running in a sandbox), but it scales the way the rest of cloud-native does: stateless static hosting + back-end APIs. There's no wrong answer; there are appropriate answers per workload. The bold final line is the one to leave up: nothing here requires Azure. SignalR is in-box ASP.NET Core. The Redis backplane is the StackExchangeRedis package (Apache 2.0) against any Redis (or Valkey, or KeyDB). The static-file host can be nginx or ASP.NET Core's UseStaticFiles. Hosting on Kubernetes is just two Deployments and two Services. If your team is moving off Azure App Service to Kubernetes, you don't lose Blazor — you just stop paying for Azure SignalR Service and run Redis yourself, with the same throughput characteristics.</a:t>
            </a:r>
            <a:endParaRPr/>
          </a:p>
        </p:txBody>
      </p:sp>
      <p:sp>
        <p:nvSpPr>
          <p:cNvPr id="1351" name="Google Shape;1351;p1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8" name="Shape 1358"/>
        <p:cNvGrpSpPr/>
        <p:nvPr/>
      </p:nvGrpSpPr>
      <p:grpSpPr>
        <a:xfrm>
          <a:off x="0" y="0"/>
          <a:ext cx="0" cy="0"/>
          <a:chOff x="0" y="0"/>
          <a:chExt cx="0" cy="0"/>
        </a:xfrm>
      </p:grpSpPr>
      <p:sp>
        <p:nvSpPr>
          <p:cNvPr id="1359" name="Google Shape;1359;p1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0" name="Google Shape;1360;p1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D is the deep mechanics behind the saga slide in the Data section. Three hard parts that the happy-path picture glosses over: where the orchestrator actually keeps its state so it survives a crash, how compensation really works when a step fails midway, and a specific gnarly case people hit — when step B needs data that only step A produced, and how to resume after a crash between them.</a:t>
            </a:r>
            <a:endParaRPr/>
          </a:p>
        </p:txBody>
      </p:sp>
      <p:sp>
        <p:nvSpPr>
          <p:cNvPr id="1361" name="Google Shape;1361;p1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with EF Core — simplest, and great for most cases. Event-sourced: append each step as an event and rebuild state by replay — full audit history; Marten on Postgres is the natural .NET fit, or EF Core for hand-rolled. A workflow engine like Temporal: durable execution with retries and timers built in — most power, least code, but a new dependency to run. Stateless is a lighter in-process alternative we'll show side by side. For the WCF/COM+ audience: this slide is where MSDTC distributed transactions get permanently retired — you can't have a two-phase commit across services in this world, so you reach for compensation-based consistency instead. The cross-cutting rule on screen: the state transition and the outbound command must commit together (the outbox pattern again), or you get lost or duplicated steps.</a:t>
            </a:r>
            <a:endParaRPr/>
          </a:p>
        </p:txBody>
      </p:sp>
      <p:sp>
        <p:nvSpPr>
          <p:cNvPr id="1371" name="Google Shape;1371;p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9" name="Shape 1379"/>
        <p:cNvGrpSpPr/>
        <p:nvPr/>
      </p:nvGrpSpPr>
      <p:grpSpPr>
        <a:xfrm>
          <a:off x="0" y="0"/>
          <a:ext cx="0" cy="0"/>
          <a:chOff x="0" y="0"/>
          <a:chExt cx="0" cy="0"/>
        </a:xfrm>
      </p:grpSpPr>
      <p:sp>
        <p:nvSpPr>
          <p:cNvPr id="1380" name="Google Shape;1380;p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1" name="Google Shape;1381;p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DB-backed option made concrete with EF Core — the one I'd reach for first when the saga is bounded and I want to own the transitions. Key ideas: one Saga entity row, loaded with a pessimistic lock (FOR UPDATE in Postgres, equivalent in SQL Server) so two workers can't advance the same saga concurrently. The status guard makes AdvanceAsync idempotent — calling it on a finished saga is a no-op, which matters because retries and redeliveries will call it again. Each successful step accumulates its result into the Context dictionary (remember that — it's the whole point of the data-dependency slide) and bumps the step index; the EF Core SaveChangesAsync makes the row durable after every step. Recovery is beautifully boring: a BackgroundService with PeriodicTimer (or Quartz.NET on a cron) plus DistributedLock loads RUNNING sagas and calls AdvanceAsync again — the cloud-native equivalent of a Windows Service that processed an MSMQ queue. If you want the managed alternative, the next few slides show Temporal .NET and Stateless — same problem, different point on the build-vs-buy spectrum.</a:t>
            </a:r>
            <a:endParaRPr/>
          </a:p>
        </p:txBody>
      </p:sp>
      <p:sp>
        <p:nvSpPr>
          <p:cNvPr id="1382" name="Google Shape;1382;p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2" name="Shape 1392"/>
        <p:cNvGrpSpPr/>
        <p:nvPr/>
      </p:nvGrpSpPr>
      <p:grpSpPr>
        <a:xfrm>
          <a:off x="0" y="0"/>
          <a:ext cx="0" cy="0"/>
          <a:chOff x="0" y="0"/>
          <a:chExt cx="0" cy="0"/>
        </a:xfrm>
      </p:grpSpPr>
      <p:sp>
        <p:nvSpPr>
          <p:cNvPr id="1393" name="Google Shape;1393;p1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4" name="Google Shape;1394;p1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Compensation is how a saga 'rolls back' when there's no actual rollback available across services. Each forward step that committed — payment.charge, inventory.reserve — has a defined semantic inverse: payment.refund, inventory.release. When book_shipping fails, you don't undo a database transaction (the payment really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FAILED state with a full audit trail of what was done and undone.</a:t>
            </a:r>
            <a:endParaRPr/>
          </a:p>
        </p:txBody>
      </p:sp>
      <p:sp>
        <p:nvSpPr>
          <p:cNvPr id="1395" name="Google Shape;1395;p1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3" name="Shape 1403"/>
        <p:cNvGrpSpPr/>
        <p:nvPr/>
      </p:nvGrpSpPr>
      <p:grpSpPr>
        <a:xfrm>
          <a:off x="0" y="0"/>
          <a:ext cx="0" cy="0"/>
          <a:chOff x="0" y="0"/>
          <a:chExt cx="0" cy="0"/>
        </a:xfrm>
      </p:grpSpPr>
      <p:sp>
        <p:nvSpPr>
          <p:cNvPr id="1404" name="Google Shape;1404;p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5" name="Google Shape;1405;p1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compensation logic. A simple dictionary gives each forward step its inverse. We iterate the completed steps (Take(StepIndex) then Reverse) and invoke each compensation. The idempotency key built from sagaId plus step is the line that prevents the nightmare scenario: a retry double-refunding a customer. The compensating service dedupes on that key. In production you'd track per-step compensation status too, so if compensation itself crashes halfway you resume from the right place — but the idempotency key makes even naive re-runs safe. This is why compensations are designed up front, as part of each step, not bolted on after. For this audience: this REPLACES the old MSDTC rollback semantics — in a distributed system the 'transaction' is the saga, the 'rollback' is the compensation sequence, and the 'commit' is when the last step succeeds. If you use Temporal .NET instead, its Saga utility (Saga.AddCompensation / Saga.CompensateAsync via the Workflow runtime) drives the unwind for you with the same guarantees; the next few slides show it.</a:t>
            </a:r>
            <a:endParaRPr/>
          </a:p>
        </p:txBody>
      </p:sp>
      <p:sp>
        <p:nvSpPr>
          <p:cNvPr id="1406" name="Google Shape;1406;p1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6" name="Shape 1416"/>
        <p:cNvGrpSpPr/>
        <p:nvPr/>
      </p:nvGrpSpPr>
      <p:grpSpPr>
        <a:xfrm>
          <a:off x="0" y="0"/>
          <a:ext cx="0" cy="0"/>
          <a:chOff x="0" y="0"/>
          <a:chExt cx="0" cy="0"/>
        </a:xfrm>
      </p:grpSpPr>
      <p:sp>
        <p:nvSpPr>
          <p:cNvPr id="1417" name="Google Shape;1417;p1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8" name="Google Shape;1418;p1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specific case you asked about, and it's a genuinely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 Temporal .NET does the same automatically through its workflow input/output passing; Stateless does it via the OnTransitioned listener that lets you write the payload into the saga's persisted state.</a:t>
            </a:r>
            <a:endParaRPr/>
          </a:p>
        </p:txBody>
      </p:sp>
      <p:sp>
        <p:nvSpPr>
          <p:cNvPr id="1419" name="Google Shape;1419;p1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p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p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choice as 'managed durability vs. lightweight in-process,' both open source, both production-grade. Temporal: founded by the original Cadence team, MIT-licensed Server and Apache-2.0 .NET SDK, very actively maintained (multi-language SDK family, mature .NET binding shipping on NuGet as Temporalio.Temporal). You get durable execution, deterministic replay, automatic retries with backoff, timers, sagas with built-in compensation helpers, child workflows, signals/queries, and a CLI/UI to inspect runs — the cost is operating a Temporal cluster on your own Kubernetes (no SaaS required, but you can choose Temporal Cloud if you prefer not to operate it yourself). Stateless: a tiny in-process .NET state-machine library (a community project, not from MS). No extra cluster; you persist the CurrentState property to your own DB (one column!), restore it before firing the next trigger. Better when the saga is small, the team is already deep in EF Core, and adding another runtime is overkill. MassTransit Sagas is the closely-related alternative when you're already using MassTransit — same Configure → States → Events pattern, integrated with the message bus. Dapr Workflows is mentioned as a sidebar because it's a genuine third option, but explicitly NOT the centre of this deck — use Dapr when your environment already commits to the sidecar pattern. The bold decision rule is what to leave audience with: it's not Temporal vs Stateless in a vacuum, it's 'how much engine do I need for THIS saga.'</a:t>
            </a:r>
            <a:endParaRPr/>
          </a:p>
        </p:txBody>
      </p:sp>
      <p:sp>
        <p:nvSpPr>
          <p:cNvPr id="1430" name="Google Shape;1430;p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p1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p1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Three boxes. On the left, your client — a REST handler in an ASP.NET Core app — injects ITemporalClient and calls StartWorkflowAsync(…) to kick off a workflow. In the middle, the Temporal Server: a cluster of Frontend, Matching and History services backed by Postgres (or MySQL / Cassandra) that persists every workflow event — every activity invocation, every result, every timer firing — so the workflow can be reconstructed from scratch by replay. On the right, the Worker: another ASP.NET Core app where you implement the workflow as a regular C# class annotated [Workflow] with a [WorkflowRun] method, and activities as plain C# classes annotated [Activity]. The worker runs as a BackgroundService that polls a task queue, gets the next workflow task, executes the next deterministic step. Crash the worker mid-flow and Temporal reissues the task to another worker, which replays history and resumes exactly where you were — no lost steps, no double-charges. That's durable execution. For this audience: think of it as 'BizTalk orchestration done right, open-source, polyglot, on Kubernetes' — except the workflow is just C# code with normal IDE tooling and unit testing, not a BizTalk visual designer. The bottom captions confirm the open-source posture: Temporal Server is MIT, the .NET SDK is Apache 2.0, both running on your Kubernetes if you want, no SaaS lock-in.</a:t>
            </a:r>
            <a:endParaRPr/>
          </a:p>
        </p:txBody>
      </p:sp>
      <p:sp>
        <p:nvSpPr>
          <p:cNvPr id="1440" name="Google Shape;1440;p1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p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p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whole story on one slide. Activity classes are plain C#; methods annotated [Activity] are registered with the worker at startup. The Workflow class is annotated [Workflow] with one [WorkflowRun] entry point; the body is plain C# that LOOKS synchronous but every activity call goes through Temporal's task queue and is durably scheduled, retried (configurable retry policy on the ActivityOptions), and timed-out on the Server. The output of each activity (paymentId, reservationId) is captured in a workflow-local variable AND in Temporal's event history; if the worker dies between charge and reserve, a replacement worker replays history, recovers paymentId, and continues at reserve without re-running charge. Note the Saga helper from the Temporal .NET SDK: AddCompensation registers an undo for each completed step, and saga.CompensateAsync() runs them in reverse on failure — the same compensation discipline from earlier, but built into the SDK. Bootstrapping in ASP.NET Core: register the Temporal client (services.AddTemporalClient), register a TemporalWorker as a BackgroundService that points at your Temporal Server, list the workflow types and activity instances. The Temporalio.Extensions.Hosting NuGet package does most of that wiring — the WorkerService is just another IHostedService in your app.</a:t>
            </a:r>
            <a:endParaRPr/>
          </a:p>
        </p:txBody>
      </p:sp>
      <p:sp>
        <p:nvSpPr>
          <p:cNvPr id="1451" name="Google Shape;1451;p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1" name="Shape 1461"/>
        <p:cNvGrpSpPr/>
        <p:nvPr/>
      </p:nvGrpSpPr>
      <p:grpSpPr>
        <a:xfrm>
          <a:off x="0" y="0"/>
          <a:ext cx="0" cy="0"/>
          <a:chOff x="0" y="0"/>
          <a:chExt cx="0" cy="0"/>
        </a:xfrm>
      </p:grpSpPr>
      <p:sp>
        <p:nvSpPr>
          <p:cNvPr id="1462" name="Google Shape;1462;p1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3" name="Google Shape;1463;p1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picture. The top row IS the saga as a state machine: Created → Paid → Reserved → Shipped → Done, with each transition triggered by an event (PayOk, ReserveOk, ShipOk, Delivered). On StepFail at any point, the machine drops down into the Compensating state and ultimately Failed — the same compensation discipline expressed as state transitions. Below: three pieces. The StateMachine&lt;TState, TTrigger&gt; itself, configured in a small builder method via the Stateless package's fluent API — you declare states, transitions, guards (predicates that gate a transition), entry/exit actions (code that runs on a transition, where you'd call _payments.ChargeAsync or _inventory.ReserveAsync), and OnTransitioned listeners for notifications. The 'persist state yourself' block is the lightweight bit: serialize the CurrentState property to a single column in your saga row using EF Core or Dapper, restore it before firing the next trigger. No persister framework needed. And on the right, the code that drives the machine: await sm.FireAsync(Trigger.PayOk, payload) runs guards, actions, transitions, and the OnTransitioned hook writes the new state to your DB. The whole thing runs in-process inside your ASP.NET Core app — no extra cluster, Apache-2.0 open source. The MassTransit Sagas callout is for shops already using MassTransit: it gives you the same state-machine + persister + bus integration but with one more framework on the dependency list.</a:t>
            </a:r>
            <a:endParaRPr/>
          </a:p>
        </p:txBody>
      </p:sp>
      <p:sp>
        <p:nvSpPr>
          <p:cNvPr id="1464" name="Google Shape;1464;p1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2" name="Shape 1472"/>
        <p:cNvGrpSpPr/>
        <p:nvPr/>
      </p:nvGrpSpPr>
      <p:grpSpPr>
        <a:xfrm>
          <a:off x="0" y="0"/>
          <a:ext cx="0" cy="0"/>
          <a:chOff x="0" y="0"/>
          <a:chExt cx="0" cy="0"/>
        </a:xfrm>
      </p:grpSpPr>
      <p:sp>
        <p:nvSpPr>
          <p:cNvPr id="1473" name="Google Shape;1473;p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4" name="Google Shape;1474;p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Everything in one place. The FulfillmentSagaMachine wraps a Stateless StateMachine&lt;State, Trigger&gt; with enums for both type parameters — type-safe states, type-safe triggers, refactor-friendly. Configure() declares each state's permitted transitions and entry actions (OnEntry runs business logic when the state is entered, where you'd call payment.ChargeAsync). The Permit chain is the readable equivalent of the state-diagram you saw on the previous slide. The FulfillmentService.OnAsync() method is the entry point — it gets called from an [HttpPost] handler or a MassTransit consumer, restores the saga's prior state by orderId from EF Core, rebuilds the state machine in that state, fires the trigger (which runs guards, entry actions, and transitions), then saves the new CurrentState to the DB. The transactional discipline is yours — wrap in a DbContext transaction so the action's effects and the state save commit together — exactly the same commit-together discipline as the hand-rolled EF Core version a few slides back, just with a typed state machine on top. The trade-off vs Temporal: less ceremony (no separate server), but you don't get automatic retries, timers or replay-on-crash; you write recovery logic (the BackgroundService sweeper from the earlier slide still applies). Use this when the saga is bounded in-process and the team already lives in .NET — it's the smallest sensible step up from the hand-rolled state machine. If you want the same DSL but integrated with the message bus, MassTransit Sagas (Apache 2.0) wraps a similar state-machine model with bus-aware persistence and event correlation — same idea, more framework.</a:t>
            </a:r>
            <a:endParaRPr/>
          </a:p>
        </p:txBody>
      </p:sp>
      <p:sp>
        <p:nvSpPr>
          <p:cNvPr id="1475" name="Google Shape;1475;p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5" name="Shape 1485"/>
        <p:cNvGrpSpPr/>
        <p:nvPr/>
      </p:nvGrpSpPr>
      <p:grpSpPr>
        <a:xfrm>
          <a:off x="0" y="0"/>
          <a:ext cx="0" cy="0"/>
          <a:chOff x="0" y="0"/>
          <a:chExt cx="0" cy="0"/>
        </a:xfrm>
      </p:grpSpPr>
      <p:sp>
        <p:nvSpPr>
          <p:cNvPr id="1486" name="Google Shape;1486;p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7" name="Google Shape;1487;p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E. Error handling is where cloud-native systems quietly fall apart — not in the happy path. The thesis: agree ONE error contract (a stable machine code, a safe human message, a correlation id, a retryable flag, field details) and then map that same model onto REST, gRPC, Kafka and GraphQL. We finish on the failure mode that turns a blip into an outage — the retry storm — and the handful of controls that prevent it.</a:t>
            </a:r>
            <a:endParaRPr/>
          </a:p>
        </p:txBody>
      </p:sp>
      <p:sp>
        <p:nvSpPr>
          <p:cNvPr id="1488" name="Google Shape;1488;p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5" name="Shape 1495"/>
        <p:cNvGrpSpPr/>
        <p:nvPr/>
      </p:nvGrpSpPr>
      <p:grpSpPr>
        <a:xfrm>
          <a:off x="0" y="0"/>
          <a:ext cx="0" cy="0"/>
          <a:chOff x="0" y="0"/>
          <a:chExt cx="0" cy="0"/>
        </a:xfrm>
      </p:grpSpPr>
      <p:sp>
        <p:nvSpPr>
          <p:cNvPr id="1496" name="Google Shape;1496;p1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7" name="Google Shape;1497;p1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98" name="Google Shape;1498;p1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6" name="Shape 1506"/>
        <p:cNvGrpSpPr/>
        <p:nvPr/>
      </p:nvGrpSpPr>
      <p:grpSpPr>
        <a:xfrm>
          <a:off x="0" y="0"/>
          <a:ext cx="0" cy="0"/>
          <a:chOff x="0" y="0"/>
          <a:chExt cx="0" cy="0"/>
        </a:xfrm>
      </p:grpSpPr>
      <p:sp>
        <p:nvSpPr>
          <p:cNvPr id="1507" name="Google Shape;1507;p1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8" name="Google Shape;1508;p1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 type, title, status, detail, instance — and you extend it with your stable code and the traceId. Status for the category, body for the specifics.</a:t>
            </a:r>
            <a:endParaRPr/>
          </a:p>
        </p:txBody>
      </p:sp>
      <p:sp>
        <p:nvSpPr>
          <p:cNvPr id="1509" name="Google Shape;1509;p1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7" name="Shape 1517"/>
        <p:cNvGrpSpPr/>
        <p:nvPr/>
      </p:nvGrpSpPr>
      <p:grpSpPr>
        <a:xfrm>
          <a:off x="0" y="0"/>
          <a:ext cx="0" cy="0"/>
          <a:chOff x="0" y="0"/>
          <a:chExt cx="0" cy="0"/>
        </a:xfrm>
      </p:grpSpPr>
      <p:sp>
        <p:nvSpPr>
          <p:cNvPr id="1518" name="Google Shape;1518;p1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9" name="Google Shape;1519;p1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had ProblemDetails (RFC 9457) built into Microsoft.AspNetCore.Mvc since .NET 6 — the wire format, the media type (application/problem+json), and the integration with minimal APIs (Results.Problem) and controllers ([ProducesProblemDetails]) are all included. The IExceptionHandler interface added in .NET 8 is the central mapping seam — register one or more, each one inspects the exception and returns true if it handled it, false to defer to the next. Use it for domain-to-wire mapping so you never scatter ad-hoc error JSON across handlers. The status matches the category (409 here — a conflict the client can act on), and Extensions carries the stable machine code and the W3C trace id from System.Diagnostics.Activity for correlation. What's deliberately absent: any stack trace, exception class name, or SQL — those leak internals and are an attack surface (and the WCF-era habit of returning SoapFault detail with full stack traces is exactly what this replaces). For validation specifically, ValidationProblemDetails is the typed subclass and Results.ValidationProblem the minimal-API helper.</a:t>
            </a:r>
            <a:endParaRPr/>
          </a:p>
        </p:txBody>
      </p:sp>
      <p:sp>
        <p:nvSpPr>
          <p:cNvPr id="1520" name="Google Shape;1520;p1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1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1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gives you a small, fixed set of canonical status codes — and choosing the right one IS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 ErrorInfo (machine reason + domain) and RetryInfo (how long to wait) — so the client gets the same five facts as everywhere else.</a:t>
            </a:r>
            <a:endParaRPr/>
          </a:p>
        </p:txBody>
      </p:sp>
      <p:sp>
        <p:nvSpPr>
          <p:cNvPr id="1533" name="Google Shape;1533;p1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1" name="Shape 1541"/>
        <p:cNvGrpSpPr/>
        <p:nvPr/>
      </p:nvGrpSpPr>
      <p:grpSpPr>
        <a:xfrm>
          <a:off x="0" y="0"/>
          <a:ext cx="0" cy="0"/>
          <a:chOff x="0" y="0"/>
          <a:chExt cx="0" cy="0"/>
        </a:xfrm>
      </p:grpSpPr>
      <p:sp>
        <p:nvSpPr>
          <p:cNvPr id="1542" name="Google Shape;1542;p1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3" name="Google Shape;1543;p1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grpc-dotnet's standard rich-error model — the same wire shape as every other gRPC stack because google.rpc.Status is the cross-language contract. The canonical code Unavailable tells the client and the mesh this is transient and retryable; the Status carries structured details — ErrorInfo with a machine reason and domain, and RetryInfo telling the client exactly how long to wait. The Grpc.StatusProto NuGet package provides the ToRpcException extension that packs the rich Status into the trailers, and throwing the RpcException signals the failure. For the audience: this is the gRPC equivalent of WCF's FaultException&lt;T&gt; with a fault contract — except the contract is google.rpc.Status (standard across languages), the codes are canonical, and the mesh (Istio) can act on them. The key discipline: don't overload a generic Internal code for everything — the code is how automated clients and Istio decide whether and when to retry, so getting it right is what prevents both lost work and retry storms.</a:t>
            </a:r>
            <a:endParaRPr/>
          </a:p>
        </p:txBody>
      </p:sp>
      <p:sp>
        <p:nvSpPr>
          <p:cNvPr id="1544" name="Google Shape;1544;p1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4" name="Shape 1554"/>
        <p:cNvGrpSpPr/>
        <p:nvPr/>
      </p:nvGrpSpPr>
      <p:grpSpPr>
        <a:xfrm>
          <a:off x="0" y="0"/>
          <a:ext cx="0" cy="0"/>
          <a:chOff x="0" y="0"/>
          <a:chExt cx="0" cy="0"/>
        </a:xfrm>
      </p:grpSpPr>
      <p:sp>
        <p:nvSpPr>
          <p:cNvPr id="1555" name="Google Shape;1555;p1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6" name="Google Shape;1556;p1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Crucially, you commit the offset either way, so the main consumer keeps making progress. With MassTransit this is declarative configuration (UseMessageRetry + UseInMemoryOutbox + routing to a faulted-message endpoint), not hand-rolled plumbing.</a:t>
            </a:r>
            <a:endParaRPr/>
          </a:p>
        </p:txBody>
      </p:sp>
      <p:sp>
        <p:nvSpPr>
          <p:cNvPr id="1557" name="Google Shape;1557;p1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p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p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MassTransit wires this up declaratively. UseMessageRetry gives bounded in-place retries with exponential backoff (200ms initial, doubling, capped at 5s, 3 attempts) and an explicit ignore list — ValidationException is non-retryable, so it skips straight to the fault path (no point retrying a 4xx). UseScheduledRedelivery adds the delayed-retry-topic dimension on top: when in-place retries are exhausted, MassTransit re-publishes the message to itself with a delay (via the bus scheduler) and tries again after 5s, 30s, 5m. When even those are exhausted, MassTransit moves the message to a sibling _error topic (the DLQ) and commits the original offset, so the consumer keeps making progress — a poison record never causes head-of-line blocking. Make Consume idempotent — at-least-once delivery means retried records may have partially applied. For the WCF/MSMQ audience: this is the exact equivalent of the MaxRetryCount + ReceiveErrorHandling + poison-message queue model MSMQ had, just declarative, cross-broker (works the same on RabbitMQ or Azure Service Bus), and integrated with OpenTelemetry. If MassTransit is too opinionated you can hand-roll the same pattern over Confluent.Kafka directly, but you'll write 50+ lines of retry/backoff/dispatch code.</a:t>
            </a:r>
            <a:endParaRPr/>
          </a:p>
        </p:txBody>
      </p:sp>
      <p:sp>
        <p:nvSpPr>
          <p:cNvPr id="1568" name="Google Shape;1568;p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8" name="Shape 1578"/>
        <p:cNvGrpSpPr/>
        <p:nvPr/>
      </p:nvGrpSpPr>
      <p:grpSpPr>
        <a:xfrm>
          <a:off x="0" y="0"/>
          <a:ext cx="0" cy="0"/>
          <a:chOff x="0" y="0"/>
          <a:chExt cx="0" cy="0"/>
        </a:xfrm>
      </p:grpSpPr>
      <p:sp>
        <p:nvSpPr>
          <p:cNvPr id="1579" name="Google Shape;1579;p1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0" name="Google Shape;1580;p1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GraphQL breaks the one-request-one-status assumption: a single query can touch many resolvers, so the response is almost always HTTP 200 and carries both a data object and an errors array. When one field fails — say stock can't reach inventory —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581" name="Google Shape;1581;p1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9" name="Shape 1589"/>
        <p:cNvGrpSpPr/>
        <p:nvPr/>
      </p:nvGrpSpPr>
      <p:grpSpPr>
        <a:xfrm>
          <a:off x="0" y="0"/>
          <a:ext cx="0" cy="0"/>
          <a:chOff x="0" y="0"/>
          <a:chExt cx="0" cy="0"/>
        </a:xfrm>
      </p:grpSpPr>
      <p:sp>
        <p:nvSpPr>
          <p:cNvPr id="1590" name="Google Shape;1590;p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1" name="Google Shape;1591;p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Throwing from a single field's resolver is exactly right: HotChocolate's exception-resolution chain catches it, sets that field to null, and appends an entry to errors[] with the message and path — while every other field resolves and returns normally. The IErrorFilter is the central mapping point — one IErrorFilter implementation, one method per exception family (here using a switch expression), return a transformed IError with WithCode and SetExtension calls. The .WithCode("UNAVAILABLE") sets the standard GraphQL error code in extensions.code; SetExtension lets you add any structured fields — retryable flag, traceId from Activity.Current, anything else you want. The .RemoveException() call is critical security hygiene: by default HotChocolate may include the exception type and stack in extensions during development; in production you strip it. Resist letting the exception bubble to the top and fail the whole operation — that's the blanket-failure anti-pattern. The client sees the order and total, sees stock is null, reads extensions.code, and decides whether to retry just stock. The same discipline works for HotChocolate's mutation errors (the 6a-style error unions) if you go that route for richer error contracts.</a:t>
            </a:r>
            <a:endParaRPr/>
          </a:p>
        </p:txBody>
      </p:sp>
      <p:sp>
        <p:nvSpPr>
          <p:cNvPr id="1592" name="Google Shape;1592;p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2" name="Shape 1602"/>
        <p:cNvGrpSpPr/>
        <p:nvPr/>
      </p:nvGrpSpPr>
      <p:grpSpPr>
        <a:xfrm>
          <a:off x="0" y="0"/>
          <a:ext cx="0" cy="0"/>
          <a:chOff x="0" y="0"/>
          <a:chExt cx="0" cy="0"/>
        </a:xfrm>
      </p:grpSpPr>
      <p:sp>
        <p:nvSpPr>
          <p:cNvPr id="1603" name="Google Shape;1603;p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4" name="Google Shape;1604;p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failure mode that turns a brief blip into a full outage, and it's worth dwelling on. The loop: a service slows, calls start timing out, clients retry — often 3x —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In .NET, Polly is the canonical resilience library (BSD-3, ships under Microsoft.Extensions.Resilience and Microsoft.Extensions.Http.Resilience) — retries, circuit breakers, bulkheads, timeouts, hedging, all composable into a single ResiliencePipeline. Plus the Istio config from section 2, you get these at both the code and mesh layers.</a:t>
            </a:r>
            <a:endParaRPr/>
          </a:p>
        </p:txBody>
      </p:sp>
      <p:sp>
        <p:nvSpPr>
          <p:cNvPr id="1605" name="Google Shape;1605;p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3" name="Shape 1613"/>
        <p:cNvGrpSpPr/>
        <p:nvPr/>
      </p:nvGrpSpPr>
      <p:grpSpPr>
        <a:xfrm>
          <a:off x="0" y="0"/>
          <a:ext cx="0" cy="0"/>
          <a:chOff x="0" y="0"/>
          <a:chExt cx="0" cy="0"/>
        </a:xfrm>
      </p:grpSpPr>
      <p:sp>
        <p:nvSpPr>
          <p:cNvPr id="1614" name="Google Shape;1614;p1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5" name="Google Shape;1615;p1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(Polly's AddRetry with exponential backoff and jitter, AddCircuitBreaker, AddTimeout composed into a ResiliencePipeline), protected by a retry budget, and every handler idempotent so a redelivered or retried request is safe. Get these right and your failure paths become as boring as your happy paths.</a:t>
            </a:r>
            <a:endParaRPr/>
          </a:p>
        </p:txBody>
      </p:sp>
      <p:sp>
        <p:nvSpPr>
          <p:cNvPr id="1616" name="Google Shape;1616;p1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3" name="Shape 1623"/>
        <p:cNvGrpSpPr/>
        <p:nvPr/>
      </p:nvGrpSpPr>
      <p:grpSpPr>
        <a:xfrm>
          <a:off x="0" y="0"/>
          <a:ext cx="0" cy="0"/>
          <a:chOff x="0" y="0"/>
          <a:chExt cx="0" cy="0"/>
        </a:xfrm>
      </p:grpSpPr>
      <p:sp>
        <p:nvSpPr>
          <p:cNvPr id="1624" name="Google Shape;1624;p1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5" name="Google Shape;1625;p1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626" name="Google Shape;1626;p1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3" name="Shape 1633"/>
        <p:cNvGrpSpPr/>
        <p:nvPr/>
      </p:nvGrpSpPr>
      <p:grpSpPr>
        <a:xfrm>
          <a:off x="0" y="0"/>
          <a:ext cx="0" cy="0"/>
          <a:chOff x="0" y="0"/>
          <a:chExt cx="0" cy="0"/>
        </a:xfrm>
      </p:grpSpPr>
      <p:sp>
        <p:nvSpPr>
          <p:cNvPr id="1634" name="Google Shape;1634;p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5" name="Google Shape;1635;p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why a DDD appendix belongs in an API talk. The throughline: an API is the contract between two bounded contexts, so the hardest API questions — where to split, what the contract should contain, what stays private — are really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636" name="Google Shape;1636;p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3" name="Shape 1643"/>
        <p:cNvGrpSpPr/>
        <p:nvPr/>
      </p:nvGrpSpPr>
      <p:grpSpPr>
        <a:xfrm>
          <a:off x="0" y="0"/>
          <a:ext cx="0" cy="0"/>
          <a:chOff x="0" y="0"/>
          <a:chExt cx="0" cy="0"/>
        </a:xfrm>
      </p:grpSpPr>
      <p:sp>
        <p:nvSpPr>
          <p:cNvPr id="1644" name="Google Shape;1644;p1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5" name="Google Shape;1645;p1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Strategic DDD first. Classify the business into subdomains by value and volatility: core subdomains are your competitive edge — complex and fast-changing, where your best people belong; supporting subdomains are necessary but not differentiating, so build them simply;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646" name="Google Shape;1646;p1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4" name="Shape 1654"/>
        <p:cNvGrpSpPr/>
        <p:nvPr/>
      </p:nvGrpSpPr>
      <p:grpSpPr>
        <a:xfrm>
          <a:off x="0" y="0"/>
          <a:ext cx="0" cy="0"/>
          <a:chOff x="0" y="0"/>
          <a:chExt cx="0" cy="0"/>
        </a:xfrm>
      </p:grpSpPr>
      <p:sp>
        <p:nvSpPr>
          <p:cNvPr id="1655" name="Google Shape;1655;p1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6" name="Google Shape;1656;p1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the bounded context concrete as the service/API boundary. The vivid example is the word 'order' meaning different things in fulfillment versus billing — that's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657" name="Google Shape;1657;p1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4" name="Shape 1664"/>
        <p:cNvGrpSpPr/>
        <p:nvPr/>
      </p:nvGrpSpPr>
      <p:grpSpPr>
        <a:xfrm>
          <a:off x="0" y="0"/>
          <a:ext cx="0" cy="0"/>
          <a:chOff x="0" y="0"/>
          <a:chExt cx="0" cy="0"/>
        </a:xfrm>
      </p:grpSpPr>
      <p:sp>
        <p:nvSpPr>
          <p:cNvPr id="1665" name="Google Shape;1665;p1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6" name="Google Shape;1666;p1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deliberately.</a:t>
            </a:r>
            <a:endParaRPr/>
          </a:p>
        </p:txBody>
      </p:sp>
      <p:sp>
        <p:nvSpPr>
          <p:cNvPr id="1667" name="Google Shape;1667;p1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5" name="Shape 1675"/>
        <p:cNvGrpSpPr/>
        <p:nvPr/>
      </p:nvGrpSpPr>
      <p:grpSpPr>
        <a:xfrm>
          <a:off x="0" y="0"/>
          <a:ext cx="0" cy="0"/>
          <a:chOff x="0" y="0"/>
          <a:chExt cx="0" cy="0"/>
        </a:xfrm>
      </p:grpSpPr>
      <p:sp>
        <p:nvSpPr>
          <p:cNvPr id="1676" name="Google Shape;1676;p1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7" name="Google Shape;1677;p1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slide does the real work of connecting DDD vocabulary to the platform we built. Open-Host Service = the public API; Published Language = the schema in the registry; Anticorruption Layer = the translation at your edge. The bold line is the payoff: students have already built these things in sections 9 and 8 without the names —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678" name="Google Shape;1678;p1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5" name="Shape 1685"/>
        <p:cNvGrpSpPr/>
        <p:nvPr/>
      </p:nvGrpSpPr>
      <p:grpSpPr>
        <a:xfrm>
          <a:off x="0" y="0"/>
          <a:ext cx="0" cy="0"/>
          <a:chOff x="0" y="0"/>
          <a:chExt cx="0" cy="0"/>
        </a:xfrm>
      </p:grpSpPr>
      <p:sp>
        <p:nvSpPr>
          <p:cNvPr id="1686" name="Google Shape;1686;p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7" name="Google Shape;1687;p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 REST, gRPC, GraphQL — translate an incoming protocol into a call on an inbound port. Driven adapters on the right — a Postgres repository, a Kafka publisher —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88" name="Google Shape;1688;p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6" name="Shape 1696"/>
        <p:cNvGrpSpPr/>
        <p:nvPr/>
      </p:nvGrpSpPr>
      <p:grpSpPr>
        <a:xfrm>
          <a:off x="0" y="0"/>
          <a:ext cx="0" cy="0"/>
          <a:chOff x="0" y="0"/>
          <a:chExt cx="0" cy="0"/>
        </a:xfrm>
      </p:grpSpPr>
      <p:sp>
        <p:nvSpPr>
          <p:cNvPr id="1697" name="Google Shape;1697;p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8" name="Google Shape;1698;p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three blocks. Ports: the domain declares plain C# interfaces — a repository and an event publisher — and depends on nothing else (no ASP.NET Core, no EF Core, no MassTransit imports anywhere in the domain project). The application service PlaceOrder is pure logic: it creates the aggregate, saves via the port, publishes a domain event via the port, and never references framework types directly. C# 12 primary constructors give you the cleanest possible injection — no [Inject] attribute and no explicit constructor, just the parameter list on the class, available everywhere in the class body. The Microsoft.Extensions.DependencyInjection container resolves them at construction. The REST controller is a thin driving adapter — turn the HTTP body into a command and call the use case; a gRPC service or HotChocolate resolver is the same shape. The outbound ports are implemented by adapters (EfCoreOrderRepository for persistence, MassTransitEventPublisher for events) in separate projects so the domain project has zero infrastructure references — enforced by the .csproj graph. That's dependency inversion serving the boundary: protocols are replaceable, the domain stays stable. For audiences coming from MVC's classic Service → Repository → DAL stack: this is the same instinct, formalised by the .csproj dependency direction (domain depends on nothing; infrastructure depends on domain; web depends on application; nothing depends on web).</a:t>
            </a:r>
            <a:endParaRPr/>
          </a:p>
        </p:txBody>
      </p:sp>
      <p:sp>
        <p:nvSpPr>
          <p:cNvPr id="1699" name="Google Shape;1699;p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9" name="Shape 1709"/>
        <p:cNvGrpSpPr/>
        <p:nvPr/>
      </p:nvGrpSpPr>
      <p:grpSpPr>
        <a:xfrm>
          <a:off x="0" y="0"/>
          <a:ext cx="0" cy="0"/>
          <a:chOff x="0" y="0"/>
          <a:chExt cx="0" cy="0"/>
        </a:xfrm>
      </p:grpSpPr>
      <p:sp>
        <p:nvSpPr>
          <p:cNvPr id="1710" name="Google Shape;1710;p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1" name="Google Shape;1711;p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Tactical DDD, and it ties three earlier sections together. The aggregate is the consistency boundary — invariants hold within it and one transaction commits it —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 one per transaction, reference others by id, connect via events — is precisely why cross-aggregate consistency needs a saga (Appendix D). This slide is where DDD stops being abstract and visibly underpins the data, event and saga designs.</a:t>
            </a:r>
            <a:endParaRPr/>
          </a:p>
        </p:txBody>
      </p:sp>
      <p:sp>
        <p:nvSpPr>
          <p:cNvPr id="1712" name="Google Shape;1712;p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9" name="Shape 1719"/>
        <p:cNvGrpSpPr/>
        <p:nvPr/>
      </p:nvGrpSpPr>
      <p:grpSpPr>
        <a:xfrm>
          <a:off x="0" y="0"/>
          <a:ext cx="0" cy="0"/>
          <a:chOff x="0" y="0"/>
          <a:chExt cx="0" cy="0"/>
        </a:xfrm>
      </p:grpSpPr>
      <p:sp>
        <p:nvSpPr>
          <p:cNvPr id="1720" name="Google Shape;1720;p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1" name="Google Shape;1721;p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isn't a separate methodology bolted on — it's the naming and reasoning behind the boundaries the whole architecture already relies on. Point people to Khononov's Learning Domain-Driven Design for the full treatment.</a:t>
            </a:r>
            <a:endParaRPr/>
          </a:p>
        </p:txBody>
      </p:sp>
      <p:sp>
        <p:nvSpPr>
          <p:cNvPr id="1722" name="Google Shape;1722;p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9" name="Shape 1729"/>
        <p:cNvGrpSpPr/>
        <p:nvPr/>
      </p:nvGrpSpPr>
      <p:grpSpPr>
        <a:xfrm>
          <a:off x="0" y="0"/>
          <a:ext cx="0" cy="0"/>
          <a:chOff x="0" y="0"/>
          <a:chExt cx="0" cy="0"/>
        </a:xfrm>
      </p:grpSpPr>
      <p:sp>
        <p:nvSpPr>
          <p:cNvPr id="1730" name="Google Shape;1730;p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1" name="Google Shape;1731;p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G. We've thrown around “coupled” and “decoupled” throughout as if loose is always better. This sharpens it, using Vlad Khononov's Balancing Coupling model. The reframe: coupling is necessary — a system with zero coupling does nothing — so the goal is to balance it, not eliminate it. Coupling has three dimensions — integration strength, distance and volatility —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732" name="Google Shape;1732;p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9" name="Shape 1739"/>
        <p:cNvGrpSpPr/>
        <p:nvPr/>
      </p:nvGrpSpPr>
      <p:grpSpPr>
        <a:xfrm>
          <a:off x="0" y="0"/>
          <a:ext cx="0" cy="0"/>
          <a:chOff x="0" y="0"/>
          <a:chExt cx="0" cy="0"/>
        </a:xfrm>
      </p:grpSpPr>
      <p:sp>
        <p:nvSpPr>
          <p:cNvPr id="1740" name="Google Shape;1740;p1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1" name="Google Shape;1741;p1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742" name="Google Shape;1742;p1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9" name="Shape 1749"/>
        <p:cNvGrpSpPr/>
        <p:nvPr/>
      </p:nvGrpSpPr>
      <p:grpSpPr>
        <a:xfrm>
          <a:off x="0" y="0"/>
          <a:ext cx="0" cy="0"/>
          <a:chOff x="0" y="0"/>
          <a:chExt cx="0" cy="0"/>
        </a:xfrm>
      </p:grpSpPr>
      <p:sp>
        <p:nvSpPr>
          <p:cNvPr id="1750" name="Google Shape;1750;p1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1" name="Google Shape;1751;p1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model in one picture. Integration strength is how much knowledge two parts share — the more they share, the more likely a change in one forces a change in the other. Distance is how far apart they sit — same method, class, module, service, or system — and it sets the cost of a change that has to cross the boundary. Volatility is how often the coupled thing actually changes. The cost box at the bottom is the key relationship: strong plus distant is global complexity — the distributed monolith — but, crucially,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752" name="Google Shape;1752;p1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0" name="Shape 1760"/>
        <p:cNvGrpSpPr/>
        <p:nvPr/>
      </p:nvGrpSpPr>
      <p:grpSpPr>
        <a:xfrm>
          <a:off x="0" y="0"/>
          <a:ext cx="0" cy="0"/>
          <a:chOff x="0" y="0"/>
          <a:chExt cx="0" cy="0"/>
        </a:xfrm>
      </p:grpSpPr>
      <p:sp>
        <p:nvSpPr>
          <p:cNvPr id="1761" name="Google Shape;1761;p1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2" name="Google Shape;1762;p1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Unpack each dimension with a concrete handle. Strength is a ladder we'll see next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 strength XOR distance — you want exactly one of them, not both; strong-and-local (a cohesive module) is fine, weak-and-distant (microservices via contracts) is fine, strong-and-distant is the distributed monolith.</a:t>
            </a:r>
            <a:endParaRPr/>
          </a:p>
        </p:txBody>
      </p:sp>
      <p:sp>
        <p:nvSpPr>
          <p:cNvPr id="1763" name="Google Shape;1763;p1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0" name="Shape 1770"/>
        <p:cNvGrpSpPr/>
        <p:nvPr/>
      </p:nvGrpSpPr>
      <p:grpSpPr>
        <a:xfrm>
          <a:off x="0" y="0"/>
          <a:ext cx="0" cy="0"/>
          <a:chOff x="0" y="0"/>
          <a:chExt cx="0" cy="0"/>
        </a:xfrm>
      </p:grpSpPr>
      <p:sp>
        <p:nvSpPr>
          <p:cNvPr id="1771" name="Google Shape;1771;p1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2" name="Google Shape;1772;p1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773" name="Google Shape;1773;p1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1" name="Shape 1781"/>
        <p:cNvGrpSpPr/>
        <p:nvPr/>
      </p:nvGrpSpPr>
      <p:grpSpPr>
        <a:xfrm>
          <a:off x="0" y="0"/>
          <a:ext cx="0" cy="0"/>
          <a:chOff x="0" y="0"/>
          <a:chExt cx="0" cy="0"/>
        </a:xfrm>
      </p:grpSpPr>
      <p:sp>
        <p:nvSpPr>
          <p:cNvPr id="1782" name="Google Shape;1782;p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3" name="Google Shape;1783;p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 APIs and event schemas in the registry —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784" name="Google Shape;1784;p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1" name="Shape 1791"/>
        <p:cNvGrpSpPr/>
        <p:nvPr/>
      </p:nvGrpSpPr>
      <p:grpSpPr>
        <a:xfrm>
          <a:off x="0" y="0"/>
          <a:ext cx="0" cy="0"/>
          <a:chOff x="0" y="0"/>
          <a:chExt cx="0" cy="0"/>
        </a:xfrm>
      </p:grpSpPr>
      <p:sp>
        <p:nvSpPr>
          <p:cNvPr id="1792" name="Google Shape;1792;p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3" name="Google Shape;1793;p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94" name="Google Shape;1794;p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2" name="Shape 1802"/>
        <p:cNvGrpSpPr/>
        <p:nvPr/>
      </p:nvGrpSpPr>
      <p:grpSpPr>
        <a:xfrm>
          <a:off x="0" y="0"/>
          <a:ext cx="0" cy="0"/>
          <a:chOff x="0" y="0"/>
          <a:chExt cx="0" cy="0"/>
        </a:xfrm>
      </p:grpSpPr>
      <p:sp>
        <p:nvSpPr>
          <p:cNvPr id="1803" name="Google Shape;1803;p1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04" name="Google Shape;1804;p1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Deepen distance and volatility. Distance is why the same logical change can be a one-line edit or a multi-team, multi-deploy project — it multiplies cost. Volatility is what decides whether a less-than-ideal coupling actually matters: a textbook-ugly coupling on frozen code is a non-problem; a textbook-fine coupling that's actually on hot, ever-changing core code can still hurt. The DDD connection (from Appendix F) is the practical tool: subdomain type predicts volatility, so you deliberately route your strongest couplings away from core and toward stable, generic areas. The bold formula is Khononov's balance condition — worth writing on a whiteboard in a design review.</a:t>
            </a:r>
            <a:endParaRPr/>
          </a:p>
        </p:txBody>
      </p:sp>
      <p:sp>
        <p:nvSpPr>
          <p:cNvPr id="1805" name="Google Shape;1805;p1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2" name="Shape 1812"/>
        <p:cNvGrpSpPr/>
        <p:nvPr/>
      </p:nvGrpSpPr>
      <p:grpSpPr>
        <a:xfrm>
          <a:off x="0" y="0"/>
          <a:ext cx="0" cy="0"/>
          <a:chOff x="0" y="0"/>
          <a:chExt cx="0" cy="0"/>
        </a:xfrm>
      </p:grpSpPr>
      <p:sp>
        <p:nvSpPr>
          <p:cNvPr id="1813" name="Google Shape;1813;p1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4" name="Google Shape;1814;p1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815" name="Google Shape;1815;p1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2" name="Shape 1822"/>
        <p:cNvGrpSpPr/>
        <p:nvPr/>
      </p:nvGrpSpPr>
      <p:grpSpPr>
        <a:xfrm>
          <a:off x="0" y="0"/>
          <a:ext cx="0" cy="0"/>
          <a:chOff x="0" y="0"/>
          <a:chExt cx="0" cy="0"/>
        </a:xfrm>
      </p:grpSpPr>
      <p:sp>
        <p:nvSpPr>
          <p:cNvPr id="1823" name="Google Shape;1823;p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4" name="Google Shape;1824;p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 Learning Domain-Driven Design for the boundary tools in Appendix F, and Balancing Coupling in Software Design for this model — as the two references that underpin both of these appendices.</a:t>
            </a:r>
            <a:endParaRPr/>
          </a:p>
        </p:txBody>
      </p:sp>
      <p:sp>
        <p:nvSpPr>
          <p:cNvPr id="1825" name="Google Shape;1825;p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835" name="Google Shape;1835;p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2" name="Shape 1842"/>
        <p:cNvGrpSpPr/>
        <p:nvPr/>
      </p:nvGrpSpPr>
      <p:grpSpPr>
        <a:xfrm>
          <a:off x="0" y="0"/>
          <a:ext cx="0" cy="0"/>
          <a:chOff x="0" y="0"/>
          <a:chExt cx="0" cy="0"/>
        </a:xfrm>
      </p:grpSpPr>
      <p:sp>
        <p:nvSpPr>
          <p:cNvPr id="1843" name="Google Shape;1843;p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4" name="Google Shape;1844;p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The rest of the appendix walks that sequence, then shows the code on both sides of it.</a:t>
            </a:r>
            <a:endParaRPr/>
          </a:p>
        </p:txBody>
      </p:sp>
      <p:sp>
        <p:nvSpPr>
          <p:cNvPr id="1845" name="Google Shape;1845;p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2" name="Shape 1852"/>
        <p:cNvGrpSpPr/>
        <p:nvPr/>
      </p:nvGrpSpPr>
      <p:grpSpPr>
        <a:xfrm>
          <a:off x="0" y="0"/>
          <a:ext cx="0" cy="0"/>
          <a:chOff x="0" y="0"/>
          <a:chExt cx="0" cy="0"/>
        </a:xfrm>
      </p:grpSpPr>
      <p:sp>
        <p:nvSpPr>
          <p:cNvPr id="1853" name="Google Shape;1853;p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4" name="Google Shape;1854;p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855" name="Google Shape;1855;p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p1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p1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These five points are the rules of the protocol. The distinction that trips people up is readiness vs liveness during shutdown: you WANT readiness to fail (it stops new traffic) but you must NOT let liveness fail (the kubelet would restart a pod that's intentionally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866" name="Google Shape;1866;p1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3" name="Shape 1873"/>
        <p:cNvGrpSpPr/>
        <p:nvPr/>
      </p:nvGrpSpPr>
      <p:grpSpPr>
        <a:xfrm>
          <a:off x="0" y="0"/>
          <a:ext cx="0" cy="0"/>
          <a:chOff x="0" y="0"/>
          <a:chExt cx="0" cy="0"/>
        </a:xfrm>
      </p:grpSpPr>
      <p:sp>
        <p:nvSpPr>
          <p:cNvPr id="1874" name="Google Shape;1874;p1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5" name="Google Shape;1875;p1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876" name="Google Shape;1876;p1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p1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p17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 has clean graceful shutdown built in. When Kubernetes sends SIGTERM, the .NET host signals IHostApplicationLifetime.ApplicationStopping (cancelation token tripped), then iterates registered IHostedService implementations and calls StopAsync on each — bounded by HostOptions.ShutdownTimeout (default 30s, override as shown). The pattern: one BackgroundService per long-running concern (Kafka consumer here, but also schedulers, the Temporal worker from Appendix D, the Streamiz stream-processor from Section 6), each gets its own StopAsync hook to drain cleanly — consumer.Close() commits offsets and leaves the consumer group; for a SignalR Hub you'd send goaway frames; for Temporal you'd call worker.Shutdown(). For the WCF refugees: this is the in-box equivalent of the old WCF ServiceHost.Close pattern, except SIGTERM (not a graceful Stop button) triggers it and the budget is enforced by HostOptions.ShutdownTimeout rather than a per-binding timeout. Flipping readiness DOWN is the cloud-native bit — a mutable IHealthCheck that the Kubernetes readiness probe polls. Setting it Unhealthy at the start of StopAsync removes the Pod from the Service endpoints (so new traffic stops) while the Pod keeps running long enough to finish in-flight work. The K8s YAML on the next slide is the platform half of the contract.</a:t>
            </a:r>
            <a:endParaRPr/>
          </a:p>
        </p:txBody>
      </p:sp>
      <p:sp>
        <p:nvSpPr>
          <p:cNvPr id="1887" name="Google Shape;1887;p17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7" name="Shape 1897"/>
        <p:cNvGrpSpPr/>
        <p:nvPr/>
      </p:nvGrpSpPr>
      <p:grpSpPr>
        <a:xfrm>
          <a:off x="0" y="0"/>
          <a:ext cx="0" cy="0"/>
          <a:chOff x="0" y="0"/>
          <a:chExt cx="0" cy="0"/>
        </a:xfrm>
      </p:grpSpPr>
      <p:sp>
        <p:nvSpPr>
          <p:cNvPr id="1898" name="Google Shape;1898;p1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9" name="Google Shape;1899;p1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platform half of the contract, and it's the same whatever language the service is in. Three knobs to land: terminationGracePeriodSeconds is your total budget and must exceed preStop plus your worst-case drain plus a buffer. The readiness probe's periodSeconds times failureThreshold sets how fast Kubernetes actually stops routing after you report DOWN — here roughly ten seconds, which your preStop sleep should cover. And liveness deliberately points at /healthz/live (which stays UP during the drain, returning the static 'self' health check) so the kubelet doesn't restart a Pod that's cleanly winding down. The preStop sleep looks crude but it's the pragmatic fix for the async-deregistration race; align it with the probe timing rather than picking an arbitrary number.</a:t>
            </a:r>
            <a:endParaRPr/>
          </a:p>
        </p:txBody>
      </p:sp>
      <p:sp>
        <p:nvSpPr>
          <p:cNvPr id="1900" name="Google Shape;1900;p1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0" name="Shape 1910"/>
        <p:cNvGrpSpPr/>
        <p:nvPr/>
      </p:nvGrpSpPr>
      <p:grpSpPr>
        <a:xfrm>
          <a:off x="0" y="0"/>
          <a:ext cx="0" cy="0"/>
          <a:chOff x="0" y="0"/>
          <a:chExt cx="0" cy="0"/>
        </a:xfrm>
      </p:grpSpPr>
      <p:sp>
        <p:nvSpPr>
          <p:cNvPr id="1911" name="Google Shape;1911;p1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2" name="Google Shape;1912;p1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is the philosophical anchor of the whole appendix: you cannot guarantee a graceful exit — the kubelet will sometimes SIGKILL you — so idempotency is what actually makes the system safe, and graceful shutdown just makes the unsafe window rare.</a:t>
            </a:r>
            <a:endParaRPr/>
          </a:p>
        </p:txBody>
      </p:sp>
      <p:sp>
        <p:nvSpPr>
          <p:cNvPr id="1913" name="Google Shape;1913;p1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0" name="Shape 1920"/>
        <p:cNvGrpSpPr/>
        <p:nvPr/>
      </p:nvGrpSpPr>
      <p:grpSpPr>
        <a:xfrm>
          <a:off x="0" y="0"/>
          <a:ext cx="0" cy="0"/>
          <a:chOff x="0" y="0"/>
          <a:chExt cx="0" cy="0"/>
        </a:xfrm>
      </p:grpSpPr>
      <p:sp>
        <p:nvSpPr>
          <p:cNvPr id="1921" name="Google Shape;1921;p1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2" name="Google Shape;1922;p1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leave-up summary. Read it as an ordered runbook: readiness first, preStop to cover the race, then the actual drains, all inside the grace budget. The fourth point is the one that turns shutdown from fragile to robust — idempotency means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a 30-line `dotnet test` integration test with a `kubectl delete pod` step is enough to prove the contract holds.</a:t>
            </a:r>
            <a:endParaRPr/>
          </a:p>
        </p:txBody>
      </p:sp>
      <p:sp>
        <p:nvSpPr>
          <p:cNvPr id="1923" name="Google Shape;1923;p1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0" name="Shape 1930"/>
        <p:cNvGrpSpPr/>
        <p:nvPr/>
      </p:nvGrpSpPr>
      <p:grpSpPr>
        <a:xfrm>
          <a:off x="0" y="0"/>
          <a:ext cx="0" cy="0"/>
          <a:chOff x="0" y="0"/>
          <a:chExt cx="0" cy="0"/>
        </a:xfrm>
      </p:grpSpPr>
      <p:sp>
        <p:nvSpPr>
          <p:cNvPr id="1931" name="Google Shape;1931;p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2" name="Google Shape;1932;p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MassTransit RoutingSlip + NRules, then circle back to east/west where the most decisions actually happen.</a:t>
            </a:r>
            <a:endParaRPr/>
          </a:p>
        </p:txBody>
      </p:sp>
      <p:sp>
        <p:nvSpPr>
          <p:cNvPr id="1933" name="Google Shape;1933;p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0" name="Shape 1940"/>
        <p:cNvGrpSpPr/>
        <p:nvPr/>
      </p:nvGrpSpPr>
      <p:grpSpPr>
        <a:xfrm>
          <a:off x="0" y="0"/>
          <a:ext cx="0" cy="0"/>
          <a:chOff x="0" y="0"/>
          <a:chExt cx="0" cy="0"/>
        </a:xfrm>
      </p:grpSpPr>
      <p:sp>
        <p:nvSpPr>
          <p:cNvPr id="1941" name="Google Shape;1941;p1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2" name="Google Shape;1942;p1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943" name="Google Shape;1943;p1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0" name="Shape 1950"/>
        <p:cNvGrpSpPr/>
        <p:nvPr/>
      </p:nvGrpSpPr>
      <p:grpSpPr>
        <a:xfrm>
          <a:off x="0" y="0"/>
          <a:ext cx="0" cy="0"/>
          <a:chOff x="0" y="0"/>
          <a:chExt cx="0" cy="0"/>
        </a:xfrm>
      </p:grpSpPr>
      <p:sp>
        <p:nvSpPr>
          <p:cNvPr id="1951" name="Google Shape;1951;p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2" name="Google Shape;1952;p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every later slide will use to make routing decisions. The TLS SNI line in both columns is worth highlighting — L4 LBs can route by SNI without terminating TLS (cheap, opaque), while L7 LBs typically terminate TLS so they can see everything else (richer, slightly slower).</a:t>
            </a:r>
            <a:endParaRPr/>
          </a:p>
        </p:txBody>
      </p:sp>
      <p:sp>
        <p:nvSpPr>
          <p:cNvPr id="1953" name="Google Shape;1953;p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1" name="Shape 1961"/>
        <p:cNvGrpSpPr/>
        <p:nvPr/>
      </p:nvGrpSpPr>
      <p:grpSpPr>
        <a:xfrm>
          <a:off x="0" y="0"/>
          <a:ext cx="0" cy="0"/>
          <a:chOff x="0" y="0"/>
          <a:chExt cx="0" cy="0"/>
        </a:xfrm>
      </p:grpSpPr>
      <p:sp>
        <p:nvSpPr>
          <p:cNvPr id="1962" name="Google Shape;1962;p1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3" name="Google Shape;1963;p1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Read this as the menu of L7 features you can mix and match across layers. The bold last point is the operational payoff: every L7 router emits traces and metrics, which is how you actually see what's happening across the four layers — ties straight back to the observability section. Most of these features used to be hardware appliances; now they're an annotation or a YAML block away. Worth calling out: the resilience capabilities (timeouts, retries, circuit breakers) overlap with what Appendix E said about avoiding retry storms — the mesh implements many of them for free, but you still need bounded retries and budgets to prevent amplification.</a:t>
            </a:r>
            <a:endParaRPr/>
          </a:p>
        </p:txBody>
      </p:sp>
      <p:sp>
        <p:nvSpPr>
          <p:cNvPr id="1964" name="Google Shape;1964;p1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1" name="Shape 1971"/>
        <p:cNvGrpSpPr/>
        <p:nvPr/>
      </p:nvGrpSpPr>
      <p:grpSpPr>
        <a:xfrm>
          <a:off x="0" y="0"/>
          <a:ext cx="0" cy="0"/>
          <a:chOff x="0" y="0"/>
          <a:chExt cx="0" cy="0"/>
        </a:xfrm>
      </p:grpSpPr>
      <p:sp>
        <p:nvSpPr>
          <p:cNvPr id="1972" name="Google Shape;1972;p1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3" name="Google Shape;1973;p1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backbone diagram for the whole appendix. North/south traffic (clients into the system) enters through the EDGE/INGRESS layer (HAProxy, Nginx, Envoy, Traefik) — where TLS terminates and coarse host/path routing happens — then through the API GATEWAY (Kong, Apigee, Istio gateway, YARP)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(.NET + MassTransit RoutingSlip + NRules). Each layer is the right place for a different KIND of decision — we'll see that throughout the rest of the appendix.</a:t>
            </a:r>
            <a:endParaRPr/>
          </a:p>
        </p:txBody>
      </p:sp>
      <p:sp>
        <p:nvSpPr>
          <p:cNvPr id="1974" name="Google Shape;1974;p1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2" name="Shape 1982"/>
        <p:cNvGrpSpPr/>
        <p:nvPr/>
      </p:nvGrpSpPr>
      <p:grpSpPr>
        <a:xfrm>
          <a:off x="0" y="0"/>
          <a:ext cx="0" cy="0"/>
          <a:chOff x="0" y="0"/>
          <a:chExt cx="0" cy="0"/>
        </a:xfrm>
      </p:grpSpPr>
      <p:sp>
        <p:nvSpPr>
          <p:cNvPr id="1983" name="Google Shape;1983;p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4" name="Google Shape;1984;p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journey is observable end-to-end. This is the request lifecycle from section 11, viewed through the L7 lens.</a:t>
            </a:r>
            <a:endParaRPr/>
          </a:p>
        </p:txBody>
      </p:sp>
      <p:sp>
        <p:nvSpPr>
          <p:cNvPr id="1985" name="Google Shape;1985;p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3" name="Shape 1993"/>
        <p:cNvGrpSpPr/>
        <p:nvPr/>
      </p:nvGrpSpPr>
      <p:grpSpPr>
        <a:xfrm>
          <a:off x="0" y="0"/>
          <a:ext cx="0" cy="0"/>
          <a:chOff x="0" y="0"/>
          <a:chExt cx="0" cy="0"/>
        </a:xfrm>
      </p:grpSpPr>
      <p:sp>
        <p:nvSpPr>
          <p:cNvPr id="1994" name="Google Shape;1994;p1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5" name="Google Shape;1995;p1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we'll see next. Kong, Traefik and YARP are API gateways with plugin ecosystems and a more product-aware feature set; YARP (MIT, from Microsoft) is the .NET-native option — a library you embed in an ASP.NET Core app for full code-level control of routing, transforms and load-balancing. The bold last point teases the rule-based section: when the decision is 'route based on a business rule a non-developer needs to change weekly,' the right place isn't a YAML file in the cluster — it's a rule engine inside the app.</a:t>
            </a:r>
            <a:endParaRPr/>
          </a:p>
        </p:txBody>
      </p:sp>
      <p:sp>
        <p:nvSpPr>
          <p:cNvPr id="1996" name="Google Shape;1996;p1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3" name="Shape 2003"/>
        <p:cNvGrpSpPr/>
        <p:nvPr/>
      </p:nvGrpSpPr>
      <p:grpSpPr>
        <a:xfrm>
          <a:off x="0" y="0"/>
          <a:ext cx="0" cy="0"/>
          <a:chOff x="0" y="0"/>
          <a:chExt cx="0" cy="0"/>
        </a:xfrm>
      </p:grpSpPr>
      <p:sp>
        <p:nvSpPr>
          <p:cNvPr id="2004" name="Google Shape;2004;p1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5" name="Google Shape;2005;p1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2006" name="Google Shape;2006;p1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6" name="Shape 2016"/>
        <p:cNvGrpSpPr/>
        <p:nvPr/>
      </p:nvGrpSpPr>
      <p:grpSpPr>
        <a:xfrm>
          <a:off x="0" y="0"/>
          <a:ext cx="0" cy="0"/>
          <a:chOff x="0" y="0"/>
          <a:chExt cx="0" cy="0"/>
        </a:xfrm>
      </p:grpSpPr>
      <p:sp>
        <p:nvSpPr>
          <p:cNvPr id="2017" name="Google Shape;2017;p1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8" name="Google Shape;2018;p1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that we'll see more of — the L7 router can inject correlation headers so downstream traces can be stitched together. Nginx as an ingress controller in Kubernetes (the ingress-nginx project) is one of the most-deployed L7 routers in the world.</a:t>
            </a:r>
            <a:endParaRPr/>
          </a:p>
        </p:txBody>
      </p:sp>
      <p:sp>
        <p:nvSpPr>
          <p:cNvPr id="2019" name="Google Shape;2019;p1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9" name="Shape 2029"/>
        <p:cNvGrpSpPr/>
        <p:nvPr/>
      </p:nvGrpSpPr>
      <p:grpSpPr>
        <a:xfrm>
          <a:off x="0" y="0"/>
          <a:ext cx="0" cy="0"/>
          <a:chOff x="0" y="0"/>
          <a:chExt cx="0" cy="0"/>
        </a:xfrm>
      </p:grpSpPr>
      <p:sp>
        <p:nvSpPr>
          <p:cNvPr id="2030" name="Google Shape;2030;p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1" name="Google Shape;2031;p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same content-based routing primitives, but expressed as Kubernetes CRDs that the mesh control plane (Istio) compiles down to Envoy sidecar configuration. Three match rules — by URI prefix (which is how you route on gRPC service.method, since gRPC paths look like /package.Service/Method), by header, and by cookie — each sending to a different DestinationRule subset.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2032" name="Google Shape;2032;p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2" name="Shape 2042"/>
        <p:cNvGrpSpPr/>
        <p:nvPr/>
      </p:nvGrpSpPr>
      <p:grpSpPr>
        <a:xfrm>
          <a:off x="0" y="0"/>
          <a:ext cx="0" cy="0"/>
          <a:chOff x="0" y="0"/>
          <a:chExt cx="0" cy="0"/>
        </a:xfrm>
      </p:grpSpPr>
      <p:sp>
        <p:nvSpPr>
          <p:cNvPr id="2043" name="Google Shape;2043;p1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4" name="Google Shape;2044;p1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latency-budget slide later makes sense — a TLS handshake is milliseconds, and you want to amortise it via session resumption, TLS 1.3 and HTTP/2 multiplexing.</a:t>
            </a:r>
            <a:endParaRPr/>
          </a:p>
        </p:txBody>
      </p:sp>
      <p:sp>
        <p:nvSpPr>
          <p:cNvPr id="2045" name="Google Shape;2045;p1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2" name="Shape 2052"/>
        <p:cNvGrpSpPr/>
        <p:nvPr/>
      </p:nvGrpSpPr>
      <p:grpSpPr>
        <a:xfrm>
          <a:off x="0" y="0"/>
          <a:ext cx="0" cy="0"/>
          <a:chOff x="0" y="0"/>
          <a:chExt cx="0" cy="0"/>
        </a:xfrm>
      </p:grpSpPr>
      <p:sp>
        <p:nvSpPr>
          <p:cNvPr id="2053" name="Google Shape;2053;p1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4" name="Google Shape;2054;p1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as a deliberate choice for a known constraint, never as a default.</a:t>
            </a:r>
            <a:endParaRPr/>
          </a:p>
        </p:txBody>
      </p:sp>
      <p:sp>
        <p:nvSpPr>
          <p:cNvPr id="2055" name="Google Shape;2055;p1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3" name="Shape 2063"/>
        <p:cNvGrpSpPr/>
        <p:nvPr/>
      </p:nvGrpSpPr>
      <p:grpSpPr>
        <a:xfrm>
          <a:off x="0" y="0"/>
          <a:ext cx="0" cy="0"/>
          <a:chOff x="0" y="0"/>
          <a:chExt cx="0" cy="0"/>
        </a:xfrm>
      </p:grpSpPr>
      <p:sp>
        <p:nvSpPr>
          <p:cNvPr id="2064" name="Google Shape;2064;p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5" name="Google Shape;2065;p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Make stickiness a last resort, not a first reach. Cookie-based affinity is the safer of the two stickiness options because clients can drop the cookie deliberately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2066" name="Google Shape;2066;p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3" name="Shape 2073"/>
        <p:cNvGrpSpPr/>
        <p:nvPr/>
      </p:nvGrpSpPr>
      <p:grpSpPr>
        <a:xfrm>
          <a:off x="0" y="0"/>
          <a:ext cx="0" cy="0"/>
          <a:chOff x="0" y="0"/>
          <a:chExt cx="0" cy="0"/>
        </a:xfrm>
      </p:grpSpPr>
      <p:sp>
        <p:nvSpPr>
          <p:cNvPr id="2074" name="Google Shape;2074;p1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5" name="Google Shape;2075;p1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silently, observe its behaviour, but don't return its responses to the client — great for testing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2076" name="Google Shape;2076;p1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4" name="Shape 2084"/>
        <p:cNvGrpSpPr/>
        <p:nvPr/>
      </p:nvGrpSpPr>
      <p:grpSpPr>
        <a:xfrm>
          <a:off x="0" y="0"/>
          <a:ext cx="0" cy="0"/>
          <a:chOff x="0" y="0"/>
          <a:chExt cx="0" cy="0"/>
        </a:xfrm>
      </p:grpSpPr>
      <p:sp>
        <p:nvSpPr>
          <p:cNvPr id="2085" name="Google Shape;2085;p1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6" name="Google Shape;2086;p1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87" name="Google Shape;2087;p1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7" name="Shape 2097"/>
        <p:cNvGrpSpPr/>
        <p:nvPr/>
      </p:nvGrpSpPr>
      <p:grpSpPr>
        <a:xfrm>
          <a:off x="0" y="0"/>
          <a:ext cx="0" cy="0"/>
          <a:chOff x="0" y="0"/>
          <a:chExt cx="0" cy="0"/>
        </a:xfrm>
      </p:grpSpPr>
      <p:sp>
        <p:nvSpPr>
          <p:cNvPr id="2098" name="Google Shape;2098;p1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9" name="Google Shape;2099;p1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100" name="Google Shape;2100;p1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0" name="Shape 2110"/>
        <p:cNvGrpSpPr/>
        <p:nvPr/>
      </p:nvGrpSpPr>
      <p:grpSpPr>
        <a:xfrm>
          <a:off x="0" y="0"/>
          <a:ext cx="0" cy="0"/>
          <a:chOff x="0" y="0"/>
          <a:chExt cx="0" cy="0"/>
        </a:xfrm>
      </p:grpSpPr>
      <p:sp>
        <p:nvSpPr>
          <p:cNvPr id="2111" name="Google Shape;2111;p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2" name="Google Shape;2112;p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Distinguish the cheap modifications from the expensive ones. Header inject/strip and URL rewrites are essentially free — the router is already parsing the HTTP line and headers anyway. Body transformation is the expensive one because it forces the router to buffer the full payload, which kills streaming, blows memory on large requests and can become a bottleneck under load. Two examples worth mentioning: trace context propagation (the W3C traceparent header is how the spans from earlier in the journey stitch together with the spans downstream — that's why the request-id injection in the Nginx slide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113" name="Google Shape;2113;p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0" name="Shape 2120"/>
        <p:cNvGrpSpPr/>
        <p:nvPr/>
      </p:nvGrpSpPr>
      <p:grpSpPr>
        <a:xfrm>
          <a:off x="0" y="0"/>
          <a:ext cx="0" cy="0"/>
          <a:chOff x="0" y="0"/>
          <a:chExt cx="0" cy="0"/>
        </a:xfrm>
      </p:grpSpPr>
      <p:sp>
        <p:nvSpPr>
          <p:cNvPr id="2121" name="Google Shape;2121;p1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2" name="Google Shape;2122;p1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Show payload modification as configuration, not code. URL rewrite cleans up the path before forwarding (public /api/v1/orders becomes internal /orders). Request header set propagates the request-id (creating one if absent) and injects a tenant-id derived from the client mTLS cert — a really clean pattern, identity at the network layer. Request header remove strips the Authorization header before forwarding to the backend (after the gateway has already validated and turned it into trusted claims). Response header remove drops Server and X-Powered-By so we don't tell attackers what we're running. All of this is declarative and reconciled from Git; no per-service code is needed for any of it.</a:t>
            </a:r>
            <a:endParaRPr/>
          </a:p>
        </p:txBody>
      </p:sp>
      <p:sp>
        <p:nvSpPr>
          <p:cNvPr id="2123" name="Google Shape;2123;p1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3" name="Shape 2133"/>
        <p:cNvGrpSpPr/>
        <p:nvPr/>
      </p:nvGrpSpPr>
      <p:grpSpPr>
        <a:xfrm>
          <a:off x="0" y="0"/>
          <a:ext cx="0" cy="0"/>
          <a:chOff x="0" y="0"/>
          <a:chExt cx="0" cy="0"/>
        </a:xfrm>
      </p:grpSpPr>
      <p:sp>
        <p:nvSpPr>
          <p:cNvPr id="2134" name="Google Shape;2134;p1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5" name="Google Shape;2135;p1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we'll see code for)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 In the .NET ecosystem, MassTransit's RoutingSlip activity is the EIP-flavoured router (literally that name — the canonical Hohpe/Woolf 'routing slip' pattern, native to MassTransit), and NRules (MIT, Rete-based, same algorithm as Drools) is the open-source decision engine. The next slide shows them together.</a:t>
            </a:r>
            <a:endParaRPr/>
          </a:p>
        </p:txBody>
      </p:sp>
      <p:sp>
        <p:nvSpPr>
          <p:cNvPr id="2136" name="Google Shape;2136;p1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3" name="Shape 2143"/>
        <p:cNvGrpSpPr/>
        <p:nvPr/>
      </p:nvGrpSpPr>
      <p:grpSpPr>
        <a:xfrm>
          <a:off x="0" y="0"/>
          <a:ext cx="0" cy="0"/>
          <a:chOff x="0" y="0"/>
          <a:chExt cx="0" cy="0"/>
        </a:xfrm>
      </p:grpSpPr>
      <p:sp>
        <p:nvSpPr>
          <p:cNvPr id="2144" name="Google Shape;2144;p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5" name="Google Shape;2145;p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.NET-native take on the rule-based routing pattern. Inputs arrive over REST, gRPC or Kafka. They land in a MassTransit pipeline — declared as a Consumer or receive endpoint — which does two things: (1) ENRICH the message by calling out for additional context (HttpClient lookup of customer, region, tier, etc.); (2) EVALUATE the enriched message against an NRules session. NRules is an MIT-licensed Rete-algorithm rules engine, the same algorithm Drools uses; rules are authored as C# classes with a fluent Match/Do API (so the IDE catches typos and the test runner runs them), or as external NRules.Language files when domain experts need to edit the routing rules independently of code. The rule engine sets a WhereTo property on the message context. Then a MassTransit RoutingSlip activity dispatches the message to one or more destinations in sequence — the literal 'routing slip' EIP from the Hohpe/Woolf book, native to MassTransit. Compensations are first-class: a failed activity triggers MassTransit's built-in compensation chain, just like Appendix D's saga story. Everything runs in your ASP.NET Core Pod — no separate rule server, no Drools cluster — behind Istio, which still owns mTLS, retries and locality. Open source: MassTransit Apache 2.0, NRules MIT.</a:t>
            </a:r>
            <a:endParaRPr/>
          </a:p>
        </p:txBody>
      </p:sp>
      <p:sp>
        <p:nvSpPr>
          <p:cNvPr id="2146" name="Google Shape;2146;p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4" name="Shape 2154"/>
        <p:cNvGrpSpPr/>
        <p:nvPr/>
      </p:nvGrpSpPr>
      <p:grpSpPr>
        <a:xfrm>
          <a:off x="0" y="0"/>
          <a:ext cx="0" cy="0"/>
          <a:chOff x="0" y="0"/>
          <a:chExt cx="0" cy="0"/>
        </a:xfrm>
      </p:grpSpPr>
      <p:sp>
        <p:nvSpPr>
          <p:cNvPr id="2155" name="Google Shape;2155;p1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6" name="Google Shape;2156;p1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.NET reading of the Camel + Drools pattern. The IConsumer&lt;OrderInbound&gt; is MassTransit's receive endpoint — it handles Kafka, RabbitMQ or Azure Service Bus uniformly. Constructor injection (primary or classic) wires in HttpClient for the enrichment lookup and an NRules ISession scoped per-request. The flow: enrich the message by HTTP-calling customer-svc (Polly resilience policies attach here via Microsoft.Extensions.Http.Resilience, see Appendix E); insert the enriched fact into the NRules session and call Fire() — the Rete engine evaluates all rules whose 'when' patterns match and runs the matching 'then' actions, which set the WhereTo property on the fact. Then build a RoutingSlip from the WhereTo — MassTransit's RoutingSlip is the canonical EIP routing-slip activity (literally that name from the Hohpe/Woolf book): a list of itineraries (URIs) the message visits in sequence, with compensations executed in reverse on failure. For domain experts who'd rather edit a separate file: NRules.Language (also MIT) is a separate sub-project that parses an external DSL into the same rule model — the next slide shows the C# class form, but the same logic can live in an external file and be redeployed without rebuilding the consumer. Compare to Apache Camel: the EIP semantics are identical; the API surface is C#-native, with all the type safety, IDE tooling, and source-generator wiring that comes with it.</a:t>
            </a:r>
            <a:endParaRPr/>
          </a:p>
        </p:txBody>
      </p:sp>
      <p:sp>
        <p:nvSpPr>
          <p:cNvPr id="2157" name="Google Shape;2157;p1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7" name="Shape 2167"/>
        <p:cNvGrpSpPr/>
        <p:nvPr/>
      </p:nvGrpSpPr>
      <p:grpSpPr>
        <a:xfrm>
          <a:off x="0" y="0"/>
          <a:ext cx="0" cy="0"/>
          <a:chOff x="0" y="0"/>
          <a:chExt cx="0" cy="0"/>
        </a:xfrm>
      </p:grpSpPr>
      <p:sp>
        <p:nvSpPr>
          <p:cNvPr id="2168" name="Google Shape;2168;p1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9" name="Google Shape;2169;p1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NRules rules are 'When/Then' statements, structurally identical to Drools 'when/then'. When().Match&lt;T&gt;() is a pattern match against facts in the working memory (here, OrderFact), with one or more predicates that all must hold. Then().Do() is the action — in our case, setting the WhereTo property the RoutingSlip will consume. Two real rules and a default with Priority -100 (salience equivalent) so it fires last if nothing else matched. The point isn't the syntax; it's that these rules are first-class C# classes — type-safe, refactor-friendly, unit-testable through NRules.Testing — and live in their own .csproj. For domain experts who'd rather work outside C# (closer to the Drools .drl experience), NRules.Language is a separate sub-project that parses an external DSL into the same rule model, so non-developers can edit and redeploy the rule file without rebuilding the consumer. Decision tables: if your rules genuinely fit a spreadsheet shape (the DMN sweet spot), the .NET ecosystem doesn't ship a strong open-source DMN runtime — the pragmatic answer is to run Camunda or Kogito DMN as a separate service and call it via REST from the same enrichment step, or implement the table convention in NRules. We'll cover that honestly in the toolkit appendix.</a:t>
            </a:r>
            <a:endParaRPr/>
          </a:p>
        </p:txBody>
      </p:sp>
      <p:sp>
        <p:nvSpPr>
          <p:cNvPr id="2170" name="Google Shape;2170;p1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0" name="Shape 2180"/>
        <p:cNvGrpSpPr/>
        <p:nvPr/>
      </p:nvGrpSpPr>
      <p:grpSpPr>
        <a:xfrm>
          <a:off x="0" y="0"/>
          <a:ext cx="0" cy="0"/>
          <a:chOff x="0" y="0"/>
          <a:chExt cx="0" cy="0"/>
        </a:xfrm>
      </p:grpSpPr>
      <p:sp>
        <p:nvSpPr>
          <p:cNvPr id="2181" name="Google Shape;2181;p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2" name="Google Shape;2182;p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expectations honestly.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that means every layer must be lean and earn its place. The retry-storm discipline from Appendix E applies here too — timeouts must account for the total L7 budget plus the service's own work, or retries will pile up.</a:t>
            </a:r>
            <a:endParaRPr/>
          </a:p>
        </p:txBody>
      </p:sp>
      <p:sp>
        <p:nvSpPr>
          <p:cNvPr id="2183" name="Google Shape;2183;p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1" name="Shape 2191"/>
        <p:cNvGrpSpPr/>
        <p:nvPr/>
      </p:nvGrpSpPr>
      <p:grpSpPr>
        <a:xfrm>
          <a:off x="0" y="0"/>
          <a:ext cx="0" cy="0"/>
          <a:chOff x="0" y="0"/>
          <a:chExt cx="0" cy="0"/>
        </a:xfrm>
      </p:grpSpPr>
      <p:sp>
        <p:nvSpPr>
          <p:cNvPr id="2192" name="Google Shape;2192;p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3" name="Google Shape;2193;p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earlier slide.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94" name="Google Shape;2194;p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1" name="Shape 2201"/>
        <p:cNvGrpSpPr/>
        <p:nvPr/>
      </p:nvGrpSpPr>
      <p:grpSpPr>
        <a:xfrm>
          <a:off x="0" y="0"/>
          <a:ext cx="0" cy="0"/>
          <a:chOff x="0" y="0"/>
          <a:chExt cx="0" cy="0"/>
        </a:xfrm>
      </p:grpSpPr>
      <p:sp>
        <p:nvSpPr>
          <p:cNvPr id="2202" name="Google Shape;2202;p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3" name="Google Shape;2203;p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actually works in production.'</a:t>
            </a:r>
            <a:endParaRPr/>
          </a:p>
        </p:txBody>
      </p:sp>
      <p:sp>
        <p:nvSpPr>
          <p:cNvPr id="2204" name="Google Shape;2204;p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2" name="Shape 2212"/>
        <p:cNvGrpSpPr/>
        <p:nvPr/>
      </p:nvGrpSpPr>
      <p:grpSpPr>
        <a:xfrm>
          <a:off x="0" y="0"/>
          <a:ext cx="0" cy="0"/>
          <a:chOff x="0" y="0"/>
          <a:chExt cx="0" cy="0"/>
        </a:xfrm>
      </p:grpSpPr>
      <p:sp>
        <p:nvSpPr>
          <p:cNvPr id="2213" name="Google Shape;2213;p2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4" name="Google Shape;2214;p2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215" name="Google Shape;2215;p2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2" name="Shape 2222"/>
        <p:cNvGrpSpPr/>
        <p:nvPr/>
      </p:nvGrpSpPr>
      <p:grpSpPr>
        <a:xfrm>
          <a:off x="0" y="0"/>
          <a:ext cx="0" cy="0"/>
          <a:chOff x="0" y="0"/>
          <a:chExt cx="0" cy="0"/>
        </a:xfrm>
      </p:grpSpPr>
      <p:sp>
        <p:nvSpPr>
          <p:cNvPr id="2223" name="Google Shape;2223;p2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4" name="Google Shape;2224;p2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Same Istio primitives as the canary slide earlier,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actually IS: the same routing CRDs the edge uses, but everywhere, between every pair of services, configured centrally and applied by the sidecars.</a:t>
            </a:r>
            <a:endParaRPr/>
          </a:p>
        </p:txBody>
      </p:sp>
      <p:sp>
        <p:nvSpPr>
          <p:cNvPr id="2225" name="Google Shape;2225;p2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5" name="Shape 2235"/>
        <p:cNvGrpSpPr/>
        <p:nvPr/>
      </p:nvGrpSpPr>
      <p:grpSpPr>
        <a:xfrm>
          <a:off x="0" y="0"/>
          <a:ext cx="0" cy="0"/>
          <a:chOff x="0" y="0"/>
          <a:chExt cx="0" cy="0"/>
        </a:xfrm>
      </p:grpSpPr>
      <p:sp>
        <p:nvSpPr>
          <p:cNvPr id="2236" name="Google Shape;2236;p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7" name="Google Shape;2237;p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gRPC has a few sharp edges that are worth calling out separately.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238" name="Google Shape;2238;p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5" name="Shape 2245"/>
        <p:cNvGrpSpPr/>
        <p:nvPr/>
      </p:nvGrpSpPr>
      <p:grpSpPr>
        <a:xfrm>
          <a:off x="0" y="0"/>
          <a:ext cx="0" cy="0"/>
          <a:chOff x="0" y="0"/>
          <a:chExt cx="0" cy="0"/>
        </a:xfrm>
      </p:grpSpPr>
      <p:sp>
        <p:nvSpPr>
          <p:cNvPr id="2246" name="Google Shape;2246;p2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7" name="Google Shape;2247;p2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248" name="Google Shape;2248;p2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5" name="Shape 2255"/>
        <p:cNvGrpSpPr/>
        <p:nvPr/>
      </p:nvGrpSpPr>
      <p:grpSpPr>
        <a:xfrm>
          <a:off x="0" y="0"/>
          <a:ext cx="0" cy="0"/>
          <a:chOff x="0" y="0"/>
          <a:chExt cx="0" cy="0"/>
        </a:xfrm>
      </p:grpSpPr>
      <p:sp>
        <p:nvSpPr>
          <p:cNvPr id="2256" name="Google Shape;2256;p2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7" name="Google Shape;2257;p2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official docs for each piece, plus the MassTransit RoutingSlip / NRules samples (the canonical .NET demos for the content-based-router EIP). The architecture itself is language-neutral — the same pattern lives behind any service-mesh stack in any language; we've just made it concrete in .NET.</a:t>
            </a:r>
            <a:endParaRPr/>
          </a:p>
        </p:txBody>
      </p:sp>
      <p:sp>
        <p:nvSpPr>
          <p:cNvPr id="2258" name="Google Shape;2258;p2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p2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p2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J is the reference appendix — the tables you keep open in another window while you build. Three diagrams: every NuGet library in your csproj, every cloud-native platform component your Pods rely on, and an expanded version of the Section 1 bridge diagram with concrete migration rationale. Then a candid look at what .NET genuinely doesn't have, and a short closing recipe to start a new cloud-native service. Built specifically for the .NET-developers-moving-from-Windows audience this whole deck is aimed at.</a:t>
            </a:r>
            <a:endParaRPr/>
          </a:p>
        </p:txBody>
      </p:sp>
      <p:sp>
        <p:nvSpPr>
          <p:cNvPr id="2268" name="Google Shape;2268;p2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5" name="Shape 2275"/>
        <p:cNvGrpSpPr/>
        <p:nvPr/>
      </p:nvGrpSpPr>
      <p:grpSpPr>
        <a:xfrm>
          <a:off x="0" y="0"/>
          <a:ext cx="0" cy="0"/>
          <a:chOff x="0" y="0"/>
          <a:chExt cx="0" cy="0"/>
        </a:xfrm>
      </p:grpSpPr>
      <p:sp>
        <p:nvSpPr>
          <p:cNvPr id="2276" name="Google Shape;2276;p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7" name="Google Shape;2277;p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consolidated bill of materials for the application side: every NuGet library used anywhere in the deck, grouped by concern. The license column is the one to draw audience attention to — every single entry is MIT, Apache 2.0, or BSD-3, with no commercial-only dependencies and no Azure-only services. Some highlights worth calling out: Microsoft.AspNetCore.OpenApi and SignalR are built into ASP.NET Core 10 (no extra NuGet); MassTransit is the BizTalk / NServiceBus open-source heir for one programming model across Kafka, RabbitMQ and Azure Service Bus; Streamiz.Kafka.Net is the .NET port of Kafka Streams (which means no Flink cluster needed for windowed aggregations); Temporalio.Temporal pairs with the Temporal Server in the platform stack for durable workflows; Stateless covers the lightweight in-process state-machine slot; NRules covers the rules-engine slot; YARP and Wolverine are mentioned where appropriate. The closing footer reinforces the open-source-only posture and the platform-agnostic deployment: every entry runs on plain Kubernetes — nothing here requires Azure (or AWS, or any cloud-specific service).</a:t>
            </a:r>
            <a:endParaRPr/>
          </a:p>
        </p:txBody>
      </p:sp>
      <p:sp>
        <p:nvSpPr>
          <p:cNvPr id="2278" name="Google Shape;2278;p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6" name="Shape 2286"/>
        <p:cNvGrpSpPr/>
        <p:nvPr/>
      </p:nvGrpSpPr>
      <p:grpSpPr>
        <a:xfrm>
          <a:off x="0" y="0"/>
          <a:ext cx="0" cy="0"/>
          <a:chOff x="0" y="0"/>
          <a:chExt cx="0" cy="0"/>
        </a:xfrm>
      </p:grpSpPr>
      <p:sp>
        <p:nvSpPr>
          <p:cNvPr id="2287" name="Google Shape;2287;p2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8" name="Google Shape;2288;p2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platform half of the bill of materials. These components are what your .NET Pods talk TO — the substrate the cluster provides. None of them know or care that your services happen to be .NET; the same stack would serve a Spring Boot, Quarkus or Python deployment identically. That's the point: the .NET library choices on the previous slide are entirely separable from the platform choices on this one. If you're already running this platform with a Java or Python application, you can drop .NET services in alongside without changing anything below the application layer. A few callouts: Strimzi is the Kubernetes-native Kafka operator (open-source, Apache 2.0 — not Confluent Cloud); Apicurio is the open-source schema registry that holds your OpenAPI / .proto / Avro contracts; OpenMetadata is the asset-catalog/lineage tool; LGTM (Tempo + Mimir + Loki + Grafana) is Grafana Labs' open-source observability stack — note the AGPL-3.0 licensing if that's a concern for you; PostgreSQL is the primary OLTP store; Redis (or its BSD-licensed Valkey fork) is the SignalR backplane and distributed-lock substrate; Temporal Server pairs with the Temporal .NET SDK from the application stack. The bottom line: standard cloud-native stack, your .NET Pods are just one workload type running on it.</a:t>
            </a:r>
            <a:endParaRPr/>
          </a:p>
        </p:txBody>
      </p:sp>
      <p:sp>
        <p:nvSpPr>
          <p:cNvPr id="2289" name="Google Shape;2289;p2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7" name="Shape 2297"/>
        <p:cNvGrpSpPr/>
        <p:nvPr/>
      </p:nvGrpSpPr>
      <p:grpSpPr>
        <a:xfrm>
          <a:off x="0" y="0"/>
          <a:ext cx="0" cy="0"/>
          <a:chOff x="0" y="0"/>
          <a:chExt cx="0" cy="0"/>
        </a:xfrm>
      </p:grpSpPr>
      <p:sp>
        <p:nvSpPr>
          <p:cNvPr id="2298" name="Google Shape;2298;p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9" name="Google Shape;2299;p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 the expanded version of the bridge diagram from Cloud-Native Principles. 22 rows, four columns: the concern, what you came from in the Windows world, what it becomes in the cloud-native world, and what changes most. Read the rightmost column — 'what changes most' — because that's where the architectural shift lives. Almost every row preserves the SHAPE of the pattern (you still have request handlers, background workers, scheduled jobs, distributed locks, health checks, configuration sources, telemetry, etc.) but who owns the substrate changes. IIS owned the host → Kubernetes does. MSDTC owned distributed transactions → the saga + outbox pattern does. MSMQ owned messaging → Kafka + MassTransit does. AD owned identity → SPIFFE + mTLS via Istio does. Perf Counters + Event Log owned telemetry → OpenTelemetry + Loki + Tempo + Mimir does. The pattern doesn't disappear; the substrate becomes open-source and cluster-native. The two genuinely large shifts that ARE conceptual rewrites: COM+ / MSDTC distributed transactions become sagas (you write compensations explicitly because there's no two-phase commit across services), and BizTalk orchestration becomes a Temporal workflow or a MassTransit + NRules routing pipeline (orchestration is now C# code in your repo, not a separate authored artifact in a separate runtime). Everything else is a substrate swap, not a paradigm shift.</a:t>
            </a:r>
            <a:endParaRPr/>
          </a:p>
        </p:txBody>
      </p:sp>
      <p:sp>
        <p:nvSpPr>
          <p:cNvPr id="2300" name="Google Shape;2300;p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8" name="Shape 2308"/>
        <p:cNvGrpSpPr/>
        <p:nvPr/>
      </p:nvGrpSpPr>
      <p:grpSpPr>
        <a:xfrm>
          <a:off x="0" y="0"/>
          <a:ext cx="0" cy="0"/>
          <a:chOff x="0" y="0"/>
          <a:chExt cx="0" cy="0"/>
        </a:xfrm>
      </p:grpSpPr>
      <p:sp>
        <p:nvSpPr>
          <p:cNvPr id="2309" name="Google Shape;2309;p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0" name="Google Shape;2310;p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 candid here. Every ecosystem has gaps; pretending .NET doesn't is dishonest and erodes trust. (1) DMN: the closest OSS in .NET is decision-table conventions on top of NRules, but for the genuine DMN experience — spreadsheet authoring tool, decision-table semantics, FEEL expression language — you run Camunda or Kogito as a separate service. (2) Camel breadth: Apache Camel has ~300 components for everything from HL7 over MLLP to FTP to mainframe gateways; MassTransit's transports are narrower. If you're an integration shop with heavy mainframe / EDI / HL7 needs, you may run Camel as a sidecar in a JVM Pod and call it from .NET. (3) Streamiz scale: it works well, but the maintainer count and ecosystem depth are smaller than Kafka Streams' — if streams are central, plan accordingly. (4) DI: M.E.DI is simple enough that complex patterns sometimes want Autofac. (5) MediatR's license shift is a real story; many teams migrating from MediatR are picking Wolverine because the design is genuinely improved. The bold closing line is the audience takeaway: don't oversell, do contextualise. For LOB and SaaS workloads the gaps almost never bite; for integration platforms or heavy stream processing, plan for polyglot.</a:t>
            </a:r>
            <a:endParaRPr/>
          </a:p>
        </p:txBody>
      </p:sp>
      <p:sp>
        <p:nvSpPr>
          <p:cNvPr id="2311" name="Google Shape;2311;p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8" name="Shape 2318"/>
        <p:cNvGrpSpPr/>
        <p:nvPr/>
      </p:nvGrpSpPr>
      <p:grpSpPr>
        <a:xfrm>
          <a:off x="0" y="0"/>
          <a:ext cx="0" cy="0"/>
          <a:chOff x="0" y="0"/>
          <a:chExt cx="0" cy="0"/>
        </a:xfrm>
      </p:grpSpPr>
      <p:sp>
        <p:nvSpPr>
          <p:cNvPr id="2319" name="Google Shape;2319;p2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0" name="Google Shape;2320;p2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deck with a clear, opinionated recipe. The five steps are deliberately ordered: instrument first (factor 9 + observability), then choose your protocol surface (don't fall into the 'one of each' trap), then settle data ownership (outbox + DbContext), then choose your workflow tier (Temporal vs Stateless), then deploy with the cluster doing the heavy lifting. The six-library sub-bullet is the leave-up: if a new .NET cloud-native service starts with those six NuGet packages and the platform underneath is the standard stack from slide J2, the team has 95% of the patterns in this deck working from day one. Everything else — SignalR / Streamiz / NRules / HotChocolate — is opt-in per workload. The deck closes with that practical concreteness rather than a 'thank you' — the audience leaves with a recipe and the reference tables.</a:t>
            </a:r>
            <a:endParaRPr/>
          </a:p>
        </p:txBody>
      </p:sp>
      <p:sp>
        <p:nvSpPr>
          <p:cNvPr id="2321" name="Google Shape;2321;p2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8" name="Shape 2328"/>
        <p:cNvGrpSpPr/>
        <p:nvPr/>
      </p:nvGrpSpPr>
      <p:grpSpPr>
        <a:xfrm>
          <a:off x="0" y="0"/>
          <a:ext cx="0" cy="0"/>
          <a:chOff x="0" y="0"/>
          <a:chExt cx="0" cy="0"/>
        </a:xfrm>
      </p:grpSpPr>
      <p:sp>
        <p:nvSpPr>
          <p:cNvPr id="2329" name="Google Shape;2329;p2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0" name="Google Shape;2330;p2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for progressive extraction, content-based routing for fine-grained cutover, and the decorating collaborator for wrapping legacy code you can't touch. Code in this appendix uses ASP.NET Core 10 + IHttpClientFactory + IDistributedCache + MassTransit + FusionCache, but the patterns are language-neutral.</a:t>
            </a:r>
            <a:endParaRPr/>
          </a:p>
        </p:txBody>
      </p:sp>
      <p:sp>
        <p:nvSpPr>
          <p:cNvPr id="2331" name="Google Shape;2331;p2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8" name="Shape 2338"/>
        <p:cNvGrpSpPr/>
        <p:nvPr/>
      </p:nvGrpSpPr>
      <p:grpSpPr>
        <a:xfrm>
          <a:off x="0" y="0"/>
          <a:ext cx="0" cy="0"/>
          <a:chOff x="0" y="0"/>
          <a:chExt cx="0" cy="0"/>
        </a:xfrm>
      </p:grpSpPr>
      <p:sp>
        <p:nvSpPr>
          <p:cNvPr id="2339" name="Google Shape;2339;p2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0" name="Google Shape;2340;p2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Define the term before fixing it. A monolith is not a code-organisation problem — it's a DEPLOYMENT-organisation property. Even a well-organised ASP.NET Core codebase with clear Controllers, Services, and 1000 unit tests is a monolith if it ships as one image on one heartbeat. The defining property: change anywhere, redeploy everything; a bug in Reporting can take down Payments; one scaling unit for very different workloads. Importantly: monoliths are not always wrong. For new products, small teams, or anything that fits in one team's head, they're often the simplest and fastest path to value — especially with .NET 10's fast cold-start. Premature decomposition is its own anti-pattern. The conversation is: when does THIS monolith start hurting more than it helps?</a:t>
            </a:r>
            <a:endParaRPr/>
          </a:p>
        </p:txBody>
      </p:sp>
      <p:sp>
        <p:nvSpPr>
          <p:cNvPr id="2341" name="Google Shape;2341;p2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9" name="Shape 2349"/>
        <p:cNvGrpSpPr/>
        <p:nvPr/>
      </p:nvGrpSpPr>
      <p:grpSpPr>
        <a:xfrm>
          <a:off x="0" y="0"/>
          <a:ext cx="0" cy="0"/>
          <a:chOff x="0" y="0"/>
          <a:chExt cx="0" cy="0"/>
        </a:xfrm>
      </p:grpSpPr>
      <p:sp>
        <p:nvSpPr>
          <p:cNvPr id="2350" name="Google Shape;2350;p2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1" name="Google Shape;2351;p2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intermediate pattern that's often the right destination, not a stepping stone. Modules within one .NET process have clear public APIs and private internals that other modules cannot reach. In the .NET world, enforcement uses multi-project solutions: each module is a separate .csproj with explicit ProjectReference graphs in CI — ArchUnitNET tests the dependency rules. .NET 8+ also added internal-by-default semantics for new project templates which helps enforce module-internal types. The .NET ecosystem doesn't ship a runtime module-graph framework out of the box, but the discipline is identical — separate projects, internal types per assembly, ArchUnitNET in CI. Modules can share a database, but each owns a schema and no cross-schema joins are allowed.</a:t>
            </a:r>
            <a:endParaRPr/>
          </a:p>
        </p:txBody>
      </p:sp>
      <p:sp>
        <p:nvSpPr>
          <p:cNvPr id="2352" name="Google Shape;2352;p2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0" name="Shape 2360"/>
        <p:cNvGrpSpPr/>
        <p:nvPr/>
      </p:nvGrpSpPr>
      <p:grpSpPr>
        <a:xfrm>
          <a:off x="0" y="0"/>
          <a:ext cx="0" cy="0"/>
          <a:chOff x="0" y="0"/>
          <a:chExt cx="0" cy="0"/>
        </a:xfrm>
      </p:grpSpPr>
      <p:sp>
        <p:nvSpPr>
          <p:cNvPr id="2361" name="Google Shape;2361;p2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2" name="Google Shape;2362;p2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Splitting the database is the genuinely hard part of decomposition. Do that work while you're still one .NET process. Each module gets its own EF Core DbContext, its own DataSource, its own EF Migrations history. ASP.NET Core makes this clean — multiple AddDbContext&lt;TContext&gt; registrations in Program.cs, each pointing at its own connection string from configuration (appsettings.json sections or environment variables), each module's repositories typed against the right DbContext. Cross-module data is now async or event-driven (typically via MediatR INotificationHandler for in-process events, or MassTransit IPublishEndpoint for cross-service). Once this is done, promoting a module to a separate service is a refactor of the deployment topology, not a data-migration project.</a:t>
            </a:r>
            <a:endParaRPr/>
          </a:p>
        </p:txBody>
      </p:sp>
      <p:sp>
        <p:nvSpPr>
          <p:cNvPr id="2363" name="Google Shape;2363;p2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1" name="Shape 2371"/>
        <p:cNvGrpSpPr/>
        <p:nvPr/>
      </p:nvGrpSpPr>
      <p:grpSpPr>
        <a:xfrm>
          <a:off x="0" y="0"/>
          <a:ext cx="0" cy="0"/>
          <a:chOff x="0" y="0"/>
          <a:chExt cx="0" cy="0"/>
        </a:xfrm>
      </p:grpSpPr>
      <p:sp>
        <p:nvSpPr>
          <p:cNvPr id="2372" name="Google Shape;2372;p2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73" name="Google Shape;2373;p2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Martin Fowler strangler-fig pattern. The three steps you repeat. IDENTIFY: pick a bounded asset — 'order creation' or 'order status query' specifically. The smaller the better. MOVE: build the new ASP.NET Core service alongside the monolith, replicate the behaviour, test it in parallel without production traffic (often by shadowing reads through the new service and comparing outputs in a side-by-side test harness). REDIRECT: switch callers to the new service. Each cycle is independently reversible — if the new service is wrong, redirect back. The next slides cover three ways to do the redirect: via a proxy, via a proxy plus partial routing, or via a shared database.</a:t>
            </a:r>
            <a:endParaRPr/>
          </a:p>
        </p:txBody>
      </p:sp>
      <p:sp>
        <p:nvSpPr>
          <p:cNvPr id="2374" name="Google Shape;2374;p2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2" name="Shape 2382"/>
        <p:cNvGrpSpPr/>
        <p:nvPr/>
      </p:nvGrpSpPr>
      <p:grpSpPr>
        <a:xfrm>
          <a:off x="0" y="0"/>
          <a:ext cx="0" cy="0"/>
          <a:chOff x="0" y="0"/>
          <a:chExt cx="0" cy="0"/>
        </a:xfrm>
      </p:grpSpPr>
      <p:sp>
        <p:nvSpPr>
          <p:cNvPr id="2383" name="Google Shape;2383;p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4" name="Google Shape;2384;p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pre-condition for incremental migration: clients hit the proxy, the proxy forwards to the monolith. Day zero, behaviour is unchanged. But you now have the lever — the proxy is where you'll later route 1% of /orders/* traffic to the extracted .NET service, then 5%, then 100%. Without this step, every cutover is a coordinated client release. With it, every cutover is a proxy config change. For .NET deployments this is typically nginx, Envoy, or Istio gateway as a Kubernetes Service ahead of your application Pods — OR YARP (the Microsoft-built reverse proxy library, MIT licensed) as an in-app gateway if you prefer C# control of routing.</a:t>
            </a:r>
            <a:endParaRPr/>
          </a:p>
        </p:txBody>
      </p:sp>
      <p:sp>
        <p:nvSpPr>
          <p:cNvPr id="2385" name="Google Shape;2385;p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3" name="Shape 2393"/>
        <p:cNvGrpSpPr/>
        <p:nvPr/>
      </p:nvGrpSpPr>
      <p:grpSpPr>
        <a:xfrm>
          <a:off x="0" y="0"/>
          <a:ext cx="0" cy="0"/>
          <a:chOff x="0" y="0"/>
          <a:chExt cx="0" cy="0"/>
        </a:xfrm>
      </p:grpSpPr>
      <p:sp>
        <p:nvSpPr>
          <p:cNvPr id="2394" name="Google Shape;2394;p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5" name="Google Shape;2395;p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proxy earns its keep: by path, by header (X-Tenant: acme), by percentage (1% canary), or by feature flag (Microsoft.FeatureManagement). The new ASP.NET Core service handles its slice; the monolith handles everything else. Clients still see one URL. Roll forward by widening; roll back by narrowing. The new service can fail completely and the monolith picks up — bounded blast radius is the whole point. Instrument both paths via OpenTelemetry so you can verify the new service produces the same outcomes as the monolith before widening. For .NET deployments this typically lives in Istio VirtualService rules, nginx server blocks, or YARP RouteConfig + cluster predicates.</a:t>
            </a:r>
            <a:endParaRPr/>
          </a:p>
        </p:txBody>
      </p:sp>
      <p:sp>
        <p:nvSpPr>
          <p:cNvPr id="2396" name="Google Shape;2396;p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p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p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Sometimes the data split is too risky to do at the same time as the process split. The new .NET service and the monolith share a database for a while. Both apps read and write the same tables; the new service owns the API but not the data. Useful for extracting reads first, or as a stepping stone. NOT a destination — every EF Core migration now needs both apps to agree, and the coordination tax grows. The next step is to give the new service its own store: CDC out of the monolith's DB into the new service's via Debezium (running as a Kafka Connect connector), or dual-writing during a brief sync window, or event-sourcing the data into the new service via Marten / EventStore.</a:t>
            </a:r>
            <a:endParaRPr/>
          </a:p>
        </p:txBody>
      </p:sp>
      <p:sp>
        <p:nvSpPr>
          <p:cNvPr id="2407" name="Google Shape;2407;p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p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p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shape. Three named HttpClients registered via IHttpClientFactory — the canonical pattern for managed HttpClient lifetimes in ASP.NET Core (per-request socket reuse, DNS refresh, Polly resilience policies, OpenTelemetry instrumentation all attach here). The minimal API reads the body as a JsonObject (System.Text.Json), inspects payload fields, and uses a C# switch expression to pick the upstream. PostAsJsonAsync is the one-line serialize+POST. The decision is by payload content: tenant, region, feature flag — not URL pattern. For .NET running behind a real proxy (nginx, Envoy, Istio, YARP), express the same logic in Lua / WASM filters at the gateway. The CPU cost of body parsing is the only real downside — over months it adds up; over a migration window of weeks it's irrelevant compared to the risk control it buys. Add Polly resilience pipelines (Microsoft.Extensions.Http.Resilience) on the AddHttpClient lines for retry / circuit-breaker / timeout on the upstream calls.</a:t>
            </a:r>
            <a:endParaRPr/>
          </a:p>
        </p:txBody>
      </p:sp>
      <p:sp>
        <p:nvSpPr>
          <p:cNvPr id="2418" name="Google Shape;2418;p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p2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p2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Different from the proxy patterns: the decorator owns BEHAVIOUR, not just routing. The new ASP.NET Core service sits in front of the legacy API and adds cross-cutting capability: Redis caching via IDistributedCache, Kafka event emission via MassTransit, audit logging, validation, enrichment, rate-limiting, metrics via OpenTelemetry. Legacy service unaware. Clients now talk to the decorator's API, which delegates for the underlying work but contributes everything else. Particularly useful when the legacy system is a 3rd-party product, a vendor system, or fragile code that touching is forbidden. The decorator is a real .NET microservice (own deploy, own scaling, own data) — not just a router. Common implementation: ASP.NET Core + HttpClient + IDistributedCache + MassTransit IPublishEndpoint.</a:t>
            </a:r>
            <a:endParaRPr/>
          </a:p>
        </p:txBody>
      </p:sp>
      <p:sp>
        <p:nvSpPr>
          <p:cNvPr id="2431" name="Google Shape;2431;p2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p2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p2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decorator is a primary-constructor ApiController (C# 12 primary constructors are heavily used in .NET 10). Four injected collaborators: IHttpClientFactory for the legacy HTTP client, IDistributedCache for Redis-backed cache (auto-configured by Microsoft.Extensions.Caching.StackExchangeRedis), IPublishEndpoint from MassTransit for emitting Kafka events, and ILogger for observability. The GET path uses cache-aside semantics with IDistributedCache (which serializes via byte arrays — we JSON-serialize manually for type fidelity). The POST path delegates to legacy (still source of truth), publishes an OrderPlaced event via MassTransit (which routes to Kafka, AMQP, or Azure Service Bus uniformly depending on transport configuration), then invalidates the cache. Legacy service has no idea it's been wrapped. Over time you can move more behaviour into the decorator: validation, idempotency keys, dedup, multi-source reads. When you're ready to retire the legacy service, you implement the storage inside the decorator (or in a clean new service it calls) and stop forwarding — the API stays the same for clients.</a:t>
            </a:r>
            <a:endParaRPr/>
          </a:p>
        </p:txBody>
      </p:sp>
      <p:sp>
        <p:nvSpPr>
          <p:cNvPr id="2442" name="Google Shape;2442;p2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p2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p2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with the decision rules. The first point is the most important and most often skipped — with multi-project solutions and good build discipline, a modular monolith is frequently a fine destination. Microservices have real operational cost. The second point is the most underrated: the database split is where projects get stuck for years; do it early, while still one .NET process. The third point: no proxy, no incremental migration. The fourth: shared-database strangler is OK as a means but never as an end. The bold final line is the architectural take-home: reversibility — every step should be a config change you can undo without coordinating a release — is the property to design for. Migrations fail when they reach an irreversible step too early.</a:t>
            </a:r>
            <a:endParaRPr/>
          </a:p>
        </p:txBody>
      </p:sp>
      <p:sp>
        <p:nvSpPr>
          <p:cNvPr id="2455" name="Google Shape;2455;p2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2" name="Shape 2462"/>
        <p:cNvGrpSpPr/>
        <p:nvPr/>
      </p:nvGrpSpPr>
      <p:grpSpPr>
        <a:xfrm>
          <a:off x="0" y="0"/>
          <a:ext cx="0" cy="0"/>
          <a:chOff x="0" y="0"/>
          <a:chExt cx="0" cy="0"/>
        </a:xfrm>
      </p:grpSpPr>
      <p:sp>
        <p:nvSpPr>
          <p:cNvPr id="2463" name="Google Shape;2463;p2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4" name="Google Shape;2464;p2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L is the caching reference. Five reasons to cache and six patterns to do it well. The patterns differ in WHO reads/writes the cache, WHEN, and WHO owns the consistency story. We use Redis as the canonical cache because it's the default open-source choice on Kubernetes — same patterns apply to in-memory caches or any KV store. Code uses IDistributedCache (Microsoft.Extensions.Caching.StackExchangeRedis) for the standard patterns, IConnectionMultiplexer (StackExchange.Redis) for advanced operations, and FusionCache for the read-through / declarative pattern.</a:t>
            </a:r>
            <a:endParaRPr/>
          </a:p>
        </p:txBody>
      </p:sp>
      <p:sp>
        <p:nvSpPr>
          <p:cNvPr id="2465" name="Google Shape;2465;p2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2" name="Shape 2472"/>
        <p:cNvGrpSpPr/>
        <p:nvPr/>
      </p:nvGrpSpPr>
      <p:grpSpPr>
        <a:xfrm>
          <a:off x="0" y="0"/>
          <a:ext cx="0" cy="0"/>
          <a:chOff x="0" y="0"/>
          <a:chExt cx="0" cy="0"/>
        </a:xfrm>
      </p:grpSpPr>
      <p:sp>
        <p:nvSpPr>
          <p:cNvPr id="2473" name="Google Shape;2473;p2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4" name="Google Shape;2474;p2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Five concrete reasons that justify the caching investment. Application performance is the user-facing win. Backend load matters more in steady state — shielding the database is what lets your DB tier stay smaller. Throughput follows from both. Predictable performance flattens p99. Database cost often pays for the caching infrastructure. The sub-bullet is what trips teams up: every cache adds complexity; pick the pattern that matches the consistency you actually need.</a:t>
            </a:r>
            <a:endParaRPr/>
          </a:p>
        </p:txBody>
      </p:sp>
      <p:sp>
        <p:nvSpPr>
          <p:cNvPr id="2475" name="Google Shape;2475;p2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2" name="Shape 2482"/>
        <p:cNvGrpSpPr/>
        <p:nvPr/>
      </p:nvGrpSpPr>
      <p:grpSpPr>
        <a:xfrm>
          <a:off x="0" y="0"/>
          <a:ext cx="0" cy="0"/>
          <a:chOff x="0" y="0"/>
          <a:chExt cx="0" cy="0"/>
        </a:xfrm>
      </p:grpSpPr>
      <p:sp>
        <p:nvSpPr>
          <p:cNvPr id="2483" name="Google Shape;2483;p2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4" name="Google Shape;2484;p2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everyone starts with. The ASP.NET Core application is in charge: try IDistributedCache first, on a miss query EF Core, populate the cache on the way back, return. Every other pattern in this appendix differs in WHO does the work. Pros: explicit, debuggable, no magic. Cons: every read has the if/else; cache miss costs two round trips; cache logic is repeated across services if you don't extract it. The TTL is the consistency knob — longer = fewer DB hits, more stale-read risk. Use when you want explicit control and reads dominate writes.</a:t>
            </a:r>
            <a:endParaRPr/>
          </a:p>
        </p:txBody>
      </p:sp>
      <p:sp>
        <p:nvSpPr>
          <p:cNvPr id="2485" name="Google Shape;2485;p2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3" name="Shape 2493"/>
        <p:cNvGrpSpPr/>
        <p:nvPr/>
      </p:nvGrpSpPr>
      <p:grpSpPr>
        <a:xfrm>
          <a:off x="0" y="0"/>
          <a:ext cx="0" cy="0"/>
          <a:chOff x="0" y="0"/>
          <a:chExt cx="0" cy="0"/>
        </a:xfrm>
      </p:grpSpPr>
      <p:sp>
        <p:nvSpPr>
          <p:cNvPr id="2494" name="Google Shape;2494;p2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5" name="Google Shape;2495;p2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Minimal cache-aside in ASP.NET Core. IDistributedCache is the Microsoft.Extensions.Caching abstraction; AddStackExchangeRedisCache wires it to Redis. The cache stores byte arrays (or strings); we JSON-serialize Product manually for type fidelity. The handler tries the cache first, falls back to EF Core's FindAsync on miss, populates the cache with a 60-second TTL, returns. The PUT path removes the cache entry after a successful DB write — invalidate-on-write. Note: IDistributedCache doesn't have a typed get/set API — it's intentionally low-level. For typed caching with retry / hedging / cache stampede protection out of the box, FusionCache (covered on the next slide) is the modern idiomatic alternative. For Redis failures, IDistributedCache's calls can throw RedisConnectionException — wrap in try/catch (or use Polly's resilience pipelines via Microsoft.Extensions.Http.Resilience) so a Redis outage falls back to EF Core and the read still works. For high-cardinality keys, configure Redis with maxmemory-policy allkeys-lru so the cache doesn't grow unbounded.</a:t>
            </a:r>
            <a:endParaRPr/>
          </a:p>
        </p:txBody>
      </p:sp>
      <p:sp>
        <p:nvSpPr>
          <p:cNvPr id="2496" name="Google Shape;2496;p2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p2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p2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variation where the cache library, not the application, calls the database on a miss. The .NET BCL doesn't ship a declarative read-through cache, but FusionCache (MIT, open-source) is the modern idiomatic answer — it gives you GetOrSetAsync with a factory function (the loader), built-in stampede protection, fail-safe fallback, and L1+L2 layering (in-memory + Redis). Pros: cleaner application code, single read interface, built-in protection from cache stampedes (no thundering herd). Cons: you're adding a library; less control over what triggers a DB hit. Use when read paths are repetitive and you want declarative caching with safety nets. Alternative for the conservative shop: HybridCache (new in .NET 9, Microsoft-built, similar semantics to FusionCache but Microsoft-supported).</a:t>
            </a:r>
            <a:endParaRPr/>
          </a:p>
        </p:txBody>
      </p:sp>
      <p:sp>
        <p:nvSpPr>
          <p:cNvPr id="2509" name="Google Shape;2509;p2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7" name="Shape 2517"/>
        <p:cNvGrpSpPr/>
        <p:nvPr/>
      </p:nvGrpSpPr>
      <p:grpSpPr>
        <a:xfrm>
          <a:off x="0" y="0"/>
          <a:ext cx="0" cy="0"/>
          <a:chOff x="0" y="0"/>
          <a:chExt cx="0" cy="0"/>
        </a:xfrm>
      </p:grpSpPr>
      <p:sp>
        <p:nvSpPr>
          <p:cNvPr id="2518" name="Google Shape;2518;p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9" name="Google Shape;2519;p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FusionCache is the modern .NET answer for declarative read-through caching — MIT licensed, actively maintained, with features the BCL caches don't have out of the box (stampede protection, fail-safe with stale-fallback, two-level L1+L2 cache). The Program.cs registration shows the typical setup: AddFusionCache, configure a JSON serializer, pair with IDistributedCache (Redis), set default duration and fail-safe behaviour. The controller uses GetOrSetAsync with a factory — the factory runs ONLY on cache miss, and FusionCache's built-in concurrency control ensures that if 100 concurrent requests hit the same missing key, the factory runs ONCE and the other 99 await the result — no thundering herd. The fail-safe option (SetFailSafe) is the killer feature: when the factory throws (DB outage), FusionCache returns the stale cached value if available rather than propagating the failure. The trade vs IDistributedCache: you add a library dependency (24KB DLL), get safer caching out of the box. Alternative: HybridCache (Microsoft.Extensions.Caching.Hybrid, .NET 9+) gives similar L1+L2 semantics but is newer and the API is slightly different.</a:t>
            </a:r>
            <a:endParaRPr/>
          </a:p>
        </p:txBody>
      </p:sp>
      <p:sp>
        <p:nvSpPr>
          <p:cNvPr id="2520" name="Google Shape;2520;p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0" name="Shape 2530"/>
        <p:cNvGrpSpPr/>
        <p:nvPr/>
      </p:nvGrpSpPr>
      <p:grpSpPr>
        <a:xfrm>
          <a:off x="0" y="0"/>
          <a:ext cx="0" cy="0"/>
          <a:chOff x="0" y="0"/>
          <a:chExt cx="0" cy="0"/>
        </a:xfrm>
      </p:grpSpPr>
      <p:sp>
        <p:nvSpPr>
          <p:cNvPr id="2531" name="Google Shape;2531;p2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32" name="Google Shape;2532;p2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stale reads are not acceptable, write-through forces every write to update both stores. The ASP.NET Core handler calls SaveChangesAsync on the DbContext and SetStringAsync on the cache; both must succeed. Pros: a read immediately after a write sees the new value. Cons: write latency is the sum of both stores; you have to handle the case where the cache write succeeds but the DB write fails (or vice versa). The discipline: write the DB first inside a SaveChanges call, write the cache second, accept that a failure between them leaves a brief inconsistency. Short TTL self-heals.</a:t>
            </a:r>
            <a:endParaRPr/>
          </a:p>
        </p:txBody>
      </p:sp>
      <p:sp>
        <p:nvSpPr>
          <p:cNvPr id="2533" name="Google Shape;2533;p2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1" name="Shape 2541"/>
        <p:cNvGrpSpPr/>
        <p:nvPr/>
      </p:nvGrpSpPr>
      <p:grpSpPr>
        <a:xfrm>
          <a:off x="0" y="0"/>
          <a:ext cx="0" cy="0"/>
          <a:chOff x="0" y="0"/>
          <a:chExt cx="0" cy="0"/>
        </a:xfrm>
      </p:grpSpPr>
      <p:sp>
        <p:nvSpPr>
          <p:cNvPr id="2542" name="Google Shape;2542;p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3" name="Google Shape;2543;p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write-through flavours. The first uses IDistributedCache directly: save EF Core changes, then SetStringAsync to update the cache with the new value (SET, not REMOVE — the difference between write-through and cache-aside-with-invalidate). The second uses FusionCache.SetAsync, which has a significant advantage in multi-Pod deployments: FusionCache's backplane (Redis pub/sub by default) automatically invalidates the L1 (in-memory) cache on all OTHER Pods when one Pod writes — critical because each Pod's L1 cache otherwise has its own stale view. For mission-critical durability, consider transactional outbox: write the cache invalidation event to an outbox table inside the SaveChanges transaction, then Debezium drains it to Kafka, then a consumer invalidates the cache — this guarantees the cache invalidation happens iff the DB transaction commits, at the cost of a brief invalidation delay.</a:t>
            </a:r>
            <a:endParaRPr/>
          </a:p>
        </p:txBody>
      </p:sp>
      <p:sp>
        <p:nvSpPr>
          <p:cNvPr id="2544" name="Google Shape;2544;p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4" name="Shape 2554"/>
        <p:cNvGrpSpPr/>
        <p:nvPr/>
      </p:nvGrpSpPr>
      <p:grpSpPr>
        <a:xfrm>
          <a:off x="0" y="0"/>
          <a:ext cx="0" cy="0"/>
          <a:chOff x="0" y="0"/>
          <a:chExt cx="0" cy="0"/>
        </a:xfrm>
      </p:grpSpPr>
      <p:sp>
        <p:nvSpPr>
          <p:cNvPr id="2555" name="Google Shape;2555;p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6" name="Google Shape;2556;p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data is written far more often than it's read — audit logs, event records, telemetry — caching every write is wasteful: most cached entries will expire before being read again. Write-around solves this: write the DB, leave the cache alone. The next reader pays the cache-miss cost and populates the cache. Pros: no cache pollution by write-only data. Cons: the first read after every write is slow (cache miss); reads of recently-written data are slower than under cache-aside. Pair with cache-aside or FusionCache.GetOrSetAsync on the read side. Common use: any 'append-only' or 'mostly-written' workload — audit entries, IoT telemetry.</a:t>
            </a:r>
            <a:endParaRPr/>
          </a:p>
        </p:txBody>
      </p:sp>
      <p:sp>
        <p:nvSpPr>
          <p:cNvPr id="2557" name="Google Shape;2557;p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5" name="Shape 2565"/>
        <p:cNvGrpSpPr/>
        <p:nvPr/>
      </p:nvGrpSpPr>
      <p:grpSpPr>
        <a:xfrm>
          <a:off x="0" y="0"/>
          <a:ext cx="0" cy="0"/>
          <a:chOff x="0" y="0"/>
          <a:chExt cx="0" cy="0"/>
        </a:xfrm>
      </p:grpSpPr>
      <p:sp>
        <p:nvSpPr>
          <p:cNvPr id="2566" name="Google Shape;2566;p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7" name="Google Shape;2567;p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write variants and the standard cache-aside read for context. The pure write-around just calls SaveChangesAsync — the cache is not touched. The defensive variant removes any sibling entry in case some concurrent process populated the cache between the start of the write and its completion.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568" name="Google Shape;2568;p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8" name="Shape 2578"/>
        <p:cNvGrpSpPr/>
        <p:nvPr/>
      </p:nvGrpSpPr>
      <p:grpSpPr>
        <a:xfrm>
          <a:off x="0" y="0"/>
          <a:ext cx="0" cy="0"/>
          <a:chOff x="0" y="0"/>
          <a:chExt cx="0" cy="0"/>
        </a:xfrm>
      </p:grpSpPr>
      <p:sp>
        <p:nvSpPr>
          <p:cNvPr id="2579" name="Google Shape;2579;p2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0" name="Google Shape;2580;p2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fastest-write pattern, with the most caveats. The ASP.NET Core handler writes to Redis and returns immediately — the cache is the source of truth for that window. A BackgroundService drains the cache to the DB, batching writes for efficiency. Pros: write latency equals cache latency — microseconds, not milliseconds; massive throughput. Cons: a cache crash before the flusher catches up loses unflushed writes; Redis must be configured for persistence (AOF or RDB), and even then you might lose seconds of data. Use only when (a) write throughput is the constraint, (b) eventual durability is acceptable, and (c) you've thought about what 'lost the last 5 seconds of writes' actually means for your business.</a:t>
            </a:r>
            <a:endParaRPr/>
          </a:p>
        </p:txBody>
      </p:sp>
      <p:sp>
        <p:nvSpPr>
          <p:cNvPr id="2581" name="Google Shape;2581;p2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9" name="Shape 2589"/>
        <p:cNvGrpSpPr/>
        <p:nvPr/>
      </p:nvGrpSpPr>
      <p:grpSpPr>
        <a:xfrm>
          <a:off x="0" y="0"/>
          <a:ext cx="0" cy="0"/>
          <a:chOff x="0" y="0"/>
          <a:chExt cx="0" cy="0"/>
        </a:xfrm>
      </p:grpSpPr>
      <p:sp>
        <p:nvSpPr>
          <p:cNvPr id="2590" name="Google Shape;2590;p2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1" name="Google Shape;2591;p2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Write-back in .NET. The handler writes to a Redis hash (the metric fields) and adds the key to a 'dirty set' — the dirty set tells the flusher what to drain. Returns 202 Accepted immediately, in microseconds. The MetricsFlusher : BackgroundService runs ExecuteAsync in a loop, SPOPing up to Batch dirty keys atomically. SPOP is the right primitive: it removes and returns elements in one call, so two flusher instances would each get a distinct subset of keys — horizontal scale works (though you should also add a distributed lock like DistributedLock.NET if you specifically want only ONE flusher Pod active). EF Core's DbContext is scoped, so we have to create a scope inside the loop iteration — BackgroundService is a singleton. Failed batches go back on the dirty set for retry — idempotent. Caveats: this only works correctly if Redis is configured with persistence (AOF appendonly yes), otherwise a Redis crash loses unflushed writes. For mission-critical durability, write-back is the wrong pattern — use write-through. For high-throughput telemetry where 'lost the last second' is acceptable, write-back is the difference between a service that scales and one that doesn't.</a:t>
            </a:r>
            <a:endParaRPr/>
          </a:p>
        </p:txBody>
      </p:sp>
      <p:sp>
        <p:nvSpPr>
          <p:cNvPr id="2592" name="Google Shape;2592;p2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2" name="Shape 2602"/>
        <p:cNvGrpSpPr/>
        <p:nvPr/>
      </p:nvGrpSpPr>
      <p:grpSpPr>
        <a:xfrm>
          <a:off x="0" y="0"/>
          <a:ext cx="0" cy="0"/>
          <a:chOff x="0" y="0"/>
          <a:chExt cx="0" cy="0"/>
        </a:xfrm>
      </p:grpSpPr>
      <p:sp>
        <p:nvSpPr>
          <p:cNvPr id="2603" name="Google Shape;2603;p2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4" name="Google Shape;2604;p2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pattern for eliminating the cache-miss latency cliff on popular keys. Plain cache-aside has a sharp behaviour: while a key is cached, reads are fast; the moment its TTL expires, the next reader pays the slow DB-fetch path. Refresh-ahead pre-empts this: a BackgroundService watches the cache (or maintains a Redis sorted set of 'hot' keys) and refreshes their values from the DB BEFORE the TTL fires. Users always read warm cache. Pros: no user-visible misses on hot keys. Cons: extra DB load for keys that may not actually be requested again. FusionCache also has 'eager refresh' as a built-in feature — set EagerRefreshThreshold and it'll refresh on access when a value is close to expiry.</a:t>
            </a:r>
            <a:endParaRPr/>
          </a:p>
        </p:txBody>
      </p:sp>
      <p:sp>
        <p:nvSpPr>
          <p:cNvPr id="2605" name="Google Shape;2605;p2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3" name="Shape 2613"/>
        <p:cNvGrpSpPr/>
        <p:nvPr/>
      </p:nvGrpSpPr>
      <p:grpSpPr>
        <a:xfrm>
          <a:off x="0" y="0"/>
          <a:ext cx="0" cy="0"/>
          <a:chOff x="0" y="0"/>
          <a:chExt cx="0" cy="0"/>
        </a:xfrm>
      </p:grpSpPr>
      <p:sp>
        <p:nvSpPr>
          <p:cNvPr id="2614" name="Google Shape;2614;p2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5" name="Google Shape;2615;p2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approaches. Approach 1 uses an explicit sorted-set (ZADD) to track hot keys, scored by last-access timestamp. The FindAsync method touches the hot-set on every read. A HotKeyRefresher : BackgroundService runs every 5 seconds: removes keys not accessed in 5 minutes, then for each remaining hot key checks its TTL via KeyTimeToLiveAsync, refreshes if TTL is below 10 seconds. Use DistributedLock.NET around the refresh loop if you want only ONE Pod refreshing at a time. Approach 2 is simpler: FusionCache has a built-in 'eager refresh' feature — set SetEagerRefresh(0.8f) and FusionCache will trigger an async background refresh when a value is accessed and has used 80% of its TTL. The user-facing read STILL returns the cached value (no waiting); the refresh happens in the background. Most production .NET shops use Approach 2 — it's one line of config and FusionCache handles all the locking and stampede prevention. This pattern shines for read-heavy workloads where a small set of keys serves most traffic and miss latency is user-visible.</a:t>
            </a:r>
            <a:endParaRPr/>
          </a:p>
        </p:txBody>
      </p:sp>
      <p:sp>
        <p:nvSpPr>
          <p:cNvPr id="2616" name="Google Shape;2616;p2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p2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p2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Six things that go wrong with caching. The first point is the most important: caching is a complexity tax, only worth paying when reads genuinely hurt. The second is the profile-first rule. The third is operational. The fourth is the cache stampede problem — FusionCache solves this out of the box, otherwise use DistributedLock.NET. The fifth is the most common stale-data bug. The bold final line is the architecturally important one: the cache is never the source of truth. If Redis dies, you must serve slower reads, not return errors. Test this by killing Redis in staging.</a:t>
            </a:r>
            <a:endParaRPr/>
          </a:p>
        </p:txBody>
      </p:sp>
      <p:sp>
        <p:nvSpPr>
          <p:cNvPr id="2629" name="Google Shape;2629;p2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6" name="Shape 2636"/>
        <p:cNvGrpSpPr/>
        <p:nvPr/>
      </p:nvGrpSpPr>
      <p:grpSpPr>
        <a:xfrm>
          <a:off x="0" y="0"/>
          <a:ext cx="0" cy="0"/>
          <a:chOff x="0" y="0"/>
          <a:chExt cx="0" cy="0"/>
        </a:xfrm>
      </p:grpSpPr>
      <p:sp>
        <p:nvSpPr>
          <p:cNvPr id="2637" name="Google Shape;2637;p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8" name="Google Shape;2638;p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Decision rules to leave audience with. FusionCache + IDistributedCache is the default modern stack: read-through with stampede protection via GetOrSetAsync, write-through via SetAsync, eager-refresh built in. Drop to IDistributedCache directly when you want full control. Write-around for telemetry. Write-back is the niche extreme-throughput pattern. The bold final line is the take-home: don't pick one pattern as 'the' cache strategy. FusionCache for 95% of cases is the modern default; everything else is a specialization.</a:t>
            </a:r>
            <a:endParaRPr/>
          </a:p>
        </p:txBody>
      </p:sp>
      <p:sp>
        <p:nvSpPr>
          <p:cNvPr id="2639" name="Google Shape;2639;p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6" name="Shape 2646"/>
        <p:cNvGrpSpPr/>
        <p:nvPr/>
      </p:nvGrpSpPr>
      <p:grpSpPr>
        <a:xfrm>
          <a:off x="0" y="0"/>
          <a:ext cx="0" cy="0"/>
          <a:chOff x="0" y="0"/>
          <a:chExt cx="0" cy="0"/>
        </a:xfrm>
      </p:grpSpPr>
      <p:sp>
        <p:nvSpPr>
          <p:cNvPr id="2647" name="Google Shape;2647;p2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8" name="Google Shape;2648;p2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649" name="Google Shape;2649;p2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6" name="Shape 2656"/>
        <p:cNvGrpSpPr/>
        <p:nvPr/>
      </p:nvGrpSpPr>
      <p:grpSpPr>
        <a:xfrm>
          <a:off x="0" y="0"/>
          <a:ext cx="0" cy="0"/>
          <a:chOff x="0" y="0"/>
          <a:chExt cx="0" cy="0"/>
        </a:xfrm>
      </p:grpSpPr>
      <p:sp>
        <p:nvSpPr>
          <p:cNvPr id="2657" name="Google Shape;2657;p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8" name="Google Shape;2658;p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659" name="Google Shape;2659;p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6" name="Shape 2666"/>
        <p:cNvGrpSpPr/>
        <p:nvPr/>
      </p:nvGrpSpPr>
      <p:grpSpPr>
        <a:xfrm>
          <a:off x="0" y="0"/>
          <a:ext cx="0" cy="0"/>
          <a:chOff x="0" y="0"/>
          <a:chExt cx="0" cy="0"/>
        </a:xfrm>
      </p:grpSpPr>
      <p:sp>
        <p:nvSpPr>
          <p:cNvPr id="2667" name="Google Shape;2667;p2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8" name="Google Shape;2668;p2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669" name="Google Shape;2669;p2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7" name="Shape 2677"/>
        <p:cNvGrpSpPr/>
        <p:nvPr/>
      </p:nvGrpSpPr>
      <p:grpSpPr>
        <a:xfrm>
          <a:off x="0" y="0"/>
          <a:ext cx="0" cy="0"/>
          <a:chOff x="0" y="0"/>
          <a:chExt cx="0" cy="0"/>
        </a:xfrm>
      </p:grpSpPr>
      <p:sp>
        <p:nvSpPr>
          <p:cNvPr id="2678" name="Google Shape;2678;p2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9" name="Google Shape;2679;p2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680" name="Google Shape;2680;p2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8" name="Shape 2688"/>
        <p:cNvGrpSpPr/>
        <p:nvPr/>
      </p:nvGrpSpPr>
      <p:grpSpPr>
        <a:xfrm>
          <a:off x="0" y="0"/>
          <a:ext cx="0" cy="0"/>
          <a:chOff x="0" y="0"/>
          <a:chExt cx="0" cy="0"/>
        </a:xfrm>
      </p:grpSpPr>
      <p:sp>
        <p:nvSpPr>
          <p:cNvPr id="2689" name="Google Shape;2689;p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0" name="Google Shape;2690;p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691" name="Google Shape;2691;p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9" name="Shape 2699"/>
        <p:cNvGrpSpPr/>
        <p:nvPr/>
      </p:nvGrpSpPr>
      <p:grpSpPr>
        <a:xfrm>
          <a:off x="0" y="0"/>
          <a:ext cx="0" cy="0"/>
          <a:chOff x="0" y="0"/>
          <a:chExt cx="0" cy="0"/>
        </a:xfrm>
      </p:grpSpPr>
      <p:sp>
        <p:nvSpPr>
          <p:cNvPr id="2700" name="Google Shape;2700;p2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1" name="Google Shape;2701;p2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 no timeout, no fallback, no circuit breaker — so a single down dependency hangs the caller. Address with per-call timeouts, per-dependency circuit breakers, fallbacks, and bulkheads. The next several slides are exactly these patterns, with code.</a:t>
            </a:r>
            <a:endParaRPr/>
          </a:p>
        </p:txBody>
      </p:sp>
      <p:sp>
        <p:nvSpPr>
          <p:cNvPr id="2702" name="Google Shape;2702;p2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0" name="Shape 2710"/>
        <p:cNvGrpSpPr/>
        <p:nvPr/>
      </p:nvGrpSpPr>
      <p:grpSpPr>
        <a:xfrm>
          <a:off x="0" y="0"/>
          <a:ext cx="0" cy="0"/>
          <a:chOff x="0" y="0"/>
          <a:chExt cx="0" cy="0"/>
        </a:xfrm>
      </p:grpSpPr>
      <p:sp>
        <p:nvSpPr>
          <p:cNvPr id="2711" name="Google Shape;2711;p2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2" name="Google Shape;2712;p2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actual traffic, SLO burn-rate alerts, and — critically — Istio outlier detection, which ejects a host from the pool when it returns consecutive errors, regardless of what its health check claims. This ties directly to section 11.</a:t>
            </a:r>
            <a:endParaRPr/>
          </a:p>
        </p:txBody>
      </p:sp>
      <p:sp>
        <p:nvSpPr>
          <p:cNvPr id="2713" name="Google Shape;2713;p2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1" name="Shape 2721"/>
        <p:cNvGrpSpPr/>
        <p:nvPr/>
      </p:nvGrpSpPr>
      <p:grpSpPr>
        <a:xfrm>
          <a:off x="0" y="0"/>
          <a:ext cx="0" cy="0"/>
          <a:chOff x="0" y="0"/>
          <a:chExt cx="0" cy="0"/>
        </a:xfrm>
      </p:grpSpPr>
      <p:sp>
        <p:nvSpPr>
          <p:cNvPr id="2722" name="Google Shape;2722;p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3" name="Google Shape;2723;p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724" name="Google Shape;2724;p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2" name="Shape 2732"/>
        <p:cNvGrpSpPr/>
        <p:nvPr/>
      </p:nvGrpSpPr>
      <p:grpSpPr>
        <a:xfrm>
          <a:off x="0" y="0"/>
          <a:ext cx="0" cy="0"/>
          <a:chOff x="0" y="0"/>
          <a:chExt cx="0" cy="0"/>
        </a:xfrm>
      </p:grpSpPr>
      <p:sp>
        <p:nvSpPr>
          <p:cNvPr id="2733" name="Google Shape;2733;p2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4" name="Google Shape;2734;p2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735" name="Google Shape;2735;p2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3" name="Shape 2743"/>
        <p:cNvGrpSpPr/>
        <p:nvPr/>
      </p:nvGrpSpPr>
      <p:grpSpPr>
        <a:xfrm>
          <a:off x="0" y="0"/>
          <a:ext cx="0" cy="0"/>
          <a:chOff x="0" y="0"/>
          <a:chExt cx="0" cy="0"/>
        </a:xfrm>
      </p:grpSpPr>
      <p:sp>
        <p:nvSpPr>
          <p:cNvPr id="2744" name="Google Shape;2744;p2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5" name="Google Shape;2745;p2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deliberate composition of several of these, tuned together. The next slides give each its own diagram and per-language code so developers can implement them; the bold line flags that the platform-level pieces (Istio, shutdown, observability) sit underneath the application-level patterns.</a:t>
            </a:r>
            <a:endParaRPr/>
          </a:p>
        </p:txBody>
      </p:sp>
      <p:sp>
        <p:nvSpPr>
          <p:cNvPr id="2746" name="Google Shape;2746;p2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3" name="Shape 2753"/>
        <p:cNvGrpSpPr/>
        <p:nvPr/>
      </p:nvGrpSpPr>
      <p:grpSpPr>
        <a:xfrm>
          <a:off x="0" y="0"/>
          <a:ext cx="0" cy="0"/>
          <a:chOff x="0" y="0"/>
          <a:chExt cx="0" cy="0"/>
        </a:xfrm>
      </p:grpSpPr>
      <p:sp>
        <p:nvSpPr>
          <p:cNvPr id="2754" name="Google Shape;2754;p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55" name="Google Shape;2755;p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on the next slide shows the language-specific mechanics.</a:t>
            </a:r>
            <a:endParaRPr/>
          </a:p>
        </p:txBody>
      </p:sp>
      <p:sp>
        <p:nvSpPr>
          <p:cNvPr id="2756" name="Google Shape;2756;p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4" name="Shape 2764"/>
        <p:cNvGrpSpPr/>
        <p:nvPr/>
      </p:nvGrpSpPr>
      <p:grpSpPr>
        <a:xfrm>
          <a:off x="0" y="0"/>
          <a:ext cx="0" cy="0"/>
          <a:chOff x="0" y="0"/>
          <a:chExt cx="0" cy="0"/>
        </a:xfrm>
      </p:grpSpPr>
      <p:sp>
        <p:nvSpPr>
          <p:cNvPr id="2765" name="Google Shape;2765;p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6" name="Google Shape;2766;p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.NET idiom is CancellationToken-based. HttpClient.Timeout is set when the typed client is registered (AddHttpClient). Per-call, link the caller's CancellationToken with a deadline-bounded one via CreateLinkedTokenSource + CancelAfter — so the call is cancelled when EITHER the caller gives up or the deadline passes. The remaining budget is propagated in a header. CancellationToken flows all the way down through SendAsync and the JSON read, so cancellation is cooperative and prompt.</a:t>
            </a:r>
            <a:endParaRPr/>
          </a:p>
        </p:txBody>
      </p:sp>
      <p:sp>
        <p:nvSpPr>
          <p:cNvPr id="2767" name="Google Shape;2767;p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6" name="Shape 2776"/>
        <p:cNvGrpSpPr/>
        <p:nvPr/>
      </p:nvGrpSpPr>
      <p:grpSpPr>
        <a:xfrm>
          <a:off x="0" y="0"/>
          <a:ext cx="0" cy="0"/>
          <a:chOff x="0" y="0"/>
          <a:chExt cx="0" cy="0"/>
        </a:xfrm>
      </p:grpSpPr>
      <p:sp>
        <p:nvSpPr>
          <p:cNvPr id="2777" name="Google Shape;2777;p2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8" name="Google Shape;2778;p2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Retry is the most abused resilience pattern because the naive version (retry immediately, a fixed number of times, at every layer) is precisely how you build the amplification storm two slides back.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on the next slide shows the idiomatic library for each language.</a:t>
            </a:r>
            <a:endParaRPr/>
          </a:p>
        </p:txBody>
      </p:sp>
      <p:sp>
        <p:nvSpPr>
          <p:cNvPr id="2779" name="Google Shape;2779;p2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7" name="Shape 2787"/>
        <p:cNvGrpSpPr/>
        <p:nvPr/>
      </p:nvGrpSpPr>
      <p:grpSpPr>
        <a:xfrm>
          <a:off x="0" y="0"/>
          <a:ext cx="0" cy="0"/>
          <a:chOff x="0" y="0"/>
          <a:chExt cx="0" cy="0"/>
        </a:xfrm>
      </p:grpSpPr>
      <p:sp>
        <p:nvSpPr>
          <p:cNvPr id="2788" name="Google Shape;2788;p2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9" name="Google Shape;2789;p2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v8's ResiliencePipelineBuilder composes strategies in order: the retry strategy with exponential backoff and UseJitter (built in — no manual jitter maths), handling only transient exceptions, capped at 3 attempts; then a circuit breaker wrapping it. Order matters — the breaker is added after retry so it sits outermost and short-circuits retries once tripped. Microsoft.Extensions.Http.Resilience can attach this pipeline to a named HttpClient via AddResilienceHandler. Idempotent calls only.</a:t>
            </a:r>
            <a:endParaRPr/>
          </a:p>
        </p:txBody>
      </p:sp>
      <p:sp>
        <p:nvSpPr>
          <p:cNvPr id="2790" name="Google Shape;2790;p2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9" name="Shape 2799"/>
        <p:cNvGrpSpPr/>
        <p:nvPr/>
      </p:nvGrpSpPr>
      <p:grpSpPr>
        <a:xfrm>
          <a:off x="0" y="0"/>
          <a:ext cx="0" cy="0"/>
          <a:chOff x="0" y="0"/>
          <a:chExt cx="0" cy="0"/>
        </a:xfrm>
      </p:grpSpPr>
      <p:sp>
        <p:nvSpPr>
          <p:cNvPr id="2800" name="Google Shape;2800;p2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01" name="Google Shape;2801;p2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next slide shows each.</a:t>
            </a:r>
            <a:endParaRPr/>
          </a:p>
        </p:txBody>
      </p:sp>
      <p:sp>
        <p:nvSpPr>
          <p:cNvPr id="2802" name="Google Shape;2802;p2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0" name="Shape 2810"/>
        <p:cNvGrpSpPr/>
        <p:nvPr/>
      </p:nvGrpSpPr>
      <p:grpSpPr>
        <a:xfrm>
          <a:off x="0" y="0"/>
          <a:ext cx="0" cy="0"/>
          <a:chOff x="0" y="0"/>
          <a:chExt cx="0" cy="0"/>
        </a:xfrm>
      </p:grpSpPr>
      <p:sp>
        <p:nvSpPr>
          <p:cNvPr id="2811" name="Google Shape;2811;p2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12" name="Google Shape;2812;p2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Polly v8 composes a circuit breaker and a fallback into one typed pipeline. The breaker opens at a 50% failure ratio over a minimum throughput of 10 calls, stays open 5s, and handles HttpRequestException. The fallback strategy catches BrokenCircuitException (thrown while the breaker is open) and degrades: enqueue to the outbox, return a pending receipt. Adding fallback after the breaker means it wraps the breaker and catches its open-state exception. One pipeline per dependency.</a:t>
            </a:r>
            <a:endParaRPr/>
          </a:p>
        </p:txBody>
      </p:sp>
      <p:sp>
        <p:nvSpPr>
          <p:cNvPr id="2813" name="Google Shape;2813;p2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2" name="Shape 2822"/>
        <p:cNvGrpSpPr/>
        <p:nvPr/>
      </p:nvGrpSpPr>
      <p:grpSpPr>
        <a:xfrm>
          <a:off x="0" y="0"/>
          <a:ext cx="0" cy="0"/>
          <a:chOff x="0" y="0"/>
          <a:chExt cx="0" cy="0"/>
        </a:xfrm>
      </p:grpSpPr>
      <p:sp>
        <p:nvSpPr>
          <p:cNvPr id="2823" name="Google Shape;2823;p2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24" name="Google Shape;2824;p2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825" name="Google Shape;2825;p2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2" name="Shape 2832"/>
        <p:cNvGrpSpPr/>
        <p:nvPr/>
      </p:nvGrpSpPr>
      <p:grpSpPr>
        <a:xfrm>
          <a:off x="0" y="0"/>
          <a:ext cx="0" cy="0"/>
          <a:chOff x="0" y="0"/>
          <a:chExt cx="0" cy="0"/>
        </a:xfrm>
      </p:grpSpPr>
      <p:sp>
        <p:nvSpPr>
          <p:cNvPr id="2833" name="Google Shape;2833;p2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4" name="Google Shape;2834;p2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related patterns that often get skipped. Load shedding is counter-intuitive to engineers — deliberately rejecting requests feels like giving up —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835" name="Google Shape;2835;p2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2" name="Shape 2842"/>
        <p:cNvGrpSpPr/>
        <p:nvPr/>
      </p:nvGrpSpPr>
      <p:grpSpPr>
        <a:xfrm>
          <a:off x="0" y="0"/>
          <a:ext cx="0" cy="0"/>
          <a:chOff x="0" y="0"/>
          <a:chExt cx="0" cy="0"/>
        </a:xfrm>
      </p:grpSpPr>
      <p:sp>
        <p:nvSpPr>
          <p:cNvPr id="2843" name="Google Shape;2843;p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4" name="Google Shape;2844;p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845" name="Google Shape;2845;p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3" name="Shape 2853"/>
        <p:cNvGrpSpPr/>
        <p:nvPr/>
      </p:nvGrpSpPr>
      <p:grpSpPr>
        <a:xfrm>
          <a:off x="0" y="0"/>
          <a:ext cx="0" cy="0"/>
          <a:chOff x="0" y="0"/>
          <a:chExt cx="0" cy="0"/>
        </a:xfrm>
      </p:grpSpPr>
      <p:sp>
        <p:nvSpPr>
          <p:cNvPr id="2854" name="Google Shape;2854;p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55" name="Google Shape;2855;p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ASP.NET Core's IHostApplicationLifetime exposes ApplicationStopping, which fires on SIGTERM. The hosted service registers a callback that flips a Draining flag (so the /readyz health check returns 503 and Kubernetes stops routing) and pauses to let the LB removal propagate. HostOptions.ShutdownTimeout governs how long the host waits for in-flight work to finish. The MapHealthChecks predicate ties the flag to the readiness endpoint. Appendix H covers the Kubernetes preStop hook and terminationGracePeriodSeconds.</a:t>
            </a:r>
            <a:endParaRPr/>
          </a:p>
        </p:txBody>
      </p:sp>
      <p:sp>
        <p:nvSpPr>
          <p:cNvPr id="2856" name="Google Shape;2856;p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65" name="Shape 2865"/>
        <p:cNvGrpSpPr/>
        <p:nvPr/>
      </p:nvGrpSpPr>
      <p:grpSpPr>
        <a:xfrm>
          <a:off x="0" y="0"/>
          <a:ext cx="0" cy="0"/>
          <a:chOff x="0" y="0"/>
          <a:chExt cx="0" cy="0"/>
        </a:xfrm>
      </p:grpSpPr>
      <p:sp>
        <p:nvSpPr>
          <p:cNvPr id="2866" name="Google Shape;2866;p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67" name="Google Shape;2867;p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Tie the appendix back to section 11. Each failure mode has characteristic signals, and the point is that you must instrument for them deliberately —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actually failed' (the logs on that trace) — the correlation story from section 11 applied to incident response.</a:t>
            </a:r>
            <a:endParaRPr/>
          </a:p>
        </p:txBody>
      </p:sp>
      <p:sp>
        <p:nvSpPr>
          <p:cNvPr id="2868" name="Google Shape;2868;p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5" name="Shape 2875"/>
        <p:cNvGrpSpPr/>
        <p:nvPr/>
      </p:nvGrpSpPr>
      <p:grpSpPr>
        <a:xfrm>
          <a:off x="0" y="0"/>
          <a:ext cx="0" cy="0"/>
          <a:chOff x="0" y="0"/>
          <a:chExt cx="0" cy="0"/>
        </a:xfrm>
      </p:grpSpPr>
      <p:sp>
        <p:nvSpPr>
          <p:cNvPr id="2876" name="Google Shape;2876;p2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7" name="Google Shape;2877;p2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worth stating aloud: first, quorum/consensus is the ONLY real answer to split-brain — no amount of retrying or circuit-breaking helps when the problem is two leaders;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878" name="Google Shape;2878;p2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6" name="Shape 2886"/>
        <p:cNvGrpSpPr/>
        <p:nvPr/>
      </p:nvGrpSpPr>
      <p:grpSpPr>
        <a:xfrm>
          <a:off x="0" y="0"/>
          <a:ext cx="0" cy="0"/>
          <a:chOff x="0" y="0"/>
          <a:chExt cx="0" cy="0"/>
        </a:xfrm>
      </p:grpSpPr>
      <p:sp>
        <p:nvSpPr>
          <p:cNvPr id="2887" name="Google Shape;2887;p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88" name="Google Shape;2888;p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AWS Builders' Library has excellent practical articles on timeouts and backoff-with-jitter; and the metastable failures paper (Bronson et al.) is the modern formalisation of amplification loops. Encourage the audience to read the SRE cascading-failures chapter as the next step.</a:t>
            </a:r>
            <a:endParaRPr/>
          </a:p>
        </p:txBody>
      </p:sp>
      <p:sp>
        <p:nvSpPr>
          <p:cNvPr id="2889" name="Google Shape;2889;p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consistent with the rest of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genuinely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deliberate, human-driven complement to the circuit breaker from the Failure Modes appendix - the breaker trips automatically on errors; the kill switch is flipped on purpose. Note the default flips with the flag type: a release flag defaults off so half-shipped code stays dark, while this kill switch defaults true, fail-open, so the feature survives a flag-system outage and only a deliberate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deliberately.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five backends, running it and shaping the output, data-driven cases, the CI gate on Podman,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This is a quietly powerful idea: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whole point of black-box testing: bring up Spring Boot, Quarkus, .NET, Python, or C++, and run the exact same collection against it. In CI you would start the service with podman compose rather than a foreground command, but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Podman exactly as they do on a laptop - no managed cloud -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podman compose brings the order, payment, and inventory services up, Newman runs the collection against them, and the result gates the merge - pass merges, fail blocks. The important property is parity: the stack in CI is the same stack you run on your laptop, on the same Podman, so a green run in CI means the contract holds against the real services, not a mocked approximation.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is not a replacement for unit tests - it is the layer above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journeys that genuinely need the whole system. Pushing everything into Newman makes a slow, brittle suite; ignoring it leaves the contract untested. And test the failure paths as deliberately as the happy path - a 401 with WWW-Authenticate, a 403, a 409 or 422 on a business rule, a 429 with RateLimit headers, and idempotency by sending the same key twice - which ties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five implementations. Validate response shape against a schema, not just status codes; drive edge cases from data rather than duplicated requests; and assert the failure paths as carefully as the happy path. Wire it into CI on plain Podman so the build fails on a broken contract, and keep Newman in its lane - the API/contract tier, above unit tests and below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4.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6.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4.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1.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2.png"/><Relationship Id="rId4"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6.png"/><Relationship Id="rId4"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7.png"/><Relationship Id="rId4"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9.png"/><Relationship Id="rId4"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1.png"/><Relationship Id="rId4"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0.png"/><Relationship Id="rId4"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22.png"/><Relationship Id="rId4"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25.png"/><Relationship Id="rId4"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0.png"/><Relationship Id="rId4"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32.png"/><Relationship Id="rId4"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31.png"/><Relationship Id="rId4"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0.png"/><Relationship Id="rId4"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3.png"/><Relationship Id="rId4"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26.png"/><Relationship Id="rId4"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49.png"/><Relationship Id="rId4"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28.png"/><Relationship Id="rId4"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29.png"/><Relationship Id="rId4"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36.png"/><Relationship Id="rId4"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34.png"/><Relationship Id="rId4"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27.png"/><Relationship Id="rId4"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3.png"/><Relationship Id="rId4"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33.png"/><Relationship Id="rId4"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3" Type="http://schemas.openxmlformats.org/officeDocument/2006/relationships/image" Target="../media/image35.png"/><Relationship Id="rId4"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38.png"/><Relationship Id="rId4"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37.png"/><Relationship Id="rId4"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43.png"/><Relationship Id="rId4"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39.png"/><Relationship Id="rId4"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41.png"/><Relationship Id="rId4"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42.png"/><Relationship Id="rId4"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47.png"/><Relationship Id="rId4"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45.png"/><Relationship Id="rId4"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46.png"/><Relationship Id="rId4"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51.png"/><Relationship Id="rId4"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52.png"/><Relationship Id="rId4"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48.png"/><Relationship Id="rId4"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63.png"/><Relationship Id="rId4"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50.png"/><Relationship Id="rId4"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70.png"/><Relationship Id="rId4"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54.png"/><Relationship Id="rId4"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 Id="rId4" Type="http://schemas.openxmlformats.org/officeDocument/2006/relationships/image" Target="../media/image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53.png"/><Relationship Id="rId4"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60.png"/><Relationship Id="rId4"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55.png"/><Relationship Id="rId4"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57.png"/><Relationship Id="rId4"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56.png"/><Relationship Id="rId4"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3.png"/><Relationship Id="rId4" Type="http://schemas.openxmlformats.org/officeDocument/2006/relationships/image" Target="../media/image2.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58.png"/><Relationship Id="rId4"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59.png"/><Relationship Id="rId4"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62.png"/><Relationship Id="rId4"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61.png"/><Relationship Id="rId4"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4.png"/><Relationship Id="rId4"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66.png"/><Relationship Id="rId4"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3.png"/><Relationship Id="rId4" Type="http://schemas.openxmlformats.org/officeDocument/2006/relationships/image" Target="../media/image2.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64.png"/><Relationship Id="rId4"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69.png"/><Relationship Id="rId4"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65.png"/><Relationship Id="rId4"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3.png"/><Relationship Id="rId4"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67.png"/><Relationship Id="rId4"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111.png"/><Relationship Id="rId4"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72.png"/><Relationship Id="rId4"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3.png"/><Relationship Id="rId4" Type="http://schemas.openxmlformats.org/officeDocument/2006/relationships/image" Target="../media/image2.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68.png"/><Relationship Id="rId4"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1.png"/><Relationship Id="rId4"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2.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75.png"/><Relationship Id="rId4"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77.png"/><Relationship Id="rId4"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3.png"/><Relationship Id="rId4"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6.png"/><Relationship Id="rId4"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78.png"/><Relationship Id="rId4"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79.png"/><Relationship Id="rId4"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80.png"/><Relationship Id="rId4"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81.png"/><Relationship Id="rId4"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3.png"/><Relationship Id="rId4" Type="http://schemas.openxmlformats.org/officeDocument/2006/relationships/image" Target="../media/image2.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86.png"/><Relationship Id="rId4"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87.png"/><Relationship Id="rId4"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85.png"/><Relationship Id="rId4"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png"/><Relationship Id="rId4" Type="http://schemas.openxmlformats.org/officeDocument/2006/relationships/image" Target="../media/image2.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92.png"/><Relationship Id="rId4"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83.png"/><Relationship Id="rId4"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82.png"/><Relationship Id="rId4"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88.png"/><Relationship Id="rId4"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84.png"/><Relationship Id="rId4"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91.png"/><Relationship Id="rId4"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90.png"/><Relationship Id="rId4"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89.png"/><Relationship Id="rId4"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3.png"/><Relationship Id="rId4" Type="http://schemas.openxmlformats.org/officeDocument/2006/relationships/image" Target="../media/image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08.png"/><Relationship Id="rId4"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94.png"/><Relationship Id="rId4"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93.png"/><Relationship Id="rId4"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3" Type="http://schemas.openxmlformats.org/officeDocument/2006/relationships/image" Target="../media/image95.png"/><Relationship Id="rId4"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96.png"/><Relationship Id="rId4"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110.png"/><Relationship Id="rId4"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png"/><Relationship Id="rId4" Type="http://schemas.openxmlformats.org/officeDocument/2006/relationships/image" Target="../media/image2.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00.png"/><Relationship Id="rId4"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02.png"/><Relationship Id="rId4"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97.png"/><Relationship Id="rId4"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01.png"/><Relationship Id="rId4"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98.png"/><Relationship Id="rId4"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104.png"/><Relationship Id="rId4"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05.png"/><Relationship Id="rId4"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 Id="rId3" Type="http://schemas.openxmlformats.org/officeDocument/2006/relationships/image" Target="../media/image103.png"/><Relationship Id="rId4"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 Id="rId3" Type="http://schemas.openxmlformats.org/officeDocument/2006/relationships/image" Target="../media/image107.png"/><Relationship Id="rId4"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 Id="rId3" Type="http://schemas.openxmlformats.org/officeDocument/2006/relationships/image" Target="../media/image99.png"/><Relationship Id="rId4"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 Id="rId3" Type="http://schemas.openxmlformats.org/officeDocument/2006/relationships/image" Target="../media/image106.png"/><Relationship Id="rId4"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 Id="rId3" Type="http://schemas.openxmlformats.org/officeDocument/2006/relationships/image" Target="../media/image109.png"/><Relationship Id="rId4"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image" Target="../media/image112.png"/><Relationship Id="rId2" Type="http://schemas.openxmlformats.org/officeDocument/2006/relationships/image" Target="../media/image113.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114.png"/><Relationship Id="rId2" Type="http://schemas.openxmlformats.org/officeDocument/2006/relationships/image" Target="../media/image115.png"/><Relationship Id="rId3" Type="http://schemas.openxmlformats.org/officeDocument/2006/relationships/slideLayout" Target="../slideLayouts/slideLayout1.xml"/><Relationship Id="rId4"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116.png"/><Relationship Id="rId2" Type="http://schemas.openxmlformats.org/officeDocument/2006/relationships/image" Target="../media/image117.png"/><Relationship Id="rId3" Type="http://schemas.openxmlformats.org/officeDocument/2006/relationships/slideLayout" Target="../slideLayouts/slideLayout1.xml"/><Relationship Id="rId4"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image" Target="../media/image118.png"/><Relationship Id="rId2" Type="http://schemas.openxmlformats.org/officeDocument/2006/relationships/image" Target="../media/image119.png"/><Relationship Id="rId3" Type="http://schemas.openxmlformats.org/officeDocument/2006/relationships/slideLayout" Target="../slideLayouts/slideLayout1.xml"/><Relationship Id="rId4"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120.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122.png"/><Relationship Id="rId2" Type="http://schemas.openxmlformats.org/officeDocument/2006/relationships/image" Target="../media/image123.png"/><Relationship Id="rId3" Type="http://schemas.openxmlformats.org/officeDocument/2006/relationships/slideLayout" Target="../slideLayouts/slideLayout1.xml"/><Relationship Id="rId4"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124.png"/><Relationship Id="rId2" Type="http://schemas.openxmlformats.org/officeDocument/2006/relationships/slideLayout" Target="../slideLayouts/slideLayout1.xml"/><Relationship Id="rId3"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image" Target="../media/image125.png"/><Relationship Id="rId2" Type="http://schemas.openxmlformats.org/officeDocument/2006/relationships/image" Target="../media/image126.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127.png"/><Relationship Id="rId2" Type="http://schemas.openxmlformats.org/officeDocument/2006/relationships/image" Target="../media/image128.png"/><Relationship Id="rId3" Type="http://schemas.openxmlformats.org/officeDocument/2006/relationships/slideLayout" Target="../slideLayouts/slideLayout1.xml"/><Relationship Id="rId4"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image" Target="../media/image129.png"/><Relationship Id="rId2" Type="http://schemas.openxmlformats.org/officeDocument/2006/relationships/slideLayout" Target="../slideLayouts/slideLayout1.xml"/><Relationship Id="rId3"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image" Target="../media/image130.png"/><Relationship Id="rId2" Type="http://schemas.openxmlformats.org/officeDocument/2006/relationships/slideLayout" Target="../slideLayouts/slideLayout1.xml"/><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image" Target="../media/image133.png"/><Relationship Id="rId2" Type="http://schemas.openxmlformats.org/officeDocument/2006/relationships/image" Target="../media/image134.png"/><Relationship Id="rId3" Type="http://schemas.openxmlformats.org/officeDocument/2006/relationships/slideLayout" Target="../slideLayouts/slideLayout1.xml"/><Relationship Id="rId4"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image" Target="../media/image135.png"/><Relationship Id="rId2" Type="http://schemas.openxmlformats.org/officeDocument/2006/relationships/image" Target="../media/image136.png"/><Relationship Id="rId3" Type="http://schemas.openxmlformats.org/officeDocument/2006/relationships/slideLayout" Target="../slideLayouts/slideLayout1.xml"/><Relationship Id="rId4"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image" Target="../media/image137.png"/><Relationship Id="rId2" Type="http://schemas.openxmlformats.org/officeDocument/2006/relationships/slideLayout" Target="../slideLayouts/slideLayout1.xml"/><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image" Target="../media/image138.png"/><Relationship Id="rId2" Type="http://schemas.openxmlformats.org/officeDocument/2006/relationships/image" Target="../media/image139.png"/><Relationship Id="rId3" Type="http://schemas.openxmlformats.org/officeDocument/2006/relationships/slideLayout" Target="../slideLayouts/slideLayout1.xml"/><Relationship Id="rId4"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image" Target="../media/image140.png"/><Relationship Id="rId2" Type="http://schemas.openxmlformats.org/officeDocument/2006/relationships/slideLayout" Target="../slideLayouts/slideLayout1.xml"/><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image" Target="../media/image142.png"/><Relationship Id="rId2" Type="http://schemas.openxmlformats.org/officeDocument/2006/relationships/image" Target="../media/image143.png"/><Relationship Id="rId3" Type="http://schemas.openxmlformats.org/officeDocument/2006/relationships/slideLayout" Target="../slideLayouts/slideLayout1.xml"/><Relationship Id="rId4"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image" Target="../media/image144.png"/><Relationship Id="rId2" Type="http://schemas.openxmlformats.org/officeDocument/2006/relationships/slideLayout" Target="../slideLayouts/slideLayout1.xml"/><Relationship Id="rId3"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image" Target="../media/image145.png"/><Relationship Id="rId2" Type="http://schemas.openxmlformats.org/officeDocument/2006/relationships/image" Target="../media/image146.png"/><Relationship Id="rId3" Type="http://schemas.openxmlformats.org/officeDocument/2006/relationships/slideLayout" Target="../slideLayouts/slideLayout1.xml"/><Relationship Id="rId4"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image" Target="../media/image147.png"/><Relationship Id="rId2" Type="http://schemas.openxmlformats.org/officeDocument/2006/relationships/image" Target="../media/image148.png"/><Relationship Id="rId3" Type="http://schemas.openxmlformats.org/officeDocument/2006/relationships/slideLayout" Target="../slideLayouts/slideLayout1.xml"/><Relationship Id="rId4"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image" Target="../media/image149.png"/><Relationship Id="rId2" Type="http://schemas.openxmlformats.org/officeDocument/2006/relationships/slideLayout" Target="../slideLayouts/slideLayout1.xml"/><Relationship Id="rId3"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2.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4" cy="6858001"/>
          </a:xfrm>
          <a:prstGeom prst="rect">
            <a:avLst/>
          </a:prstGeom>
          <a:noFill/>
          <a:ln>
            <a:noFill/>
          </a:ln>
        </p:spPr>
      </p:pic>
      <p:sp>
        <p:nvSpPr>
          <p:cNvPr id="17" name="Google Shape;17;p3"/>
          <p:cNvSpPr/>
          <p:nvPr/>
        </p:nvSpPr>
        <p:spPr>
          <a:xfrm>
            <a:off x="5486400" y="1810512"/>
            <a:ext cx="63093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200" cy="169170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6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pic>
        <p:nvPicPr>
          <p:cNvPr descr="/home/claude/work/assets/rh-logo.png" id="20" name="Google Shape;20;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
        <p:nvSpPr>
          <p:cNvPr id="21" name="Google Shape;21;p3"/>
          <p:cNvSpPr/>
          <p:nvPr/>
        </p:nvSpPr>
        <p:spPr>
          <a:xfrm>
            <a:off x="5558082" y="5103435"/>
            <a:ext cx="6400500" cy="36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51515"/>
              </a:buClr>
              <a:buSzPts val="1300"/>
              <a:buFont typeface="Red Hat Text"/>
              <a:buNone/>
            </a:pPr>
            <a:r>
              <a:rPr b="1" i="0" lang="en-US" sz="1300" u="none" cap="none" strike="noStrike">
                <a:solidFill>
                  <a:srgbClr val="151515"/>
                </a:solidFill>
                <a:latin typeface="Red Hat Text"/>
                <a:ea typeface="Red Hat Text"/>
                <a:cs typeface="Red Hat Text"/>
                <a:sym typeface="Red Hat Text"/>
              </a:rPr>
              <a:t>Robert Sedor</a:t>
            </a:r>
            <a:endParaRPr b="0" i="0" sz="1300" u="none" cap="none" strike="noStrike">
              <a:solidFill>
                <a:srgbClr val="000000"/>
              </a:solidFill>
              <a:latin typeface="Calibri"/>
              <a:ea typeface="Calibri"/>
              <a:cs typeface="Calibri"/>
              <a:sym typeface="Calibri"/>
            </a:endParaRPr>
          </a:p>
          <a:p>
            <a:pPr indent="0" lvl="0" marL="0" marR="0" rtl="0" algn="l">
              <a:lnSpc>
                <a:spcPct val="100000"/>
              </a:lnSpc>
              <a:spcBef>
                <a:spcPts val="0"/>
              </a:spcBef>
              <a:spcAft>
                <a:spcPts val="0"/>
              </a:spcAft>
              <a:buClr>
                <a:srgbClr val="5A5A5A"/>
              </a:buClr>
              <a:buSzPts val="1150"/>
              <a:buFont typeface="Red Hat Text"/>
              <a:buNone/>
            </a:pPr>
            <a:r>
              <a:rPr b="0" i="0" lang="en-US" sz="1150" u="none" cap="none" strike="noStrike">
                <a:solidFill>
                  <a:srgbClr val="5A5A5A"/>
                </a:solidFill>
                <a:latin typeface="Red Hat Text"/>
                <a:ea typeface="Red Hat Text"/>
                <a:cs typeface="Red Hat Text"/>
                <a:sym typeface="Red Hat Text"/>
              </a:rPr>
              <a:t>Chief Architect, Application Development</a:t>
            </a:r>
            <a:endParaRPr b="1" i="0" sz="1500" u="none" cap="none" strike="noStrike">
              <a:solidFill>
                <a:srgbClr val="151515"/>
              </a:solidFill>
              <a:latin typeface="Red Hat Text"/>
              <a:ea typeface="Red Hat Text"/>
              <a:cs typeface="Red Hat Text"/>
              <a:sym typeface="Red Hat Text"/>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&amp; Hexagonal,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J · .NET 10 Toolkit &amp; Migration Reference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P · .NET on Linux — Runtime, Kestrel, Containers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 Claude, Claude Code, frontier models — turns intent into code at a rate that wasn't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dn/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dn/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the Windows world to Kubernetes</a:t>
            </a:r>
            <a:endParaRPr b="0" i="0" sz="3000" u="none" cap="none" strike="noStrike">
              <a:solidFill>
                <a:schemeClr val="dk1"/>
              </a:solidFill>
              <a:latin typeface="Calibri"/>
              <a:ea typeface="Calibri"/>
              <a:cs typeface="Calibri"/>
              <a:sym typeface="Calibri"/>
            </a:endParaRPr>
          </a:p>
        </p:txBody>
      </p:sp>
      <p:pic>
        <p:nvPicPr>
          <p:cNvPr descr="/home/claude/work/png-dn/01b-windows-to-k8s-bridge.png" id="91" name="Google Shape;91;p10"/>
          <p:cNvPicPr preferRelativeResize="0"/>
          <p:nvPr/>
        </p:nvPicPr>
        <p:blipFill rotWithShape="1">
          <a:blip r:embed="rId3">
            <a:alphaModFix/>
          </a:blip>
          <a:srcRect b="0" l="0" r="0" t="0"/>
          <a:stretch/>
        </p:blipFill>
        <p:spPr>
          <a:xfrm>
            <a:off x="2047891" y="1600200"/>
            <a:ext cx="8095913" cy="4526279"/>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Almost every pattern you knew — IIS, WCF, COM+, MSMQ — maps onto a Kubernetes-native equivalent. Mostly a re-skin, not a rewrite of the concepts.</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dn/01-cloud-native-pillars.png" id="102" name="Google Shape;102;p1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 name="Google Shape;103;p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104" name="Google Shape;104;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5" name="Google Shape;105;p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sp>
        <p:nvSpPr>
          <p:cNvPr id="111" name="Google Shape;111;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14" name="Google Shape;114;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5" name="Google Shape;115;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the dotnet CLI and NuGet (central package management via Directory.Packages.props) for reproducible builds; Microsoft.AspNetCore.OpenApi (or Swashbuckle) emits the OpenAPI spec; buf / protoc with Grpc.Tools for gRPC; HotChocolate exports the GraphQL SDL.</a:t>
            </a:r>
            <a:endParaRPr b="0" i="0" sz="1700" u="none" cap="none" strike="noStrike">
              <a:solidFill>
                <a:schemeClr val="dk1"/>
              </a:solidFill>
              <a:latin typeface="Calibri"/>
              <a:ea typeface="Calibri"/>
              <a:cs typeface="Calibri"/>
              <a:sym typeface="Calibri"/>
            </a:endParaRPr>
          </a:p>
        </p:txBody>
      </p:sp>
      <p:sp>
        <p:nvSpPr>
          <p:cNvPr id="124" name="Google Shape;124;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5" name="Google Shape;125;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 name="Shape 130"/>
        <p:cNvGrpSpPr/>
        <p:nvPr/>
      </p:nvGrpSpPr>
      <p:grpSpPr>
        <a:xfrm>
          <a:off x="0" y="0"/>
          <a:ext cx="0" cy="0"/>
          <a:chOff x="0" y="0"/>
          <a:chExt cx="0" cy="0"/>
        </a:xfrm>
      </p:grpSpPr>
      <p:sp>
        <p:nvSpPr>
          <p:cNvPr id="131" name="Google Shape;131;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2" name="Google Shape;132;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33" name="Google Shape;133;p1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 “will this survive the platform?” — the next slides list the twelve factors and map each to where it lives in our architecture.</a:t>
            </a:r>
            <a:endParaRPr b="0" i="0" sz="17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dn/44-twelve-factor-list.png" id="143" name="Google Shape;143;p15"/>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dn/42-twelve-factor-map-sb.png" id="154" name="Google Shape;154;p16"/>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55" name="Google Shape;155;p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56" name="Google Shape;156;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7" name="Google Shape;157;p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 name="Shape 162"/>
        <p:cNvGrpSpPr/>
        <p:nvPr/>
      </p:nvGrpSpPr>
      <p:grpSpPr>
        <a:xfrm>
          <a:off x="0" y="0"/>
          <a:ext cx="0" cy="0"/>
          <a:chOff x="0" y="0"/>
          <a:chExt cx="0" cy="0"/>
        </a:xfrm>
      </p:grpSpPr>
      <p:sp>
        <p:nvSpPr>
          <p:cNvPr id="163" name="Google Shape;163;p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64" name="Google Shape;164;p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ASP.NET Core service, ready for the platform</a:t>
            </a:r>
            <a:endParaRPr b="0" i="0" sz="3000" u="none" cap="none" strike="noStrike">
              <a:solidFill>
                <a:schemeClr val="dk1"/>
              </a:solidFill>
              <a:latin typeface="Calibri"/>
              <a:ea typeface="Calibri"/>
              <a:cs typeface="Calibri"/>
              <a:sym typeface="Calibri"/>
            </a:endParaRPr>
          </a:p>
        </p:txBody>
      </p:sp>
      <p:sp>
        <p:nvSpPr>
          <p:cNvPr id="165" name="Google Shape;165;p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 AspNetCore.HealthChecks</a:t>
            </a:r>
            <a:endParaRPr b="0" i="0" sz="1000" u="none" cap="none" strike="noStrike">
              <a:solidFill>
                <a:schemeClr val="dk1"/>
              </a:solidFill>
              <a:latin typeface="Calibri"/>
              <a:ea typeface="Calibri"/>
              <a:cs typeface="Calibri"/>
              <a:sym typeface="Calibri"/>
            </a:endParaRPr>
          </a:p>
        </p:txBody>
      </p:sp>
      <p:sp>
        <p:nvSpPr>
          <p:cNvPr id="167" name="Google Shape;167;p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 — minimal hosting, env-driven config (factor III)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builder = WebApplication.CreateBuilder(args);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builder.Configuration.AddEnvironmentVariables();   // overrides appsettings.json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Health checks: liveness vs readiness, just like the WCF heartbeat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only Kubernetes calls them now, not your monitoring server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.AddCheck("self", () =&gt; HealthCheckResult.Healthy(), tags: new[] { "live"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.AddNpgSql(builder.Configuration.GetConnectionString("Db")!,</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name: "db", tags: new[] { "ready" });        // AspNetCore.HealthChecks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var app = builder.Build();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Endpoints Kubernetes probes call — the cloud-native equivalent of</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IIS "Ping" + ARR health probes, but baked into the app, not the host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app.MapHealthChecks("/healthz/live",  new() { Predicate = c =&gt; c.Tags.Contains("live")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app.MapHealthChecks("/healthz/ready", new() { Predicate = c =&gt; c.Tags.Contains("ready")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app.Run();</a:t>
            </a:r>
            <a:endParaRPr b="0" i="0" sz="1100" u="none" cap="none" strike="noStrike">
              <a:solidFill>
                <a:schemeClr val="dk1"/>
              </a:solidFill>
              <a:latin typeface="Calibri"/>
              <a:ea typeface="Calibri"/>
              <a:cs typeface="Calibri"/>
              <a:sym typeface="Calibri"/>
            </a:endParaRPr>
          </a:p>
        </p:txBody>
      </p:sp>
      <p:sp>
        <p:nvSpPr>
          <p:cNvPr id="168" name="Google Shape;168;p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 thin Program.cs are the price of admission for a Kubernetes Deployment. Same liveness/readiness split a WCF host had — just owned by the cluster now.</a:t>
            </a:r>
            <a:endParaRPr b="0" i="0" sz="1300" u="none" cap="none" strike="noStrike">
              <a:solidFill>
                <a:schemeClr val="dk1"/>
              </a:solidFill>
              <a:latin typeface="Calibri"/>
              <a:ea typeface="Calibri"/>
              <a:cs typeface="Calibri"/>
              <a:sym typeface="Calibri"/>
            </a:endParaRPr>
          </a:p>
        </p:txBody>
      </p:sp>
      <p:sp>
        <p:nvSpPr>
          <p:cNvPr id="169" name="Google Shape;169;p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70" name="Google Shape;170;p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5" name="Shape 175"/>
        <p:cNvGrpSpPr/>
        <p:nvPr/>
      </p:nvGrpSpPr>
      <p:grpSpPr>
        <a:xfrm>
          <a:off x="0" y="0"/>
          <a:ext cx="0" cy="0"/>
          <a:chOff x="0" y="0"/>
          <a:chExt cx="0" cy="0"/>
        </a:xfrm>
      </p:grpSpPr>
      <p:pic>
        <p:nvPicPr>
          <p:cNvPr descr="/home/claude/work/assets/rh-divider-bg.png" id="176" name="Google Shape;176;p1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7" name="Google Shape;177;p1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78" name="Google Shape;178;p1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79" name="Google Shape;179;p1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dn/03-comm-protocol-matrix.png" id="188" name="Google Shape;188;p1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9" name="Google Shape;189;p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90" name="Google Shape;190;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1" name="Google Shape;191;p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 name="Shape 196"/>
        <p:cNvGrpSpPr/>
        <p:nvPr/>
      </p:nvGrpSpPr>
      <p:grpSpPr>
        <a:xfrm>
          <a:off x="0" y="0"/>
          <a:ext cx="0" cy="0"/>
          <a:chOff x="0" y="0"/>
          <a:chExt cx="0" cy="0"/>
        </a:xfrm>
      </p:grpSpPr>
      <p:sp>
        <p:nvSpPr>
          <p:cNvPr id="197" name="Google Shape;197;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98" name="Google Shape;198;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ASP.NET Core</a:t>
            </a:r>
            <a:endParaRPr b="0" i="0" sz="3000" u="none" cap="none" strike="noStrike">
              <a:solidFill>
                <a:schemeClr val="dk1"/>
              </a:solidFill>
              <a:latin typeface="Calibri"/>
              <a:ea typeface="Calibri"/>
              <a:cs typeface="Calibri"/>
              <a:sym typeface="Calibri"/>
            </a:endParaRPr>
          </a:p>
        </p:txBody>
      </p:sp>
      <p:sp>
        <p:nvSpPr>
          <p:cNvPr id="199" name="Google Shape;199;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2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 minimal APIs</a:t>
            </a:r>
            <a:endParaRPr b="0" i="0" sz="1000" u="none" cap="none" strike="noStrike">
              <a:solidFill>
                <a:schemeClr val="dk1"/>
              </a:solidFill>
              <a:latin typeface="Calibri"/>
              <a:ea typeface="Calibri"/>
              <a:cs typeface="Calibri"/>
              <a:sym typeface="Calibri"/>
            </a:endParaRPr>
          </a:p>
        </p:txBody>
      </p:sp>
      <p:sp>
        <p:nvSpPr>
          <p:cNvPr id="201" name="Google Shape;201;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 minimal API style; .NET 8+ has FluentValidation built 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var orders = app.MapGroup("/orders").WithOpenApi();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Request record — immutable, validated; the WCF DataContract replacement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record OrderIn(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[Required, StringLength(64)]  string 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[Range(1, 1_000)]             int    Quantity);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orders.MapPost("/", async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[FromBody] 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IValidator&lt;OrderIn&gt; validator,           // FluentValidation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IOrderService svc,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IEventPublisher events)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result = await validator.ValidateAsync(body);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(!result.IsValid) return Results.ValidationProblem(result.ToDictionary());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await svc.CreateAsync(body);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events.PublishAsync("order.placed",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Results.Created($"/orders/{order.Id}", order);  // 201, not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.Produces&lt;Order&gt;(StatusCodes.Status201Created)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.ProducesValidationProblem();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GET with cursor pagination — never offset, breaks under concurrent writes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orders.MapGet("/", (string? after, int limit = 50, IOrderService svc)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svc.PageAsync(after, limit));</a:t>
            </a:r>
            <a:endParaRPr b="0" i="0" sz="1050" u="none" cap="none" strike="noStrike">
              <a:solidFill>
                <a:schemeClr val="dk1"/>
              </a:solidFill>
              <a:latin typeface="Calibri"/>
              <a:ea typeface="Calibri"/>
              <a:cs typeface="Calibri"/>
              <a:sym typeface="Calibri"/>
            </a:endParaRPr>
          </a:p>
        </p:txBody>
      </p:sp>
      <p:sp>
        <p:nvSpPr>
          <p:cNvPr id="202" name="Google Shape;202;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FluentValidation contracts, correct status codes, cursor pagination — the WCF endpoint replacement for the outside world.</a:t>
            </a:r>
            <a:endParaRPr b="0" i="0" sz="1300" u="none" cap="none" strike="noStrike">
              <a:solidFill>
                <a:schemeClr val="dk1"/>
              </a:solidFill>
              <a:latin typeface="Calibri"/>
              <a:ea typeface="Calibri"/>
              <a:cs typeface="Calibri"/>
              <a:sym typeface="Calibri"/>
            </a:endParaRPr>
          </a:p>
        </p:txBody>
      </p:sp>
      <p:sp>
        <p:nvSpPr>
          <p:cNvPr id="203" name="Google Shape;203;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4" name="Google Shape;204;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 name="Shape 209"/>
        <p:cNvGrpSpPr/>
        <p:nvPr/>
      </p:nvGrpSpPr>
      <p:grpSpPr>
        <a:xfrm>
          <a:off x="0" y="0"/>
          <a:ext cx="0" cy="0"/>
          <a:chOff x="0" y="0"/>
          <a:chExt cx="0" cy="0"/>
        </a:xfrm>
      </p:grpSpPr>
      <p:sp>
        <p:nvSpPr>
          <p:cNvPr id="210" name="Google Shape;210;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1" name="Google Shape;211;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12" name="Google Shape;212;p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3" name="Google Shape;213;p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csharp · .NET 10 + Grpc.AspNetCore</a:t>
            </a:r>
            <a:endParaRPr b="0" i="0" sz="1000" u="none" cap="none" strike="noStrike">
              <a:solidFill>
                <a:schemeClr val="dk1"/>
              </a:solidFill>
              <a:latin typeface="Calibri"/>
              <a:ea typeface="Calibri"/>
              <a:cs typeface="Calibri"/>
              <a:sym typeface="Calibri"/>
            </a:endParaRPr>
          </a:p>
        </p:txBody>
      </p:sp>
      <p:sp>
        <p:nvSpPr>
          <p:cNvPr id="214" name="Google Shape;214;p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inventory.proto — the contract, registered in Apicurio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syntax = "proto3";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service Inventory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rpc ReserveStock (ReserveRequest) returns (ReserveReply);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ReserveRequest { string sku = 1; int32 quantity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message ReserveReply   { bool reserved = 1; int32 remaining = 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Grpc.AspNetCore + Grpc.Tools compiles .proto to C</a:t>
            </a:r>
            <a:r>
              <a:rPr b="0" i="0" lang="en-US" sz="1100" u="none" cap="none" strike="noStrike">
                <a:solidFill>
                  <a:srgbClr val="8FB98F"/>
                </a:solidFill>
                <a:latin typeface="Red Hat Mono"/>
                <a:ea typeface="Red Hat Mono"/>
                <a:cs typeface="Red Hat Mono"/>
                <a:sym typeface="Red Hat Mono"/>
              </a:rPr>
              <a:t># at build time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(the cloud-native replacement for WCF NetTcpBinding service contracts)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class InventoryService : Inventory.InventoryBase  // generated 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private readonly IStockRepository 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InventoryService(IStockRepository stock) =&gt; _stock = 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public override async Task&lt;ReserveReply&gt; ReserveStock(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ReserveRequest req, ServerCallContext 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r = await _stock.ReserveAsync(req.Sku, req.Quantity);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new ReserveReply { Reserved = r.Ok, Remaining = r.Remaining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Program.cs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builder.Services.AddGrpc();                          // server registration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app.MapGrpcService&lt;InventoryService&gt;();              // expose the service</a:t>
            </a:r>
            <a:endParaRPr b="0" i="0" sz="1100" u="none" cap="none" strike="noStrike">
              <a:solidFill>
                <a:schemeClr val="dk1"/>
              </a:solidFill>
              <a:latin typeface="Calibri"/>
              <a:ea typeface="Calibri"/>
              <a:cs typeface="Calibri"/>
              <a:sym typeface="Calibri"/>
            </a:endParaRPr>
          </a:p>
        </p:txBody>
      </p:sp>
      <p:sp>
        <p:nvSpPr>
          <p:cNvPr id="215" name="Google Shape;215;p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WCF NetTcpBinding replacement for chatty internal paths. Test with ghz.</a:t>
            </a:r>
            <a:endParaRPr b="0" i="0" sz="13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dn/04-comm-sync-async.png" id="225" name="Google Shape;225;p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dn/05-comm-service-mesh.png" id="236" name="Google Shape;236;p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7" name="Google Shape;237;p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38" name="Google Shape;238;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39" name="Google Shape;239;p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 name="Shape 244"/>
        <p:cNvGrpSpPr/>
        <p:nvPr/>
      </p:nvGrpSpPr>
      <p:grpSpPr>
        <a:xfrm>
          <a:off x="0" y="0"/>
          <a:ext cx="0" cy="0"/>
          <a:chOff x="0" y="0"/>
          <a:chExt cx="0" cy="0"/>
        </a:xfrm>
      </p:grpSpPr>
      <p:sp>
        <p:nvSpPr>
          <p:cNvPr id="245" name="Google Shape;245;p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46" name="Google Shape;246;p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47" name="Google Shape;247;p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8" name="Google Shape;248;p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49" name="Google Shape;249;p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retries, timeout and outlier detection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50" name="Google Shape;250;p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51" name="Google Shape;251;p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52" name="Google Shape;252;p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7" name="Shape 257"/>
        <p:cNvGrpSpPr/>
        <p:nvPr/>
      </p:nvGrpSpPr>
      <p:grpSpPr>
        <a:xfrm>
          <a:off x="0" y="0"/>
          <a:ext cx="0" cy="0"/>
          <a:chOff x="0" y="0"/>
          <a:chExt cx="0" cy="0"/>
        </a:xfrm>
      </p:grpSpPr>
      <p:pic>
        <p:nvPicPr>
          <p:cNvPr descr="/home/claude/work/assets/rh-divider-bg.png" id="258" name="Google Shape;258;p2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9" name="Google Shape;259;p2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60" name="Google Shape;260;p2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61" name="Google Shape;261;p2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dn/06-composition-federation.png" id="270" name="Google Shape;270;p26"/>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71" name="Google Shape;271;p2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72" name="Google Shape;272;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3" name="Google Shape;273;p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0" name="Google Shape;280;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HotChocolate</a:t>
            </a:r>
            <a:endParaRPr b="0" i="0" sz="3000" u="none" cap="none" strike="noStrike">
              <a:solidFill>
                <a:schemeClr val="dk1"/>
              </a:solidFill>
              <a:latin typeface="Calibri"/>
              <a:ea typeface="Calibri"/>
              <a:cs typeface="Calibri"/>
              <a:sym typeface="Calibri"/>
            </a:endParaRPr>
          </a:p>
        </p:txBody>
      </p:sp>
      <p:sp>
        <p:nvSpPr>
          <p:cNvPr id="281" name="Google Shape;281;p2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2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283" name="Google Shape;283;p2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HotChocolate (MIT, by ChilliCream) — the dominant open-source GraphQL 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.NET. Code-first or schema-first. Built-in DataLoader for N+1.</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Query                                   // the gateway's schema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GetOrder(string id,    // REST call to 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[Service] IOrderClient orders)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orders.GetAsync(id);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[ExtendObjectType&lt;Order&gt;]                            // adds fields to Order type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OrderExtensions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batched per-request to kill N+1: one gRPC call for N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Task&lt;int&gt; GetStock(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[Parent] Order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IInventoryStockDataLoader loader) =&gt;         // generated DataLoader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loader.LoadAsync(order.Sku);</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Program.cs registration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builder.Services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.AddGraphQLServer()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.AddQueryType&lt;Query&gt;()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.AddTypeExtension&lt;OrderExtensions&gt;()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.AddDataLoader&lt;IInventoryStockDataLoader, InventoryStockDataLoader&gt;();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app.MapGraphQL();                                    // POST /graphql + IDE</a:t>
            </a:r>
            <a:endParaRPr b="0" i="0" sz="1050" u="none" cap="none" strike="noStrike">
              <a:solidFill>
                <a:schemeClr val="dk1"/>
              </a:solidFill>
              <a:latin typeface="Calibri"/>
              <a:ea typeface="Calibri"/>
              <a:cs typeface="Calibri"/>
              <a:sym typeface="Calibri"/>
            </a:endParaRPr>
          </a:p>
        </p:txBody>
      </p:sp>
      <p:sp>
        <p:nvSpPr>
          <p:cNvPr id="284" name="Google Shape;284;p2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DataLoader batches N orders into one gRPC call.</a:t>
            </a:r>
            <a:endParaRPr b="0" i="0" sz="13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1" name="Shape 291"/>
        <p:cNvGrpSpPr/>
        <p:nvPr/>
      </p:nvGrpSpPr>
      <p:grpSpPr>
        <a:xfrm>
          <a:off x="0" y="0"/>
          <a:ext cx="0" cy="0"/>
          <a:chOff x="0" y="0"/>
          <a:chExt cx="0" cy="0"/>
        </a:xfrm>
      </p:grpSpPr>
      <p:sp>
        <p:nvSpPr>
          <p:cNvPr id="292" name="Google Shape;292;p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93" name="Google Shape;293;p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dn/07-composition-patterns.png" id="294" name="Google Shape;294;p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95" name="Google Shape;295;p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quietly rebuilds the monolith.</a:t>
            </a:r>
            <a:endParaRPr b="0" i="0" sz="1200" u="none" cap="none" strike="noStrike">
              <a:solidFill>
                <a:schemeClr val="dk1"/>
              </a:solidFill>
              <a:latin typeface="Calibri"/>
              <a:ea typeface="Calibri"/>
              <a:cs typeface="Calibri"/>
              <a:sym typeface="Calibri"/>
            </a:endParaRPr>
          </a:p>
        </p:txBody>
      </p:sp>
      <p:sp>
        <p:nvSpPr>
          <p:cNvPr id="296" name="Google Shape;296;p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297" name="Google Shape;297;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304" name="Google Shape;304;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Server as a line-of-business BFF</a:t>
            </a:r>
            <a:endParaRPr b="0" i="0" sz="3000" u="none" cap="none" strike="noStrike">
              <a:solidFill>
                <a:schemeClr val="dk1"/>
              </a:solidFill>
              <a:latin typeface="Calibri"/>
              <a:ea typeface="Calibri"/>
              <a:cs typeface="Calibri"/>
              <a:sym typeface="Calibri"/>
            </a:endParaRPr>
          </a:p>
        </p:txBody>
      </p:sp>
      <p:sp>
        <p:nvSpPr>
          <p:cNvPr id="305" name="Google Shape;305;p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is inherently BFF-shaped: a server-side .NET process holds the UI's view-model and pushes UI diffs to the browser over a SignalR channel — the client is thin.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that server-side process you can aggregate from REST, gRPC and Kafka back-ends with normal .NET code (typed HttpClient, gRPC client, MassTransit consumer) — no client-side fan-out, no CORS dance, no token-passing through the browser.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Runs on Kubernetes as a regular ASP.NET Core Pod — no Azure App Service, no Azure SignalR Service. The SignalR backplane is open-source Redis (we cover the pinning + backplane story in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to choose it: internal LOB apps, admin consoles, dashboards — where you want server-rendered state, server-side auth, and a single trust boundary. Pair with Blazor WebAssembly for the offline / high-interactivity client surface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When NOT to choose it: SEO-critical public sites (use static rendering or SSR), or anything that must work without a persistent connection — every Blazor Server interaction is a SignalR round-trip and inherits all the WebSocket scaling concerns in Appendix C.</a:t>
            </a:r>
            <a:endParaRPr b="0" i="0" sz="17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12" name="Shape 312"/>
        <p:cNvGrpSpPr/>
        <p:nvPr/>
      </p:nvGrpSpPr>
      <p:grpSpPr>
        <a:xfrm>
          <a:off x="0" y="0"/>
          <a:ext cx="0" cy="0"/>
          <a:chOff x="0" y="0"/>
          <a:chExt cx="0" cy="0"/>
        </a:xfrm>
      </p:grpSpPr>
      <p:pic>
        <p:nvPicPr>
          <p:cNvPr descr="/home/claude/work/assets/rh-divider-bg.png" id="313" name="Google Shape;313;p3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14" name="Google Shape;314;p3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315" name="Google Shape;315;p3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316" name="Google Shape;316;p3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317" name="Google Shape;317;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2" name="Shape 322"/>
        <p:cNvGrpSpPr/>
        <p:nvPr/>
      </p:nvGrpSpPr>
      <p:grpSpPr>
        <a:xfrm>
          <a:off x="0" y="0"/>
          <a:ext cx="0" cy="0"/>
          <a:chOff x="0" y="0"/>
          <a:chExt cx="0" cy="0"/>
        </a:xfrm>
      </p:grpSpPr>
      <p:sp>
        <p:nvSpPr>
          <p:cNvPr id="323" name="Google Shape;323;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4" name="Google Shape;324;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dn/08-data-per-service-db.png" id="325" name="Google Shape;325;p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26" name="Google Shape;326;p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27" name="Google Shape;327;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28" name="Google Shape;328;p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5" name="Google Shape;335;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dn/08b-data-cqrs.png" id="336" name="Google Shape;336;p3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37" name="Google Shape;337;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38" name="Google Shape;338;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39" name="Google Shape;339;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6" name="Google Shape;346;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47" name="Google Shape;347;p3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MassTransit</a:t>
            </a:r>
            <a:endParaRPr b="0" i="0" sz="1000" u="none" cap="none" strike="noStrike">
              <a:solidFill>
                <a:schemeClr val="dk1"/>
              </a:solidFill>
              <a:latin typeface="Calibri"/>
              <a:ea typeface="Calibri"/>
              <a:cs typeface="Calibri"/>
              <a:sym typeface="Calibri"/>
            </a:endParaRPr>
          </a:p>
        </p:txBody>
      </p:sp>
      <p:sp>
        <p:nvSpPr>
          <p:cNvPr id="349" name="Google Shape;349;p3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 side  —  command handler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OrderWriteController(WriteDb writes, IPublishEndpoint bus)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[HttpPost]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Task&lt;ActionResult&lt;Order&gt;&gt; Create(OrderIn body,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order = new Order(body);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writes.Orders.Add(order);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writes.SaveChangesAsync(ct);                       // write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bus.Publish(new OrderCreatedEvent(order), ct);     // → projection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Ok(order);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 side  —  reads from a DIFFERENT, denormalised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[ApiController, Route("orders")]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OrderReadController(ReadDb reads) : ControllerBase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[HttpGet("{id}/summary")]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Task&lt;ActionResult&lt;OrderSummary&gt;&gt; Summary(string id, CancellationToken ct)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 = await reads.OrderSummaries.FindAsync([id],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return s is null ? NotFound() : Ok(s);                   // NOT write store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Projection  —  MassTransit consumer; idempotent upsert into the read model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OrderSummaryProjection(ReadDb reads) : IConsumer&lt;OrderCreatedEvent&gt;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Consume(ConsumeContext&lt;OrderCreatedEvent&gt; ctx)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reads.OrderSummaries.Update(OrderSummary.From(ctx.Message));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reads.SaveChangesAsync(ctx.CancellationToken);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350" name="Google Shape;350;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1" name="Google Shape;351;p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8" name="Google Shape;358;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dn/08c-data-log-tailing.png" id="359" name="Google Shape;359;p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60" name="Google Shape;360;p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61" name="Google Shape;361;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2" name="Google Shape;362;p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7" name="Shape 367"/>
        <p:cNvGrpSpPr/>
        <p:nvPr/>
      </p:nvGrpSpPr>
      <p:grpSpPr>
        <a:xfrm>
          <a:off x="0" y="0"/>
          <a:ext cx="0" cy="0"/>
          <a:chOff x="0" y="0"/>
          <a:chExt cx="0" cy="0"/>
        </a:xfrm>
      </p:grpSpPr>
      <p:sp>
        <p:nvSpPr>
          <p:cNvPr id="368" name="Google Shape;368;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69" name="Google Shape;369;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a lie — use the outbox</a:t>
            </a:r>
            <a:endParaRPr b="0" i="0" sz="3000" u="none" cap="none" strike="noStrike">
              <a:solidFill>
                <a:schemeClr val="dk1"/>
              </a:solidFill>
              <a:latin typeface="Calibri"/>
              <a:ea typeface="Calibri"/>
              <a:cs typeface="Calibri"/>
              <a:sym typeface="Calibri"/>
            </a:endParaRPr>
          </a:p>
        </p:txBody>
      </p:sp>
      <p:pic>
        <p:nvPicPr>
          <p:cNvPr descr="/home/claude/work/png-dn/09-data-outbox-cdc.png" id="370" name="Google Shape;370;p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371" name="Google Shape;371;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3" name="Google Shape;373;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8" name="Shape 378"/>
        <p:cNvGrpSpPr/>
        <p:nvPr/>
      </p:nvGrpSpPr>
      <p:grpSpPr>
        <a:xfrm>
          <a:off x="0" y="0"/>
          <a:ext cx="0" cy="0"/>
          <a:chOff x="0" y="0"/>
          <a:chExt cx="0" cy="0"/>
        </a:xfrm>
      </p:grpSpPr>
      <p:sp>
        <p:nvSpPr>
          <p:cNvPr id="379" name="Google Shape;379;p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80" name="Google Shape;380;p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81" name="Google Shape;381;p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2" name="Google Shape;382;p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EF Core + Debezium CDC</a:t>
            </a:r>
            <a:endParaRPr b="0" i="0" sz="1000" u="none" cap="none" strike="noStrike">
              <a:solidFill>
                <a:schemeClr val="dk1"/>
              </a:solidFill>
              <a:latin typeface="Calibri"/>
              <a:ea typeface="Calibri"/>
              <a:cs typeface="Calibri"/>
              <a:sym typeface="Calibri"/>
            </a:endParaRPr>
          </a:p>
        </p:txBody>
      </p:sp>
      <p:sp>
        <p:nvSpPr>
          <p:cNvPr id="383" name="Google Shape;383;p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EF Core + Debezium CDC — the .NET reading of the outbox pattern.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For WCF/COM+ refugees: this REPLACES the MSDTC two-phase commit you used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to make 'save the order AND queue the event' atomic across databases.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OrderService(OrdersDbContext db) : IOrderService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async Task&lt;Order&gt; CreateAsync(OrderIn 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using var tx = await db.Database.BeginTransactionAsync();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order = Order.From(body);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db.Orders.Add(order);                       // state change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db.Outbox.Add(new OutboxEntry(              // same txn — outbox row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EventType:     "order.placed",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AggregateType: "orders",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AggregateId:   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Payload:       JsonSerializer.Serialize(order),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CreatedAt:     DateTimeOffset.UtcNow));</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db.SaveChangesAsync();                // single local commit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tx.CommitAsync();                     // Debezium tails WAL → Kafka</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No Kafka call on the request path: if the broker is down, the order still</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commits and the event ships when the Debezium connector catches up.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MassTransit has a built-in transactional outbox if you prefer the framework path.</a:t>
            </a:r>
            <a:endParaRPr b="0" i="0" sz="1050" u="none" cap="none" strike="noStrike">
              <a:solidFill>
                <a:schemeClr val="dk1"/>
              </a:solidFill>
              <a:latin typeface="Calibri"/>
              <a:ea typeface="Calibri"/>
              <a:cs typeface="Calibri"/>
              <a:sym typeface="Calibri"/>
            </a:endParaRPr>
          </a:p>
        </p:txBody>
      </p:sp>
      <p:sp>
        <p:nvSpPr>
          <p:cNvPr id="384" name="Google Shape;384;p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local DB commit replaces MSDTC. Debezium tails the write-ahead log and turns the outbox row into a guaranteed, ordered Kafka event.</a:t>
            </a:r>
            <a:endParaRPr b="0" i="0" sz="1300" u="none" cap="none" strike="noStrike">
              <a:solidFill>
                <a:schemeClr val="dk1"/>
              </a:solidFill>
              <a:latin typeface="Calibri"/>
              <a:ea typeface="Calibri"/>
              <a:cs typeface="Calibri"/>
              <a:sym typeface="Calibri"/>
            </a:endParaRPr>
          </a:p>
        </p:txBody>
      </p:sp>
      <p:sp>
        <p:nvSpPr>
          <p:cNvPr id="385" name="Google Shape;385;p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86" name="Google Shape;386;p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dn/10-data-saga.png" id="394" name="Google Shape;394;p3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02" name="Shape 402"/>
        <p:cNvGrpSpPr/>
        <p:nvPr/>
      </p:nvGrpSpPr>
      <p:grpSpPr>
        <a:xfrm>
          <a:off x="0" y="0"/>
          <a:ext cx="0" cy="0"/>
          <a:chOff x="0" y="0"/>
          <a:chExt cx="0" cy="0"/>
        </a:xfrm>
      </p:grpSpPr>
      <p:pic>
        <p:nvPicPr>
          <p:cNvPr descr="/home/claude/work/assets/rh-divider-bg.png" id="403" name="Google Shape;403;p3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04" name="Google Shape;404;p3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405" name="Google Shape;405;p3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406" name="Google Shape;406;p3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407" name="Google Shape;407;p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2" name="Shape 412"/>
        <p:cNvGrpSpPr/>
        <p:nvPr/>
      </p:nvGrpSpPr>
      <p:grpSpPr>
        <a:xfrm>
          <a:off x="0" y="0"/>
          <a:ext cx="0" cy="0"/>
          <a:chOff x="0" y="0"/>
          <a:chExt cx="0" cy="0"/>
        </a:xfrm>
      </p:grpSpPr>
      <p:sp>
        <p:nvSpPr>
          <p:cNvPr id="413" name="Google Shape;413;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4" name="Google Shape;414;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dn/11-event-topology.png" id="415" name="Google Shape;415;p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16" name="Google Shape;416;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18" name="Google Shape;418;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3" name="Shape 423"/>
        <p:cNvGrpSpPr/>
        <p:nvPr/>
      </p:nvGrpSpPr>
      <p:grpSpPr>
        <a:xfrm>
          <a:off x="0" y="0"/>
          <a:ext cx="0" cy="0"/>
          <a:chOff x="0" y="0"/>
          <a:chExt cx="0" cy="0"/>
        </a:xfrm>
      </p:grpSpPr>
      <p:sp>
        <p:nvSpPr>
          <p:cNvPr id="424" name="Google Shape;424;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5" name="Google Shape;425;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MassTransit</a:t>
            </a:r>
            <a:endParaRPr b="0" i="0" sz="3000" u="none" cap="none" strike="noStrike">
              <a:solidFill>
                <a:schemeClr val="dk1"/>
              </a:solidFill>
              <a:latin typeface="Calibri"/>
              <a:ea typeface="Calibri"/>
              <a:cs typeface="Calibri"/>
              <a:sym typeface="Calibri"/>
            </a:endParaRPr>
          </a:p>
        </p:txBody>
      </p:sp>
      <p:sp>
        <p:nvSpPr>
          <p:cNvPr id="426" name="Google Shape;426;p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428" name="Google Shape;428;p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MassTransit (Apache 2.0) is the BizTalk/NServiceBus open-source heir for .NET.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One programming model over Kafka, RabbitMQ or Azure Service Bus.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Sagas, retries, scheduling, transactional outbox — all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record OrderPlaced(string OrderId, string Sku, int Quantity);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producer — order-service emits the fact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OrderEvents(IBus bus)                  // primary constructor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PublishAsync(Order o) =&gt; bus.Publish(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OrderPlaced(o.Id, o.Sku, o.Quantity));  // keyed by message type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consumer — notification-service, Kafka-only by design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Notifier(IEmailSender mail) : IConsumer&lt;OrderPlaced&gt;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Consume(ConsumeContext&lt;OrderPlaced&gt; 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mail.SendAsync(ctx.Message);          // do the work first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ctx auto-acks on successful return — at-least-once delivery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builder.Services.AddMassTransit(x =&gt;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x.AddConsumer&lt;Notifier&gt;();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x.UsingKafka((ctx, k) =&gt; {                      // also: UsingRabbitMq, UsingAzure...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k.Host("kafka:9092");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k.TopicEndpoint&lt;OrderPlaced&gt;("order-placed", "notifier-group",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 =&gt; e.ConfigureConsumer&lt;Notifier&gt;(ctx));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429" name="Google Shape;429;p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MassTransit is the BizTalk/NServiceBus replacement: one API over Kafka, RabbitMQ, Azure Service Bus. Handlers are idempotent; at-least-once is the contract.</a:t>
            </a:r>
            <a:endParaRPr b="0" i="0" sz="1300" u="none" cap="none" strike="noStrike">
              <a:solidFill>
                <a:schemeClr val="dk1"/>
              </a:solidFill>
              <a:latin typeface="Calibri"/>
              <a:ea typeface="Calibri"/>
              <a:cs typeface="Calibri"/>
              <a:sym typeface="Calibri"/>
            </a:endParaRPr>
          </a:p>
        </p:txBody>
      </p:sp>
      <p:sp>
        <p:nvSpPr>
          <p:cNvPr id="430" name="Google Shape;430;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1" name="Google Shape;431;p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6" name="Shape 436"/>
        <p:cNvGrpSpPr/>
        <p:nvPr/>
      </p:nvGrpSpPr>
      <p:grpSpPr>
        <a:xfrm>
          <a:off x="0" y="0"/>
          <a:ext cx="0" cy="0"/>
          <a:chOff x="0" y="0"/>
          <a:chExt cx="0" cy="0"/>
        </a:xfrm>
      </p:grpSpPr>
      <p:sp>
        <p:nvSpPr>
          <p:cNvPr id="437" name="Google Shape;437;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8" name="Google Shape;438;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dn/12-event-schema-registry.png" id="439" name="Google Shape;439;p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40" name="Google Shape;440;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41" name="Google Shape;441;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2" name="Google Shape;442;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7" name="Shape 447"/>
        <p:cNvGrpSpPr/>
        <p:nvPr/>
      </p:nvGrpSpPr>
      <p:grpSpPr>
        <a:xfrm>
          <a:off x="0" y="0"/>
          <a:ext cx="0" cy="0"/>
          <a:chOff x="0" y="0"/>
          <a:chExt cx="0" cy="0"/>
        </a:xfrm>
      </p:grpSpPr>
      <p:sp>
        <p:nvSpPr>
          <p:cNvPr id="448" name="Google Shape;448;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49" name="Google Shape;449;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dn/11b-event-sourcing-vs-streaming.png" id="450" name="Google Shape;450;p4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51" name="Google Shape;451;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52" name="Google Shape;452;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3" name="Google Shape;453;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8" name="Shape 458"/>
        <p:cNvGrpSpPr/>
        <p:nvPr/>
      </p:nvGrpSpPr>
      <p:grpSpPr>
        <a:xfrm>
          <a:off x="0" y="0"/>
          <a:ext cx="0" cy="0"/>
          <a:chOff x="0" y="0"/>
          <a:chExt cx="0" cy="0"/>
        </a:xfrm>
      </p:grpSpPr>
      <p:sp>
        <p:nvSpPr>
          <p:cNvPr id="459" name="Google Shape;459;p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60" name="Google Shape;460;p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dn/11c-event-tooling-landscape.png" id="461" name="Google Shape;461;p4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462" name="Google Shape;462;p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63" name="Google Shape;463;p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dn/13-event-log-replay.png" id="472" name="Google Shape;472;p4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80" name="Shape 480"/>
        <p:cNvGrpSpPr/>
        <p:nvPr/>
      </p:nvGrpSpPr>
      <p:grpSpPr>
        <a:xfrm>
          <a:off x="0" y="0"/>
          <a:ext cx="0" cy="0"/>
          <a:chOff x="0" y="0"/>
          <a:chExt cx="0" cy="0"/>
        </a:xfrm>
      </p:grpSpPr>
      <p:pic>
        <p:nvPicPr>
          <p:cNvPr descr="/home/claude/work/assets/rh-divider-bg.png" id="481" name="Google Shape;481;p4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82" name="Google Shape;482;p4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83" name="Google Shape;483;p4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84" name="Google Shape;484;p4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85" name="Google Shape;485;p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0" name="Shape 490"/>
        <p:cNvGrpSpPr/>
        <p:nvPr/>
      </p:nvGrpSpPr>
      <p:grpSpPr>
        <a:xfrm>
          <a:off x="0" y="0"/>
          <a:ext cx="0" cy="0"/>
          <a:chOff x="0" y="0"/>
          <a:chExt cx="0" cy="0"/>
        </a:xfrm>
      </p:grpSpPr>
      <p:sp>
        <p:nvSpPr>
          <p:cNvPr id="491" name="Google Shape;491;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2" name="Google Shape;492;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dn/14-stream-topology.png" id="493" name="Google Shape;493;p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94" name="Google Shape;494;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6" name="Google Shape;496;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3" name="Google Shape;503;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Streamiz.Kafka.Net</a:t>
            </a:r>
            <a:endParaRPr b="0" i="0" sz="3000" u="none" cap="none" strike="noStrike">
              <a:solidFill>
                <a:schemeClr val="dk1"/>
              </a:solidFill>
              <a:latin typeface="Calibri"/>
              <a:ea typeface="Calibri"/>
              <a:cs typeface="Calibri"/>
              <a:sym typeface="Calibri"/>
            </a:endParaRPr>
          </a:p>
        </p:txBody>
      </p:sp>
      <p:sp>
        <p:nvSpPr>
          <p:cNvPr id="504" name="Google Shape;504;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5" name="Google Shape;505;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Streamiz.Kafka.Net</a:t>
            </a:r>
            <a:endParaRPr b="0" i="0" sz="1000" u="none" cap="none" strike="noStrike">
              <a:solidFill>
                <a:schemeClr val="dk1"/>
              </a:solidFill>
              <a:latin typeface="Calibri"/>
              <a:ea typeface="Calibri"/>
              <a:cs typeface="Calibri"/>
              <a:sym typeface="Calibri"/>
            </a:endParaRPr>
          </a:p>
        </p:txBody>
      </p:sp>
      <p:sp>
        <p:nvSpPr>
          <p:cNvPr id="506" name="Google Shape;506;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Streamiz.Kafka.Net (MIT) is a .NET rewrite of Kafka Streams — same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topology / state-store / changelog model, native C</a:t>
            </a:r>
            <a:r>
              <a:rPr b="0" i="0" lang="en-US" sz="950" u="none" cap="none" strike="noStrike">
                <a:solidFill>
                  <a:srgbClr val="8FB98F"/>
                </a:solidFill>
                <a:latin typeface="Red Hat Mono"/>
                <a:ea typeface="Red Hat Mono"/>
                <a:cs typeface="Red Hat Mono"/>
                <a:sym typeface="Red Hat Mono"/>
              </a:rPr>
              <a:t>#. Active development,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1.8.0 released 2026-03. No JVM in your container, no Flink cluster needed.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config = new StreamConfig&lt;StringSerDes, OrderSerDes&gt;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ApplicationId = "revenue-aggregator",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BootstrapServers = "kafka:9092",</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StateDir = "/var/streamiz/state",         // local RocksDB, changelog-backed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builder = new StreamBuilder();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builder.Stream&lt;string, Order&gt;("order.placed")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.GroupBy((k, o) =&gt; o.MerchantId)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.WindowedBy(TumblingWindowOptions.Of(TimeSpan.FromMinutes(5)))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.Aggregate&lt;double, MerchantTotal&gt;(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initializer: () =&gt; 0.0,                  // local state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aggregator:  (mId, o, total) =&gt; total + o.Total,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Materialized&lt;string, double, IWindowStore&lt;Bytes, byte[]&gt;&gt;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.Create("revenue-by-merchant"))    // state store + changelog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.ToStream()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.To&lt;StringSerDes, DoubleSerDes&gt;("revenue.5m");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var stream = new KafkaStream(builder.Build(), config);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await stream.StartAsync();                       // run as IHostedService</a:t>
            </a:r>
            <a:endParaRPr b="0" i="0" sz="950" u="none" cap="none" strike="noStrike">
              <a:solidFill>
                <a:schemeClr val="dk1"/>
              </a:solidFill>
              <a:latin typeface="Calibri"/>
              <a:ea typeface="Calibri"/>
              <a:cs typeface="Calibri"/>
              <a:sym typeface="Calibri"/>
            </a:endParaRPr>
          </a:p>
        </p:txBody>
      </p:sp>
      <p:sp>
        <p:nvSpPr>
          <p:cNvPr id="507" name="Google Shape;507;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RocksDB + a Kafka changelog topic gives fault-tolerant aggregation — no JVM, no separate Flink cluster, just C# in a Pod.</a:t>
            </a:r>
            <a:endParaRPr b="0" i="0" sz="1300" u="none" cap="none" strike="noStrike">
              <a:solidFill>
                <a:schemeClr val="dk1"/>
              </a:solidFill>
              <a:latin typeface="Calibri"/>
              <a:ea typeface="Calibri"/>
              <a:cs typeface="Calibri"/>
              <a:sym typeface="Calibri"/>
            </a:endParaRPr>
          </a:p>
        </p:txBody>
      </p:sp>
      <p:sp>
        <p:nvSpPr>
          <p:cNvPr id="508" name="Google Shape;508;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09" name="Google Shape;509;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4" name="Shape 514"/>
        <p:cNvGrpSpPr/>
        <p:nvPr/>
      </p:nvGrpSpPr>
      <p:grpSpPr>
        <a:xfrm>
          <a:off x="0" y="0"/>
          <a:ext cx="0" cy="0"/>
          <a:chOff x="0" y="0"/>
          <a:chExt cx="0" cy="0"/>
        </a:xfrm>
      </p:grpSpPr>
      <p:sp>
        <p:nvSpPr>
          <p:cNvPr id="515" name="Google Shape;515;p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16" name="Google Shape;516;p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dn/15-stream-keda-scaling.png" id="517" name="Google Shape;517;p48"/>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518" name="Google Shape;518;p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519" name="Google Shape;519;p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20" name="Google Shape;520;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27" name="Google Shape;527;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28" name="Google Shape;528;p4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4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30" name="Google Shape;530;p4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event-driven: scale consumers on Kafka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apiVersion: keda.sh/v1alpha1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scaleTargetRef: { name: payment-consumer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minReplicaCount: 0                     </a:t>
            </a:r>
            <a:r>
              <a:rPr b="0" i="0" lang="en-US" sz="1200" u="none" cap="none" strike="noStrike">
                <a:solidFill>
                  <a:srgbClr val="8FB98F"/>
                </a:solidFill>
                <a:latin typeface="Red Hat Mono"/>
                <a:ea typeface="Red Hat Mono"/>
                <a:cs typeface="Red Hat Mono"/>
                <a:sym typeface="Red Hat Mono"/>
              </a:rPr>
              <a:t># scale to zero when no lag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maxReplicaCount: 20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triggers: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 type: kafka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metadata: { topic: order.placed, consumerGroup: payment, lagThreshold: "100"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HTTP: scale the ASP.NET Core service on concurrent requests (KEDA http-add-on)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kind: HTTPScaledObject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spec: { scaleTargetRef: { service: order-service }, replicas: { min: 0, max: 30 } }</a:t>
            </a:r>
            <a:endParaRPr b="0" i="0" sz="1200" u="none" cap="none" strike="noStrike">
              <a:solidFill>
                <a:schemeClr val="dk1"/>
              </a:solidFill>
              <a:latin typeface="Calibri"/>
              <a:ea typeface="Calibri"/>
              <a:cs typeface="Calibri"/>
              <a:sym typeface="Calibri"/>
            </a:endParaRPr>
          </a:p>
        </p:txBody>
      </p:sp>
      <p:sp>
        <p:nvSpPr>
          <p:cNvPr id="531" name="Google Shape;531;p4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38" name="Shape 538"/>
        <p:cNvGrpSpPr/>
        <p:nvPr/>
      </p:nvGrpSpPr>
      <p:grpSpPr>
        <a:xfrm>
          <a:off x="0" y="0"/>
          <a:ext cx="0" cy="0"/>
          <a:chOff x="0" y="0"/>
          <a:chExt cx="0" cy="0"/>
        </a:xfrm>
      </p:grpSpPr>
      <p:pic>
        <p:nvPicPr>
          <p:cNvPr descr="/home/claude/work/assets/rh-divider-bg.png" id="539" name="Google Shape;539;p5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40" name="Google Shape;540;p5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41" name="Google Shape;541;p5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42" name="Google Shape;542;p5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43" name="Google Shape;543;p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8" name="Shape 548"/>
        <p:cNvGrpSpPr/>
        <p:nvPr/>
      </p:nvGrpSpPr>
      <p:grpSpPr>
        <a:xfrm>
          <a:off x="0" y="0"/>
          <a:ext cx="0" cy="0"/>
          <a:chOff x="0" y="0"/>
          <a:chExt cx="0" cy="0"/>
        </a:xfrm>
      </p:grpSpPr>
      <p:sp>
        <p:nvSpPr>
          <p:cNvPr id="549" name="Google Shape;549;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0" name="Google Shape;550;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dn/16-workflows-orchestration.png" id="551" name="Google Shape;551;p5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52" name="Google Shape;552;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is easy to follow;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53" name="Google Shape;553;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4" name="Google Shape;554;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61" name="Google Shape;561;p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62" name="Google Shape;562;p52"/>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3" name="Google Shape;563;p52"/>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64" name="Google Shape;564;p52"/>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Easy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65" name="Google Shape;565;p52"/>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p52"/>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67" name="Google Shape;567;p52"/>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lnSpc>
                <a:spcPct val="100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lnSpc>
                <a:spcPct val="100000"/>
              </a:lnSpc>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68" name="Google Shape;568;p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69" name="Google Shape;569;p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dn/17-workflows-jobs.png" id="577" name="Google Shape;577;p53"/>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85" name="Shape 585"/>
        <p:cNvGrpSpPr/>
        <p:nvPr/>
      </p:nvGrpSpPr>
      <p:grpSpPr>
        <a:xfrm>
          <a:off x="0" y="0"/>
          <a:ext cx="0" cy="0"/>
          <a:chOff x="0" y="0"/>
          <a:chExt cx="0" cy="0"/>
        </a:xfrm>
      </p:grpSpPr>
      <p:pic>
        <p:nvPicPr>
          <p:cNvPr descr="/home/claude/work/assets/rh-divider-bg.png" id="586" name="Google Shape;586;p5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87" name="Google Shape;587;p5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88" name="Google Shape;588;p5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89" name="Google Shape;589;p5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90" name="Google Shape;590;p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97" name="Google Shape;597;p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dn/18-api-management-stack.png" id="598" name="Google Shape;598;p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99" name="Google Shape;599;p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600" name="Google Shape;600;p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01" name="Google Shape;601;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6" name="Shape 606"/>
        <p:cNvGrpSpPr/>
        <p:nvPr/>
      </p:nvGrpSpPr>
      <p:grpSpPr>
        <a:xfrm>
          <a:off x="0" y="0"/>
          <a:ext cx="0" cy="0"/>
          <a:chOff x="0" y="0"/>
          <a:chExt cx="0" cy="0"/>
        </a:xfrm>
      </p:grpSpPr>
      <p:sp>
        <p:nvSpPr>
          <p:cNvPr id="607" name="Google Shape;607;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608" name="Google Shape;608;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609" name="Google Shape;609;p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16" name="Shape 616"/>
        <p:cNvGrpSpPr/>
        <p:nvPr/>
      </p:nvGrpSpPr>
      <p:grpSpPr>
        <a:xfrm>
          <a:off x="0" y="0"/>
          <a:ext cx="0" cy="0"/>
          <a:chOff x="0" y="0"/>
          <a:chExt cx="0" cy="0"/>
        </a:xfrm>
      </p:grpSpPr>
      <p:pic>
        <p:nvPicPr>
          <p:cNvPr descr="/home/claude/work/assets/rh-divider-bg.png" id="617" name="Google Shape;617;p5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18" name="Google Shape;618;p5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619" name="Google Shape;619;p5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620" name="Google Shape;620;p5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21" name="Google Shape;621;p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6" name="Shape 626"/>
        <p:cNvGrpSpPr/>
        <p:nvPr/>
      </p:nvGrpSpPr>
      <p:grpSpPr>
        <a:xfrm>
          <a:off x="0" y="0"/>
          <a:ext cx="0" cy="0"/>
          <a:chOff x="0" y="0"/>
          <a:chExt cx="0" cy="0"/>
        </a:xfrm>
      </p:grpSpPr>
      <p:sp>
        <p:nvSpPr>
          <p:cNvPr id="627" name="Google Shape;627;p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28" name="Google Shape;628;p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dn/19-api-registry-apicurio.png" id="629" name="Google Shape;629;p5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30" name="Google Shape;630;p5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31" name="Google Shape;631;p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32" name="Google Shape;632;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39" name="Google Shape;639;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40" name="Google Shape;640;p5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5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CI + Apicurio v3 REST</a:t>
            </a:r>
            <a:endParaRPr b="0" i="0" sz="1000" u="none" cap="none" strike="noStrike">
              <a:solidFill>
                <a:schemeClr val="dk1"/>
              </a:solidFill>
              <a:latin typeface="Calibri"/>
              <a:ea typeface="Calibri"/>
              <a:cs typeface="Calibri"/>
              <a:sym typeface="Calibri"/>
            </a:endParaRPr>
          </a:p>
        </p:txBody>
      </p:sp>
      <p:sp>
        <p:nvSpPr>
          <p:cNvPr id="642" name="Google Shape;642;p5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No Maven plugin for .NET - gate breaking changes via the Apicurio v3 REST API.</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 dryRun create-version runs the COMPATIBILITY rule server-side, then rolls back.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.github/workflows/contracts.yml  (runs on every PR; no app build needed)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jobs: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schema-compat: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runs-on: ubuntu-latest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steps: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uses: actions/checkout@v4</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Gate the new Avro schema against the registry 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env:</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 http://apicurio.registry.svc/apis/registry/v3</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run: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code=$(curl -s -o resp.json -w '%{http_code}' -X POST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"$REGISTRY/groups/orders/artifacts/order-value/versions?dryRun=true"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 'Content-Type: application/json'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--data-binary @src/Schemas/order.avsc)   # the new schema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409 = COMPATIBILITY rule violated -&gt; incompatible (breaking) change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"$code" = "200" ] || { echo 'Breaking schema change'; cat resp.json; exit 1; }</a:t>
            </a:r>
            <a:endParaRPr b="0" i="0" sz="1100" u="none" cap="none" strike="noStrike">
              <a:solidFill>
                <a:schemeClr val="dk1"/>
              </a:solidFill>
              <a:latin typeface="Calibri"/>
              <a:ea typeface="Calibri"/>
              <a:cs typeface="Calibri"/>
              <a:sym typeface="Calibri"/>
            </a:endParaRPr>
          </a:p>
        </p:txBody>
      </p:sp>
      <p:sp>
        <p:nvSpPr>
          <p:cNvPr id="643" name="Google Shape;643;p5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dry-run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50" name="Shape 650"/>
        <p:cNvGrpSpPr/>
        <p:nvPr/>
      </p:nvGrpSpPr>
      <p:grpSpPr>
        <a:xfrm>
          <a:off x="0" y="0"/>
          <a:ext cx="0" cy="0"/>
          <a:chOff x="0" y="0"/>
          <a:chExt cx="0" cy="0"/>
        </a:xfrm>
      </p:grpSpPr>
      <p:pic>
        <p:nvPicPr>
          <p:cNvPr descr="/home/claude/work/assets/rh-divider-bg.png" id="651" name="Google Shape;651;p6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52" name="Google Shape;652;p6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53" name="Google Shape;653;p6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54" name="Google Shape;654;p6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55" name="Google Shape;655;p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60" name="Shape 660"/>
        <p:cNvGrpSpPr/>
        <p:nvPr/>
      </p:nvGrpSpPr>
      <p:grpSpPr>
        <a:xfrm>
          <a:off x="0" y="0"/>
          <a:ext cx="0" cy="0"/>
          <a:chOff x="0" y="0"/>
          <a:chExt cx="0" cy="0"/>
        </a:xfrm>
      </p:grpSpPr>
      <p:sp>
        <p:nvSpPr>
          <p:cNvPr id="661" name="Google Shape;661;p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62" name="Google Shape;662;p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dn/20-api-metadata-openmetadata.png" id="663" name="Google Shape;663;p6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64" name="Google Shape;664;p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65" name="Google Shape;665;p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66" name="Google Shape;666;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1" name="Shape 671"/>
        <p:cNvGrpSpPr/>
        <p:nvPr/>
      </p:nvGrpSpPr>
      <p:grpSpPr>
        <a:xfrm>
          <a:off x="0" y="0"/>
          <a:ext cx="0" cy="0"/>
          <a:chOff x="0" y="0"/>
          <a:chExt cx="0" cy="0"/>
        </a:xfrm>
      </p:grpSpPr>
      <p:sp>
        <p:nvSpPr>
          <p:cNvPr id="672" name="Google Shape;672;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73" name="Google Shape;673;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74" name="Google Shape;674;p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81" name="Shape 681"/>
        <p:cNvGrpSpPr/>
        <p:nvPr/>
      </p:nvGrpSpPr>
      <p:grpSpPr>
        <a:xfrm>
          <a:off x="0" y="0"/>
          <a:ext cx="0" cy="0"/>
          <a:chOff x="0" y="0"/>
          <a:chExt cx="0" cy="0"/>
        </a:xfrm>
      </p:grpSpPr>
      <p:pic>
        <p:nvPicPr>
          <p:cNvPr descr="/home/claude/work/assets/rh-divider-bg.png" id="682" name="Google Shape;682;p6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83" name="Google Shape;683;p6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84" name="Google Shape;684;p6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85" name="Google Shape;685;p6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86" name="Google Shape;686;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1" name="Shape 691"/>
        <p:cNvGrpSpPr/>
        <p:nvPr/>
      </p:nvGrpSpPr>
      <p:grpSpPr>
        <a:xfrm>
          <a:off x="0" y="0"/>
          <a:ext cx="0" cy="0"/>
          <a:chOff x="0" y="0"/>
          <a:chExt cx="0" cy="0"/>
        </a:xfrm>
      </p:grpSpPr>
      <p:sp>
        <p:nvSpPr>
          <p:cNvPr id="692" name="Google Shape;692;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3" name="Google Shape;693;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dn/21-observability-pillars.png" id="694" name="Google Shape;694;p6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95" name="Google Shape;695;p6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dn/21b-observability-signals.png" id="705" name="Google Shape;705;p6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06" name="Google Shape;706;p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707" name="Google Shape;707;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8" name="Google Shape;708;p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3" name="Shape 713"/>
        <p:cNvGrpSpPr/>
        <p:nvPr/>
      </p:nvGrpSpPr>
      <p:grpSpPr>
        <a:xfrm>
          <a:off x="0" y="0"/>
          <a:ext cx="0" cy="0"/>
          <a:chOff x="0" y="0"/>
          <a:chExt cx="0" cy="0"/>
        </a:xfrm>
      </p:grpSpPr>
      <p:sp>
        <p:nvSpPr>
          <p:cNvPr id="714" name="Google Shape;714;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716" name="Google Shape;716;p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717" name="Google Shape;717;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18" name="Google Shape;718;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3" name="Shape 723"/>
        <p:cNvGrpSpPr/>
        <p:nvPr/>
      </p:nvGrpSpPr>
      <p:grpSpPr>
        <a:xfrm>
          <a:off x="0" y="0"/>
          <a:ext cx="0" cy="0"/>
          <a:chOff x="0" y="0"/>
          <a:chExt cx="0" cy="0"/>
        </a:xfrm>
      </p:grpSpPr>
      <p:sp>
        <p:nvSpPr>
          <p:cNvPr id="724" name="Google Shape;724;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5" name="Google Shape;725;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26" name="Google Shape;726;p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28" name="Google Shape;728;p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3" name="Shape 733"/>
        <p:cNvGrpSpPr/>
        <p:nvPr/>
      </p:nvGrpSpPr>
      <p:grpSpPr>
        <a:xfrm>
          <a:off x="0" y="0"/>
          <a:ext cx="0" cy="0"/>
          <a:chOff x="0" y="0"/>
          <a:chExt cx="0" cy="0"/>
        </a:xfrm>
      </p:grpSpPr>
      <p:sp>
        <p:nvSpPr>
          <p:cNvPr id="734" name="Google Shape;734;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5" name="Google Shape;735;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with OpenTelemetry .NET</a:t>
            </a:r>
            <a:endParaRPr b="0" i="0" sz="3000" u="none" cap="none" strike="noStrike">
              <a:solidFill>
                <a:schemeClr val="dk1"/>
              </a:solidFill>
              <a:latin typeface="Calibri"/>
              <a:ea typeface="Calibri"/>
              <a:cs typeface="Calibri"/>
              <a:sym typeface="Calibri"/>
            </a:endParaRPr>
          </a:p>
        </p:txBody>
      </p:sp>
      <p:sp>
        <p:nvSpPr>
          <p:cNvPr id="736" name="Google Shape;736;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6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OpenTelemetry.NET</a:t>
            </a:r>
            <a:endParaRPr b="0" i="0" sz="1000" u="none" cap="none" strike="noStrike">
              <a:solidFill>
                <a:schemeClr val="dk1"/>
              </a:solidFill>
              <a:latin typeface="Calibri"/>
              <a:ea typeface="Calibri"/>
              <a:cs typeface="Calibri"/>
              <a:sym typeface="Calibri"/>
            </a:endParaRPr>
          </a:p>
        </p:txBody>
      </p:sp>
      <p:sp>
        <p:nvSpPr>
          <p:cNvPr id="738" name="Google Shape;738;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 — OpenTelemetry .NET is the cloud-native replacement for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Windows performance counters + ETW + Event Log, unified in one model.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builder.Services.AddOpenTelemetry()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.ConfigureResource(r =&gt; r.AddService("order-service"))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.WithTracing(t =&gt; 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        // every HTTP request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.AddHttpClientInstrumentation()        // outbound HttpClient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.AddGrpcClientInstrumentation()        // gRPC stub calls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.AddEntityFrameworkCoreInstrumentation() // EF Core queries → span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.AddSource("OrderService")             // your own ActivitySource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.AddOtlpExporter(o =&gt; o.Endpoint = new("http://otel-collector:4317")))</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.WithMetrics(m =&gt; 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.AddAspNetCoreInstrumentation()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.AddRuntimeInstrumentation()           // GC, threadpool, allocations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.AddOtlpExporter());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Custom business spans use the BCL ActivitySource (no extra dependency)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OrderService(IInventoryClient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private static readonly ActivitySource s_activity = new("OrderService");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Task&lt;ReserveReply&gt; ReserveAsync(string sku, int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using var activity = s_activity.StartActivity("reserve_stock");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activity?.SetTag("sku", sku);</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await inventory.ReserveStockAsync(sku, qty);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trace_id flows REST → gRPC → Kafka → consumer, automatically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739" name="Google Shape;739;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ASP.NET Core, HttpClient, gRPC and EF Core all emit spans with zero code; ActivitySource is the built-in API for your own spans. OTLP ships traces to Tempo, metrics to Mimir, logs to Loki.</a:t>
            </a:r>
            <a:endParaRPr b="0" i="0" sz="1300" u="none" cap="none" strike="noStrike">
              <a:solidFill>
                <a:schemeClr val="dk1"/>
              </a:solidFill>
              <a:latin typeface="Calibri"/>
              <a:ea typeface="Calibri"/>
              <a:cs typeface="Calibri"/>
              <a:sym typeface="Calibri"/>
            </a:endParaRPr>
          </a:p>
        </p:txBody>
      </p:sp>
      <p:sp>
        <p:nvSpPr>
          <p:cNvPr id="740" name="Google Shape;740;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1" name="Google Shape;741;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6" name="Shape 746"/>
        <p:cNvGrpSpPr/>
        <p:nvPr/>
      </p:nvGrpSpPr>
      <p:grpSpPr>
        <a:xfrm>
          <a:off x="0" y="0"/>
          <a:ext cx="0" cy="0"/>
          <a:chOff x="0" y="0"/>
          <a:chExt cx="0" cy="0"/>
        </a:xfrm>
      </p:grpSpPr>
      <p:sp>
        <p:nvSpPr>
          <p:cNvPr id="747" name="Google Shape;747;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48" name="Google Shape;748;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dn/21c-observability-correlation.png" id="749" name="Google Shape;749;p6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50" name="Google Shape;750;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2" name="Google Shape;752;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7" name="Shape 757"/>
        <p:cNvGrpSpPr/>
        <p:nvPr/>
      </p:nvGrpSpPr>
      <p:grpSpPr>
        <a:xfrm>
          <a:off x="0" y="0"/>
          <a:ext cx="0" cy="0"/>
          <a:chOff x="0" y="0"/>
          <a:chExt cx="0" cy="0"/>
        </a:xfrm>
      </p:grpSpPr>
      <p:sp>
        <p:nvSpPr>
          <p:cNvPr id="758" name="Google Shape;758;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9" name="Google Shape;759;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60" name="Google Shape;760;p7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1" name="Google Shape;761;p7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System.Diagnostics.Activity + OpenTelemetry</a:t>
            </a:r>
            <a:endParaRPr b="0" i="0" sz="1000" u="none" cap="none" strike="noStrike">
              <a:solidFill>
                <a:schemeClr val="dk1"/>
              </a:solidFill>
              <a:latin typeface="Calibri"/>
              <a:ea typeface="Calibri"/>
              <a:cs typeface="Calibri"/>
              <a:sym typeface="Calibri"/>
            </a:endParaRPr>
          </a:p>
        </p:txBody>
      </p:sp>
      <p:sp>
        <p:nvSpPr>
          <p:cNvPr id="762" name="Google Shape;762;p7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System.Diagnostics;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.NET propagates baggage on Activity automatically (W3C Baggage header).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Set at the edge in middleware: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app.Use(async (ctx, next) =&gt;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ctx.Request.Headers["X-Tenant"].FirstOrDefault() ?? "unknown");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Activity.Current?.AddBaggage("user_tier", LookupTier(ctx));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next();                                  // rides the whole trace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Read anywhere downstream  —  even in a MassTransit consumer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class OrderConsumer : IConsumer&lt;OrderPlaced&gt;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public Task Consume(ConsumeContext&lt;OrderPlaced&gt; ctx)</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tenant = Activity.Current?.GetBaggageItem("tenant_id");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Activity.Current?.SetTag("tenant_id", tenant);   // filterable in trace UI</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Handle(ctx.Message);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763" name="Google Shape;763;p7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Activity.AddBaggage at the edge; GetBaggageItem anywhere downstream. SetTag to filter traces.</a:t>
            </a:r>
            <a:endParaRPr b="0" i="0" sz="1300" u="none" cap="none" strike="noStrike">
              <a:solidFill>
                <a:schemeClr val="dk1"/>
              </a:solidFill>
              <a:latin typeface="Calibri"/>
              <a:ea typeface="Calibri"/>
              <a:cs typeface="Calibri"/>
              <a:sym typeface="Calibri"/>
            </a:endParaRPr>
          </a:p>
        </p:txBody>
      </p:sp>
      <p:sp>
        <p:nvSpPr>
          <p:cNvPr id="764" name="Google Shape;764;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5" name="Google Shape;765;p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0" name="Shape 770"/>
        <p:cNvGrpSpPr/>
        <p:nvPr/>
      </p:nvGrpSpPr>
      <p:grpSpPr>
        <a:xfrm>
          <a:off x="0" y="0"/>
          <a:ext cx="0" cy="0"/>
          <a:chOff x="0" y="0"/>
          <a:chExt cx="0" cy="0"/>
        </a:xfrm>
      </p:grpSpPr>
      <p:sp>
        <p:nvSpPr>
          <p:cNvPr id="771" name="Google Shape;771;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2" name="Google Shape;772;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dn/22-observability-trace.png" id="773" name="Google Shape;773;p7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74" name="Google Shape;774;p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dn/21d-observability-sampling.png" id="784" name="Google Shape;784;p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85" name="Google Shape;785;p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86" name="Google Shape;786;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7" name="Google Shape;787;p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92" name="Shape 792"/>
        <p:cNvGrpSpPr/>
        <p:nvPr/>
      </p:nvGrpSpPr>
      <p:grpSpPr>
        <a:xfrm>
          <a:off x="0" y="0"/>
          <a:ext cx="0" cy="0"/>
          <a:chOff x="0" y="0"/>
          <a:chExt cx="0" cy="0"/>
        </a:xfrm>
      </p:grpSpPr>
      <p:sp>
        <p:nvSpPr>
          <p:cNvPr id="793" name="Google Shape;793;p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94" name="Google Shape;794;p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95" name="Google Shape;795;p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96" name="Google Shape;796;p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797" name="Google Shape;797;p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2" name="Shape 802"/>
        <p:cNvGrpSpPr/>
        <p:nvPr/>
      </p:nvGrpSpPr>
      <p:grpSpPr>
        <a:xfrm>
          <a:off x="0" y="0"/>
          <a:ext cx="0" cy="0"/>
          <a:chOff x="0" y="0"/>
          <a:chExt cx="0" cy="0"/>
        </a:xfrm>
      </p:grpSpPr>
      <p:sp>
        <p:nvSpPr>
          <p:cNvPr id="803" name="Google Shape;803;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804" name="Google Shape;804;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805" name="Google Shape;805;p7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UI (GraphiQL)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812" name="Shape 812"/>
        <p:cNvGrpSpPr/>
        <p:nvPr/>
      </p:nvGrpSpPr>
      <p:grpSpPr>
        <a:xfrm>
          <a:off x="0" y="0"/>
          <a:ext cx="0" cy="0"/>
          <a:chOff x="0" y="0"/>
          <a:chExt cx="0" cy="0"/>
        </a:xfrm>
      </p:grpSpPr>
      <p:pic>
        <p:nvPicPr>
          <p:cNvPr descr="/home/claude/work/assets/rh-divider-bg.png" id="813" name="Google Shape;813;p7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14" name="Google Shape;814;p7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815" name="Google Shape;815;p7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816" name="Google Shape;816;p7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817" name="Google Shape;817;p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dn/100-security-4cs.png" id="825" name="Google Shape;825;p76"/>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26" name="Google Shape;826;p7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27" name="Google Shape;827;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8" name="Google Shape;828;p7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3" name="Shape 833"/>
        <p:cNvGrpSpPr/>
        <p:nvPr/>
      </p:nvGrpSpPr>
      <p:grpSpPr>
        <a:xfrm>
          <a:off x="0" y="0"/>
          <a:ext cx="0" cy="0"/>
          <a:chOff x="0" y="0"/>
          <a:chExt cx="0" cy="0"/>
        </a:xfrm>
      </p:grpSpPr>
      <p:sp>
        <p:nvSpPr>
          <p:cNvPr id="834" name="Google Shape;834;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35" name="Google Shape;835;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36" name="Google Shape;836;p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CloudTrail /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dn/101-security-sidecar.png" id="856" name="Google Shape;856;p7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68" name="Google Shape;868;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69" name="Google Shape;869;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4" name="Shape 874"/>
        <p:cNvGrpSpPr/>
        <p:nvPr/>
      </p:nvGrpSpPr>
      <p:grpSpPr>
        <a:xfrm>
          <a:off x="0" y="0"/>
          <a:ext cx="0" cy="0"/>
          <a:chOff x="0" y="0"/>
          <a:chExt cx="0" cy="0"/>
        </a:xfrm>
      </p:grpSpPr>
      <p:sp>
        <p:nvSpPr>
          <p:cNvPr id="875" name="Google Shape;875;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76" name="Google Shape;876;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dn/102-security-valet-key.png" id="877" name="Google Shape;877;p8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78" name="Google Shape;878;p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0" name="Google Shape;880;p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5" name="Shape 885"/>
        <p:cNvGrpSpPr/>
        <p:nvPr/>
      </p:nvGrpSpPr>
      <p:grpSpPr>
        <a:xfrm>
          <a:off x="0" y="0"/>
          <a:ext cx="0" cy="0"/>
          <a:chOff x="0" y="0"/>
          <a:chExt cx="0" cy="0"/>
        </a:xfrm>
      </p:grpSpPr>
      <p:sp>
        <p:nvSpPr>
          <p:cNvPr id="886" name="Google Shape;886;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87" name="Google Shape;887;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S3 pre-signed URL  —  scoped, time-bound, op-restricted</a:t>
            </a:r>
            <a:endParaRPr b="0" i="0" sz="30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8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a:t>
            </a:r>
            <a:endParaRPr b="0" i="0" sz="1000" u="none" cap="none" strike="noStrike">
              <a:solidFill>
                <a:schemeClr val="dk1"/>
              </a:solidFill>
              <a:latin typeface="Calibri"/>
              <a:ea typeface="Calibri"/>
              <a:cs typeface="Calibri"/>
              <a:sym typeface="Calibri"/>
            </a:endParaRPr>
          </a:p>
        </p:txBody>
      </p:sp>
      <p:sp>
        <p:nvSpPr>
          <p:cNvPr id="890" name="Google Shape;890;p82"/>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UploadController(IAmazonS3 s3)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[HttpPost("sign"), Authorize(Roles = "uploader")]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Task&lt;ActionResult&lt;UploadTicket&gt;&gt; Sign(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SignRequest body,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User.Identity!.Name!;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key = $"u/{userId}/{Guid.NewGuid()}/{body.Name}";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request = new GetPreSignedUrlRequest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BucketName  = "uploads",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Key         = key,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Verb        = HttpVerb.PUT,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ContentType = "application/octet-stream",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Expires     = DateTime.UtcNow.AddMinutes(5)      // valet window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url = await s3.GetPreSignedURLAsync(request);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Ok(new UploadTicket(url, key, 300));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Client: PUT &lt;ticket.url&gt; with the bytes  —  no app hop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S3 enforces the signature, ContentType, and Expires</a:t>
            </a:r>
            <a:endParaRPr b="0" i="0" sz="10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Auth0, Azure AD), and translates to whatever the legacy expects —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dn/103-security-zero-trust.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Google IAP, Cloudflare Access, Pomerium, AWS Verified Access — they terminate TLS, validate identity (OAuth/OIDC against your IdP), check device posture,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is open source; Google IAP / Cloudflare Access / AWS Verified Access are managed services.</a:t>
            </a:r>
            <a:endParaRPr b="0" i="0" sz="1700" u="none" cap="none" strike="noStrike">
              <a:solidFill>
                <a:schemeClr val="dk1"/>
              </a:solidFill>
              <a:latin typeface="Calibri"/>
              <a:ea typeface="Calibri"/>
              <a:cs typeface="Calibri"/>
              <a:sym typeface="Calibri"/>
            </a:endParaRPr>
          </a:p>
        </p:txBody>
      </p:sp>
      <p:sp>
        <p:nvSpPr>
          <p:cNvPr id="922" name="Google Shape;922;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3" name="Google Shape;923;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28" name="Shape 928"/>
        <p:cNvGrpSpPr/>
        <p:nvPr/>
      </p:nvGrpSpPr>
      <p:grpSpPr>
        <a:xfrm>
          <a:off x="0" y="0"/>
          <a:ext cx="0" cy="0"/>
          <a:chOff x="0" y="0"/>
          <a:chExt cx="0" cy="0"/>
        </a:xfrm>
      </p:grpSpPr>
      <p:sp>
        <p:nvSpPr>
          <p:cNvPr id="929" name="Google Shape;929;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30" name="Google Shape;930;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dn/104-security-policy-as-code.png" id="931" name="Google Shape;931;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2" name="Google Shape;932;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33" name="Google Shape;933;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4" name="Google Shape;934;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9" name="Shape 939"/>
        <p:cNvGrpSpPr/>
        <p:nvPr/>
      </p:nvGrpSpPr>
      <p:grpSpPr>
        <a:xfrm>
          <a:off x="0" y="0"/>
          <a:ext cx="0" cy="0"/>
          <a:chOff x="0" y="0"/>
          <a:chExt cx="0" cy="0"/>
        </a:xfrm>
      </p:grpSpPr>
      <p:sp>
        <p:nvSpPr>
          <p:cNvPr id="940" name="Google Shape;940;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41" name="Google Shape;941;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42" name="Google Shape;942;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44" name="Google Shape;944;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ConstraintTemplate  —  reusable policy logic in Rego</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templates.gatekeeper.sh/v1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ConstraintTemplate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crd: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names: { kind: K8sRequireSignedImages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validation: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openAPIV3Schema: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properties: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 type: array, items: { type: string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targets: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target: admission.k8s.gatekeeper.sh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rego: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package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violation[{"msg": msg}]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container := input.review.object.spec.containers[_]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not startswith(container.image, input.parameters.allowedRegistries[_])</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msg := sprintf("image %v not from an allowed registry", [container.image])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50"/>
              <a:buFont typeface="Red Hat Mono"/>
              <a:buNone/>
            </a:pPr>
            <a:r>
              <a:rPr b="0" i="0" lang="en-US" sz="950" u="none" cap="none" strike="noStrike">
                <a:solidFill>
                  <a:srgbClr val="8FB98F"/>
                </a:solidFill>
                <a:latin typeface="Red Hat Mono"/>
                <a:ea typeface="Red Hat Mono"/>
                <a:cs typeface="Red Hat Mono"/>
                <a:sym typeface="Red Hat Mono"/>
              </a:rPr>
              <a:t># Constraint  —  applies the policy to namespaces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apiVersion: constraints.gatekeeper.sh/v1beta1</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kind: K8sRequireSignedImages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metadata: { name: must-be-signed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spec: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kinds: [{apiGroups: [""], kinds: ["Pod"]}]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excludedNamespaces: ["kube-system", "gatekeeper-system"]</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parameters: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allowedRegistries: ["registry.acme.com/", "quay.io/redhat/"]</a:t>
            </a:r>
            <a:endParaRPr b="0" i="0" sz="950" u="none" cap="none" strike="noStrike">
              <a:solidFill>
                <a:schemeClr val="dk1"/>
              </a:solidFill>
              <a:latin typeface="Calibri"/>
              <a:ea typeface="Calibri"/>
              <a:cs typeface="Calibri"/>
              <a:sym typeface="Calibri"/>
            </a:endParaRPr>
          </a:p>
        </p:txBody>
      </p:sp>
      <p:sp>
        <p:nvSpPr>
          <p:cNvPr id="945" name="Google Shape;945;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6" name="Google Shape;946;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1" name="Shape 951"/>
        <p:cNvGrpSpPr/>
        <p:nvPr/>
      </p:nvGrpSpPr>
      <p:grpSpPr>
        <a:xfrm>
          <a:off x="0" y="0"/>
          <a:ext cx="0" cy="0"/>
          <a:chOff x="0" y="0"/>
          <a:chExt cx="0" cy="0"/>
        </a:xfrm>
      </p:grpSpPr>
      <p:sp>
        <p:nvSpPr>
          <p:cNvPr id="952" name="Google Shape;952;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53" name="Google Shape;953;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dn/105-security-bulkhead.png" id="954" name="Google Shape;954;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5" name="Google Shape;955;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56" name="Google Shape;956;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7" name="Google Shape;957;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2" name="Shape 962"/>
        <p:cNvGrpSpPr/>
        <p:nvPr/>
      </p:nvGrpSpPr>
      <p:grpSpPr>
        <a:xfrm>
          <a:off x="0" y="0"/>
          <a:ext cx="0" cy="0"/>
          <a:chOff x="0" y="0"/>
          <a:chExt cx="0" cy="0"/>
        </a:xfrm>
      </p:grpSpPr>
      <p:sp>
        <p:nvSpPr>
          <p:cNvPr id="963" name="Google Shape;963;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64" name="Google Shape;964;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Polly concurrency limiters in ASP.NET Core</a:t>
            </a:r>
            <a:endParaRPr b="0" i="0" sz="3000" u="none" cap="none" strike="noStrike">
              <a:solidFill>
                <a:schemeClr val="dk1"/>
              </a:solidFill>
              <a:latin typeface="Calibri"/>
              <a:ea typeface="Calibri"/>
              <a:cs typeface="Calibri"/>
              <a:sym typeface="Calibri"/>
            </a:endParaRPr>
          </a:p>
        </p:txBody>
      </p:sp>
      <p:sp>
        <p:nvSpPr>
          <p:cNvPr id="965" name="Google Shape;965;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6" name="Google Shape;966;p8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967" name="Google Shape;967;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Polly v8 resilience pipeline  —  concurrency limiter is the bulkhead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OrderService(IHttpClientFactory factory)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ResiliencePipeline&lt;Order&gt;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ConcurrencyLimiterOptions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PermitLimit = 50,                       // 50 concurrent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QueueLimit  = 100,                       // 100 may wait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QueueProcessingOrder = QueueProcessingOrder.OldestFirst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.AddTimeout(TimeSpan.FromSeconds(3))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Task&lt;Order&gt; Place(OrderRequest req,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_pipeline.ExecuteAsync(async token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Per-tenant bulkheads via cached named pipelines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ConcurrentDictionary&lt;string, ResiliencePipeline&lt;Order&gt;&gt; _tenants = new();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Task&lt;Order&gt; PlaceForTenant(string tenant, OrderRequest req, CancellationToken ct)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pipeline = _tenants.GetOrAdd(tenant, _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.AddConcurrencyLimiter(new() { PermitLimit = 30, QueueLimit = 50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pipeline.ExecuteAsync(async ct2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factory.CreateClient("payments")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.PostAsJsonAsync&lt;Order&gt;("/charge", req, ct2), ct).AsTask();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968" name="Google Shape;968;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69" name="Google Shape;969;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4" name="Shape 974"/>
        <p:cNvGrpSpPr/>
        <p:nvPr/>
      </p:nvGrpSpPr>
      <p:grpSpPr>
        <a:xfrm>
          <a:off x="0" y="0"/>
          <a:ext cx="0" cy="0"/>
          <a:chOff x="0" y="0"/>
          <a:chExt cx="0" cy="0"/>
        </a:xfrm>
      </p:grpSpPr>
      <p:sp>
        <p:nvSpPr>
          <p:cNvPr id="975" name="Google Shape;975;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76" name="Google Shape;976;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dn/106-security-claim-check.png" id="977" name="Google Shape;977;p9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78" name="Google Shape;978;p9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0" name="Google Shape;980;p9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5" name="Shape 985"/>
        <p:cNvGrpSpPr/>
        <p:nvPr/>
      </p:nvGrpSpPr>
      <p:grpSpPr>
        <a:xfrm>
          <a:off x="0" y="0"/>
          <a:ext cx="0" cy="0"/>
          <a:chOff x="0" y="0"/>
          <a:chExt cx="0" cy="0"/>
        </a:xfrm>
      </p:grpSpPr>
      <p:sp>
        <p:nvSpPr>
          <p:cNvPr id="986" name="Google Shape;986;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87" name="Google Shape;987;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9" name="Google Shape;989;p9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AWS SDK for .NET + MassTransit</a:t>
            </a:r>
            <a:endParaRPr b="0" i="0" sz="1000" u="none" cap="none" strike="noStrike">
              <a:solidFill>
                <a:schemeClr val="dk1"/>
              </a:solidFill>
              <a:latin typeface="Calibri"/>
              <a:ea typeface="Calibri"/>
              <a:cs typeface="Calibri"/>
              <a:sym typeface="Calibri"/>
            </a:endParaRPr>
          </a:p>
        </p:txBody>
      </p:sp>
      <p:sp>
        <p:nvSpPr>
          <p:cNvPr id="990" name="Google Shape;990;p9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Producer  —  store payload, publish only the claim ticket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ClaimPublisher(IAmazonS3 s3, IPublishEndpoint bus)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PublishWithClaim&lt;T&gt;(T payload,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objId = Guid.NewGuid().ToString();</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bytes = JsonSerializer.SerializeToUtf8Bytes(payload);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s3.PutObjectAsync(new PutObjectRequest {              // 1. store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BucketName = "claims",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Key = objId,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InputStream = new MemoryStream(bytes),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ServerSideEncryptionMethod = ServerSideEncryptionMethod.AES256</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ClaimTicket(objId, $"s3://claims/{objId}"), ct);  // 2.</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  MassTransit pulls the claim, we fetch the 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ClaimConsumer(IAmazonS3 s3) : IConsumer&lt;ClaimTicket&gt;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Consume(ConsumeContext&lt;ClaimTicket&gt;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obj = await s3.GetObjectAsync("claims", ctx.Message.ClaimId,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payload = await JsonSerializer.DeserializeAsync&lt;Payload&gt;(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obj.ResponseStream, cancellationToken: ctx.CancellationToken);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Handle(payload!);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991" name="Google Shape;991;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2" name="Google Shape;992;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7" name="Shape 997"/>
        <p:cNvGrpSpPr/>
        <p:nvPr/>
      </p:nvGrpSpPr>
      <p:grpSpPr>
        <a:xfrm>
          <a:off x="0" y="0"/>
          <a:ext cx="0" cy="0"/>
          <a:chOff x="0" y="0"/>
          <a:chExt cx="0" cy="0"/>
        </a:xfrm>
      </p:grpSpPr>
      <p:sp>
        <p:nvSpPr>
          <p:cNvPr id="998" name="Google Shape;998;p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99" name="Google Shape;999;p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1000" name="Google Shape;1000;p9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ALL of these, in combinations — not as a checklist, but as deliberate decisions per concern.</a:t>
            </a:r>
            <a:endParaRPr b="0" i="0" sz="1700" u="none" cap="none" strike="noStrike">
              <a:solidFill>
                <a:schemeClr val="dk1"/>
              </a:solidFill>
              <a:latin typeface="Calibri"/>
              <a:ea typeface="Calibri"/>
              <a:cs typeface="Calibri"/>
              <a:sym typeface="Calibri"/>
            </a:endParaRPr>
          </a:p>
        </p:txBody>
      </p:sp>
      <p:sp>
        <p:nvSpPr>
          <p:cNvPr id="1001" name="Google Shape;1001;p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02" name="Google Shape;1002;p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7" name="Shape 1007"/>
        <p:cNvGrpSpPr/>
        <p:nvPr/>
      </p:nvGrpSpPr>
      <p:grpSpPr>
        <a:xfrm>
          <a:off x="0" y="0"/>
          <a:ext cx="0" cy="0"/>
          <a:chOff x="0" y="0"/>
          <a:chExt cx="0" cy="0"/>
        </a:xfrm>
      </p:grpSpPr>
      <p:sp>
        <p:nvSpPr>
          <p:cNvPr id="1008" name="Google Shape;1008;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1009" name="Google Shape;1009;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1010" name="Google Shape;1010;p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Microsoft Cloud Adoption Framework: security patterns.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17" name="Shape 1017"/>
        <p:cNvGrpSpPr/>
        <p:nvPr/>
      </p:nvGrpSpPr>
      <p:grpSpPr>
        <a:xfrm>
          <a:off x="0" y="0"/>
          <a:ext cx="0" cy="0"/>
          <a:chOff x="0" y="0"/>
          <a:chExt cx="0" cy="0"/>
        </a:xfrm>
      </p:grpSpPr>
      <p:pic>
        <p:nvPicPr>
          <p:cNvPr descr="/home/claude/work/assets/rh-divider-bg.png" id="1018" name="Google Shape;1018;p9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19" name="Google Shape;1019;p9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1020" name="Google Shape;1020;p9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21" name="Google Shape;1021;p9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22" name="Google Shape;1022;p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dn/23-anti-patterns-grid.png" id="1030" name="Google Shape;1030;p9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031" name="Google Shape;1031;p9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32" name="Google Shape;1032;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3" name="Google Shape;1033;p9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8" name="Shape 1038"/>
        <p:cNvGrpSpPr/>
        <p:nvPr/>
      </p:nvGrpSpPr>
      <p:grpSpPr>
        <a:xfrm>
          <a:off x="0" y="0"/>
          <a:ext cx="0" cy="0"/>
          <a:chOff x="0" y="0"/>
          <a:chExt cx="0" cy="0"/>
        </a:xfrm>
      </p:grpSpPr>
      <p:sp>
        <p:nvSpPr>
          <p:cNvPr id="1039" name="Google Shape;1039;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42" name="Google Shape;1042;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3" name="Google Shape;1043;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48" name="Shape 1048"/>
        <p:cNvGrpSpPr/>
        <p:nvPr/>
      </p:nvGrpSpPr>
      <p:grpSpPr>
        <a:xfrm>
          <a:off x="0" y="0"/>
          <a:ext cx="0" cy="0"/>
          <a:chOff x="0" y="0"/>
          <a:chExt cx="0" cy="0"/>
        </a:xfrm>
      </p:grpSpPr>
      <p:sp>
        <p:nvSpPr>
          <p:cNvPr id="1049" name="Google Shape;1049;p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50" name="Google Shape;1050;p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51" name="Google Shape;1051;p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 REST, gRPC, GraphQL or async —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52" name="Google Shape;1052;p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53" name="Google Shape;1053;p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8" name="Shape 1058"/>
        <p:cNvGrpSpPr/>
        <p:nvPr/>
      </p:nvGrpSpPr>
      <p:grpSpPr>
        <a:xfrm>
          <a:off x="0" y="0"/>
          <a:ext cx="0" cy="0"/>
          <a:chOff x="0" y="0"/>
          <a:chExt cx="0" cy="0"/>
        </a:xfrm>
      </p:grpSpPr>
      <p:sp>
        <p:nvSpPr>
          <p:cNvPr id="1059" name="Google Shape;1059;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61" name="Google Shape;1061;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Cloud-Native Patterns and Architecture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Microservices, 2nd ed. — Sam Newman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Building Event-Driven Microservices — Adam Bellemare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Patterns — Cornelia Davis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of Distributed Systems — Unmesh Joshi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Architecture Modernization — Nick Tune &amp; Jean-Georges Perrin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Native Anti-Patterns — Gerald Bachlmayr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Principles of Web API Design — James Higginbotham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for API Design — Olaf Zimmermann et al.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Design Patterns — JJ Geewax (Manning)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Learning Domain-Driven Design — Vlad Khononov (O'Reilly)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Balancing Coupling in Software Design — Vlad Khononov (Addison-Wesley)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ASP.NET Core 10 reference (learn.microsoft.com/aspnet/core), OpenTelemetry .NET, Temporal .NET SDK (docs.temporal.io/dev-guide/dotnet), MassTransit, HotChocolate, Streamiz.Kafka.Net, EF Core and Debezium docs — for the runtime specifics</a:t>
            </a:r>
            <a:endParaRPr b="0" i="0" sz="1700" u="none" cap="none" strike="noStrike">
              <a:solidFill>
                <a:schemeClr val="dk1"/>
              </a:solidFill>
              <a:latin typeface="Calibri"/>
              <a:ea typeface="Calibri"/>
              <a:cs typeface="Calibri"/>
              <a:sym typeface="Calibri"/>
            </a:endParaRPr>
          </a:p>
        </p:txBody>
      </p:sp>
      <p:sp>
        <p:nvSpPr>
          <p:cNvPr id="1062" name="Google Shape;1062;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63" name="Google Shape;1063;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68" name="Shape 1068"/>
        <p:cNvGrpSpPr/>
        <p:nvPr/>
      </p:nvGrpSpPr>
      <p:grpSpPr>
        <a:xfrm>
          <a:off x="0" y="0"/>
          <a:ext cx="0" cy="0"/>
          <a:chOff x="0" y="0"/>
          <a:chExt cx="0" cy="0"/>
        </a:xfrm>
      </p:grpSpPr>
      <p:pic>
        <p:nvPicPr>
          <p:cNvPr descr="/home/claude/work/assets/rh-divider-bg.png" id="1069" name="Google Shape;1069;p9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0" name="Google Shape;1070;p99"/>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71" name="Google Shape;1071;p99"/>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72" name="Google Shape;1072;p9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7" name="Shape 1077"/>
        <p:cNvGrpSpPr/>
        <p:nvPr/>
      </p:nvGrpSpPr>
      <p:grpSpPr>
        <a:xfrm>
          <a:off x="0" y="0"/>
          <a:ext cx="0" cy="0"/>
          <a:chOff x="0" y="0"/>
          <a:chExt cx="0" cy="0"/>
        </a:xfrm>
      </p:grpSpPr>
      <p:sp>
        <p:nvSpPr>
          <p:cNvPr id="1078" name="Google Shape;1078;p1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79" name="Google Shape;1079;p1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80" name="Google Shape;1080;p10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 the DB's commit-ordered durable log); ACID (Atomicity, Consistency, Isolation, Durability); TTL (Time-To-Live — how long a cached key lives before expiring); LRU (Least Recently Used — a cache eviction policy); SETEX (the Redis "SET with EXpiry" command — sets a key and its TTL atomically); ORM (Object-Relational Mapping); EF Core (Entity Framework Core — .NET's ORM); LINQ (Language-Integrated Query).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 a published, stable interface a context offers others); ACL (Anti-Corruption Layer in DDD — translates between models; note: ACL also means Access Control List in security); Saga (not an acronym —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81" name="Google Shape;1081;p1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82" name="Google Shape;1082;p10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7" name="Shape 1087"/>
        <p:cNvGrpSpPr/>
        <p:nvPr/>
      </p:nvGrpSpPr>
      <p:grpSpPr>
        <a:xfrm>
          <a:off x="0" y="0"/>
          <a:ext cx="0" cy="0"/>
          <a:chOff x="0" y="0"/>
          <a:chExt cx="0" cy="0"/>
        </a:xfrm>
      </p:grpSpPr>
      <p:sp>
        <p:nvSpPr>
          <p:cNvPr id="1088" name="Google Shape;1088;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89" name="Google Shape;1089;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observability</a:t>
            </a:r>
            <a:endParaRPr b="0" i="0" sz="3000" u="none" cap="none" strike="noStrike">
              <a:solidFill>
                <a:schemeClr val="dk1"/>
              </a:solidFill>
              <a:latin typeface="Calibri"/>
              <a:ea typeface="Calibri"/>
              <a:cs typeface="Calibri"/>
              <a:sym typeface="Calibri"/>
            </a:endParaRPr>
          </a:p>
        </p:txBody>
      </p:sp>
      <p:sp>
        <p:nvSpPr>
          <p:cNvPr id="1090" name="Google Shape;1090;p1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SAS (Shared Access Signature — Azure's scoped token);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 the request-driven metrics method); USE (Utilisation, Saturation, Errors — the resource metrics method); MDC (Mapped Diagnostic Context —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CLR (Common Language Runtime — .NET's execution engine); BCL (Base Class Library); JIT (Just-In-Time compilation); AOT (Ahead-Of-Time / Native AOT compilation); GC (Garbage Collection); DI (Dependency Injection); DTO (Data Transfer Object); LINQ (Language-Integrated Query).</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97" name="Shape 1097"/>
        <p:cNvGrpSpPr/>
        <p:nvPr/>
      </p:nvGrpSpPr>
      <p:grpSpPr>
        <a:xfrm>
          <a:off x="0" y="0"/>
          <a:ext cx="0" cy="0"/>
          <a:chOff x="0" y="0"/>
          <a:chExt cx="0" cy="0"/>
        </a:xfrm>
      </p:grpSpPr>
      <p:pic>
        <p:nvPicPr>
          <p:cNvPr descr="/home/claude/work/assets/rh-divider-bg.png" id="1098" name="Google Shape;1098;p10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99" name="Google Shape;1099;p10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100" name="Google Shape;1100;p10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101" name="Google Shape;1101;p10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 how they actually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102" name="Google Shape;1102;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7" name="Shape 1107"/>
        <p:cNvGrpSpPr/>
        <p:nvPr/>
      </p:nvGrpSpPr>
      <p:grpSpPr>
        <a:xfrm>
          <a:off x="0" y="0"/>
          <a:ext cx="0" cy="0"/>
          <a:chOff x="0" y="0"/>
          <a:chExt cx="0" cy="0"/>
        </a:xfrm>
      </p:grpSpPr>
      <p:sp>
        <p:nvSpPr>
          <p:cNvPr id="1108" name="Google Shape;1108;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09" name="Google Shape;1109;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three mental models</a:t>
            </a:r>
            <a:endParaRPr b="0" i="0" sz="3000" u="none" cap="none" strike="noStrike">
              <a:solidFill>
                <a:schemeClr val="dk1"/>
              </a:solidFill>
              <a:latin typeface="Calibri"/>
              <a:ea typeface="Calibri"/>
              <a:cs typeface="Calibri"/>
              <a:sym typeface="Calibri"/>
            </a:endParaRPr>
          </a:p>
        </p:txBody>
      </p:sp>
      <p:pic>
        <p:nvPicPr>
          <p:cNvPr descr="/home/claude/work/png-dn/24-appA-paradigms.png" id="1110" name="Google Shape;1110;p10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11" name="Google Shape;1111;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112" name="Google Shape;1112;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3" name="Google Shape;1113;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8" name="Shape 1118"/>
        <p:cNvGrpSpPr/>
        <p:nvPr/>
      </p:nvGrpSpPr>
      <p:grpSpPr>
        <a:xfrm>
          <a:off x="0" y="0"/>
          <a:ext cx="0" cy="0"/>
          <a:chOff x="0" y="0"/>
          <a:chExt cx="0" cy="0"/>
        </a:xfrm>
      </p:grpSpPr>
      <p:sp>
        <p:nvSpPr>
          <p:cNvPr id="1119" name="Google Shape;1119;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0" name="Google Shape;1120;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dn/25-appA-fetching.png" id="1121" name="Google Shape;1121;p104"/>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22" name="Google Shape;1122;p1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dn/26-appA-transport.png" id="1132" name="Google Shape;1132;p1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33" name="Google Shape;1133;p1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34" name="Google Shape;1134;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5" name="Google Shape;1135;p1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0" name="Shape 1140"/>
        <p:cNvGrpSpPr/>
        <p:nvPr/>
      </p:nvGrpSpPr>
      <p:grpSpPr>
        <a:xfrm>
          <a:off x="0" y="0"/>
          <a:ext cx="0" cy="0"/>
          <a:chOff x="0" y="0"/>
          <a:chExt cx="0" cy="0"/>
        </a:xfrm>
      </p:grpSpPr>
      <p:sp>
        <p:nvSpPr>
          <p:cNvPr id="1141" name="Google Shape;1141;p1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42" name="Google Shape;1142;p1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43" name="Google Shape;1143;p1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 above;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44" name="Google Shape;1144;p1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45" name="Google Shape;1145;p1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0" name="Shape 1150"/>
        <p:cNvGrpSpPr/>
        <p:nvPr/>
      </p:nvGrpSpPr>
      <p:grpSpPr>
        <a:xfrm>
          <a:off x="0" y="0"/>
          <a:ext cx="0" cy="0"/>
          <a:chOff x="0" y="0"/>
          <a:chExt cx="0" cy="0"/>
        </a:xfrm>
      </p:grpSpPr>
      <p:sp>
        <p:nvSpPr>
          <p:cNvPr id="1151" name="Google Shape;1151;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52" name="Google Shape;1152;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53" name="Google Shape;1153;p1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60" name="Shape 1160"/>
        <p:cNvGrpSpPr/>
        <p:nvPr/>
      </p:nvGrpSpPr>
      <p:grpSpPr>
        <a:xfrm>
          <a:off x="0" y="0"/>
          <a:ext cx="0" cy="0"/>
          <a:chOff x="0" y="0"/>
          <a:chExt cx="0" cy="0"/>
        </a:xfrm>
      </p:grpSpPr>
      <p:pic>
        <p:nvPicPr>
          <p:cNvPr descr="/home/claude/work/assets/rh-divider-bg.png" id="1161" name="Google Shape;1161;p1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62" name="Google Shape;1162;p1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63" name="Google Shape;1163;p1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64" name="Google Shape;1164;p1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65" name="Google Shape;1165;p1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0" name="Shape 1170"/>
        <p:cNvGrpSpPr/>
        <p:nvPr/>
      </p:nvGrpSpPr>
      <p:grpSpPr>
        <a:xfrm>
          <a:off x="0" y="0"/>
          <a:ext cx="0" cy="0"/>
          <a:chOff x="0" y="0"/>
          <a:chExt cx="0" cy="0"/>
        </a:xfrm>
      </p:grpSpPr>
      <p:sp>
        <p:nvSpPr>
          <p:cNvPr id="1171" name="Google Shape;1171;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2" name="Google Shape;1172;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dn/27-appB-rest-versioning.png" id="1173" name="Google Shape;1173;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4" name="Google Shape;1174;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6" name="Google Shape;1176;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1" name="Shape 1181"/>
        <p:cNvGrpSpPr/>
        <p:nvPr/>
      </p:nvGrpSpPr>
      <p:grpSpPr>
        <a:xfrm>
          <a:off x="0" y="0"/>
          <a:ext cx="0" cy="0"/>
          <a:chOff x="0" y="0"/>
          <a:chExt cx="0" cy="0"/>
        </a:xfrm>
      </p:grpSpPr>
      <p:sp>
        <p:nvSpPr>
          <p:cNvPr id="1182" name="Google Shape;1182;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3" name="Google Shape;1183;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ASP.NET Core</a:t>
            </a:r>
            <a:endParaRPr b="0" i="0" sz="3000" u="none" cap="none" strike="noStrike">
              <a:solidFill>
                <a:schemeClr val="dk1"/>
              </a:solidFill>
              <a:latin typeface="Calibri"/>
              <a:ea typeface="Calibri"/>
              <a:cs typeface="Calibri"/>
              <a:sym typeface="Calibri"/>
            </a:endParaRPr>
          </a:p>
        </p:txBody>
      </p:sp>
      <p:sp>
        <p:nvSpPr>
          <p:cNvPr id="1184" name="Google Shape;1184;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5" name="Google Shape;1185;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Asp.Versioning</a:t>
            </a:r>
            <a:endParaRPr b="0" i="0" sz="1000" u="none" cap="none" strike="noStrike">
              <a:solidFill>
                <a:schemeClr val="dk1"/>
              </a:solidFill>
              <a:latin typeface="Calibri"/>
              <a:ea typeface="Calibri"/>
              <a:cs typeface="Calibri"/>
              <a:sym typeface="Calibri"/>
            </a:endParaRPr>
          </a:p>
        </p:txBody>
      </p:sp>
      <p:sp>
        <p:nvSpPr>
          <p:cNvPr id="1186" name="Google Shape;1186;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Asp.Versioning.Http (Apache 2.0, by the .NET Foundation) supports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URI segment, query string, or header versioning — picked centrally.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builder.Services.AddApiVersioning(o =&gt;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o.ApiVersionReader = new MediaTypeApiVersionReader("v");   // Accept header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o.DefaultApiVersion = new ApiVersion(1,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o.AssumeDefaultVersionWhenUnspecified = true;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Two records, two versions — the resource URL stays /orders/{id}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OrderV1(string Id, double Total);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OrderV2(string Id, double Total, string Currency);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One handler, content-negotiated by API version (carried in Accept media-type)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var orders = app.MapGroup("/orders").WithApiVersionSet();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OrderV2.From(svc.Get(id)))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.HasApiVersion(2,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.Produces&lt;OrderV2&gt;(StatusCodes.Status200OK,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"application/vnd.acme.order.v2+json");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orders.MapGet("/{id}", (string id, IOrderService svc)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OrderV1.From(svc.Get(id)))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.HasApiVersion(1, 0)                          // legacy default for old clients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.Produces&lt;OrderV1&gt;(StatusCodes.Status200OK,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"application/vnd.acme.order+json");</a:t>
            </a:r>
            <a:endParaRPr b="0" i="0" sz="1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88" name="Google Shape;1188;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89" name="Google Shape;1189;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4" name="Shape 1194"/>
        <p:cNvGrpSpPr/>
        <p:nvPr/>
      </p:nvGrpSpPr>
      <p:grpSpPr>
        <a:xfrm>
          <a:off x="0" y="0"/>
          <a:ext cx="0" cy="0"/>
          <a:chOff x="0" y="0"/>
          <a:chExt cx="0" cy="0"/>
        </a:xfrm>
      </p:grpSpPr>
      <p:sp>
        <p:nvSpPr>
          <p:cNvPr id="1195" name="Google Shape;1195;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6" name="Google Shape;1196;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dn/28-appB-proto-evolution.png" id="1197" name="Google Shape;1197;p11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98" name="Google Shape;1198;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0" name="Google Shape;1200;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5" name="Shape 1205"/>
        <p:cNvGrpSpPr/>
        <p:nvPr/>
      </p:nvGrpSpPr>
      <p:grpSpPr>
        <a:xfrm>
          <a:off x="0" y="0"/>
          <a:ext cx="0" cy="0"/>
          <a:chOff x="0" y="0"/>
          <a:chExt cx="0" cy="0"/>
        </a:xfrm>
      </p:grpSpPr>
      <p:sp>
        <p:nvSpPr>
          <p:cNvPr id="1206" name="Google Shape;1206;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07" name="Google Shape;1207;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208" name="Google Shape;1208;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9" name="Google Shape;1209;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210" name="Google Shape;1210;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212" name="Google Shape;1212;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3" name="Google Shape;1213;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8" name="Shape 1218"/>
        <p:cNvGrpSpPr/>
        <p:nvPr/>
      </p:nvGrpSpPr>
      <p:grpSpPr>
        <a:xfrm>
          <a:off x="0" y="0"/>
          <a:ext cx="0" cy="0"/>
          <a:chOff x="0" y="0"/>
          <a:chExt cx="0" cy="0"/>
        </a:xfrm>
      </p:grpSpPr>
      <p:sp>
        <p:nvSpPr>
          <p:cNvPr id="1219" name="Google Shape;1219;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0" name="Google Shape;1220;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dn/29-appB-graphql-evolution.png" id="1221" name="Google Shape;1221;p11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22" name="Google Shape;1222;p11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4" name="Google Shape;1224;p11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9" name="Shape 1229"/>
        <p:cNvGrpSpPr/>
        <p:nvPr/>
      </p:nvGrpSpPr>
      <p:grpSpPr>
        <a:xfrm>
          <a:off x="0" y="0"/>
          <a:ext cx="0" cy="0"/>
          <a:chOff x="0" y="0"/>
          <a:chExt cx="0" cy="0"/>
        </a:xfrm>
      </p:grpSpPr>
      <p:sp>
        <p:nvSpPr>
          <p:cNvPr id="1230" name="Google Shape;1230;p1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31" name="Google Shape;1231;p1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HotChocolate</a:t>
            </a:r>
            <a:endParaRPr b="0" i="0" sz="3000" u="none" cap="none" strike="noStrike">
              <a:solidFill>
                <a:schemeClr val="dk1"/>
              </a:solidFill>
              <a:latin typeface="Calibri"/>
              <a:ea typeface="Calibri"/>
              <a:cs typeface="Calibri"/>
              <a:sym typeface="Calibri"/>
            </a:endParaRPr>
          </a:p>
        </p:txBody>
      </p:sp>
      <p:sp>
        <p:nvSpPr>
          <p:cNvPr id="1232" name="Google Shape;1232;p11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1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graphql · .NET 10 + HotChocolate</a:t>
            </a:r>
            <a:endParaRPr b="0" i="0" sz="1000" u="none" cap="none" strike="noStrike">
              <a:solidFill>
                <a:schemeClr val="dk1"/>
              </a:solidFill>
              <a:latin typeface="Calibri"/>
              <a:ea typeface="Calibri"/>
              <a:cs typeface="Calibri"/>
              <a:sym typeface="Calibri"/>
            </a:endParaRPr>
          </a:p>
        </p:txBody>
      </p:sp>
      <p:sp>
        <p:nvSpPr>
          <p:cNvPr id="1234" name="Google Shape;1234;p11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HotChocolate is code-first by default in .NET; types are inferred from C</a:t>
            </a:r>
            <a:r>
              <a:rPr b="0" i="0" lang="en-US" sz="1100" u="none" cap="none" strike="noStrike">
                <a:solidFill>
                  <a:srgbClr val="8FB98F"/>
                </a:solidFill>
                <a:latin typeface="Red Hat Mono"/>
                <a:ea typeface="Red Hat Mono"/>
                <a:cs typeface="Red Hat Mono"/>
                <a:sym typeface="Red Hat Mono"/>
              </a:rPr>
              <a:t># records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classes. Deprecation maps to the GraphQL native @deprecated directive.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record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string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[GraphQLDeprecated("Use TotalMinor (integer cents) instead.")]   // → @deprecated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double Total,                                       // still served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int TotalMinor                                      // replacement, additive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Schema-first alternative — if your team prefers .graphql files: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type Order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 @deprecated(reason: "Use totalMinor (integer cents) instead.")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totalMinor: Int!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@deprecated surfaces in introspection and in HotChocolate's GraphQL IDE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(Banana Cake Pop / Nitro) at /graphql with the reason.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Field-level usage metrics — enable via .ModifyOptions(o =&gt; o.UseXmlDocumentation =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and emit per-field counters through OpenTelemetry — tell you when 'Total' has zero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callers. Only then do you remove it. No /v2 endpoint ever exists.</a:t>
            </a:r>
            <a:endParaRPr b="0" i="0" sz="1100" u="none" cap="none" strike="noStrike">
              <a:solidFill>
                <a:schemeClr val="dk1"/>
              </a:solidFill>
              <a:latin typeface="Calibri"/>
              <a:ea typeface="Calibri"/>
              <a:cs typeface="Calibri"/>
              <a:sym typeface="Calibri"/>
            </a:endParaRPr>
          </a:p>
        </p:txBody>
      </p:sp>
      <p:sp>
        <p:nvSpPr>
          <p:cNvPr id="1235" name="Google Shape;1235;p11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[GraphQLDeprecated]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36" name="Google Shape;1236;p1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37" name="Google Shape;1237;p11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2" name="Shape 1242"/>
        <p:cNvGrpSpPr/>
        <p:nvPr/>
      </p:nvGrpSpPr>
      <p:grpSpPr>
        <a:xfrm>
          <a:off x="0" y="0"/>
          <a:ext cx="0" cy="0"/>
          <a:chOff x="0" y="0"/>
          <a:chExt cx="0" cy="0"/>
        </a:xfrm>
      </p:grpSpPr>
      <p:sp>
        <p:nvSpPr>
          <p:cNvPr id="1243" name="Google Shape;1243;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45" name="Google Shape;1245;p11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46" name="Google Shape;1246;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47" name="Google Shape;1247;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52" name="Shape 1252"/>
        <p:cNvGrpSpPr/>
        <p:nvPr/>
      </p:nvGrpSpPr>
      <p:grpSpPr>
        <a:xfrm>
          <a:off x="0" y="0"/>
          <a:ext cx="0" cy="0"/>
          <a:chOff x="0" y="0"/>
          <a:chExt cx="0" cy="0"/>
        </a:xfrm>
      </p:grpSpPr>
      <p:pic>
        <p:nvPicPr>
          <p:cNvPr descr="/home/claude/work/assets/rh-divider-bg.png" id="1253" name="Google Shape;1253;p11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54" name="Google Shape;1254;p11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55" name="Google Shape;1255;p11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56" name="Google Shape;1256;p11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SignalR, pod pinning, the backplane, binary framing, reconnection — and where Blazor fits.</a:t>
            </a:r>
            <a:endParaRPr b="0" i="0" sz="1500" u="none" cap="none" strike="noStrike">
              <a:solidFill>
                <a:schemeClr val="dk1"/>
              </a:solidFill>
              <a:latin typeface="Calibri"/>
              <a:ea typeface="Calibri"/>
              <a:cs typeface="Calibri"/>
              <a:sym typeface="Calibri"/>
            </a:endParaRPr>
          </a:p>
        </p:txBody>
      </p:sp>
      <p:pic>
        <p:nvPicPr>
          <p:cNvPr descr="/home/claude/work/assets/rh-logo-white.png" id="1257" name="Google Shape;1257;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2" name="Shape 1262"/>
        <p:cNvGrpSpPr/>
        <p:nvPr/>
      </p:nvGrpSpPr>
      <p:grpSpPr>
        <a:xfrm>
          <a:off x="0" y="0"/>
          <a:ext cx="0" cy="0"/>
          <a:chOff x="0" y="0"/>
          <a:chExt cx="0" cy="0"/>
        </a:xfrm>
      </p:grpSpPr>
      <p:sp>
        <p:nvSpPr>
          <p:cNvPr id="1263" name="Google Shape;1263;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4" name="Google Shape;1264;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with SignalR</a:t>
            </a:r>
            <a:endParaRPr b="0" i="0" sz="3000" u="none" cap="none" strike="noStrike">
              <a:solidFill>
                <a:schemeClr val="dk1"/>
              </a:solidFill>
              <a:latin typeface="Calibri"/>
              <a:ea typeface="Calibri"/>
              <a:cs typeface="Calibri"/>
              <a:sym typeface="Calibri"/>
            </a:endParaRPr>
          </a:p>
        </p:txBody>
      </p:sp>
      <p:sp>
        <p:nvSpPr>
          <p:cNvPr id="1265" name="Google Shape;1265;p1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11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a:t>
            </a:r>
            <a:endParaRPr b="0" i="0" sz="1000" u="none" cap="none" strike="noStrike">
              <a:solidFill>
                <a:schemeClr val="dk1"/>
              </a:solidFill>
              <a:latin typeface="Calibri"/>
              <a:ea typeface="Calibri"/>
              <a:cs typeface="Calibri"/>
              <a:sym typeface="Calibri"/>
            </a:endParaRPr>
          </a:p>
        </p:txBody>
      </p:sp>
      <p:sp>
        <p:nvSpPr>
          <p:cNvPr id="1267" name="Google Shape;1267;p1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ships in the box with ASP.NET Core — Apache 2.0, MIT-licensed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runtime. Hub abstraction handles framing, heartbeats, reconnect, scaleout.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                  // one Hub per logical channel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private readonly IOrderService _orders;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OrdersHub(IOrderService orders) =&gt; _orders =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override async Task 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userId = Context.UserIdentifier!;     // server-side auth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Groups.AddToGroupAsync(Context.ConnectionId, $"user:{userId}");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base.OnConnectedAsync();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client-callable method — invoked as connection.invoke('PlaceOrder',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PlaceOrder(OrderIn body)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_orders.CreateAsync(body);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server pushes to a group: every connection in user:42 gets the message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NotifyUser(string userId, OrderUpdate update)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Clients.Group($"user:{userId}").SendAsync("OrderUpdated", update);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                // single line; protocols negotiated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app.MapHub&lt;OrdersHub&gt;("/ws/orders");           // mounts at /ws/orders</a:t>
            </a:r>
            <a:endParaRPr b="0" i="0" sz="1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Declarative and easy — but Hub state lives in this Pod. The Groups dictionary, the Context registry, the heartbeats: all per-Pod. That single fact is the scaling problem.</a:t>
            </a:r>
            <a:endParaRPr b="0" i="0" sz="13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dn/30-appC-pinning.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90" name="Google Shape;1290;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1" name="Google Shape;1291;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6" name="Shape 1296"/>
        <p:cNvGrpSpPr/>
        <p:nvPr/>
      </p:nvGrpSpPr>
      <p:grpSpPr>
        <a:xfrm>
          <a:off x="0" y="0"/>
          <a:ext cx="0" cy="0"/>
          <a:chOff x="0" y="0"/>
          <a:chExt cx="0" cy="0"/>
        </a:xfrm>
      </p:grpSpPr>
      <p:sp>
        <p:nvSpPr>
          <p:cNvPr id="1297" name="Google Shape;1297;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98" name="Google Shape;1298;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dn/31-appC-backplane.png" id="1299" name="Google Shape;1299;p1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00" name="Google Shape;1300;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2" name="Google Shape;1302;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07" name="Shape 1307"/>
        <p:cNvGrpSpPr/>
        <p:nvPr/>
      </p:nvGrpSpPr>
      <p:grpSpPr>
        <a:xfrm>
          <a:off x="0" y="0"/>
          <a:ext cx="0" cy="0"/>
          <a:chOff x="0" y="0"/>
          <a:chExt cx="0" cy="0"/>
        </a:xfrm>
      </p:grpSpPr>
      <p:sp>
        <p:nvSpPr>
          <p:cNvPr id="1308" name="Google Shape;1308;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9" name="Google Shape;1309;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MessagePack — fast and versioned</a:t>
            </a:r>
            <a:endParaRPr b="0" i="0" sz="3000" u="none" cap="none" strike="noStrike">
              <a:solidFill>
                <a:schemeClr val="dk1"/>
              </a:solidFill>
              <a:latin typeface="Calibri"/>
              <a:ea typeface="Calibri"/>
              <a:cs typeface="Calibri"/>
              <a:sym typeface="Calibri"/>
            </a:endParaRPr>
          </a:p>
        </p:txBody>
      </p:sp>
      <p:sp>
        <p:nvSpPr>
          <p:cNvPr id="1310" name="Google Shape;1310;p1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12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SignalR + MessagePack</a:t>
            </a:r>
            <a:endParaRPr b="0" i="0" sz="1000" u="none" cap="none" strike="noStrike">
              <a:solidFill>
                <a:schemeClr val="dk1"/>
              </a:solidFill>
              <a:latin typeface="Calibri"/>
              <a:ea typeface="Calibri"/>
              <a:cs typeface="Calibri"/>
              <a:sym typeface="Calibri"/>
            </a:endParaRPr>
          </a:p>
        </p:txBody>
      </p:sp>
      <p:sp>
        <p:nvSpPr>
          <p:cNvPr id="1312" name="Google Shape;1312;p1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SignalR negotiates a hub protocol per connection: JSON (default) or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(binary, schema-evolution friendly via msgpack maps). Both shipped by Microsoft.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Microsoft.AspNetCore.SignalR.Protocols.MessagePack — Apache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builder.Services.AddSignalR()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.AddMessagePackProtocol()                     // adds binary as a negotiated option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.AddStackExchangeRedis("redis:6379");        // backplane in one 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Versioned envelope — same pattern as the .proto envelope, but in MessagePack: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[MessagePackObject]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record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Key(0)] uint   Version,            // bump for incompatible payloads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Key(1)] string Type,               // "order.updated", "ping",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Key(2)] byte[] Payload,            // MessagePack-encoded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[property: Key(3)] ulong  Seq);               // monotonic per-connection — drives resume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OrdersHub : Hub</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 Send(Envelope env)          // client invokes — binary on the wire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Clients.Caller.SendAsync("Ack", new Envelope(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Version: 2, Type: "ack", Payload: [], Seq: env.Seq));</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client checks env.Version; unknown major version → reconnect &amp; renegotiate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MessagePack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0" name="Shape 1320"/>
        <p:cNvGrpSpPr/>
        <p:nvPr/>
      </p:nvGrpSpPr>
      <p:grpSpPr>
        <a:xfrm>
          <a:off x="0" y="0"/>
          <a:ext cx="0" cy="0"/>
          <a:chOff x="0" y="0"/>
          <a:chExt cx="0" cy="0"/>
        </a:xfrm>
      </p:grpSpPr>
      <p:sp>
        <p:nvSpPr>
          <p:cNvPr id="1321" name="Google Shape;1321;p1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22" name="Google Shape;1322;p1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dn/32-appC-reconnect.png" id="1323" name="Google Shape;1323;p1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24" name="Google Shape;1324;p1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25" name="Google Shape;1325;p1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26" name="Google Shape;1326;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1" name="Shape 1331"/>
        <p:cNvGrpSpPr/>
        <p:nvPr/>
      </p:nvGrpSpPr>
      <p:grpSpPr>
        <a:xfrm>
          <a:off x="0" y="0"/>
          <a:ext cx="0" cy="0"/>
          <a:chOff x="0" y="0"/>
          <a:chExt cx="0" cy="0"/>
        </a:xfrm>
      </p:grpSpPr>
      <p:sp>
        <p:nvSpPr>
          <p:cNvPr id="1332" name="Google Shape;1332;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33" name="Google Shape;1333;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34" name="Google Shape;1334;p12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(SignalR ships keep-alive built in: KeepAliveInterval defaults to 15s, ClientTimeoutInterval to 30s); reconnect with exponential backoff + jitter (also built into the JS / .NET clients);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Blazor on Kubernetes: Server vs WebAssembly</a:t>
            </a:r>
            <a:endParaRPr b="0" i="0" sz="3000" u="none" cap="none" strike="noStrike">
              <a:solidFill>
                <a:schemeClr val="dk1"/>
              </a:solidFill>
              <a:latin typeface="Calibri"/>
              <a:ea typeface="Calibri"/>
              <a:cs typeface="Calibri"/>
              <a:sym typeface="Calibri"/>
            </a:endParaRPr>
          </a:p>
        </p:txBody>
      </p:sp>
      <p:pic>
        <p:nvPicPr>
          <p:cNvPr descr="/home/claude/work/png-dn/32b-appC-blazor-architectures.png" id="1344" name="Google Shape;1344;p124"/>
          <p:cNvPicPr preferRelativeResize="0"/>
          <p:nvPr/>
        </p:nvPicPr>
        <p:blipFill rotWithShape="1">
          <a:blip r:embed="rId3">
            <a:alphaModFix/>
          </a:blip>
          <a:srcRect b="0" l="0" r="0" t="0"/>
          <a:stretch/>
        </p:blipFill>
        <p:spPr>
          <a:xfrm>
            <a:off x="1924011" y="1600200"/>
            <a:ext cx="8343675" cy="4526281"/>
          </a:xfrm>
          <a:prstGeom prst="rect">
            <a:avLst/>
          </a:prstGeom>
          <a:noFill/>
          <a:ln>
            <a:noFill/>
          </a:ln>
        </p:spPr>
      </p:pic>
      <p:sp>
        <p:nvSpPr>
          <p:cNvPr id="1345" name="Google Shape;1345;p1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Blazor hosting models, two very different scaling profiles — both run on plain ASP.NET Core Pods, both open source, no Azure SignalR Service.</a:t>
            </a:r>
            <a:endParaRPr b="0" i="0" sz="1200" u="none" cap="none" strike="noStrike">
              <a:solidFill>
                <a:schemeClr val="dk1"/>
              </a:solidFill>
              <a:latin typeface="Calibri"/>
              <a:ea typeface="Calibri"/>
              <a:cs typeface="Calibri"/>
              <a:sym typeface="Calibri"/>
            </a:endParaRPr>
          </a:p>
        </p:txBody>
      </p:sp>
      <p:sp>
        <p:nvSpPr>
          <p:cNvPr id="1346" name="Google Shape;1346;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47" name="Google Shape;1347;p1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2" name="Shape 1352"/>
        <p:cNvGrpSpPr/>
        <p:nvPr/>
      </p:nvGrpSpPr>
      <p:grpSpPr>
        <a:xfrm>
          <a:off x="0" y="0"/>
          <a:ext cx="0" cy="0"/>
          <a:chOff x="0" y="0"/>
          <a:chExt cx="0" cy="0"/>
        </a:xfrm>
      </p:grpSpPr>
      <p:sp>
        <p:nvSpPr>
          <p:cNvPr id="1353" name="Google Shape;1353;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54" name="Google Shape;1354;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Blazor Server and Blazor WebAssembly</a:t>
            </a:r>
            <a:endParaRPr b="0" i="0" sz="3000" u="none" cap="none" strike="noStrike">
              <a:solidFill>
                <a:schemeClr val="dk1"/>
              </a:solidFill>
              <a:latin typeface="Calibri"/>
              <a:ea typeface="Calibri"/>
              <a:cs typeface="Calibri"/>
              <a:sym typeface="Calibri"/>
            </a:endParaRPr>
          </a:p>
        </p:txBody>
      </p:sp>
      <p:sp>
        <p:nvSpPr>
          <p:cNvPr id="1355" name="Google Shape;1355;p1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Server — inherits everything in this appendix. SignalR-pinned; needs Redis backplane to scale (Microsoft.AspNetCore.SignalR.StackExchangeRedis, Apache 2.0); KEDA scales on connection count, not CPU; every deploy disconnects everyone.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Blazor WebAssembly — escapes everything in this appendix. No persistent connection; static-file host scales like nginx; deploys are an atomic file swap; client runs .NET in WASM with full C# capability.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Cost trade: Server has tiny client download but pays per-interaction round-trip latency and server-side memory per user. WebAssembly has a larger first-load (mitigated by AOT + trimming in .NET 8+, smaller again in .NET 10) but zero server state per user.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 trade: Server uses normal cookie / server-side identity (the WCF / IIS-era mental model). WebAssembly uses bearer tokens visible to the browser — OAuth2 / OIDC with public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Both are MIT, both run on Kubernetes as plain ASP.NET Core Pods, both work without ANY Azure service — no Azure SignalR Service, no Azure App Service, no Azure Static Web Apps. Open Redis for the backplane is all you need.</a:t>
            </a:r>
            <a:endParaRPr b="0" i="0" sz="17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57" name="Google Shape;1357;p1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62" name="Shape 1362"/>
        <p:cNvGrpSpPr/>
        <p:nvPr/>
      </p:nvGrpSpPr>
      <p:grpSpPr>
        <a:xfrm>
          <a:off x="0" y="0"/>
          <a:ext cx="0" cy="0"/>
          <a:chOff x="0" y="0"/>
          <a:chExt cx="0" cy="0"/>
        </a:xfrm>
      </p:grpSpPr>
      <p:pic>
        <p:nvPicPr>
          <p:cNvPr descr="/home/claude/work/assets/rh-divider-bg.png" id="1363" name="Google Shape;1363;p1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64" name="Google Shape;1364;p1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65" name="Google Shape;1365;p1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66" name="Google Shape;1366;p1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67" name="Google Shape;1367;p1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2" name="Shape 1372"/>
        <p:cNvGrpSpPr/>
        <p:nvPr/>
      </p:nvGrpSpPr>
      <p:grpSpPr>
        <a:xfrm>
          <a:off x="0" y="0"/>
          <a:ext cx="0" cy="0"/>
          <a:chOff x="0" y="0"/>
          <a:chExt cx="0" cy="0"/>
        </a:xfrm>
      </p:grpSpPr>
      <p:sp>
        <p:nvSpPr>
          <p:cNvPr id="1373" name="Google Shape;1373;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74" name="Google Shape;1374;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saga keeps its state</a:t>
            </a:r>
            <a:endParaRPr b="0" i="0" sz="3000" u="none" cap="none" strike="noStrike">
              <a:solidFill>
                <a:schemeClr val="dk1"/>
              </a:solidFill>
              <a:latin typeface="Calibri"/>
              <a:ea typeface="Calibri"/>
              <a:cs typeface="Calibri"/>
              <a:sym typeface="Calibri"/>
            </a:endParaRPr>
          </a:p>
        </p:txBody>
      </p:sp>
      <p:pic>
        <p:nvPicPr>
          <p:cNvPr descr="/home/claude/work/png-dn/33-appD-state-options-dn.png" id="1375" name="Google Shape;1375;p12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76" name="Google Shape;1376;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77" name="Google Shape;1377;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78" name="Google Shape;1378;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3" name="Shape 1383"/>
        <p:cNvGrpSpPr/>
        <p:nvPr/>
      </p:nvGrpSpPr>
      <p:grpSpPr>
        <a:xfrm>
          <a:off x="0" y="0"/>
          <a:ext cx="0" cy="0"/>
          <a:chOff x="0" y="0"/>
          <a:chExt cx="0" cy="0"/>
        </a:xfrm>
      </p:grpSpPr>
      <p:sp>
        <p:nvSpPr>
          <p:cNvPr id="1384" name="Google Shape;1384;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5" name="Google Shape;1385;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 (EF Core)</a:t>
            </a:r>
            <a:endParaRPr b="0" i="0" sz="3000" u="none" cap="none" strike="noStrike">
              <a:solidFill>
                <a:schemeClr val="dk1"/>
              </a:solidFill>
              <a:latin typeface="Calibri"/>
              <a:ea typeface="Calibri"/>
              <a:cs typeface="Calibri"/>
              <a:sym typeface="Calibri"/>
            </a:endParaRPr>
          </a:p>
        </p:txBody>
      </p:sp>
      <p:sp>
        <p:nvSpPr>
          <p:cNvPr id="1386" name="Google Shape;1386;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87" name="Google Shape;1387;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388" name="Google Shape;1388;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EF Core 10 + pessimistic row lock — the in-process saga state store.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PostgreSQL/SQL Server commit replaces what MSDTC used to make atomic.</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static readonly string[] Steps =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"charge_payment", "reserve_stock", "book_shipping"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SagaCoordinator(SagaDbContext db) : ISagaCoordinator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 AdvanceAsync(string sagaId,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using var tx = await db.Database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.BeginTransactionAsync(IsolationLevel.ReadCommitted,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pessimistic row lock so two workers can't advance the same saga</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 = await db.Sagas.FromSqlInterpolated(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$"SELECT * FROM sagas WHERE id = {sagaId} FOR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.FirstAsync(ct);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(s.Status != "RUNNING") return;       // idempotent: already done/failed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step = Steps[s.StepIndex];</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result = await InvokeAsync(step, s.Context, ct);  // call the 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s.Context[step] = result;             // accumulate output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 (++s.StepIndex == Steps.Length) s.Status = "DONE";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(StepException)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s.Status = "COMPENSATING";            // hand off to the unwinder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            // durable after every step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tx.CommitAsync(ct);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389" name="Google Shape;1389;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AdvanceAsync again.'</a:t>
            </a:r>
            <a:endParaRPr b="0" i="0" sz="1300" u="none" cap="none" strike="noStrike">
              <a:solidFill>
                <a:schemeClr val="dk1"/>
              </a:solidFill>
              <a:latin typeface="Calibri"/>
              <a:ea typeface="Calibri"/>
              <a:cs typeface="Calibri"/>
              <a:sym typeface="Calibri"/>
            </a:endParaRPr>
          </a:p>
        </p:txBody>
      </p:sp>
      <p:sp>
        <p:nvSpPr>
          <p:cNvPr id="1390" name="Google Shape;1390;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1" name="Google Shape;1391;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6" name="Shape 1396"/>
        <p:cNvGrpSpPr/>
        <p:nvPr/>
      </p:nvGrpSpPr>
      <p:grpSpPr>
        <a:xfrm>
          <a:off x="0" y="0"/>
          <a:ext cx="0" cy="0"/>
          <a:chOff x="0" y="0"/>
          <a:chExt cx="0" cy="0"/>
        </a:xfrm>
      </p:grpSpPr>
      <p:sp>
        <p:nvSpPr>
          <p:cNvPr id="1397" name="Google Shape;1397;p1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8" name="Google Shape;1398;p1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dn/34-appD-compensation.png" id="1399" name="Google Shape;1399;p129"/>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400" name="Google Shape;1400;p1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401" name="Google Shape;1401;p1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02" name="Google Shape;1402;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7" name="Shape 1407"/>
        <p:cNvGrpSpPr/>
        <p:nvPr/>
      </p:nvGrpSpPr>
      <p:grpSpPr>
        <a:xfrm>
          <a:off x="0" y="0"/>
          <a:ext cx="0" cy="0"/>
          <a:chOff x="0" y="0"/>
          <a:chExt cx="0" cy="0"/>
        </a:xfrm>
      </p:grpSpPr>
      <p:sp>
        <p:nvSpPr>
          <p:cNvPr id="1408" name="Google Shape;1408;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09" name="Google Shape;1409;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410" name="Google Shape;1410;p13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11" name="Google Shape;1411;p13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EF Core</a:t>
            </a:r>
            <a:endParaRPr b="0" i="0" sz="1000" u="none" cap="none" strike="noStrike">
              <a:solidFill>
                <a:schemeClr val="dk1"/>
              </a:solidFill>
              <a:latin typeface="Calibri"/>
              <a:ea typeface="Calibri"/>
              <a:cs typeface="Calibri"/>
              <a:sym typeface="Calibri"/>
            </a:endParaRPr>
          </a:p>
        </p:txBody>
      </p:sp>
      <p:sp>
        <p:nvSpPr>
          <p:cNvPr id="1412" name="Google Shape;1412;p13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static readonly Dictionary&lt;string, string&gt; Compensations = new()  // inverse per step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["charge_payment"] = "refund_payment",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["reserve_stock"]  = "release_stock",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["book_shipping"]  = "cancel_shipping",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public async Task CompensateAsync(string sagaId, CancellationToken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using var tx = await db.Database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.BeginTransactionAsync(IsolationLevel.ReadCommitted, 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var s = await db.Sagas.FromSqlInterpolated(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$"SELECT * FROM sagas WHERE id = {sagaId} FOR UPDATE").FirstAsync(ct);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undo only the steps that actually completed, newest first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foreach (var step in Steps.Take(s.StepIndex).Reverse())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InvokeAsync(Compensations[step], s.Context,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idempotencyKey: $"{sagaId}:{step}", ct);   // safe to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s.Status = "FAILED";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db.SaveChangesAsync(ct);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tx.CommitAsync(ct);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413" name="Google Shape;1413;p13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15" name="Google Shape;1415;p13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0" name="Shape 1420"/>
        <p:cNvGrpSpPr/>
        <p:nvPr/>
      </p:nvGrpSpPr>
      <p:grpSpPr>
        <a:xfrm>
          <a:off x="0" y="0"/>
          <a:ext cx="0" cy="0"/>
          <a:chOff x="0" y="0"/>
          <a:chExt cx="0" cy="0"/>
        </a:xfrm>
      </p:grpSpPr>
      <p:sp>
        <p:nvSpPr>
          <p:cNvPr id="1421" name="Google Shape;1421;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22" name="Google Shape;1422;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dn/35-appD-data-dependency.png" id="1423" name="Google Shape;1423;p13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24" name="Google Shape;1424;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26" name="Google Shape;1426;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1" name="Shape 1431"/>
        <p:cNvGrpSpPr/>
        <p:nvPr/>
      </p:nvGrpSpPr>
      <p:grpSpPr>
        <a:xfrm>
          <a:off x="0" y="0"/>
          <a:ext cx="0" cy="0"/>
          <a:chOff x="0" y="0"/>
          <a:chExt cx="0" cy="0"/>
        </a:xfrm>
      </p:grpSpPr>
      <p:sp>
        <p:nvSpPr>
          <p:cNvPr id="1432" name="Google Shape;1432;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33" name="Google Shape;1433;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Two ways to make a saga durable without rolling your own</a:t>
            </a:r>
            <a:endParaRPr b="0" i="0" sz="3000" u="none" cap="none" strike="noStrike">
              <a:solidFill>
                <a:schemeClr val="dk1"/>
              </a:solidFill>
              <a:latin typeface="Calibri"/>
              <a:ea typeface="Calibri"/>
              <a:cs typeface="Calibri"/>
              <a:sym typeface="Calibri"/>
            </a:endParaRPr>
          </a:p>
        </p:txBody>
      </p:sp>
      <p:sp>
        <p:nvSpPr>
          <p:cNvPr id="1434" name="Google Shape;1434;p13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outgrow the hand-rolled EF Core state machine, you have two well-trodden open-source paths in the .NET ecosystem — both featured in the diagrams that follow.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Temporal .NET SDK — a durable execution engine (Temporal Server MIT, .NET SDK Apache 2.0, on NuGet as Temporalio.Temporal). You write workflows and activities as plain C#; the Server persists every event and replays them deterministically on recovery. Most power, separate cluster to run.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Stateless — a tiny in-process state-machine library (Apache 2.0). States, triggers, transitions, guards, entry/exit actions; you persist the current state to your own DB. Lighter weight, no extra cluster, less ceremony. MassTransit Sagas is a closely-related alternative if you're already on MassTransit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Decision rule: reach for Temporal when the saga is long, complex, or shared across services and you want first-class retries, timers, signals and child workflows. Reach for Stateless when it's small, in-process and you'd rather keep one fewer thing to operate.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Sidebar: Dapr Workflows is a third option if your platform already runs Dapr sidecars (CNCF Incubating, MIT) — same durable-execution model as Temporal, exposed via the Dapr sidecar instead of a direct SDK. Use it when the team's already invested in Dapr.</a:t>
            </a:r>
            <a:endParaRPr b="0" i="0" sz="1700" u="none" cap="none" strike="noStrike">
              <a:solidFill>
                <a:schemeClr val="dk1"/>
              </a:solidFill>
              <a:latin typeface="Calibri"/>
              <a:ea typeface="Calibri"/>
              <a:cs typeface="Calibri"/>
              <a:sym typeface="Calibri"/>
            </a:endParaRPr>
          </a:p>
        </p:txBody>
      </p:sp>
      <p:sp>
        <p:nvSpPr>
          <p:cNvPr id="1435" name="Google Shape;1435;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36" name="Google Shape;1436;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1" name="Shape 1441"/>
        <p:cNvGrpSpPr/>
        <p:nvPr/>
      </p:nvGrpSpPr>
      <p:grpSpPr>
        <a:xfrm>
          <a:off x="0" y="0"/>
          <a:ext cx="0" cy="0"/>
          <a:chOff x="0" y="0"/>
          <a:chExt cx="0" cy="0"/>
        </a:xfrm>
      </p:grpSpPr>
      <p:sp>
        <p:nvSpPr>
          <p:cNvPr id="1442" name="Google Shape;1442;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43" name="Google Shape;1443;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your saga is plain C#, the Server makes it crash-proof</a:t>
            </a:r>
            <a:endParaRPr b="0" i="0" sz="3000" u="none" cap="none" strike="noStrike">
              <a:solidFill>
                <a:schemeClr val="dk1"/>
              </a:solidFill>
              <a:latin typeface="Calibri"/>
              <a:ea typeface="Calibri"/>
              <a:cs typeface="Calibri"/>
              <a:sym typeface="Calibri"/>
            </a:endParaRPr>
          </a:p>
        </p:txBody>
      </p:sp>
      <p:pic>
        <p:nvPicPr>
          <p:cNvPr descr="/home/claude/work/png-dn/62-appD-temporal-dn.png" id="1444" name="Google Shape;1444;p133"/>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445" name="Google Shape;1445;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Worker (your ASP.NET Core BackgroundService) runs Workflow + Activity code; the Temporal Server persists every event and replays deterministically.</a:t>
            </a:r>
            <a:endParaRPr b="0" i="0" sz="1200" u="none" cap="none" strike="noStrike">
              <a:solidFill>
                <a:schemeClr val="dk1"/>
              </a:solidFill>
              <a:latin typeface="Calibri"/>
              <a:ea typeface="Calibri"/>
              <a:cs typeface="Calibri"/>
              <a:sym typeface="Calibri"/>
            </a:endParaRPr>
          </a:p>
        </p:txBody>
      </p:sp>
      <p:sp>
        <p:nvSpPr>
          <p:cNvPr id="1446" name="Google Shape;1446;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47" name="Google Shape;1447;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2" name="Shape 1452"/>
        <p:cNvGrpSpPr/>
        <p:nvPr/>
      </p:nvGrpSpPr>
      <p:grpSpPr>
        <a:xfrm>
          <a:off x="0" y="0"/>
          <a:ext cx="0" cy="0"/>
          <a:chOff x="0" y="0"/>
          <a:chExt cx="0" cy="0"/>
        </a:xfrm>
      </p:grpSpPr>
      <p:sp>
        <p:nvSpPr>
          <p:cNvPr id="1453" name="Google Shape;1453;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54" name="Google Shape;1454;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Temporal .NET workflow + activity, in ASP.NET Core</a:t>
            </a:r>
            <a:endParaRPr b="0" i="0" sz="3000" u="none" cap="none" strike="noStrike">
              <a:solidFill>
                <a:schemeClr val="dk1"/>
              </a:solidFill>
              <a:latin typeface="Calibri"/>
              <a:ea typeface="Calibri"/>
              <a:cs typeface="Calibri"/>
              <a:sym typeface="Calibri"/>
            </a:endParaRPr>
          </a:p>
        </p:txBody>
      </p:sp>
      <p:sp>
        <p:nvSpPr>
          <p:cNvPr id="1455" name="Google Shape;1455;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6" name="Google Shape;1456;p13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Temporalio.Temporal + ASP.NET Core</a:t>
            </a:r>
            <a:endParaRPr b="0" i="0" sz="1000" u="none" cap="none" strike="noStrike">
              <a:solidFill>
                <a:schemeClr val="dk1"/>
              </a:solidFill>
              <a:latin typeface="Calibri"/>
              <a:ea typeface="Calibri"/>
              <a:cs typeface="Calibri"/>
              <a:sym typeface="Calibri"/>
            </a:endParaRPr>
          </a:p>
        </p:txBody>
      </p:sp>
      <p:sp>
        <p:nvSpPr>
          <p:cNvPr id="1457" name="Google Shape;1457;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Activity classes — plain C</a:t>
            </a:r>
            <a:r>
              <a:rPr b="0" i="0" lang="en-US" sz="850" u="none" cap="none" strike="noStrike">
                <a:solidFill>
                  <a:srgbClr val="8FB98F"/>
                </a:solidFill>
                <a:latin typeface="Red Hat Mono"/>
                <a:ea typeface="Red Hat Mono"/>
                <a:cs typeface="Red Hat Mono"/>
                <a:sym typeface="Red Hat Mono"/>
              </a:rPr>
              <a:t># methods, registered with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PaymentActivity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Task&lt;string&gt; ChargeAsync(SagaInput input)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[Activity] public async Task RefundAsync(string paymentId) =&gt;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_payments.RefundAsync(paymentId);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Workflow class — plain C</a:t>
            </a:r>
            <a:r>
              <a:rPr b="0" i="0" lang="en-US" sz="850" u="none" cap="none" strike="noStrike">
                <a:solidFill>
                  <a:srgbClr val="8FB98F"/>
                </a:solidFill>
                <a:latin typeface="Red Hat Mono"/>
                <a:ea typeface="Red Hat Mono"/>
                <a:cs typeface="Red Hat Mono"/>
                <a:sym typeface="Red Hat Mono"/>
              </a:rPr>
              <a:t>#, deterministic; runs in the Worker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FulfillmentWorkflow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[WorkflowRun]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Task&lt;string&gt; RunAsync(SagaInput 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saga = new Saga();              // SDK helper for compensations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paymentId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a.ChargeAsync(input),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StartToCloseTimeout = TimeSpan.FromSeconds(10)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(PaymentActivity a) =&gt; a.RefundAsync(paymentId),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reservationId =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a.ReserveAsync(input, paymentId),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saga.AddCompensation(() =&gt;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(InventoryActivity a) =&gt; a.ReleaseAsync(reservationId),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await Workflow.ExecuteActivityAsync(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(ShippingActivity a) =&gt; a.BookAsync(input, reservationId), new());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catch (ActivityFailureException)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saga.CompensateAsync();   // unwinds in reverse 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throw;</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1458" name="Google Shape;1458;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Workflow + Activities are plain C# classes; Temporal's built-in Saga helper owns the unwind. State is durable on the Server.</a:t>
            </a:r>
            <a:endParaRPr b="0" i="0" sz="1300" u="none" cap="none" strike="noStrike">
              <a:solidFill>
                <a:schemeClr val="dk1"/>
              </a:solidFill>
              <a:latin typeface="Calibri"/>
              <a:ea typeface="Calibri"/>
              <a:cs typeface="Calibri"/>
              <a:sym typeface="Calibri"/>
            </a:endParaRPr>
          </a:p>
        </p:txBody>
      </p:sp>
      <p:sp>
        <p:nvSpPr>
          <p:cNvPr id="1459" name="Google Shape;1459;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60" name="Google Shape;1460;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65" name="Shape 1465"/>
        <p:cNvGrpSpPr/>
        <p:nvPr/>
      </p:nvGrpSpPr>
      <p:grpSpPr>
        <a:xfrm>
          <a:off x="0" y="0"/>
          <a:ext cx="0" cy="0"/>
          <a:chOff x="0" y="0"/>
          <a:chExt cx="0" cy="0"/>
        </a:xfrm>
      </p:grpSpPr>
      <p:sp>
        <p:nvSpPr>
          <p:cNvPr id="1466" name="Google Shape;1466;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67" name="Google Shape;1467;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lighter, in-process, no extra cluster</a:t>
            </a:r>
            <a:endParaRPr b="0" i="0" sz="3000" u="none" cap="none" strike="noStrike">
              <a:solidFill>
                <a:schemeClr val="dk1"/>
              </a:solidFill>
              <a:latin typeface="Calibri"/>
              <a:ea typeface="Calibri"/>
              <a:cs typeface="Calibri"/>
              <a:sym typeface="Calibri"/>
            </a:endParaRPr>
          </a:p>
        </p:txBody>
      </p:sp>
      <p:pic>
        <p:nvPicPr>
          <p:cNvPr descr="/home/claude/work/png-dn/63-appD-stateless-dn.png" id="1468" name="Google Shape;1468;p13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469" name="Google Shape;1469;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States, triggers, transitions, guards — plus a tiny serialization of CurrentState to save/restore across crashes.</a:t>
            </a:r>
            <a:endParaRPr b="0" i="0" sz="1200" u="none" cap="none" strike="noStrike">
              <a:solidFill>
                <a:schemeClr val="dk1"/>
              </a:solidFill>
              <a:latin typeface="Calibri"/>
              <a:ea typeface="Calibri"/>
              <a:cs typeface="Calibri"/>
              <a:sym typeface="Calibri"/>
            </a:endParaRPr>
          </a:p>
        </p:txBody>
      </p:sp>
      <p:sp>
        <p:nvSpPr>
          <p:cNvPr id="1470" name="Google Shape;1470;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71" name="Google Shape;1471;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6" name="Shape 1476"/>
        <p:cNvGrpSpPr/>
        <p:nvPr/>
      </p:nvGrpSpPr>
      <p:grpSpPr>
        <a:xfrm>
          <a:off x="0" y="0"/>
          <a:ext cx="0" cy="0"/>
          <a:chOff x="0" y="0"/>
          <a:chExt cx="0" cy="0"/>
        </a:xfrm>
      </p:grpSpPr>
      <p:sp>
        <p:nvSpPr>
          <p:cNvPr id="1477" name="Google Shape;1477;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478" name="Google Shape;1478;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Stateless: configure and drive</a:t>
            </a:r>
            <a:endParaRPr b="0" i="0" sz="3000" u="none" cap="none" strike="noStrike">
              <a:solidFill>
                <a:schemeClr val="dk1"/>
              </a:solidFill>
              <a:latin typeface="Calibri"/>
              <a:ea typeface="Calibri"/>
              <a:cs typeface="Calibri"/>
              <a:sym typeface="Calibri"/>
            </a:endParaRPr>
          </a:p>
        </p:txBody>
      </p:sp>
      <p:sp>
        <p:nvSpPr>
          <p:cNvPr id="1479" name="Google Shape;1479;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0" name="Google Shape;1480;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Stateless package + EF Core</a:t>
            </a:r>
            <a:endParaRPr b="0" i="0" sz="1000" u="none" cap="none" strike="noStrike">
              <a:solidFill>
                <a:schemeClr val="dk1"/>
              </a:solidFill>
              <a:latin typeface="Calibri"/>
              <a:ea typeface="Calibri"/>
              <a:cs typeface="Calibri"/>
              <a:sym typeface="Calibri"/>
            </a:endParaRPr>
          </a:p>
        </p:txBody>
      </p:sp>
      <p:sp>
        <p:nvSpPr>
          <p:cNvPr id="1481" name="Google Shape;1481;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State    { Created, Paid, Reserved, Shipped, Done, Compensating, Failed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enum Trigger  { PayOk, ReserveOk, ShipOk, Delivered, StepFail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1) Configure the machine — states, triggers, actions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FulfillmentSagaMachine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private readonly StateMachine&lt;State, Trigger&gt; _sm;</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State CurrentState =&gt; _sm.State;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string OrderId { get;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FulfillmentSagaMachine(string orderId, State 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IPaymentService payments,</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IInventoryService inventory,</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IShippingService shipping)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OrderId = 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 = new StateMachine&lt;State, Trigger&gt;(initial);</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_sm.Configure(State.Created)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.Permit(Trigger.PayOk, 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payments.ChargeAsync(orderId));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_sm.Configure(State.Paid)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.Permit(Trigger.ReserveOk, 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inventory.ReserveAsync(orderId));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_sm.Configure(State.Reserved)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.Permit(Trigger.ShipOk, State.Shipped)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shipping.BookAsync(orderId));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_sm.Configure(State.Compensating)</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.Permit(Trigger.StepFail, State.Failed)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.OnEntry(() =&gt; CompensateAsync(orderId));</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Task FireAsync(Trigger t) =&gt; _sm.FireAsync(t);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00"/>
              <a:buFont typeface="Calibri"/>
              <a:buNone/>
            </a:pPr>
            <a:r>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2) Drive it — events come from REST, Kafka, anywhere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public class FulfillmentService(SagaDbContext db, ISagaActivityResolver resolver)</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public async Task OnAsync(string orderId, Trigger trigger, CancellationToken ct)</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row = await db.Sagas.FindAsync([orderId], ct);                  // restore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var sm = resolver.Build(orderId, row!.CurrentState);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sm.FireAsync(trigger);                                        // run transition</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row.CurrentState = sm.CurrentState;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await db.SaveChangesAsync(ct);                                      // save new state</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    }</a:t>
            </a:r>
            <a:endParaRPr b="0" i="0" sz="8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00"/>
              <a:buFont typeface="Red Hat Mono"/>
              <a:buNone/>
            </a:pPr>
            <a:r>
              <a:rPr b="0" i="0" lang="en-US" sz="800" u="none" cap="none" strike="noStrike">
                <a:solidFill>
                  <a:srgbClr val="E6E6E6"/>
                </a:solidFill>
                <a:latin typeface="Red Hat Mono"/>
                <a:ea typeface="Red Hat Mono"/>
                <a:cs typeface="Red Hat Mono"/>
                <a:sym typeface="Red Hat Mono"/>
              </a:rPr>
              <a:t>}</a:t>
            </a:r>
            <a:endParaRPr b="0" i="0" sz="800" u="none" cap="none" strike="noStrike">
              <a:solidFill>
                <a:schemeClr val="dk1"/>
              </a:solidFill>
              <a:latin typeface="Calibri"/>
              <a:ea typeface="Calibri"/>
              <a:cs typeface="Calibri"/>
              <a:sym typeface="Calibri"/>
            </a:endParaRPr>
          </a:p>
        </p:txBody>
      </p:sp>
      <p:sp>
        <p:nvSpPr>
          <p:cNvPr id="1482" name="Google Shape;1482;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All in your ASP.NET Core process: states + triggers declared, entry actions invoke services, CurrentState persisted to your own DB.</a:t>
            </a:r>
            <a:endParaRPr b="0" i="0" sz="1300" u="none" cap="none" strike="noStrike">
              <a:solidFill>
                <a:schemeClr val="dk1"/>
              </a:solidFill>
              <a:latin typeface="Calibri"/>
              <a:ea typeface="Calibri"/>
              <a:cs typeface="Calibri"/>
              <a:sym typeface="Calibri"/>
            </a:endParaRPr>
          </a:p>
        </p:txBody>
      </p:sp>
      <p:sp>
        <p:nvSpPr>
          <p:cNvPr id="1483" name="Google Shape;1483;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484" name="Google Shape;1484;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89" name="Shape 1489"/>
        <p:cNvGrpSpPr/>
        <p:nvPr/>
      </p:nvGrpSpPr>
      <p:grpSpPr>
        <a:xfrm>
          <a:off x="0" y="0"/>
          <a:ext cx="0" cy="0"/>
          <a:chOff x="0" y="0"/>
          <a:chExt cx="0" cy="0"/>
        </a:xfrm>
      </p:grpSpPr>
      <p:pic>
        <p:nvPicPr>
          <p:cNvPr descr="/home/claude/work/assets/rh-divider-bg.png" id="1490" name="Google Shape;1490;p13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91" name="Google Shape;1491;p13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92" name="Google Shape;1492;p13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93" name="Google Shape;1493;p13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94" name="Google Shape;1494;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9" name="Shape 1499"/>
        <p:cNvGrpSpPr/>
        <p:nvPr/>
      </p:nvGrpSpPr>
      <p:grpSpPr>
        <a:xfrm>
          <a:off x="0" y="0"/>
          <a:ext cx="0" cy="0"/>
          <a:chOff x="0" y="0"/>
          <a:chExt cx="0" cy="0"/>
        </a:xfrm>
      </p:grpSpPr>
      <p:sp>
        <p:nvSpPr>
          <p:cNvPr id="1500" name="Google Shape;1500;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1" name="Google Shape;1501;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dn/36-appE-error-shape.png" id="1502" name="Google Shape;1502;p13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03" name="Google Shape;1503;p1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504" name="Google Shape;1504;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05" name="Google Shape;1505;p1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0" name="Shape 1510"/>
        <p:cNvGrpSpPr/>
        <p:nvPr/>
      </p:nvGrpSpPr>
      <p:grpSpPr>
        <a:xfrm>
          <a:off x="0" y="0"/>
          <a:ext cx="0" cy="0"/>
          <a:chOff x="0" y="0"/>
          <a:chExt cx="0" cy="0"/>
        </a:xfrm>
      </p:grpSpPr>
      <p:sp>
        <p:nvSpPr>
          <p:cNvPr id="1511" name="Google Shape;1511;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12" name="Google Shape;1512;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dn/37-appE-rest-errors.png" id="1513" name="Google Shape;1513;p1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14" name="Google Shape;1514;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515" name="Google Shape;1515;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16" name="Google Shape;1516;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1" name="Shape 1521"/>
        <p:cNvGrpSpPr/>
        <p:nvPr/>
      </p:nvGrpSpPr>
      <p:grpSpPr>
        <a:xfrm>
          <a:off x="0" y="0"/>
          <a:ext cx="0" cy="0"/>
          <a:chOff x="0" y="0"/>
          <a:chExt cx="0" cy="0"/>
        </a:xfrm>
      </p:grpSpPr>
      <p:sp>
        <p:nvSpPr>
          <p:cNvPr id="1522" name="Google Shape;1522;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3" name="Google Shape;1523;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ASP.NET Core ProblemDetails</a:t>
            </a:r>
            <a:endParaRPr b="0" i="0" sz="3000" u="none" cap="none" strike="noStrike">
              <a:solidFill>
                <a:schemeClr val="dk1"/>
              </a:solidFill>
              <a:latin typeface="Calibri"/>
              <a:ea typeface="Calibri"/>
              <a:cs typeface="Calibri"/>
              <a:sym typeface="Calibri"/>
            </a:endParaRPr>
          </a:p>
        </p:txBody>
      </p:sp>
      <p:sp>
        <p:nvSpPr>
          <p:cNvPr id="1524" name="Google Shape;1524;p14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5" name="Google Shape;1525;p14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IExceptionHandler</a:t>
            </a:r>
            <a:endParaRPr b="0" i="0" sz="1000" u="none" cap="none" strike="noStrike">
              <a:solidFill>
                <a:schemeClr val="dk1"/>
              </a:solidFill>
              <a:latin typeface="Calibri"/>
              <a:ea typeface="Calibri"/>
              <a:cs typeface="Calibri"/>
              <a:sym typeface="Calibri"/>
            </a:endParaRPr>
          </a:p>
        </p:txBody>
      </p:sp>
      <p:sp>
        <p:nvSpPr>
          <p:cNvPr id="1526" name="Google Shape;1526;p14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ProblemDetails (RFC 9457) ships in the box with ASP.NET Core since .NET 6.</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.NET 8 added IExceptionHandler — the central mapping seam for typed exceptions.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builder.Services.AddProblemDetails();             // standard problem+json output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builder.Services.AddExceptionHandler&lt;DomainExceptionHandler&gt;();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app.UseExceptionHandler();                        // wires up the chain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place: domain → wire (the single global exception-to-response seam)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DomainExceptionHandler : IExceptionHandler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ValueTask&lt;bool&gt; TryHandleAsync(HttpContext ctx, Exception ex,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(status, problem) = ex switch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StockException s =&gt;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ProblemDetails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Type   = "https://errors.acme.io/stock",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Title  = "Insufficient stock",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Status = StatusCodes.Status409Conflict,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Detail = s.Message,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Extensions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["code"]    = "STOCK_UNAVAILABLE",       // stable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["traceId"] = Activity.Current?.TraceId.ToString(),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_ =&gt; (StatusCodes.Status500InternalServerError, new ProblemDetails())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ctx.Response.StatusCode = status;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ctx.Response.WriteAsJsonAsync(problem,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ctx.Response.ContentType = "application/problem+json";    // RFC 9457</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27" name="Google Shape;1527;p14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ProblemDetails + IExceptionHandler give you RFC 9457 out of the box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528" name="Google Shape;1528;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29" name="Google Shape;1529;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4" name="Shape 1534"/>
        <p:cNvGrpSpPr/>
        <p:nvPr/>
      </p:nvGrpSpPr>
      <p:grpSpPr>
        <a:xfrm>
          <a:off x="0" y="0"/>
          <a:ext cx="0" cy="0"/>
          <a:chOff x="0" y="0"/>
          <a:chExt cx="0" cy="0"/>
        </a:xfrm>
      </p:grpSpPr>
      <p:sp>
        <p:nvSpPr>
          <p:cNvPr id="1535" name="Google Shape;1535;p1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6" name="Google Shape;1536;p1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dn/38-appE-grpc-errors.png" id="1537" name="Google Shape;1537;p14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38" name="Google Shape;1538;p1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539" name="Google Shape;1539;p1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40" name="Google Shape;1540;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45" name="Shape 1545"/>
        <p:cNvGrpSpPr/>
        <p:nvPr/>
      </p:nvGrpSpPr>
      <p:grpSpPr>
        <a:xfrm>
          <a:off x="0" y="0"/>
          <a:ext cx="0" cy="0"/>
          <a:chOff x="0" y="0"/>
          <a:chExt cx="0" cy="0"/>
        </a:xfrm>
      </p:grpSpPr>
      <p:sp>
        <p:nvSpPr>
          <p:cNvPr id="1546" name="Google Shape;1546;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47" name="Google Shape;1547;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548" name="Google Shape;1548;p14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49" name="Google Shape;1549;p14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grpc-dotnet + Google.Rpc</a:t>
            </a:r>
            <a:endParaRPr b="0" i="0" sz="1000" u="none" cap="none" strike="noStrike">
              <a:solidFill>
                <a:schemeClr val="dk1"/>
              </a:solidFill>
              <a:latin typeface="Calibri"/>
              <a:ea typeface="Calibri"/>
              <a:cs typeface="Calibri"/>
              <a:sym typeface="Calibri"/>
            </a:endParaRPr>
          </a:p>
        </p:txBody>
      </p:sp>
      <p:sp>
        <p:nvSpPr>
          <p:cNvPr id="1550" name="Google Shape;1550;p14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Grpc.Core;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using Google.Rpc;            // ErrorInfo, RetryInfo, 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public override async Task&lt;ReserveReply&gt; ReserveStock(</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ReserveRequest req, ServerCallContext context)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(_inventoryDown)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var status = new Google.Rpc.Status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Code    = (int)Code.Unavailable,        // canonical code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Message = "inventory temporarily 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Details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ErrorInfo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Reason = "STOCK_DOWN", Domain = "inventory"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Any.Pack(new RetryInfo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RetryDelay = Duration.FromTimeSpan(TimeSpan.FromSeconds(2))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 grpc-dotnet: throw RpcException with the rich status in trailers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throw status.ToRpcException();           // extension from Grpc.StatusProto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ToReply(await _stock.ReserveAsync(req));</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t>
            </a:r>
            <a:endParaRPr b="0" i="0" sz="1050" u="none" cap="none" strike="noStrike">
              <a:solidFill>
                <a:schemeClr val="dk1"/>
              </a:solidFill>
              <a:latin typeface="Calibri"/>
              <a:ea typeface="Calibri"/>
              <a:cs typeface="Calibri"/>
              <a:sym typeface="Calibri"/>
            </a:endParaRPr>
          </a:p>
        </p:txBody>
      </p:sp>
      <p:sp>
        <p:nvSpPr>
          <p:cNvPr id="1551" name="Google Shape;1551;p14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53" name="Google Shape;1553;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8" name="Shape 1558"/>
        <p:cNvGrpSpPr/>
        <p:nvPr/>
      </p:nvGrpSpPr>
      <p:grpSpPr>
        <a:xfrm>
          <a:off x="0" y="0"/>
          <a:ext cx="0" cy="0"/>
          <a:chOff x="0" y="0"/>
          <a:chExt cx="0" cy="0"/>
        </a:xfrm>
      </p:grpSpPr>
      <p:sp>
        <p:nvSpPr>
          <p:cNvPr id="1559" name="Google Shape;1559;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60" name="Google Shape;1560;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dn/39-appE-kafka-errors.png" id="1561" name="Google Shape;1561;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2" name="Google Shape;1562;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563" name="Google Shape;1563;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64" name="Google Shape;1564;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9" name="Shape 1569"/>
        <p:cNvGrpSpPr/>
        <p:nvPr/>
      </p:nvGrpSpPr>
      <p:grpSpPr>
        <a:xfrm>
          <a:off x="0" y="0"/>
          <a:ext cx="0" cy="0"/>
          <a:chOff x="0" y="0"/>
          <a:chExt cx="0" cy="0"/>
        </a:xfrm>
      </p:grpSpPr>
      <p:sp>
        <p:nvSpPr>
          <p:cNvPr id="1570" name="Google Shape;1570;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71" name="Google Shape;1571;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MassTransit</a:t>
            </a:r>
            <a:endParaRPr b="0" i="0" sz="3000" u="none" cap="none" strike="noStrike">
              <a:solidFill>
                <a:schemeClr val="dk1"/>
              </a:solidFill>
              <a:latin typeface="Calibri"/>
              <a:ea typeface="Calibri"/>
              <a:cs typeface="Calibri"/>
              <a:sym typeface="Calibri"/>
            </a:endParaRPr>
          </a:p>
        </p:txBody>
      </p:sp>
      <p:sp>
        <p:nvSpPr>
          <p:cNvPr id="1572" name="Google Shape;1572;p14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3" name="Google Shape;1573;p14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Confluent.Kafka</a:t>
            </a:r>
            <a:endParaRPr b="0" i="0" sz="1000" u="none" cap="none" strike="noStrike">
              <a:solidFill>
                <a:schemeClr val="dk1"/>
              </a:solidFill>
              <a:latin typeface="Calibri"/>
              <a:ea typeface="Calibri"/>
              <a:cs typeface="Calibri"/>
              <a:sym typeface="Calibri"/>
            </a:endParaRPr>
          </a:p>
        </p:txBody>
      </p:sp>
      <p:sp>
        <p:nvSpPr>
          <p:cNvPr id="1574" name="Google Shape;1574;p14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MassTransit treats Kafka topics as receive endpoints with full retry policies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(in-process) and redelivery policies (delayed retry via scheduler).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builder.Services.AddMassTransit(x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x.AddConsumer&lt;OrderConsumer&gt;(cfg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cfg.UseMessageRetry(r =&gt;                          // in-place retries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r.Exponential(retryLimit: 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minInterval: TimeSpan.FromMilliseconds(200),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maxInterval: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intervalDelta: TimeSpan.FromMilliseconds(500))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.Ignore&lt;ValidationException&gt;());             // 4xx → fault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cfg.UseScheduledRedelivery(r =&gt;                   // delayed-retry topics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r.Intervals(TimeSpan.FromSeconds(5),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TimeSpan.FromSeconds(30),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TimeSpan.FromMinutes(5)));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x.UsingKafka((ctx, k)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k.Host("kafka:9092");</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k.TopicEndpoint&lt;Order&gt;("orders", "order-group", e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e.ConfigureConsumer&lt;OrderConsumer&gt;(ctx);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faulted messages → orders_error topic automatically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OrderConsumer(IEmailSender mail) : IConsumer&lt;Order&gt;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 Consume(ConsumeContext&lt;Order&gt; ctx) =&gt; mail.SendAsync(ctx.Message);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retry policy fires; exhausted → redelivery; exhausted again → _error topic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UseMessageRetry + UseScheduledRedelivery + automatic _error topic — declaratively, so a poison record can't stall the partition.</a:t>
            </a:r>
            <a:endParaRPr b="0" i="0" sz="1300" u="none" cap="none" strike="noStrike">
              <a:solidFill>
                <a:schemeClr val="dk1"/>
              </a:solidFill>
              <a:latin typeface="Calibri"/>
              <a:ea typeface="Calibri"/>
              <a:cs typeface="Calibri"/>
              <a:sym typeface="Calibri"/>
            </a:endParaRPr>
          </a:p>
        </p:txBody>
      </p:sp>
      <p:sp>
        <p:nvSpPr>
          <p:cNvPr id="1576" name="Google Shape;1576;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77" name="Google Shape;1577;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2" name="Shape 1582"/>
        <p:cNvGrpSpPr/>
        <p:nvPr/>
      </p:nvGrpSpPr>
      <p:grpSpPr>
        <a:xfrm>
          <a:off x="0" y="0"/>
          <a:ext cx="0" cy="0"/>
          <a:chOff x="0" y="0"/>
          <a:chExt cx="0" cy="0"/>
        </a:xfrm>
      </p:grpSpPr>
      <p:sp>
        <p:nvSpPr>
          <p:cNvPr id="1583" name="Google Shape;1583;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84" name="Google Shape;1584;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dn/40-appE-graphql-errors.png" id="1585" name="Google Shape;1585;p14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586" name="Google Shape;1586;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87" name="Google Shape;1587;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88" name="Google Shape;1588;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3" name="Shape 1593"/>
        <p:cNvGrpSpPr/>
        <p:nvPr/>
      </p:nvGrpSpPr>
      <p:grpSpPr>
        <a:xfrm>
          <a:off x="0" y="0"/>
          <a:ext cx="0" cy="0"/>
          <a:chOff x="0" y="0"/>
          <a:chExt cx="0" cy="0"/>
        </a:xfrm>
      </p:grpSpPr>
      <p:sp>
        <p:nvSpPr>
          <p:cNvPr id="1594" name="Google Shape;1594;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HotChocolate</a:t>
            </a:r>
            <a:endParaRPr b="0" i="0" sz="30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97" name="Google Shape;1597;p14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HotChocolate</a:t>
            </a:r>
            <a:endParaRPr b="0" i="0" sz="1000" u="none" cap="none" strike="noStrike">
              <a:solidFill>
                <a:schemeClr val="dk1"/>
              </a:solidFill>
              <a:latin typeface="Calibri"/>
              <a:ea typeface="Calibri"/>
              <a:cs typeface="Calibri"/>
              <a:sym typeface="Calibri"/>
            </a:endParaRPr>
          </a:p>
        </p:txBody>
      </p:sp>
      <p:sp>
        <p:nvSpPr>
          <p:cNvPr id="1598" name="Google Shape;1598;p14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HotChocolate: implement IErrorFilter to map exceptions to GraphQL errors[]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The failing field becomes null, the rest of the data still returns.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GraphQLErrorFilter : IErrorFilter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IError OnError(IError error)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error.Exception switch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InventoryUnavailable iu =&gt;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.WithMessage(iu.Message)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.WithCode("UNAVAILABLE")                  // → extensions.code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.SetExtension("retryable", 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.SetExtension("traceId", Activity.Current?.TraceId.ToString())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.RemoveException(),                       // don't leak stack trace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 =&gt; error                                    // default for everything else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builder.Services.AddGraphQLServer()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.AddErrorFilter&lt;GraphQLErrorFilter&gt;()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.AddQueryType&lt;Query&gt;();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Field resolver — throws normally; the filter turns it into a GraphQL error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[ExtendObjectType&lt;Order&gt;]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OrderExtensions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Task&lt;int&gt; GetStock(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[Parent] Order order, IInventoryService inventory)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try { return await inventory.RemainingAsync(order.Sku);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catch (UpstreamException)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throw new InventoryUnavailable("inventory unavailable");  // nulls field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1599" name="Google Shape;1599;p14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Throw from the field resolver; an IErrorFilter nulls that field and adds it to errors[] with code + retryable + traceId in extensions.</a:t>
            </a:r>
            <a:endParaRPr b="0" i="0" sz="1300" u="none" cap="none" strike="noStrike">
              <a:solidFill>
                <a:schemeClr val="dk1"/>
              </a:solidFill>
              <a:latin typeface="Calibri"/>
              <a:ea typeface="Calibri"/>
              <a:cs typeface="Calibri"/>
              <a:sym typeface="Calibri"/>
            </a:endParaRPr>
          </a:p>
        </p:txBody>
      </p:sp>
      <p:sp>
        <p:nvSpPr>
          <p:cNvPr id="1600" name="Google Shape;1600;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1" name="Google Shape;1601;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6" name="Shape 1606"/>
        <p:cNvGrpSpPr/>
        <p:nvPr/>
      </p:nvGrpSpPr>
      <p:grpSpPr>
        <a:xfrm>
          <a:off x="0" y="0"/>
          <a:ext cx="0" cy="0"/>
          <a:chOff x="0" y="0"/>
          <a:chExt cx="0" cy="0"/>
        </a:xfrm>
      </p:grpSpPr>
      <p:sp>
        <p:nvSpPr>
          <p:cNvPr id="1607" name="Google Shape;1607;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08" name="Google Shape;1608;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dn/41-appE-retry-storm.png" id="1609" name="Google Shape;1609;p14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10" name="Google Shape;1610;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611" name="Google Shape;1611;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12" name="Google Shape;1612;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7" name="Shape 1617"/>
        <p:cNvGrpSpPr/>
        <p:nvPr/>
      </p:nvGrpSpPr>
      <p:grpSpPr>
        <a:xfrm>
          <a:off x="0" y="0"/>
          <a:ext cx="0" cy="0"/>
          <a:chOff x="0" y="0"/>
          <a:chExt cx="0" cy="0"/>
        </a:xfrm>
      </p:grpSpPr>
      <p:sp>
        <p:nvSpPr>
          <p:cNvPr id="1618" name="Google Shape;1618;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 @Timeout, @Retry + jitter, @CircuitBreaker, retry budget — and make handlers idempotent.</a:t>
            </a:r>
            <a:endParaRPr b="0" i="0" sz="1700" u="none" cap="none" strike="noStrike">
              <a:solidFill>
                <a:schemeClr val="dk1"/>
              </a:solidFill>
              <a:latin typeface="Calibri"/>
              <a:ea typeface="Calibri"/>
              <a:cs typeface="Calibri"/>
              <a:sym typeface="Calibri"/>
            </a:endParaRPr>
          </a:p>
        </p:txBody>
      </p:sp>
      <p:sp>
        <p:nvSpPr>
          <p:cNvPr id="1621" name="Google Shape;1621;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22" name="Google Shape;1622;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27" name="Shape 1627"/>
        <p:cNvGrpSpPr/>
        <p:nvPr/>
      </p:nvGrpSpPr>
      <p:grpSpPr>
        <a:xfrm>
          <a:off x="0" y="0"/>
          <a:ext cx="0" cy="0"/>
          <a:chOff x="0" y="0"/>
          <a:chExt cx="0" cy="0"/>
        </a:xfrm>
      </p:grpSpPr>
      <p:pic>
        <p:nvPicPr>
          <p:cNvPr descr="/home/claude/work/assets/rh-divider-bg.png" id="1628" name="Google Shape;1628;p14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29" name="Google Shape;1629;p14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630" name="Google Shape;1630;p14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631" name="Google Shape;1631;p14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 and the contracts —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632" name="Google Shape;1632;p1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7" name="Shape 1637"/>
        <p:cNvGrpSpPr/>
        <p:nvPr/>
      </p:nvGrpSpPr>
      <p:grpSpPr>
        <a:xfrm>
          <a:off x="0" y="0"/>
          <a:ext cx="0" cy="0"/>
          <a:chOff x="0" y="0"/>
          <a:chExt cx="0" cy="0"/>
        </a:xfrm>
      </p:grpSpPr>
      <p:sp>
        <p:nvSpPr>
          <p:cNvPr id="1638" name="Google Shape;1638;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641" name="Google Shape;1641;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2" name="Google Shape;1642;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47" name="Shape 1647"/>
        <p:cNvGrpSpPr/>
        <p:nvPr/>
      </p:nvGrpSpPr>
      <p:grpSpPr>
        <a:xfrm>
          <a:off x="0" y="0"/>
          <a:ext cx="0" cy="0"/>
          <a:chOff x="0" y="0"/>
          <a:chExt cx="0" cy="0"/>
        </a:xfrm>
      </p:grpSpPr>
      <p:sp>
        <p:nvSpPr>
          <p:cNvPr id="1648" name="Google Shape;1648;p1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49" name="Google Shape;1649;p1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dn/45-appF-ddd-strategic.png" id="1650" name="Google Shape;1650;p15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651" name="Google Shape;1651;p1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652" name="Google Shape;1652;p1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53" name="Google Shape;1653;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8" name="Shape 1658"/>
        <p:cNvGrpSpPr/>
        <p:nvPr/>
      </p:nvGrpSpPr>
      <p:grpSpPr>
        <a:xfrm>
          <a:off x="0" y="0"/>
          <a:ext cx="0" cy="0"/>
          <a:chOff x="0" y="0"/>
          <a:chExt cx="0" cy="0"/>
        </a:xfrm>
      </p:grpSpPr>
      <p:sp>
        <p:nvSpPr>
          <p:cNvPr id="1659" name="Google Shape;1659;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661" name="Google Shape;1661;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662" name="Google Shape;1662;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63" name="Google Shape;1663;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8" name="Shape 1668"/>
        <p:cNvGrpSpPr/>
        <p:nvPr/>
      </p:nvGrpSpPr>
      <p:grpSpPr>
        <a:xfrm>
          <a:off x="0" y="0"/>
          <a:ext cx="0" cy="0"/>
          <a:chOff x="0" y="0"/>
          <a:chExt cx="0" cy="0"/>
        </a:xfrm>
      </p:grpSpPr>
      <p:sp>
        <p:nvSpPr>
          <p:cNvPr id="1669" name="Google Shape;1669;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70" name="Google Shape;1670;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dn/46-appF-context-map.png" id="1671" name="Google Shape;1671;p15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72" name="Google Shape;1672;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 and which ones your API actually implements.</a:t>
            </a:r>
            <a:endParaRPr b="0" i="0" sz="1200" u="none" cap="none" strike="noStrike">
              <a:solidFill>
                <a:schemeClr val="dk1"/>
              </a:solidFill>
              <a:latin typeface="Calibri"/>
              <a:ea typeface="Calibri"/>
              <a:cs typeface="Calibri"/>
              <a:sym typeface="Calibri"/>
            </a:endParaRPr>
          </a:p>
        </p:txBody>
      </p:sp>
      <p:sp>
        <p:nvSpPr>
          <p:cNvPr id="1673" name="Google Shape;1673;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74" name="Google Shape;1674;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9" name="Shape 1679"/>
        <p:cNvGrpSpPr/>
        <p:nvPr/>
      </p:nvGrpSpPr>
      <p:grpSpPr>
        <a:xfrm>
          <a:off x="0" y="0"/>
          <a:ext cx="0" cy="0"/>
          <a:chOff x="0" y="0"/>
          <a:chExt cx="0" cy="0"/>
        </a:xfrm>
      </p:grpSpPr>
      <p:sp>
        <p:nvSpPr>
          <p:cNvPr id="1680" name="Google Shape;1680;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682" name="Google Shape;1682;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 OpenAPI, .proto, Avro —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683" name="Google Shape;1683;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84" name="Google Shape;1684;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9" name="Shape 1689"/>
        <p:cNvGrpSpPr/>
        <p:nvPr/>
      </p:nvGrpSpPr>
      <p:grpSpPr>
        <a:xfrm>
          <a:off x="0" y="0"/>
          <a:ext cx="0" cy="0"/>
          <a:chOff x="0" y="0"/>
          <a:chExt cx="0" cy="0"/>
        </a:xfrm>
      </p:grpSpPr>
      <p:sp>
        <p:nvSpPr>
          <p:cNvPr id="1690" name="Google Shape;1690;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91" name="Google Shape;1691;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dn/47-appF-hexagonal.png" id="1692" name="Google Shape;1692;p15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93" name="Google Shape;1693;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94" name="Google Shape;1694;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695" name="Google Shape;1695;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0" name="Shape 1700"/>
        <p:cNvGrpSpPr/>
        <p:nvPr/>
      </p:nvGrpSpPr>
      <p:grpSpPr>
        <a:xfrm>
          <a:off x="0" y="0"/>
          <a:ext cx="0" cy="0"/>
          <a:chOff x="0" y="0"/>
          <a:chExt cx="0" cy="0"/>
        </a:xfrm>
      </p:grpSpPr>
      <p:sp>
        <p:nvSpPr>
          <p:cNvPr id="1701" name="Google Shape;1701;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703" name="Google Shape;1703;p15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4" name="Google Shape;1704;p15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ports &amp; adapters in .NET</a:t>
            </a:r>
            <a:endParaRPr b="0" i="0" sz="1000" u="none" cap="none" strike="noStrike">
              <a:solidFill>
                <a:schemeClr val="dk1"/>
              </a:solidFill>
              <a:latin typeface="Calibri"/>
              <a:ea typeface="Calibri"/>
              <a:cs typeface="Calibri"/>
              <a:sym typeface="Calibri"/>
            </a:endParaRPr>
          </a:p>
        </p:txBody>
      </p:sp>
      <p:sp>
        <p:nvSpPr>
          <p:cNvPr id="1705" name="Google Shape;1705;p15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domain — the core declares the interfaces (ports) it needs; no framework</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IOrderRepository { Task SaveAsync(Order order,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interface IEventPublisher  { Task PublishAsync(IDomainEvent e, CancellationToken ct);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pure application logic; C</a:t>
            </a:r>
            <a:r>
              <a:rPr b="0" i="0" lang="en-US" sz="1000" u="none" cap="none" strike="noStrike">
                <a:solidFill>
                  <a:srgbClr val="8FB98F"/>
                </a:solidFill>
                <a:latin typeface="Red Hat Mono"/>
                <a:ea typeface="Red Hat Mono"/>
                <a:cs typeface="Red Hat Mono"/>
                <a:sym typeface="Red Hat Mono"/>
              </a:rPr>
              <a:t># 12 primary constructor — no DI annotations needed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PlaceOrder(IOrderRepository repo, IEventPublisher events)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Task&lt;Order&gt; HandleAsync(PlaceOrderCmd cmd,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order = Order.Create(cmd);                // aggregate enforces invariants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repo.SaveAsync(order,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events.PublishAsync(new OrderPlaced(order.Id),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adapter — a driving adapter; gRPC/GraphQL adapters look the same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[ApiController, Route("orders")]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OrderController(PlaceOrder placeOrder) : ControllerBase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[HttpPost] public Task&lt;Order&gt; Place(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[FromBody] OrderIn body, CancellationToken ct)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placeOrder.HandleAsync(body.ToCmd(),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outbound adapters (separate project): EfCoreOrderRepository : IOrderRepository,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MassTransitEventPublisher : IEventPublisher.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Wire them up in Program.cs: builder.Services.AddScoped&lt;IOrderRepository, …&gt;();</a:t>
            </a:r>
            <a:endParaRPr b="0" i="0" sz="1000" u="none" cap="none" strike="noStrike">
              <a:solidFill>
                <a:schemeClr val="dk1"/>
              </a:solidFill>
              <a:latin typeface="Calibri"/>
              <a:ea typeface="Calibri"/>
              <a:cs typeface="Calibri"/>
              <a:sym typeface="Calibri"/>
            </a:endParaRPr>
          </a:p>
        </p:txBody>
      </p:sp>
      <p:sp>
        <p:nvSpPr>
          <p:cNvPr id="1706" name="Google Shape;1706;p15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the .NET container injects the adapters (EF Core repo, MassTransit publisher). Swap or add one without touching PlaceOrder.</a:t>
            </a:r>
            <a:endParaRPr b="0" i="0" sz="1300" u="none" cap="none" strike="noStrike">
              <a:solidFill>
                <a:schemeClr val="dk1"/>
              </a:solidFill>
              <a:latin typeface="Calibri"/>
              <a:ea typeface="Calibri"/>
              <a:cs typeface="Calibri"/>
              <a:sym typeface="Calibri"/>
            </a:endParaRPr>
          </a:p>
        </p:txBody>
      </p:sp>
      <p:sp>
        <p:nvSpPr>
          <p:cNvPr id="1707" name="Google Shape;1707;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08" name="Google Shape;1708;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3" name="Shape 1713"/>
        <p:cNvGrpSpPr/>
        <p:nvPr/>
      </p:nvGrpSpPr>
      <p:grpSpPr>
        <a:xfrm>
          <a:off x="0" y="0"/>
          <a:ext cx="0" cy="0"/>
          <a:chOff x="0" y="0"/>
          <a:chExt cx="0" cy="0"/>
        </a:xfrm>
      </p:grpSpPr>
      <p:sp>
        <p:nvSpPr>
          <p:cNvPr id="1714" name="Google Shape;1714;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15" name="Google Shape;1715;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716" name="Google Shape;1716;p15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717" name="Google Shape;1717;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18" name="Google Shape;1718;p1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3" name="Shape 1723"/>
        <p:cNvGrpSpPr/>
        <p:nvPr/>
      </p:nvGrpSpPr>
      <p:grpSpPr>
        <a:xfrm>
          <a:off x="0" y="0"/>
          <a:ext cx="0" cy="0"/>
          <a:chOff x="0" y="0"/>
          <a:chExt cx="0" cy="0"/>
        </a:xfrm>
      </p:grpSpPr>
      <p:sp>
        <p:nvSpPr>
          <p:cNvPr id="1724" name="Google Shape;1724;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725" name="Google Shape;1725;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726" name="Google Shape;1726;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727" name="Google Shape;1727;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28" name="Google Shape;1728;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33" name="Shape 1733"/>
        <p:cNvGrpSpPr/>
        <p:nvPr/>
      </p:nvGrpSpPr>
      <p:grpSpPr>
        <a:xfrm>
          <a:off x="0" y="0"/>
          <a:ext cx="0" cy="0"/>
          <a:chOff x="0" y="0"/>
          <a:chExt cx="0" cy="0"/>
        </a:xfrm>
      </p:grpSpPr>
      <p:pic>
        <p:nvPicPr>
          <p:cNvPr descr="/home/claude/work/assets/rh-divider-bg.png" id="1734" name="Google Shape;1734;p15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35" name="Google Shape;1735;p15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736" name="Google Shape;1736;p15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737" name="Google Shape;1737;p15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738" name="Google Shape;1738;p1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3" name="Shape 1743"/>
        <p:cNvGrpSpPr/>
        <p:nvPr/>
      </p:nvGrpSpPr>
      <p:grpSpPr>
        <a:xfrm>
          <a:off x="0" y="0"/>
          <a:ext cx="0" cy="0"/>
          <a:chOff x="0" y="0"/>
          <a:chExt cx="0" cy="0"/>
        </a:xfrm>
      </p:grpSpPr>
      <p:sp>
        <p:nvSpPr>
          <p:cNvPr id="1744" name="Google Shape;1744;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5" name="Google Shape;1745;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746" name="Google Shape;1746;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 not the components themselves —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747" name="Google Shape;1747;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8" name="Google Shape;1748;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3" name="Shape 1753"/>
        <p:cNvGrpSpPr/>
        <p:nvPr/>
      </p:nvGrpSpPr>
      <p:grpSpPr>
        <a:xfrm>
          <a:off x="0" y="0"/>
          <a:ext cx="0" cy="0"/>
          <a:chOff x="0" y="0"/>
          <a:chExt cx="0" cy="0"/>
        </a:xfrm>
      </p:grpSpPr>
      <p:sp>
        <p:nvSpPr>
          <p:cNvPr id="1754" name="Google Shape;1754;p1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55" name="Google Shape;1755;p1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dn/48-appG-dimensions.png" id="1756" name="Google Shape;1756;p16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57" name="Google Shape;1757;p16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758" name="Google Shape;1758;p1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59" name="Google Shape;1759;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4" name="Shape 1764"/>
        <p:cNvGrpSpPr/>
        <p:nvPr/>
      </p:nvGrpSpPr>
      <p:grpSpPr>
        <a:xfrm>
          <a:off x="0" y="0"/>
          <a:ext cx="0" cy="0"/>
          <a:chOff x="0" y="0"/>
          <a:chExt cx="0" cy="0"/>
        </a:xfrm>
      </p:grpSpPr>
      <p:sp>
        <p:nvSpPr>
          <p:cNvPr id="1765" name="Google Shape;1765;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66" name="Google Shape;1766;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767" name="Google Shape;1767;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768" name="Google Shape;1768;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69" name="Google Shape;1769;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74" name="Shape 1774"/>
        <p:cNvGrpSpPr/>
        <p:nvPr/>
      </p:nvGrpSpPr>
      <p:grpSpPr>
        <a:xfrm>
          <a:off x="0" y="0"/>
          <a:ext cx="0" cy="0"/>
          <a:chOff x="0" y="0"/>
          <a:chExt cx="0" cy="0"/>
        </a:xfrm>
      </p:grpSpPr>
      <p:sp>
        <p:nvSpPr>
          <p:cNvPr id="1775" name="Google Shape;1775;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76" name="Google Shape;1776;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dn/49-appG-strength.png" id="1777" name="Google Shape;1777;p16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78" name="Google Shape;1778;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779" name="Google Shape;1779;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0" name="Google Shape;1780;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5" name="Shape 1785"/>
        <p:cNvGrpSpPr/>
        <p:nvPr/>
      </p:nvGrpSpPr>
      <p:grpSpPr>
        <a:xfrm>
          <a:off x="0" y="0"/>
          <a:ext cx="0" cy="0"/>
          <a:chOff x="0" y="0"/>
          <a:chExt cx="0" cy="0"/>
        </a:xfrm>
      </p:grpSpPr>
      <p:sp>
        <p:nvSpPr>
          <p:cNvPr id="1786" name="Google Shape;1786;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87" name="Google Shape;1787;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88" name="Google Shape;1788;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89" name="Google Shape;1789;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0" name="Google Shape;1790;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5" name="Shape 1795"/>
        <p:cNvGrpSpPr/>
        <p:nvPr/>
      </p:nvGrpSpPr>
      <p:grpSpPr>
        <a:xfrm>
          <a:off x="0" y="0"/>
          <a:ext cx="0" cy="0"/>
          <a:chOff x="0" y="0"/>
          <a:chExt cx="0" cy="0"/>
        </a:xfrm>
      </p:grpSpPr>
      <p:sp>
        <p:nvSpPr>
          <p:cNvPr id="1796" name="Google Shape;1796;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97" name="Google Shape;1797;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dn/50-appG-balance.png" id="1798" name="Google Shape;1798;p16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799" name="Google Shape;1799;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800" name="Google Shape;1800;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1" name="Google Shape;1801;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6" name="Shape 1806"/>
        <p:cNvGrpSpPr/>
        <p:nvPr/>
      </p:nvGrpSpPr>
      <p:grpSpPr>
        <a:xfrm>
          <a:off x="0" y="0"/>
          <a:ext cx="0" cy="0"/>
          <a:chOff x="0" y="0"/>
          <a:chExt cx="0" cy="0"/>
        </a:xfrm>
      </p:grpSpPr>
      <p:sp>
        <p:nvSpPr>
          <p:cNvPr id="1807" name="Google Shape;1807;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809" name="Google Shape;1809;p16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810" name="Google Shape;1810;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11" name="Google Shape;1811;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6" name="Shape 1816"/>
        <p:cNvGrpSpPr/>
        <p:nvPr/>
      </p:nvGrpSpPr>
      <p:grpSpPr>
        <a:xfrm>
          <a:off x="0" y="0"/>
          <a:ext cx="0" cy="0"/>
          <a:chOff x="0" y="0"/>
          <a:chExt cx="0" cy="0"/>
        </a:xfrm>
      </p:grpSpPr>
      <p:sp>
        <p:nvSpPr>
          <p:cNvPr id="1817" name="Google Shape;1817;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18" name="Google Shape;1818;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819" name="Google Shape;1819;p16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21" name="Google Shape;1821;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6" name="Shape 1826"/>
        <p:cNvGrpSpPr/>
        <p:nvPr/>
      </p:nvGrpSpPr>
      <p:grpSpPr>
        <a:xfrm>
          <a:off x="0" y="0"/>
          <a:ext cx="0" cy="0"/>
          <a:chOff x="0" y="0"/>
          <a:chExt cx="0" cy="0"/>
        </a:xfrm>
      </p:grpSpPr>
      <p:sp>
        <p:nvSpPr>
          <p:cNvPr id="1827" name="Google Shape;1827;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828" name="Google Shape;1828;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31" name="Google Shape;1831;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36" name="Shape 1836"/>
        <p:cNvGrpSpPr/>
        <p:nvPr/>
      </p:nvGrpSpPr>
      <p:grpSpPr>
        <a:xfrm>
          <a:off x="0" y="0"/>
          <a:ext cx="0" cy="0"/>
          <a:chOff x="0" y="0"/>
          <a:chExt cx="0" cy="0"/>
        </a:xfrm>
      </p:grpSpPr>
      <p:pic>
        <p:nvPicPr>
          <p:cNvPr descr="/home/claude/work/assets/rh-divider-bg.png" id="1837" name="Google Shape;1837;p16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38" name="Google Shape;1838;p16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839" name="Google Shape;1839;p16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840" name="Google Shape;1840;p16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841" name="Google Shape;1841;p1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46" name="Shape 1846"/>
        <p:cNvGrpSpPr/>
        <p:nvPr/>
      </p:nvGrpSpPr>
      <p:grpSpPr>
        <a:xfrm>
          <a:off x="0" y="0"/>
          <a:ext cx="0" cy="0"/>
          <a:chOff x="0" y="0"/>
          <a:chExt cx="0" cy="0"/>
        </a:xfrm>
      </p:grpSpPr>
      <p:sp>
        <p:nvSpPr>
          <p:cNvPr id="1847" name="Google Shape;1847;p1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48" name="Google Shape;1848;p1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849" name="Google Shape;1849;p17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 the 5xx blips users actually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 not a single setting —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850" name="Google Shape;1850;p1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51" name="Google Shape;1851;p17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6" name="Shape 1856"/>
        <p:cNvGrpSpPr/>
        <p:nvPr/>
      </p:nvGrpSpPr>
      <p:grpSpPr>
        <a:xfrm>
          <a:off x="0" y="0"/>
          <a:ext cx="0" cy="0"/>
          <a:chOff x="0" y="0"/>
          <a:chExt cx="0" cy="0"/>
        </a:xfrm>
      </p:grpSpPr>
      <p:sp>
        <p:nvSpPr>
          <p:cNvPr id="1857" name="Google Shape;1857;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58" name="Google Shape;1858;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dn/51-appH-termination.png" id="1859" name="Google Shape;1859;p171"/>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860" name="Google Shape;1860;p17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870" name="Google Shape;1870;p1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that's deliberately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871" name="Google Shape;1871;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72" name="Google Shape;1872;p1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7" name="Shape 1877"/>
        <p:cNvGrpSpPr/>
        <p:nvPr/>
      </p:nvGrpSpPr>
      <p:grpSpPr>
        <a:xfrm>
          <a:off x="0" y="0"/>
          <a:ext cx="0" cy="0"/>
          <a:chOff x="0" y="0"/>
          <a:chExt cx="0" cy="0"/>
        </a:xfrm>
      </p:grpSpPr>
      <p:sp>
        <p:nvSpPr>
          <p:cNvPr id="1878" name="Google Shape;1878;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79" name="Google Shape;1879;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dn/52-appH-workloads.png" id="1880" name="Google Shape;1880;p17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881" name="Google Shape;1881;p17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ASP.NET Core</a:t>
            </a:r>
            <a:endParaRPr b="0" i="0" sz="3000" u="none" cap="none" strike="noStrike">
              <a:solidFill>
                <a:schemeClr val="dk1"/>
              </a:solidFill>
              <a:latin typeface="Calibri"/>
              <a:ea typeface="Calibri"/>
              <a:cs typeface="Calibri"/>
              <a:sym typeface="Calibri"/>
            </a:endParaRPr>
          </a:p>
        </p:txBody>
      </p:sp>
      <p:sp>
        <p:nvSpPr>
          <p:cNvPr id="1891" name="Google Shape;1891;p17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2" name="Google Shape;1892;p17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ASP.NET Core</a:t>
            </a:r>
            <a:endParaRPr b="0" i="0" sz="1000" u="none" cap="none" strike="noStrike">
              <a:solidFill>
                <a:schemeClr val="dk1"/>
              </a:solidFill>
              <a:latin typeface="Calibri"/>
              <a:ea typeface="Calibri"/>
              <a:cs typeface="Calibri"/>
              <a:sym typeface="Calibri"/>
            </a:endParaRPr>
          </a:p>
        </p:txBody>
      </p:sp>
      <p:sp>
        <p:nvSpPr>
          <p:cNvPr id="1893" name="Google Shape;1893;p17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 — set the budget; the host honours it on SIGTERM</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builder.Services.Configure&lt;HostOptions&gt;(o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o.ShutdownTimeout = TimeSpan.FromSeconds(30);     // total budget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o.BackgroundServiceExceptionBehavior =             // tolerate handler errors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BackgroundServiceExceptionBehavior.Ignore;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Flip readiness DOWN on shutdown via a mutable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ReadinessCheck : IHealthCheck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volatile bool _ready =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void MarkUnready() =&gt; _ready = false;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Task&lt;HealthCheckResult&gt; CheckHealthAsync(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HealthCheckContext ctx, CancellationToken ct) =&gt;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Task.FromResult(_ready ? HealthCheckResult.Healthy() : HealthCheckResult.Unhealthy());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One BackgroundService per long-running concern; StopAsync gets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KafkaConsumerHost(IConsumer&lt;string, Order&gt; consumer,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ReadinessCheck readiness,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IHostApplicationLifetime lifetime) : BackgroundService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protected override async Task ExecuteAsync(CancellationToken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(!ct.IsCancellationRequested)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result = consumer.Consume(ct);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Handle(result, ct);                 // your work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consumer.Commit(result);                  // ack after side-effect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async Task StopAsync(CancellationToken ct)        // ← the drain hook</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readiness.MarkUnready();                      // /healthz/ready → 503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consumer.Close();                             // commit + leave group cleanly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base.StopAsync(ct);                     // bounded by ShutdownTimeout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1894" name="Google Shape;1894;p17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HostOptions.ShutdownTimeout bounds the drain; each BackgroundService's StopAsync is your hook. Flip readiness DOWN first so Kubernetes stops routing.</a:t>
            </a:r>
            <a:endParaRPr b="0" i="0" sz="1300" u="none" cap="none" strike="noStrike">
              <a:solidFill>
                <a:schemeClr val="dk1"/>
              </a:solidFill>
              <a:latin typeface="Calibri"/>
              <a:ea typeface="Calibri"/>
              <a:cs typeface="Calibri"/>
              <a:sym typeface="Calibri"/>
            </a:endParaRPr>
          </a:p>
        </p:txBody>
      </p:sp>
      <p:sp>
        <p:nvSpPr>
          <p:cNvPr id="1895" name="Google Shape;1895;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896" name="Google Shape;1896;p17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1" name="Shape 1901"/>
        <p:cNvGrpSpPr/>
        <p:nvPr/>
      </p:nvGrpSpPr>
      <p:grpSpPr>
        <a:xfrm>
          <a:off x="0" y="0"/>
          <a:ext cx="0" cy="0"/>
          <a:chOff x="0" y="0"/>
          <a:chExt cx="0" cy="0"/>
        </a:xfrm>
      </p:grpSpPr>
      <p:sp>
        <p:nvSpPr>
          <p:cNvPr id="1902" name="Google Shape;1902;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03" name="Google Shape;1903;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05" name="Google Shape;1905;p17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906" name="Google Shape;1906;p17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/healthz/ready,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must NOT fail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/healthz/live,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907" name="Google Shape;1907;p17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908" name="Google Shape;1908;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09" name="Google Shape;1909;p1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4" name="Shape 1914"/>
        <p:cNvGrpSpPr/>
        <p:nvPr/>
      </p:nvGrpSpPr>
      <p:grpSpPr>
        <a:xfrm>
          <a:off x="0" y="0"/>
          <a:ext cx="0" cy="0"/>
          <a:chOff x="0" y="0"/>
          <a:chExt cx="0" cy="0"/>
        </a:xfrm>
      </p:grpSpPr>
      <p:sp>
        <p:nvSpPr>
          <p:cNvPr id="1915" name="Google Shape;1915;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16" name="Google Shape;1916;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917" name="Google Shape;1917;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for free —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918" name="Google Shape;1918;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19" name="Google Shape;1919;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4" name="Shape 1924"/>
        <p:cNvGrpSpPr/>
        <p:nvPr/>
      </p:nvGrpSpPr>
      <p:grpSpPr>
        <a:xfrm>
          <a:off x="0" y="0"/>
          <a:ext cx="0" cy="0"/>
          <a:chOff x="0" y="0"/>
          <a:chExt cx="0" cy="0"/>
        </a:xfrm>
      </p:grpSpPr>
      <p:sp>
        <p:nvSpPr>
          <p:cNvPr id="1925" name="Google Shape;1925;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ASP.NET Core hosting — “BackgroundService / IHostedService” and “IHostApplicationLifetime” on learn.microsoft.com; HostOptions.ShutdownTimeout; MassTransit consumer Stop semantics; Kubernetes “Termination of Pods” documentation.</a:t>
            </a:r>
            <a:endParaRPr b="0" i="0" sz="1700" u="none" cap="none" strike="noStrike">
              <a:solidFill>
                <a:schemeClr val="dk1"/>
              </a:solidFill>
              <a:latin typeface="Calibri"/>
              <a:ea typeface="Calibri"/>
              <a:cs typeface="Calibri"/>
              <a:sym typeface="Calibri"/>
            </a:endParaRPr>
          </a:p>
        </p:txBody>
      </p:sp>
      <p:sp>
        <p:nvSpPr>
          <p:cNvPr id="1928" name="Google Shape;1928;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29" name="Google Shape;1929;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934" name="Shape 1934"/>
        <p:cNvGrpSpPr/>
        <p:nvPr/>
      </p:nvGrpSpPr>
      <p:grpSpPr>
        <a:xfrm>
          <a:off x="0" y="0"/>
          <a:ext cx="0" cy="0"/>
          <a:chOff x="0" y="0"/>
          <a:chExt cx="0" cy="0"/>
        </a:xfrm>
      </p:grpSpPr>
      <p:pic>
        <p:nvPicPr>
          <p:cNvPr descr="/home/claude/work/assets/rh-divider-bg.png" id="1935" name="Google Shape;1935;p17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936" name="Google Shape;1936;p17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937" name="Google Shape;1937;p17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938" name="Google Shape;1938;p17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939" name="Google Shape;1939;p17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4" name="Shape 1944"/>
        <p:cNvGrpSpPr/>
        <p:nvPr/>
      </p:nvGrpSpPr>
      <p:grpSpPr>
        <a:xfrm>
          <a:off x="0" y="0"/>
          <a:ext cx="0" cy="0"/>
          <a:chOff x="0" y="0"/>
          <a:chExt cx="0" cy="0"/>
        </a:xfrm>
      </p:grpSpPr>
      <p:sp>
        <p:nvSpPr>
          <p:cNvPr id="1945" name="Google Shape;1945;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6" name="Google Shape;1946;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947" name="Google Shape;1947;p17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kind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Internal traffic is where most L7 decisions actually happen.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YARP, MassTransit, NRules — plus a YAML or two.</a:t>
            </a:r>
            <a:endParaRPr b="0" i="0" sz="17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49" name="Google Shape;1949;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4" name="Shape 1954"/>
        <p:cNvGrpSpPr/>
        <p:nvPr/>
      </p:nvGrpSpPr>
      <p:grpSpPr>
        <a:xfrm>
          <a:off x="0" y="0"/>
          <a:ext cx="0" cy="0"/>
          <a:chOff x="0" y="0"/>
          <a:chExt cx="0" cy="0"/>
        </a:xfrm>
      </p:grpSpPr>
      <p:sp>
        <p:nvSpPr>
          <p:cNvPr id="1955" name="Google Shape;1955;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56" name="Google Shape;1956;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dn/53-appI-l4-vs-l7.png" id="1957" name="Google Shape;1957;p18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58" name="Google Shape;1958;p18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959" name="Google Shape;1959;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0" name="Google Shape;1960;p18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5" name="Shape 1965"/>
        <p:cNvGrpSpPr/>
        <p:nvPr/>
      </p:nvGrpSpPr>
      <p:grpSpPr>
        <a:xfrm>
          <a:off x="0" y="0"/>
          <a:ext cx="0" cy="0"/>
          <a:chOff x="0" y="0"/>
          <a:chExt cx="0" cy="0"/>
        </a:xfrm>
      </p:grpSpPr>
      <p:sp>
        <p:nvSpPr>
          <p:cNvPr id="1966" name="Google Shape;1966;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7" name="Google Shape;1967;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968" name="Google Shape;1968;p1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969" name="Google Shape;1969;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0" name="Google Shape;1970;p1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75" name="Shape 1975"/>
        <p:cNvGrpSpPr/>
        <p:nvPr/>
      </p:nvGrpSpPr>
      <p:grpSpPr>
        <a:xfrm>
          <a:off x="0" y="0"/>
          <a:ext cx="0" cy="0"/>
          <a:chOff x="0" y="0"/>
          <a:chExt cx="0" cy="0"/>
        </a:xfrm>
      </p:grpSpPr>
      <p:sp>
        <p:nvSpPr>
          <p:cNvPr id="1976" name="Google Shape;1976;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7" name="Google Shape;1977;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dn/54-appI-stack-sb.png" id="1978" name="Google Shape;1978;p182"/>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979" name="Google Shape;1979;p1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 each making a different kind of L7 decision.</a:t>
            </a:r>
            <a:endParaRPr b="0" i="0" sz="1200" u="none" cap="none" strike="noStrike">
              <a:solidFill>
                <a:schemeClr val="dk1"/>
              </a:solidFill>
              <a:latin typeface="Calibri"/>
              <a:ea typeface="Calibri"/>
              <a:cs typeface="Calibri"/>
              <a:sym typeface="Calibri"/>
            </a:endParaRPr>
          </a:p>
        </p:txBody>
      </p:sp>
      <p:sp>
        <p:nvSpPr>
          <p:cNvPr id="1980" name="Google Shape;1980;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1" name="Google Shape;1981;p1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6" name="Shape 1986"/>
        <p:cNvGrpSpPr/>
        <p:nvPr/>
      </p:nvGrpSpPr>
      <p:grpSpPr>
        <a:xfrm>
          <a:off x="0" y="0"/>
          <a:ext cx="0" cy="0"/>
          <a:chOff x="0" y="0"/>
          <a:chExt cx="0" cy="0"/>
        </a:xfrm>
      </p:grpSpPr>
      <p:sp>
        <p:nvSpPr>
          <p:cNvPr id="1987" name="Google Shape;1987;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8" name="Google Shape;1988;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journey</a:t>
            </a:r>
            <a:endParaRPr b="0" i="0" sz="3000" u="none" cap="none" strike="noStrike">
              <a:solidFill>
                <a:schemeClr val="dk1"/>
              </a:solidFill>
              <a:latin typeface="Calibri"/>
              <a:ea typeface="Calibri"/>
              <a:cs typeface="Calibri"/>
              <a:sym typeface="Calibri"/>
            </a:endParaRPr>
          </a:p>
        </p:txBody>
      </p:sp>
      <p:pic>
        <p:nvPicPr>
          <p:cNvPr descr="/home/claude/work/png-dn/55-appI-journey.png" id="1989" name="Google Shape;1989;p18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990" name="Google Shape;1990;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really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91" name="Google Shape;1991;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2" name="Google Shape;1992;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7" name="Shape 1997"/>
        <p:cNvGrpSpPr/>
        <p:nvPr/>
      </p:nvGrpSpPr>
      <p:grpSpPr>
        <a:xfrm>
          <a:off x="0" y="0"/>
          <a:ext cx="0" cy="0"/>
          <a:chOff x="0" y="0"/>
          <a:chExt cx="0" cy="0"/>
        </a:xfrm>
      </p:grpSpPr>
      <p:sp>
        <p:nvSpPr>
          <p:cNvPr id="1998" name="Google Shape;1998;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9" name="Google Shape;1999;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2000" name="Google Shape;2000;p18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YARP: opinionated API gateways with plugin ecosystems. YARP (Yet Another Reverse Proxy, MIT, from Microsoft) is the .NET-native one — a reverse proxy library you embed in an ASP.NET Core app for full code-level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MassTransit RoutingSlip + NRules: when the routing logic is a business rule, push it into the app — EIP-shaped pipeline + a rule engine.</a:t>
            </a:r>
            <a:endParaRPr b="0" i="0" sz="1700" u="none" cap="none" strike="noStrike">
              <a:solidFill>
                <a:schemeClr val="dk1"/>
              </a:solidFill>
              <a:latin typeface="Calibri"/>
              <a:ea typeface="Calibri"/>
              <a:cs typeface="Calibri"/>
              <a:sym typeface="Calibri"/>
            </a:endParaRPr>
          </a:p>
        </p:txBody>
      </p:sp>
      <p:sp>
        <p:nvSpPr>
          <p:cNvPr id="2001" name="Google Shape;2001;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2" name="Google Shape;2002;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7" name="Shape 2007"/>
        <p:cNvGrpSpPr/>
        <p:nvPr/>
      </p:nvGrpSpPr>
      <p:grpSpPr>
        <a:xfrm>
          <a:off x="0" y="0"/>
          <a:ext cx="0" cy="0"/>
          <a:chOff x="0" y="0"/>
          <a:chExt cx="0" cy="0"/>
        </a:xfrm>
      </p:grpSpPr>
      <p:sp>
        <p:nvSpPr>
          <p:cNvPr id="2008" name="Google Shape;2008;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9" name="Google Shape;2009;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2010" name="Google Shape;2010;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1" name="Google Shape;2011;p18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2012" name="Google Shape;2012;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t>
            </a:r>
            <a:r>
              <a:rPr b="0" i="0" lang="en-US" sz="1300" u="none" cap="none" strike="noStrike">
                <a:solidFill>
                  <a:srgbClr val="8FB98F"/>
                </a:solidFill>
                <a:latin typeface="Red Hat Mono"/>
                <a:ea typeface="Red Hat Mono"/>
                <a:cs typeface="Red Hat Mono"/>
                <a:sym typeface="Red Hat Mono"/>
              </a:rPr>
              <a:t># TLS termination here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2013" name="Google Shape;2013;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2014" name="Google Shape;2014;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15" name="Google Shape;2015;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0" name="Shape 2020"/>
        <p:cNvGrpSpPr/>
        <p:nvPr/>
      </p:nvGrpSpPr>
      <p:grpSpPr>
        <a:xfrm>
          <a:off x="0" y="0"/>
          <a:ext cx="0" cy="0"/>
          <a:chOff x="0" y="0"/>
          <a:chExt cx="0" cy="0"/>
        </a:xfrm>
      </p:grpSpPr>
      <p:sp>
        <p:nvSpPr>
          <p:cNvPr id="2021" name="Google Shape;2021;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2" name="Google Shape;2022;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2023" name="Google Shape;2023;p18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4" name="Google Shape;2024;p18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2025" name="Google Shape;2025;p18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map directive — declarative routing table on a header value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map $http_x_app_version $upstream_pool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   order_v1;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      order_v2;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"v2beta"  order_v2_beta;</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server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listen 443 ssl http2;</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     /etc/nginx/certs/tls.crt;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ssl_certificate_key /etc/nginx/certs/tls.key;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/api/orders/ {                       </a:t>
            </a:r>
            <a:r>
              <a:rPr b="0" i="0" lang="en-US" sz="1300" u="none" cap="none" strike="noStrike">
                <a:solidFill>
                  <a:srgbClr val="8FB98F"/>
                </a:solidFill>
                <a:latin typeface="Red Hat Mono"/>
                <a:ea typeface="Red Hat Mono"/>
                <a:cs typeface="Red Hat Mono"/>
                <a:sym typeface="Red Hat Mono"/>
              </a:rPr>
              <a:t># path-based routing</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proxy_pass http://$upstream_pool;         </a:t>
            </a:r>
            <a:r>
              <a:rPr b="0" i="0" lang="en-US" sz="1300" u="none" cap="none" strike="noStrike">
                <a:solidFill>
                  <a:srgbClr val="8FB98F"/>
                </a:solidFill>
                <a:latin typeface="Red Hat Mono"/>
                <a:ea typeface="Red Hat Mono"/>
                <a:cs typeface="Red Hat Mono"/>
                <a:sym typeface="Red Hat Mono"/>
              </a:rPr>
              <a:t># picked by the map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proxy_set_header X-Request-Id $request_id;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location ~ ^/api/grpc/ {                       </a:t>
            </a:r>
            <a:r>
              <a:rPr b="0" i="0" lang="en-US" sz="1300" u="none" cap="none" strike="noStrike">
                <a:solidFill>
                  <a:srgbClr val="8FB98F"/>
                </a:solidFill>
                <a:latin typeface="Red Hat Mono"/>
                <a:ea typeface="Red Hat Mono"/>
                <a:cs typeface="Red Hat Mono"/>
                <a:sym typeface="Red Hat Mono"/>
              </a:rPr>
              <a:t># gRPC traffic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grpc_pass grpc://orders_grpc_pool;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t>
            </a:r>
            <a:endParaRPr b="0" i="0" sz="1300" u="none" cap="none" strike="noStrike">
              <a:solidFill>
                <a:schemeClr val="dk1"/>
              </a:solidFill>
              <a:latin typeface="Calibri"/>
              <a:ea typeface="Calibri"/>
              <a:cs typeface="Calibri"/>
              <a:sym typeface="Calibri"/>
            </a:endParaRPr>
          </a:p>
        </p:txBody>
      </p:sp>
      <p:sp>
        <p:nvSpPr>
          <p:cNvPr id="2026" name="Google Shape;2026;p18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2027" name="Google Shape;2027;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28" name="Google Shape;2028;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3" name="Shape 2033"/>
        <p:cNvGrpSpPr/>
        <p:nvPr/>
      </p:nvGrpSpPr>
      <p:grpSpPr>
        <a:xfrm>
          <a:off x="0" y="0"/>
          <a:ext cx="0" cy="0"/>
          <a:chOff x="0" y="0"/>
          <a:chExt cx="0" cy="0"/>
        </a:xfrm>
      </p:grpSpPr>
      <p:sp>
        <p:nvSpPr>
          <p:cNvPr id="2034" name="Google Shape;2034;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5" name="Google Shape;2035;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2036" name="Google Shape;2036;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7" name="Google Shape;2037;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2038" name="Google Shape;2038;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1" name="Google Shape;2041;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6" name="Shape 2046"/>
        <p:cNvGrpSpPr/>
        <p:nvPr/>
      </p:nvGrpSpPr>
      <p:grpSpPr>
        <a:xfrm>
          <a:off x="0" y="0"/>
          <a:ext cx="0" cy="0"/>
          <a:chOff x="0" y="0"/>
          <a:chExt cx="0" cy="0"/>
        </a:xfrm>
      </p:grpSpPr>
      <p:sp>
        <p:nvSpPr>
          <p:cNvPr id="2047" name="Google Shape;2047;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48" name="Google Shape;2048;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2049" name="Google Shape;2049;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 don't terminate —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2050" name="Google Shape;2050;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1" name="Google Shape;2051;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6" name="Shape 2056"/>
        <p:cNvGrpSpPr/>
        <p:nvPr/>
      </p:nvGrpSpPr>
      <p:grpSpPr>
        <a:xfrm>
          <a:off x="0" y="0"/>
          <a:ext cx="0" cy="0"/>
          <a:chOff x="0" y="0"/>
          <a:chExt cx="0" cy="0"/>
        </a:xfrm>
      </p:grpSpPr>
      <p:sp>
        <p:nvSpPr>
          <p:cNvPr id="2057" name="Google Shape;2057;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8" name="Google Shape;2058;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dn/56-appI-sticky.png" id="2059" name="Google Shape;2059;p18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060" name="Google Shape;2060;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2061" name="Google Shape;2061;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2" name="Google Shape;2062;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7" name="Shape 2067"/>
        <p:cNvGrpSpPr/>
        <p:nvPr/>
      </p:nvGrpSpPr>
      <p:grpSpPr>
        <a:xfrm>
          <a:off x="0" y="0"/>
          <a:ext cx="0" cy="0"/>
          <a:chOff x="0" y="0"/>
          <a:chExt cx="0" cy="0"/>
        </a:xfrm>
      </p:grpSpPr>
      <p:sp>
        <p:nvSpPr>
          <p:cNvPr id="2068" name="Google Shape;2068;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9" name="Google Shape;2069;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2070" name="Google Shape;2070;p1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actually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 it's robust to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truly disposable.</a:t>
            </a:r>
            <a:endParaRPr b="0" i="0" sz="1700" u="none" cap="none" strike="noStrike">
              <a:solidFill>
                <a:schemeClr val="dk1"/>
              </a:solidFill>
              <a:latin typeface="Calibri"/>
              <a:ea typeface="Calibri"/>
              <a:cs typeface="Calibri"/>
              <a:sym typeface="Calibri"/>
            </a:endParaRPr>
          </a:p>
        </p:txBody>
      </p:sp>
      <p:sp>
        <p:nvSpPr>
          <p:cNvPr id="2071" name="Google Shape;2071;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2" name="Google Shape;2072;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7" name="Shape 2077"/>
        <p:cNvGrpSpPr/>
        <p:nvPr/>
      </p:nvGrpSpPr>
      <p:grpSpPr>
        <a:xfrm>
          <a:off x="0" y="0"/>
          <a:ext cx="0" cy="0"/>
          <a:chOff x="0" y="0"/>
          <a:chExt cx="0" cy="0"/>
        </a:xfrm>
      </p:grpSpPr>
      <p:sp>
        <p:nvSpPr>
          <p:cNvPr id="2078" name="Google Shape;2078;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9" name="Google Shape;2079;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dn/57-appI-steering.png" id="2080" name="Google Shape;2080;p191"/>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081" name="Google Shape;2081;p19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2082" name="Google Shape;2082;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83" name="Google Shape;2083;p19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8" name="Shape 2088"/>
        <p:cNvGrpSpPr/>
        <p:nvPr/>
      </p:nvGrpSpPr>
      <p:grpSpPr>
        <a:xfrm>
          <a:off x="0" y="0"/>
          <a:ext cx="0" cy="0"/>
          <a:chOff x="0" y="0"/>
          <a:chExt cx="0" cy="0"/>
        </a:xfrm>
      </p:grpSpPr>
      <p:sp>
        <p:nvSpPr>
          <p:cNvPr id="2089" name="Google Shape;2089;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0" name="Google Shape;2090;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91" name="Google Shape;2091;p19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2" name="Google Shape;2092;p19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93" name="Google Shape;2093;p19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route: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90                              </a:t>
            </a:r>
            <a:r>
              <a:rPr b="0" i="0" lang="en-US" sz="1100" u="none" cap="none" strike="noStrike">
                <a:solidFill>
                  <a:srgbClr val="8FB98F"/>
                </a:solidFill>
                <a:latin typeface="Red Hat Mono"/>
                <a:ea typeface="Red Hat Mono"/>
                <a:cs typeface="Red Hat Mono"/>
                <a:sym typeface="Red Hat Mono"/>
              </a:rPr>
              <a:t># 90% on the stable version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destination: { host: orders, subset: v2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weight: 10                              </a:t>
            </a:r>
            <a:r>
              <a:rPr b="0" i="0" lang="en-US" sz="1100" u="none" cap="none" strike="noStrike">
                <a:solidFill>
                  <a:srgbClr val="8FB98F"/>
                </a:solidFill>
                <a:latin typeface="Red Hat Mono"/>
                <a:ea typeface="Red Hat Mono"/>
                <a:cs typeface="Red Hat Mono"/>
                <a:sym typeface="Red Hat Mono"/>
              </a:rPr>
              <a:t># 10% on the canary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DestinationRule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subsets: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v1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labels: { version: v2 }</a:t>
            </a:r>
            <a:endParaRPr b="0" i="0" sz="1100" u="none" cap="none" strike="noStrike">
              <a:solidFill>
                <a:schemeClr val="dk1"/>
              </a:solidFill>
              <a:latin typeface="Calibri"/>
              <a:ea typeface="Calibri"/>
              <a:cs typeface="Calibri"/>
              <a:sym typeface="Calibri"/>
            </a:endParaRPr>
          </a:p>
        </p:txBody>
      </p:sp>
      <p:sp>
        <p:nvSpPr>
          <p:cNvPr id="2094" name="Google Shape;2094;p19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95" name="Google Shape;2095;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096" name="Google Shape;2096;p19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1" name="Shape 2101"/>
        <p:cNvGrpSpPr/>
        <p:nvPr/>
      </p:nvGrpSpPr>
      <p:grpSpPr>
        <a:xfrm>
          <a:off x="0" y="0"/>
          <a:ext cx="0" cy="0"/>
          <a:chOff x="0" y="0"/>
          <a:chExt cx="0" cy="0"/>
        </a:xfrm>
      </p:grpSpPr>
      <p:sp>
        <p:nvSpPr>
          <p:cNvPr id="2102" name="Google Shape;2102;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03" name="Google Shape;2103;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104" name="Google Shape;2104;p19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5" name="Google Shape;2105;p19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106" name="Google Shape;2106;p19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107" name="Google Shape;2107;p19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108" name="Google Shape;2108;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09" name="Google Shape;2109;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4" name="Shape 2114"/>
        <p:cNvGrpSpPr/>
        <p:nvPr/>
      </p:nvGrpSpPr>
      <p:grpSpPr>
        <a:xfrm>
          <a:off x="0" y="0"/>
          <a:ext cx="0" cy="0"/>
          <a:chOff x="0" y="0"/>
          <a:chExt cx="0" cy="0"/>
        </a:xfrm>
      </p:grpSpPr>
      <p:sp>
        <p:nvSpPr>
          <p:cNvPr id="2115" name="Google Shape;2115;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6" name="Google Shape;2116;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117" name="Google Shape;2117;p1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Camel transforms).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118" name="Google Shape;2118;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19" name="Google Shape;2119;p1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4" name="Shape 2124"/>
        <p:cNvGrpSpPr/>
        <p:nvPr/>
      </p:nvGrpSpPr>
      <p:grpSpPr>
        <a:xfrm>
          <a:off x="0" y="0"/>
          <a:ext cx="0" cy="0"/>
          <a:chOff x="0" y="0"/>
          <a:chExt cx="0" cy="0"/>
        </a:xfrm>
      </p:grpSpPr>
      <p:sp>
        <p:nvSpPr>
          <p:cNvPr id="2125" name="Google Shape;2125;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6" name="Google Shape;2126;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127" name="Google Shape;2127;p19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8" name="Google Shape;2128;p19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129" name="Google Shape;2129;p19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x-request-id: "%REQ(x-request-id)%"      # propagate or create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x-tenant-id: "%DOWNSTREAM_PEER_CERT_V_END%"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130" name="Google Shape;2130;p19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correlation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2" name="Google Shape;2132;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7" name="Shape 2137"/>
        <p:cNvGrpSpPr/>
        <p:nvPr/>
      </p:nvGrpSpPr>
      <p:grpSpPr>
        <a:xfrm>
          <a:off x="0" y="0"/>
          <a:ext cx="0" cy="0"/>
          <a:chOff x="0" y="0"/>
          <a:chExt cx="0" cy="0"/>
        </a:xfrm>
      </p:grpSpPr>
      <p:sp>
        <p:nvSpPr>
          <p:cNvPr id="2138" name="Google Shape;2138;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9" name="Google Shape;2139;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140" name="Google Shape;2140;p1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doesn't scale — they're owned by domain experts, change often, and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(MassTransit RoutingSlip, Wolverine routing, a custom dispatcher) calls a rule engine (NRules)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2" name="Google Shape;2142;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47" name="Shape 2147"/>
        <p:cNvGrpSpPr/>
        <p:nvPr/>
      </p:nvGrpSpPr>
      <p:grpSpPr>
        <a:xfrm>
          <a:off x="0" y="0"/>
          <a:ext cx="0" cy="0"/>
          <a:chOff x="0" y="0"/>
          <a:chExt cx="0" cy="0"/>
        </a:xfrm>
      </p:grpSpPr>
      <p:sp>
        <p:nvSpPr>
          <p:cNvPr id="2148" name="Google Shape;2148;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9" name="Google Shape;2149;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 + MassTransit RoutingSlip + NRules: rule-based routing</a:t>
            </a:r>
            <a:endParaRPr b="0" i="0" sz="3000" u="none" cap="none" strike="noStrike">
              <a:solidFill>
                <a:schemeClr val="dk1"/>
              </a:solidFill>
              <a:latin typeface="Calibri"/>
              <a:ea typeface="Calibri"/>
              <a:cs typeface="Calibri"/>
              <a:sym typeface="Calibri"/>
            </a:endParaRPr>
          </a:p>
        </p:txBody>
      </p:sp>
      <p:pic>
        <p:nvPicPr>
          <p:cNvPr descr="/home/claude/work/png-dn/58-appI-masstransit-routingslip-dn.png" id="2150" name="Google Shape;2150;p19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2151" name="Google Shape;2151;p19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MassTransit owns the EIP plumbing; NRules owns the decision logic; the whole thing runs in-process behind the Istio mesh.</a:t>
            </a:r>
            <a:endParaRPr b="0" i="0" sz="1200" u="none" cap="none" strike="noStrike">
              <a:solidFill>
                <a:schemeClr val="dk1"/>
              </a:solidFill>
              <a:latin typeface="Calibri"/>
              <a:ea typeface="Calibri"/>
              <a:cs typeface="Calibri"/>
              <a:sym typeface="Calibri"/>
            </a:endParaRPr>
          </a:p>
        </p:txBody>
      </p:sp>
      <p:sp>
        <p:nvSpPr>
          <p:cNvPr id="2152" name="Google Shape;2152;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3" name="Google Shape;2153;p1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8" name="Shape 2158"/>
        <p:cNvGrpSpPr/>
        <p:nvPr/>
      </p:nvGrpSpPr>
      <p:grpSpPr>
        <a:xfrm>
          <a:off x="0" y="0"/>
          <a:ext cx="0" cy="0"/>
          <a:chOff x="0" y="0"/>
          <a:chExt cx="0" cy="0"/>
        </a:xfrm>
      </p:grpSpPr>
      <p:sp>
        <p:nvSpPr>
          <p:cNvPr id="2159" name="Google Shape;2159;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0" name="Google Shape;2160;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MassTransit RoutingSlip in .NET, calling NRules</a:t>
            </a:r>
            <a:endParaRPr b="0" i="0" sz="3000" u="none" cap="none" strike="noStrike">
              <a:solidFill>
                <a:schemeClr val="dk1"/>
              </a:solidFill>
              <a:latin typeface="Calibri"/>
              <a:ea typeface="Calibri"/>
              <a:cs typeface="Calibri"/>
              <a:sym typeface="Calibri"/>
            </a:endParaRPr>
          </a:p>
        </p:txBody>
      </p:sp>
      <p:sp>
        <p:nvSpPr>
          <p:cNvPr id="2161" name="Google Shape;2161;p19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2" name="Google Shape;2162;p19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.NET 10 + MassTransit + NRules</a:t>
            </a:r>
            <a:endParaRPr b="0" i="0" sz="1000" u="none" cap="none" strike="noStrike">
              <a:solidFill>
                <a:schemeClr val="dk1"/>
              </a:solidFill>
              <a:latin typeface="Calibri"/>
              <a:ea typeface="Calibri"/>
              <a:cs typeface="Calibri"/>
              <a:sym typeface="Calibri"/>
            </a:endParaRPr>
          </a:p>
        </p:txBody>
      </p:sp>
      <p:sp>
        <p:nvSpPr>
          <p:cNvPr id="2163" name="Google Shape;2163;p19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MassTransit (Apache 2.0) + NRules (MIT) — both NuGet, both open source.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Consumer enriches the message, evaluates rules, then builds a RoutingSlip.</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record OrderFact(string OrderId, long AmountCents, Customer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string? WhereTo { get; set; }                   // rules write this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OrderRouter(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HttpClient lookup,                                     // customer-svc</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ISession rulesSession) : IConsumer&lt;OrderInbound&gt;       // NRules 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 Consume(ConsumeContext&lt;OrderInbound&gt; ctx)</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1) enrich — fetch the customer for the decision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customer = await lookup.GetFromJsonAsync&lt;Customer&gt;(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$"http://customer-svc/lookup/{ctx.Message.OrderId}")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fact = new OrderFact(ctx.Message.OrderId,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ctx.Message.AmountCents, customer);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2) evaluate — NRules fires matching rules, sets fact.WhereTo</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rulesSession.Insert(fact);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rulesSession.Fire();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3) dispatch — build a RoutingSlip from WhereTo and execute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builder = new RoutingSlipBuilder(NewId.NextGuid());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foreach (var dest in (fact.WhereTo ?? "queue:orders.default").Split(','))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builder.AddActivity("Forward",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Uri($"queue:forward-to_{Sanitize(dest)}"),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Destination = dest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ctx.Execute(builder.Build());                 // MassTransit dispatches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Program.cs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builder.Services.AddSingleton&lt;ISessionFactory&gt;(_ =&gt; CreateNRulesFactory());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builder.Services.AddScoped&lt;ISession&gt;(p =&gt; p.GetRequiredService&lt;ISessionFactory&gt;().CreateSession());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builder.Services.AddMassTransit(x =&gt; { x.AddConsumer&lt;OrderRouter&gt;(); /* + UsingKafka */ });</a:t>
            </a:r>
            <a:endParaRPr b="0" i="0" sz="85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NRules evaluate → RoutingSlip dispatch — the canonical content-based-router EIP, with the decision externalised to NRules.</a:t>
            </a:r>
            <a:endParaRPr b="0" i="0" sz="13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6" name="Google Shape;2166;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1" name="Shape 2171"/>
        <p:cNvGrpSpPr/>
        <p:nvPr/>
      </p:nvGrpSpPr>
      <p:grpSpPr>
        <a:xfrm>
          <a:off x="0" y="0"/>
          <a:ext cx="0" cy="0"/>
          <a:chOff x="0" y="0"/>
          <a:chExt cx="0" cy="0"/>
        </a:xfrm>
      </p:grpSpPr>
      <p:sp>
        <p:nvSpPr>
          <p:cNvPr id="2172" name="Google Shape;2172;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3" name="Google Shape;2173;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An NRules rule: the decision, externalised</a:t>
            </a:r>
            <a:endParaRPr b="0" i="0" sz="30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5" name="Google Shape;2175;p19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NRules.Fluent  (or external NRules.Language DSL)</a:t>
            </a:r>
            <a:endParaRPr b="0" i="0" sz="1000" u="none" cap="none" strike="noStrike">
              <a:solidFill>
                <a:schemeClr val="dk1"/>
              </a:solidFill>
              <a:latin typeface="Calibri"/>
              <a:ea typeface="Calibri"/>
              <a:cs typeface="Calibri"/>
              <a:sym typeface="Calibri"/>
            </a:endParaRPr>
          </a:p>
        </p:txBody>
      </p:sp>
      <p:sp>
        <p:nvSpPr>
          <p:cNvPr id="2176" name="Google Shape;2176;p19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Rules live in their own NuGet/csproj — owned by domain experts via NRules.Language,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 by developers via this fluent C</a:t>
            </a:r>
            <a:r>
              <a:rPr b="0" i="0" lang="en-US" sz="900" u="none" cap="none" strike="noStrike">
                <a:solidFill>
                  <a:srgbClr val="8FB98F"/>
                </a:solidFill>
                <a:latin typeface="Red Hat Mono"/>
                <a:ea typeface="Red Hat Mono"/>
                <a:cs typeface="Red Hat Mono"/>
                <a:sym typeface="Red Hat Mono"/>
              </a:rPr>
              <a:t># form (NRules.Fluent). Same Rete engine either way.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[Name("High-value VIP orders go to the priority queue")]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HighValueVipRule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            // declare the fact binding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.Match&lt;OrderFact&gt;(() =&gt; 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f.AmountCents &gt; 50_000,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 =&gt; f.Customer.Tier == "VIP");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.Do(ctx =&gt; order.WhereTo = "kafka:orders.priority,http:notify-vip");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[Name("European orders go to the EU region")]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EuropeanOrderRule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f.Customer.Region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[Name("Default route")] [Priority(-100)]    // salience equivalent — fires last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DefaultRouteRule : Rule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override void Define()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OrderFact order = 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When().Match&lt;OrderFact&gt;(() =&gt; order, f =&gt; f.WhereTo ==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Then().Do(ctx =&gt; order.WhereTo = "kafka:orders.default");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177" name="Google Shape;2177;p19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rule is a small business statement: when X is true, then route to Y. Compile-time-checked, IDE-friendly, unit-testable — or move to NRules.Language for domain-expert ownership.</a:t>
            </a:r>
            <a:endParaRPr b="0" i="0" sz="1300" u="none" cap="none" strike="noStrike">
              <a:solidFill>
                <a:schemeClr val="dk1"/>
              </a:solidFill>
              <a:latin typeface="Calibri"/>
              <a:ea typeface="Calibri"/>
              <a:cs typeface="Calibri"/>
              <a:sym typeface="Calibri"/>
            </a:endParaRPr>
          </a:p>
        </p:txBody>
      </p:sp>
      <p:sp>
        <p:nvSpPr>
          <p:cNvPr id="2178" name="Google Shape;2178;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9" name="Google Shape;2179;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4" name="Shape 2184"/>
        <p:cNvGrpSpPr/>
        <p:nvPr/>
      </p:nvGrpSpPr>
      <p:grpSpPr>
        <a:xfrm>
          <a:off x="0" y="0"/>
          <a:ext cx="0" cy="0"/>
          <a:chOff x="0" y="0"/>
          <a:chExt cx="0" cy="0"/>
        </a:xfrm>
      </p:grpSpPr>
      <p:sp>
        <p:nvSpPr>
          <p:cNvPr id="2185" name="Google Shape;2185;p20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86" name="Google Shape;2186;p20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dn/59-appI-latency-sb.png" id="2187" name="Google Shape;2187;p20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188" name="Google Shape;2188;p20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89" name="Google Shape;2189;p20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0" name="Google Shape;2190;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5" name="Shape 2195"/>
        <p:cNvGrpSpPr/>
        <p:nvPr/>
      </p:nvGrpSpPr>
      <p:grpSpPr>
        <a:xfrm>
          <a:off x="0" y="0"/>
          <a:ext cx="0" cy="0"/>
          <a:chOff x="0" y="0"/>
          <a:chExt cx="0" cy="0"/>
        </a:xfrm>
      </p:grpSpPr>
      <p:sp>
        <p:nvSpPr>
          <p:cNvPr id="2196" name="Google Shape;2196;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98" name="Google Shape;2198;p20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truly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silently breaking elasticity —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99" name="Google Shape;2199;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0" name="Google Shape;2200;p20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5" name="Shape 2205"/>
        <p:cNvGrpSpPr/>
        <p:nvPr/>
      </p:nvGrpSpPr>
      <p:grpSpPr>
        <a:xfrm>
          <a:off x="0" y="0"/>
          <a:ext cx="0" cy="0"/>
          <a:chOff x="0" y="0"/>
          <a:chExt cx="0" cy="0"/>
        </a:xfrm>
      </p:grpSpPr>
      <p:sp>
        <p:nvSpPr>
          <p:cNvPr id="2206" name="Google Shape;2206;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07" name="Google Shape;2207;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dn/60-appI-east-west.png" id="2208" name="Google Shape;2208;p20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09" name="Google Shape;2209;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210" name="Google Shape;2210;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11" name="Google Shape;2211;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6" name="Shape 2216"/>
        <p:cNvGrpSpPr/>
        <p:nvPr/>
      </p:nvGrpSpPr>
      <p:grpSpPr>
        <a:xfrm>
          <a:off x="0" y="0"/>
          <a:ext cx="0" cy="0"/>
          <a:chOff x="0" y="0"/>
          <a:chExt cx="0" cy="0"/>
        </a:xfrm>
      </p:grpSpPr>
      <p:sp>
        <p:nvSpPr>
          <p:cNvPr id="2217" name="Google Shape;2217;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18" name="Google Shape;2218;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220" name="Google Shape;2220;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21" name="Google Shape;2221;p20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6" name="Shape 2226"/>
        <p:cNvGrpSpPr/>
        <p:nvPr/>
      </p:nvGrpSpPr>
      <p:grpSpPr>
        <a:xfrm>
          <a:off x="0" y="0"/>
          <a:ext cx="0" cy="0"/>
          <a:chOff x="0" y="0"/>
          <a:chExt cx="0" cy="0"/>
        </a:xfrm>
      </p:grpSpPr>
      <p:sp>
        <p:nvSpPr>
          <p:cNvPr id="2227" name="Google Shape;2227;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28" name="Google Shape;2228;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229" name="Google Shape;2229;p20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30" name="Google Shape;2230;p20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231" name="Google Shape;2231;p20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payments.acme.svc.cluster.local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trafficPolicy: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connectionPool: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 http2MaxRequests: 1000, maxRequestsPerConnection: 10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outlierDetection:                              </a:t>
            </a:r>
            <a:r>
              <a:rPr b="0" i="0" lang="en-US" sz="1000" u="none" cap="none" strike="noStrike">
                <a:solidFill>
                  <a:srgbClr val="8FB98F"/>
                </a:solidFill>
                <a:latin typeface="Red Hat Mono"/>
                <a:ea typeface="Red Hat Mono"/>
                <a:cs typeface="Red Hat Mono"/>
                <a:sym typeface="Red Hat Mono"/>
              </a:rPr>
              <a:t># eject bad pods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consecutive5xxErrors: 5</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interval: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baseEjectionTime: 30s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loadBalancer: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localityLbSetting: { enabled: true }         </a:t>
            </a:r>
            <a:r>
              <a:rPr b="0" i="0" lang="en-US" sz="1000" u="none" cap="none" strike="noStrike">
                <a:solidFill>
                  <a:srgbClr val="8FB98F"/>
                </a:solidFill>
                <a:latin typeface="Red Hat Mono"/>
                <a:ea typeface="Red Hat Mono"/>
                <a:cs typeface="Red Hat Mono"/>
                <a:sym typeface="Red Hat Mono"/>
              </a:rPr>
              <a:t># prefer same zone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v1, labels: { version: v1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name: v2, labels: { version: v2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payments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[payments.acme.svc.cluster.local]            </a:t>
            </a:r>
            <a:r>
              <a:rPr b="0" i="0" lang="en-US" sz="1000" u="none" cap="none" strike="noStrike">
                <a:solidFill>
                  <a:srgbClr val="8FB98F"/>
                </a:solidFill>
                <a:latin typeface="Red Hat Mono"/>
                <a:ea typeface="Red Hat Mono"/>
                <a:cs typeface="Red Hat Mono"/>
                <a:sym typeface="Red Hat Mono"/>
              </a:rPr>
              <a:t># internal DNS — east/west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v1 }, weight: 95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 destination: { host: payments, subset: v2 }, weight: 5 }</a:t>
            </a:r>
            <a:endParaRPr b="0" i="0" sz="1000" u="none" cap="none" strike="noStrike">
              <a:solidFill>
                <a:schemeClr val="dk1"/>
              </a:solidFill>
              <a:latin typeface="Calibri"/>
              <a:ea typeface="Calibri"/>
              <a:cs typeface="Calibri"/>
              <a:sym typeface="Calibri"/>
            </a:endParaRPr>
          </a:p>
        </p:txBody>
      </p:sp>
      <p:sp>
        <p:nvSpPr>
          <p:cNvPr id="2232" name="Google Shape;2232;p20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233" name="Google Shape;2233;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34" name="Google Shape;2234;p2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9" name="Shape 2239"/>
        <p:cNvGrpSpPr/>
        <p:nvPr/>
      </p:nvGrpSpPr>
      <p:grpSpPr>
        <a:xfrm>
          <a:off x="0" y="0"/>
          <a:ext cx="0" cy="0"/>
          <a:chOff x="0" y="0"/>
          <a:chExt cx="0" cy="0"/>
        </a:xfrm>
      </p:grpSpPr>
      <p:sp>
        <p:nvSpPr>
          <p:cNvPr id="2240" name="Google Shape;2240;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242" name="Google Shape;2242;p2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243" name="Google Shape;2243;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44" name="Google Shape;2244;p2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9" name="Shape 2249"/>
        <p:cNvGrpSpPr/>
        <p:nvPr/>
      </p:nvGrpSpPr>
      <p:grpSpPr>
        <a:xfrm>
          <a:off x="0" y="0"/>
          <a:ext cx="0" cy="0"/>
          <a:chOff x="0" y="0"/>
          <a:chExt cx="0" cy="0"/>
        </a:xfrm>
      </p:grpSpPr>
      <p:sp>
        <p:nvSpPr>
          <p:cNvPr id="2250" name="Google Shape;2250;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51" name="Google Shape;2251;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(MassTransit RoutingSlip + NRules):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253" name="Google Shape;2253;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54" name="Google Shape;2254;p20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9" name="Shape 2259"/>
        <p:cNvGrpSpPr/>
        <p:nvPr/>
      </p:nvGrpSpPr>
      <p:grpSpPr>
        <a:xfrm>
          <a:off x="0" y="0"/>
          <a:ext cx="0" cy="0"/>
          <a:chOff x="0" y="0"/>
          <a:chExt cx="0" cy="0"/>
        </a:xfrm>
      </p:grpSpPr>
      <p:sp>
        <p:nvSpPr>
          <p:cNvPr id="2260" name="Google Shape;2260;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261" name="Google Shape;2261;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262" name="Google Shape;2262;p20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MassTransit documentation (RoutingSlip activities + receive endpoints); NRules documentation (Fluent API + NRules.Language + NRules.Testing); YARP docs for the reverse-proxy library. For DMN specifically, Camunda DMN engine docs — run as a separate service called over REST when you genuinely need decision tables.</a:t>
            </a:r>
            <a:endParaRPr b="0" i="0" sz="17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269" name="Shape 2269"/>
        <p:cNvGrpSpPr/>
        <p:nvPr/>
      </p:nvGrpSpPr>
      <p:grpSpPr>
        <a:xfrm>
          <a:off x="0" y="0"/>
          <a:ext cx="0" cy="0"/>
          <a:chOff x="0" y="0"/>
          <a:chExt cx="0" cy="0"/>
        </a:xfrm>
      </p:grpSpPr>
      <p:pic>
        <p:nvPicPr>
          <p:cNvPr descr="/home/claude/work/assets/rh-divider-bg.png" id="2270" name="Google Shape;2270;p20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271" name="Google Shape;2271;p20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J</a:t>
            </a:r>
            <a:endParaRPr b="0" i="0" sz="2200" u="none" cap="none" strike="noStrike">
              <a:solidFill>
                <a:schemeClr val="dk1"/>
              </a:solidFill>
              <a:latin typeface="Calibri"/>
              <a:ea typeface="Calibri"/>
              <a:cs typeface="Calibri"/>
              <a:sym typeface="Calibri"/>
            </a:endParaRPr>
          </a:p>
        </p:txBody>
      </p:sp>
      <p:sp>
        <p:nvSpPr>
          <p:cNvPr id="2272" name="Google Shape;2272;p20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J · .NET 10 Toolkit &amp; Migration Reference</a:t>
            </a:r>
            <a:endParaRPr b="0" i="0" sz="4000" u="none" cap="none" strike="noStrike">
              <a:solidFill>
                <a:schemeClr val="dk1"/>
              </a:solidFill>
              <a:latin typeface="Calibri"/>
              <a:ea typeface="Calibri"/>
              <a:cs typeface="Calibri"/>
              <a:sym typeface="Calibri"/>
            </a:endParaRPr>
          </a:p>
        </p:txBody>
      </p:sp>
      <p:sp>
        <p:nvSpPr>
          <p:cNvPr id="2273" name="Google Shape;2273;p20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Pinned stack, expanded migration table, honest gaps.</a:t>
            </a:r>
            <a:endParaRPr b="0" i="0" sz="1500" u="none" cap="none" strike="noStrike">
              <a:solidFill>
                <a:schemeClr val="dk1"/>
              </a:solidFill>
              <a:latin typeface="Calibri"/>
              <a:ea typeface="Calibri"/>
              <a:cs typeface="Calibri"/>
              <a:sym typeface="Calibri"/>
            </a:endParaRPr>
          </a:p>
        </p:txBody>
      </p:sp>
      <p:pic>
        <p:nvPicPr>
          <p:cNvPr descr="/home/claude/work/assets/rh-logo-white.png" id="2274" name="Google Shape;2274;p20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9" name="Shape 2279"/>
        <p:cNvGrpSpPr/>
        <p:nvPr/>
      </p:nvGrpSpPr>
      <p:grpSpPr>
        <a:xfrm>
          <a:off x="0" y="0"/>
          <a:ext cx="0" cy="0"/>
          <a:chOff x="0" y="0"/>
          <a:chExt cx="0" cy="0"/>
        </a:xfrm>
      </p:grpSpPr>
      <p:sp>
        <p:nvSpPr>
          <p:cNvPr id="2280" name="Google Shape;2280;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81" name="Google Shape;2281;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.NET 10 toolkit</a:t>
            </a:r>
            <a:endParaRPr b="0" i="0" sz="3000" u="none" cap="none" strike="noStrike">
              <a:solidFill>
                <a:schemeClr val="dk1"/>
              </a:solidFill>
              <a:latin typeface="Calibri"/>
              <a:ea typeface="Calibri"/>
              <a:cs typeface="Calibri"/>
              <a:sym typeface="Calibri"/>
            </a:endParaRPr>
          </a:p>
        </p:txBody>
      </p:sp>
      <p:pic>
        <p:nvPicPr>
          <p:cNvPr descr="/home/claude/work/png-dn/70-appJ-pinned-libraries-dn.png" id="2282" name="Google Shape;2282;p209"/>
          <p:cNvPicPr preferRelativeResize="0"/>
          <p:nvPr/>
        </p:nvPicPr>
        <p:blipFill rotWithShape="1">
          <a:blip r:embed="rId3">
            <a:alphaModFix/>
          </a:blip>
          <a:srcRect b="0" l="0" r="0" t="0"/>
          <a:stretch/>
        </p:blipFill>
        <p:spPr>
          <a:xfrm>
            <a:off x="2384950" y="1600200"/>
            <a:ext cx="7421793" cy="4526279"/>
          </a:xfrm>
          <a:prstGeom prst="rect">
            <a:avLst/>
          </a:prstGeom>
          <a:noFill/>
          <a:ln>
            <a:noFill/>
          </a:ln>
        </p:spPr>
      </p:pic>
      <p:sp>
        <p:nvSpPr>
          <p:cNvPr id="2283" name="Google Shape;2283;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library in your csproj: purpose, license, NuGet package. All MIT or Apache 2.0; no cloud-vendor lock-in.</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5" name="Google Shape;2285;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0" name="Shape 2290"/>
        <p:cNvGrpSpPr/>
        <p:nvPr/>
      </p:nvGrpSpPr>
      <p:grpSpPr>
        <a:xfrm>
          <a:off x="0" y="0"/>
          <a:ext cx="0" cy="0"/>
          <a:chOff x="0" y="0"/>
          <a:chExt cx="0" cy="0"/>
        </a:xfrm>
      </p:grpSpPr>
      <p:sp>
        <p:nvSpPr>
          <p:cNvPr id="2291" name="Google Shape;2291;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TOOLKIT</a:t>
            </a:r>
            <a:endParaRPr b="0" i="0" sz="1200" u="none" cap="none" strike="noStrike">
              <a:solidFill>
                <a:schemeClr val="dk1"/>
              </a:solidFill>
              <a:latin typeface="Calibri"/>
              <a:ea typeface="Calibri"/>
              <a:cs typeface="Calibri"/>
              <a:sym typeface="Calibri"/>
            </a:endParaRPr>
          </a:p>
        </p:txBody>
      </p:sp>
      <p:sp>
        <p:nvSpPr>
          <p:cNvPr id="2292" name="Google Shape;2292;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pinned cloud-native platform stack</a:t>
            </a:r>
            <a:endParaRPr b="0" i="0" sz="3000" u="none" cap="none" strike="noStrike">
              <a:solidFill>
                <a:schemeClr val="dk1"/>
              </a:solidFill>
              <a:latin typeface="Calibri"/>
              <a:ea typeface="Calibri"/>
              <a:cs typeface="Calibri"/>
              <a:sym typeface="Calibri"/>
            </a:endParaRPr>
          </a:p>
        </p:txBody>
      </p:sp>
      <p:pic>
        <p:nvPicPr>
          <p:cNvPr descr="/home/claude/work/png-dn/71-appJ-pinned-platform-dn.png" id="2293" name="Google Shape;2293;p21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2294" name="Google Shape;2294;p2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cluster-side OSS components your .NET Pods rely on — standard CNCF-friendly stack.</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296" name="Google Shape;2296;p2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1" name="Shape 2301"/>
        <p:cNvGrpSpPr/>
        <p:nvPr/>
      </p:nvGrpSpPr>
      <p:grpSpPr>
        <a:xfrm>
          <a:off x="0" y="0"/>
          <a:ext cx="0" cy="0"/>
          <a:chOff x="0" y="0"/>
          <a:chExt cx="0" cy="0"/>
        </a:xfrm>
      </p:grpSpPr>
      <p:sp>
        <p:nvSpPr>
          <p:cNvPr id="2302" name="Google Shape;2302;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MIGRATION</a:t>
            </a:r>
            <a:endParaRPr b="0" i="0" sz="1200" u="none" cap="none" strike="noStrike">
              <a:solidFill>
                <a:schemeClr val="dk1"/>
              </a:solidFill>
              <a:latin typeface="Calibri"/>
              <a:ea typeface="Calibri"/>
              <a:cs typeface="Calibri"/>
              <a:sym typeface="Calibri"/>
            </a:endParaRPr>
          </a:p>
        </p:txBody>
      </p:sp>
      <p:sp>
        <p:nvSpPr>
          <p:cNvPr id="2303" name="Google Shape;2303;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From Windows / .NET 4.x to Kubernetes / .NET 10</a:t>
            </a:r>
            <a:endParaRPr b="0" i="0" sz="3000" u="none" cap="none" strike="noStrike">
              <a:solidFill>
                <a:schemeClr val="dk1"/>
              </a:solidFill>
              <a:latin typeface="Calibri"/>
              <a:ea typeface="Calibri"/>
              <a:cs typeface="Calibri"/>
              <a:sym typeface="Calibri"/>
            </a:endParaRPr>
          </a:p>
        </p:txBody>
      </p:sp>
      <p:pic>
        <p:nvPicPr>
          <p:cNvPr descr="/home/claude/work/png-dn/72-appJ-migration-reference-dn.png" id="2304" name="Google Shape;2304;p211"/>
          <p:cNvPicPr preferRelativeResize="0"/>
          <p:nvPr/>
        </p:nvPicPr>
        <p:blipFill rotWithShape="1">
          <a:blip r:embed="rId3">
            <a:alphaModFix/>
          </a:blip>
          <a:srcRect b="0" l="0" r="0" t="0"/>
          <a:stretch/>
        </p:blipFill>
        <p:spPr>
          <a:xfrm>
            <a:off x="2838707" y="1600200"/>
            <a:ext cx="6514284" cy="4526278"/>
          </a:xfrm>
          <a:prstGeom prst="rect">
            <a:avLst/>
          </a:prstGeom>
          <a:noFill/>
          <a:ln>
            <a:noFill/>
          </a:ln>
        </p:spPr>
      </p:pic>
      <p:sp>
        <p:nvSpPr>
          <p:cNvPr id="2305" name="Google Shape;2305;p2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Concrete patterns, side by side, with a one-line rationale per row. Print this and keep it on your desk.</a:t>
            </a:r>
            <a:endParaRPr b="0" i="0" sz="1200" u="none" cap="none" strike="noStrike">
              <a:solidFill>
                <a:schemeClr val="dk1"/>
              </a:solidFill>
              <a:latin typeface="Calibri"/>
              <a:ea typeface="Calibri"/>
              <a:cs typeface="Calibri"/>
              <a:sym typeface="Calibri"/>
            </a:endParaRPr>
          </a:p>
        </p:txBody>
      </p:sp>
      <p:sp>
        <p:nvSpPr>
          <p:cNvPr id="2306" name="Google Shape;2306;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07" name="Google Shape;2307;p2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2" name="Shape 2312"/>
        <p:cNvGrpSpPr/>
        <p:nvPr/>
      </p:nvGrpSpPr>
      <p:grpSpPr>
        <a:xfrm>
          <a:off x="0" y="0"/>
          <a:ext cx="0" cy="0"/>
          <a:chOff x="0" y="0"/>
          <a:chExt cx="0" cy="0"/>
        </a:xfrm>
      </p:grpSpPr>
      <p:sp>
        <p:nvSpPr>
          <p:cNvPr id="2313" name="Google Shape;2313;p2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HONEST GAPS</a:t>
            </a:r>
            <a:endParaRPr b="0" i="0" sz="1200" u="none" cap="none" strike="noStrike">
              <a:solidFill>
                <a:schemeClr val="dk1"/>
              </a:solidFill>
              <a:latin typeface="Calibri"/>
              <a:ea typeface="Calibri"/>
              <a:cs typeface="Calibri"/>
              <a:sym typeface="Calibri"/>
            </a:endParaRPr>
          </a:p>
        </p:txBody>
      </p:sp>
      <p:sp>
        <p:nvSpPr>
          <p:cNvPr id="2314" name="Google Shape;2314;p2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.NET cloud-native story genuinely lacks</a:t>
            </a:r>
            <a:endParaRPr b="0" i="0" sz="3000" u="none" cap="none" strike="noStrike">
              <a:solidFill>
                <a:schemeClr val="dk1"/>
              </a:solidFill>
              <a:latin typeface="Calibri"/>
              <a:ea typeface="Calibri"/>
              <a:cs typeface="Calibri"/>
              <a:sym typeface="Calibri"/>
            </a:endParaRPr>
          </a:p>
        </p:txBody>
      </p:sp>
      <p:sp>
        <p:nvSpPr>
          <p:cNvPr id="2315" name="Google Shape;2315;p2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Native DMN runtime — .NET doesn't ship an open-source DMN (Decision Model and Notation) engine. If you need spreadsheet-style decision tables for non-developers, run Camunda or Kogito DMN as a separate service and call it over REST from your enrichment step. NRules covers the rule-engine slot but not the DMN UX.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Apache Camel ecosystem — nothing in .NET matches the breadth of Camel's 300+ component connectors. MassTransit's RoutingSlip covers EIP patterns well, but for integration with truly long-tail systems (HL7, AS2, EDI, mainframe connectors) you may still want a Camel sidecar in a JVM Pod — or commercial alternatives like Boomi / MuleSoft if open source isn't a hard constraint.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 processing — Streamiz.Kafka.Net is excellent but is one project (one maintainer, MIT) compared to Kafka Streams' larger contributor base. Flink remains the heavyweight option — typically as a separate JVM service if your stream workloads are central.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 complexity — Microsoft.Extensions.DependencyInjection is intentionally simple. For property injection, decorators, or advanced lifetime scopes, look at Autofac (MIT) or Lamar (MIT) — both drop-in replacements.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MediatR is no longer open source — it moved to a commercial license in late 2024. Wolverine (MIT) is the modern OSS equivalent and arguably better; consider it for new projects.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These are real gaps, not hidden traps — in each case there is either a workable .NET path, a polyglot path, or a commercial path. The .NET cloud-native story is solid for &gt;95% of cases; the remaining 5% is where you mix runtimes or accept a different trade-off.</a:t>
            </a:r>
            <a:endParaRPr b="0" i="0" sz="1700" u="none" cap="none" strike="noStrike">
              <a:solidFill>
                <a:schemeClr val="dk1"/>
              </a:solidFill>
              <a:latin typeface="Calibri"/>
              <a:ea typeface="Calibri"/>
              <a:cs typeface="Calibri"/>
              <a:sym typeface="Calibri"/>
            </a:endParaRPr>
          </a:p>
        </p:txBody>
      </p:sp>
      <p:sp>
        <p:nvSpPr>
          <p:cNvPr id="2316" name="Google Shape;2316;p2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17" name="Google Shape;2317;p2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2" name="Shape 2322"/>
        <p:cNvGrpSpPr/>
        <p:nvPr/>
      </p:nvGrpSpPr>
      <p:grpSpPr>
        <a:xfrm>
          <a:off x="0" y="0"/>
          <a:ext cx="0" cy="0"/>
          <a:chOff x="0" y="0"/>
          <a:chExt cx="0" cy="0"/>
        </a:xfrm>
      </p:grpSpPr>
      <p:sp>
        <p:nvSpPr>
          <p:cNvPr id="2323" name="Google Shape;2323;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J · RECIPE</a:t>
            </a:r>
            <a:endParaRPr b="0" i="0" sz="1200" u="none" cap="none" strike="noStrike">
              <a:solidFill>
                <a:schemeClr val="dk1"/>
              </a:solidFill>
              <a:latin typeface="Calibri"/>
              <a:ea typeface="Calibri"/>
              <a:cs typeface="Calibri"/>
              <a:sym typeface="Calibri"/>
            </a:endParaRPr>
          </a:p>
        </p:txBody>
      </p:sp>
      <p:sp>
        <p:nvSpPr>
          <p:cNvPr id="2324" name="Google Shape;2324;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five-line recipe for a new .NET 10 cloud-native service</a:t>
            </a:r>
            <a:endParaRPr b="0" i="0" sz="3000" u="none" cap="none" strike="noStrike">
              <a:solidFill>
                <a:schemeClr val="dk1"/>
              </a:solidFill>
              <a:latin typeface="Calibri"/>
              <a:ea typeface="Calibri"/>
              <a:cs typeface="Calibri"/>
              <a:sym typeface="Calibri"/>
            </a:endParaRPr>
          </a:p>
        </p:txBody>
      </p:sp>
      <p:sp>
        <p:nvSpPr>
          <p:cNvPr id="2325" name="Google Shape;2325;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 dotnet new web; add Microsoft.AspNetCore.OpenApi, AspNetCore.HealthChecks.NpgSql, OpenTelemetry.Extensions.Hosting. Map health checks at /healthz/live and /healthz/ready; expose ActivitySource-based telemetry from line 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2. Pick exactly the protocols you need: ASP.NET Core minimal APIs for REST at the edge, Grpc.AspNetCore for internal service-to-service, HotChocolate if (and only if) you genuinely need GraphQL aggregation. Don't surface all three by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3. For data: EF Core for the OLTP store, with the outbox table in the same DbContext as your aggregates. Add Debezium to Kafka via Strimzi. Add MassTransit only when you actually need bus abstraction (or use Confluent.Kafka directly for tighter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4. For state across calls: Temporal .NET SDK if the saga is durable, long, or cross-service; Stateless if it's small and in-process. Persist EVERY transition; never trust in-memory state to survive a Pod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5. Ship it on Kubernetes with KEDA scaling on lag (Kafka) or RPS (HTTP); behind Istio for mTLS and retries; with OpenTelemetry exporting to LGTM. Use Asp.Versioning for media-type evolution; never invent your own.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Six libraries get you 95% of the way: ASP.NET Core, EF Core, MassTransit, Temporalio.Temporal, OpenTelemetry, Polly. Add NRules / Streamiz / HotChocolate / SignalR per workload — only when the use case earns them.</a:t>
            </a:r>
            <a:endParaRPr b="0" i="0" sz="1700" u="none" cap="none" strike="noStrike">
              <a:solidFill>
                <a:schemeClr val="dk1"/>
              </a:solidFill>
              <a:latin typeface="Calibri"/>
              <a:ea typeface="Calibri"/>
              <a:cs typeface="Calibri"/>
              <a:sym typeface="Calibri"/>
            </a:endParaRPr>
          </a:p>
        </p:txBody>
      </p:sp>
      <p:sp>
        <p:nvSpPr>
          <p:cNvPr id="2326" name="Google Shape;2326;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27" name="Google Shape;2327;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32" name="Shape 2332"/>
        <p:cNvGrpSpPr/>
        <p:nvPr/>
      </p:nvGrpSpPr>
      <p:grpSpPr>
        <a:xfrm>
          <a:off x="0" y="0"/>
          <a:ext cx="0" cy="0"/>
          <a:chOff x="0" y="0"/>
          <a:chExt cx="0" cy="0"/>
        </a:xfrm>
      </p:grpSpPr>
      <p:pic>
        <p:nvPicPr>
          <p:cNvPr descr="/home/claude/work/assets/rh-divider-bg.png" id="2333" name="Google Shape;2333;p2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34" name="Google Shape;2334;p2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335" name="Google Shape;2335;p2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336" name="Google Shape;2336;p2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337" name="Google Shape;2337;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2" name="Shape 2342"/>
        <p:cNvGrpSpPr/>
        <p:nvPr/>
      </p:nvGrpSpPr>
      <p:grpSpPr>
        <a:xfrm>
          <a:off x="0" y="0"/>
          <a:ext cx="0" cy="0"/>
          <a:chOff x="0" y="0"/>
          <a:chExt cx="0" cy="0"/>
        </a:xfrm>
      </p:grpSpPr>
      <p:sp>
        <p:nvSpPr>
          <p:cNvPr id="2343" name="Google Shape;2343;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344" name="Google Shape;2344;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dn/80-appK-monolith-deployment.png" id="2345" name="Google Shape;2345;p21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6" name="Google Shape;2346;p2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347" name="Google Shape;2347;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48" name="Google Shape;2348;p2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3" name="Shape 2353"/>
        <p:cNvGrpSpPr/>
        <p:nvPr/>
      </p:nvGrpSpPr>
      <p:grpSpPr>
        <a:xfrm>
          <a:off x="0" y="0"/>
          <a:ext cx="0" cy="0"/>
          <a:chOff x="0" y="0"/>
          <a:chExt cx="0" cy="0"/>
        </a:xfrm>
      </p:grpSpPr>
      <p:sp>
        <p:nvSpPr>
          <p:cNvPr id="2354" name="Google Shape;2354;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355" name="Google Shape;2355;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dn/81-appK-modular-monolith.png" id="2356" name="Google Shape;2356;p2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357" name="Google Shape;2357;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358" name="Google Shape;2358;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59" name="Google Shape;2359;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4" name="Shape 2364"/>
        <p:cNvGrpSpPr/>
        <p:nvPr/>
      </p:nvGrpSpPr>
      <p:grpSpPr>
        <a:xfrm>
          <a:off x="0" y="0"/>
          <a:ext cx="0" cy="0"/>
          <a:chOff x="0" y="0"/>
          <a:chExt cx="0" cy="0"/>
        </a:xfrm>
      </p:grpSpPr>
      <p:sp>
        <p:nvSpPr>
          <p:cNvPr id="2365" name="Google Shape;2365;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366" name="Google Shape;2366;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dn/82-appK-modular-monolith-decomposed-db.png" id="2367" name="Google Shape;2367;p21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68" name="Google Shape;2368;p21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369" name="Google Shape;2369;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0" name="Google Shape;2370;p2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5" name="Shape 2375"/>
        <p:cNvGrpSpPr/>
        <p:nvPr/>
      </p:nvGrpSpPr>
      <p:grpSpPr>
        <a:xfrm>
          <a:off x="0" y="0"/>
          <a:ext cx="0" cy="0"/>
          <a:chOff x="0" y="0"/>
          <a:chExt cx="0" cy="0"/>
        </a:xfrm>
      </p:grpSpPr>
      <p:sp>
        <p:nvSpPr>
          <p:cNvPr id="2376" name="Google Shape;2376;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77" name="Google Shape;2377;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dn/83-appK-strangler-identify-move-redirect.png" id="2378" name="Google Shape;2378;p21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379" name="Google Shape;2379;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380" name="Google Shape;2380;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81" name="Google Shape;2381;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6" name="Shape 2386"/>
        <p:cNvGrpSpPr/>
        <p:nvPr/>
      </p:nvGrpSpPr>
      <p:grpSpPr>
        <a:xfrm>
          <a:off x="0" y="0"/>
          <a:ext cx="0" cy="0"/>
          <a:chOff x="0" y="0"/>
          <a:chExt cx="0" cy="0"/>
        </a:xfrm>
      </p:grpSpPr>
      <p:sp>
        <p:nvSpPr>
          <p:cNvPr id="2387" name="Google Shape;2387;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88" name="Google Shape;2388;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dn/84-appK-strangler-proxy.png" id="2389" name="Google Shape;2389;p21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90" name="Google Shape;2390;p21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391" name="Google Shape;2391;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392" name="Google Shape;2392;p21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7" name="Shape 2397"/>
        <p:cNvGrpSpPr/>
        <p:nvPr/>
      </p:nvGrpSpPr>
      <p:grpSpPr>
        <a:xfrm>
          <a:off x="0" y="0"/>
          <a:ext cx="0" cy="0"/>
          <a:chOff x="0" y="0"/>
          <a:chExt cx="0" cy="0"/>
        </a:xfrm>
      </p:grpSpPr>
      <p:sp>
        <p:nvSpPr>
          <p:cNvPr id="2398" name="Google Shape;2398;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399" name="Google Shape;2399;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dn/85-appK-strangler-proxy-redirection.png" id="2400" name="Google Shape;2400;p22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401" name="Google Shape;2401;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402" name="Google Shape;2402;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410" name="Google Shape;2410;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dn/86-appK-strangler-shared-database.png" id="2411" name="Google Shape;2411;p2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413" name="Google Shape;2413;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421" name="Google Shape;2421;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422" name="Google Shape;2422;p22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3" name="Google Shape;2423;p22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minimal API + IHttpClientFactory</a:t>
            </a:r>
            <a:endParaRPr b="0" i="0" sz="1000" u="none" cap="none" strike="noStrike">
              <a:solidFill>
                <a:schemeClr val="dk1"/>
              </a:solidFill>
              <a:latin typeface="Calibri"/>
              <a:ea typeface="Calibri"/>
              <a:cs typeface="Calibri"/>
              <a:sym typeface="Calibri"/>
            </a:endParaRPr>
          </a:p>
        </p:txBody>
      </p:sp>
      <p:sp>
        <p:nvSpPr>
          <p:cNvPr id="2424" name="Google Shape;2424;p22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ASP.NET Core minimal API + IHttpClientFactory — content-aware proxy that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reads the request body and forwards to the new service or the monolith.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In production this usually lives in a separate sidecar / YARP, but the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minimal API shape shows the pattern.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Program.cs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builder.Services.AddHttpClient("monolith", c =&gt; c.BaseAddress = new("http://monolith.svc:8080"));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   c =&gt; c.BaseAddress = new("http://orders.svc:8080"));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builder.Services.AddHttpClient("ordersEu", c =&gt; c.BaseAddress = new("http://orders-eu.svc:8080"));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app.MapPost("/orders", async (HttpContext ctx, IHttpClientFactory factory) =&gt;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body = await ctx.Request.ReadFromJsonAsync&lt;JsonObject&gt;()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throw new BadHttpRequestException("empty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decide by payload content, not URL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tenant = body["tenant"]?.GetValue&lt;string&gt;()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region = body["region"]?.GetValue&lt;string&gt;() ??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upstream = (tenant, region) switch</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("acme", _) =&gt; factory.CreateClient("orders"),    // new 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"EU")  =&gt; factory.CreateClient("ordersEu"),  // regional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_           =&gt; factory.CreateClient("monolith")   // default: legacy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response = await upstream.PostAsJsonAsync("/orders",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Results.Stream(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stream =&gt; await response.Content.CopyToAsync(stream),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response.Content.Headers.ContentType?.ToString());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425" name="Google Shape;2425;p22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 the body, decide by content (tenant / region / feature flag), forward via IHttpClientFactory named clients.</a:t>
            </a:r>
            <a:endParaRPr b="0" i="0" sz="1300" u="none" cap="none" strike="noStrike">
              <a:solidFill>
                <a:schemeClr val="dk1"/>
              </a:solidFill>
              <a:latin typeface="Calibri"/>
              <a:ea typeface="Calibri"/>
              <a:cs typeface="Calibri"/>
              <a:sym typeface="Calibri"/>
            </a:endParaRPr>
          </a:p>
        </p:txBody>
      </p:sp>
      <p:sp>
        <p:nvSpPr>
          <p:cNvPr id="2426" name="Google Shape;2426;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34" name="Google Shape;2434;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dn/88-appK-decorating-collaborator.png" id="2435" name="Google Shape;2435;p22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437" name="Google Shape;2437;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445" name="Google Shape;2445;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ASP.NET Core</a:t>
            </a:r>
            <a:endParaRPr b="0" i="0" sz="3000" u="none" cap="none" strike="noStrike">
              <a:solidFill>
                <a:schemeClr val="dk1"/>
              </a:solidFill>
              <a:latin typeface="Calibri"/>
              <a:ea typeface="Calibri"/>
              <a:cs typeface="Calibri"/>
              <a:sym typeface="Calibri"/>
            </a:endParaRPr>
          </a:p>
        </p:txBody>
      </p:sp>
      <p:sp>
        <p:nvSpPr>
          <p:cNvPr id="2446" name="Google Shape;2446;p2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47" name="Google Shape;2447;p2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 MassTransit + IHttpClientFactory</a:t>
            </a:r>
            <a:endParaRPr b="0" i="0" sz="1000" u="none" cap="none" strike="noStrike">
              <a:solidFill>
                <a:schemeClr val="dk1"/>
              </a:solidFill>
              <a:latin typeface="Calibri"/>
              <a:ea typeface="Calibri"/>
              <a:cs typeface="Calibri"/>
              <a:sym typeface="Calibri"/>
            </a:endParaRPr>
          </a:p>
        </p:txBody>
      </p:sp>
      <p:sp>
        <p:nvSpPr>
          <p:cNvPr id="2448" name="Google Shape;2448;p2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ASP.NET Core controller that wraps a legacy /orders API and adds: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(1) Redis cache via IDistributedCache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(2) Kafka event emission via MassTransit IPublishEndpoint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The legacy service is unchanged.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[ApiController, Route("orders")]</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public class OrdersDecorator(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IHttpClientFactory factory,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IDistributedCache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IPublishEndpoint   bus,            // MassTransit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ILogger&lt;OrdersDecorator&gt; log) : ControllerBase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private static readonly DistributedCacheEntryOptions TTL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new() { AbsoluteExpirationRelativeToNow = TimeSpan.FromSeconds(60)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[HttpGet("{id}")]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Get(string id,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key    = $"order:{id}";</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cached = await cache.GetStringAsync(key, ct);                  // 1. cache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if (cached is not null)</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Ok(JsonSerializer.Deserialize&lt;Order&gt;(cached));          //    hit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                      // 2. legacy fallback</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legacy.GetFromJsonAsync&lt;Order&gt;(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$"/orders/{id}",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 throw new KeyNotFoundException();</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cache.SetStringAsync(key, JsonSerializer.Serialize(order),   // 3. populate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TTL,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850"/>
              <a:buFont typeface="Calibri"/>
              <a:buNone/>
            </a:pPr>
            <a:r>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[HttpPost]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public async Task&lt;ActionResult&lt;Order&gt;&gt; Place(Order body, CancellationToken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legacy = factory.CreateClient("legacy");</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var order  = await legacy.PostAsJsonAsync("/orders", body, ct)     // 1. legacy first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.ContinueWith(t =&gt; t.Result.Content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.ReadFromJsonAsync&lt;Order&gt;(ct).Result, ct);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bus.Publish(new OrderPlaced(order!.Id, order.Total), ct);    // 2. emit event</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await cache.RemoveAsync($"order:{order.Id}", ct);                 // 3. invalidate</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return Ok(order);</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    }</a:t>
            </a:r>
            <a:endParaRPr b="0" i="0" sz="8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850"/>
              <a:buFont typeface="Red Hat Mono"/>
              <a:buNone/>
            </a:pPr>
            <a:r>
              <a:rPr b="0" i="0" lang="en-US" sz="850" u="none" cap="none" strike="noStrike">
                <a:solidFill>
                  <a:srgbClr val="E6E6E6"/>
                </a:solidFill>
                <a:latin typeface="Red Hat Mono"/>
                <a:ea typeface="Red Hat Mono"/>
                <a:cs typeface="Red Hat Mono"/>
                <a:sym typeface="Red Hat Mono"/>
              </a:rPr>
              <a:t>}</a:t>
            </a:r>
            <a:endParaRPr b="0" i="0" sz="850" u="none" cap="none" strike="noStrike">
              <a:solidFill>
                <a:schemeClr val="dk1"/>
              </a:solidFill>
              <a:latin typeface="Calibri"/>
              <a:ea typeface="Calibri"/>
              <a:cs typeface="Calibri"/>
              <a:sym typeface="Calibri"/>
            </a:endParaRPr>
          </a:p>
        </p:txBody>
      </p:sp>
      <p:sp>
        <p:nvSpPr>
          <p:cNvPr id="2449" name="Google Shape;2449;p2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450" name="Google Shape;2450;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458" name="Google Shape;2458;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459" name="Google Shape;2459;p22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with multi-project .NET solutions and ArchUnitNET enforcing module boundaries, the cheapest decomposition is often inside one ASP.NET Core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genuinely hard part; doing it with multiple AddDbContext&lt;T&gt; registrations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(YARP, nginx, or Istio)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EF Core migration coordination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powerful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460" name="Google Shape;2460;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61" name="Google Shape;2461;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6" name="Shape 2466"/>
        <p:cNvGrpSpPr/>
        <p:nvPr/>
      </p:nvGrpSpPr>
      <p:grpSpPr>
        <a:xfrm>
          <a:off x="0" y="0"/>
          <a:ext cx="0" cy="0"/>
          <a:chOff x="0" y="0"/>
          <a:chExt cx="0" cy="0"/>
        </a:xfrm>
      </p:grpSpPr>
      <p:pic>
        <p:nvPicPr>
          <p:cNvPr descr="/home/claude/work/assets/rh-divider-bg.png" id="2467" name="Google Shape;2467;p22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68" name="Google Shape;2468;p22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469" name="Google Shape;2469;p22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470" name="Google Shape;2470;p22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471" name="Google Shape;2471;p22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6" name="Shape 2476"/>
        <p:cNvGrpSpPr/>
        <p:nvPr/>
      </p:nvGrpSpPr>
      <p:grpSpPr>
        <a:xfrm>
          <a:off x="0" y="0"/>
          <a:ext cx="0" cy="0"/>
          <a:chOff x="0" y="0"/>
          <a:chExt cx="0" cy="0"/>
        </a:xfrm>
      </p:grpSpPr>
      <p:sp>
        <p:nvSpPr>
          <p:cNvPr id="2477" name="Google Shape;2477;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478" name="Google Shape;2478;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479" name="Google Shape;2479;p22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actually need.</a:t>
            </a:r>
            <a:endParaRPr b="0" i="0" sz="1700" u="none" cap="none" strike="noStrike">
              <a:solidFill>
                <a:schemeClr val="dk1"/>
              </a:solidFill>
              <a:latin typeface="Calibri"/>
              <a:ea typeface="Calibri"/>
              <a:cs typeface="Calibri"/>
              <a:sym typeface="Calibri"/>
            </a:endParaRPr>
          </a:p>
        </p:txBody>
      </p:sp>
      <p:sp>
        <p:nvSpPr>
          <p:cNvPr id="2480" name="Google Shape;2480;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1" name="Google Shape;2481;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6" name="Shape 2486"/>
        <p:cNvGrpSpPr/>
        <p:nvPr/>
      </p:nvGrpSpPr>
      <p:grpSpPr>
        <a:xfrm>
          <a:off x="0" y="0"/>
          <a:ext cx="0" cy="0"/>
          <a:chOff x="0" y="0"/>
          <a:chExt cx="0" cy="0"/>
        </a:xfrm>
      </p:grpSpPr>
      <p:sp>
        <p:nvSpPr>
          <p:cNvPr id="2487" name="Google Shape;2487;p2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88" name="Google Shape;2488;p2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dn/90-appL-cache-aside.png" id="2489" name="Google Shape;2489;p22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90" name="Google Shape;2490;p22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491" name="Google Shape;2491;p2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2" name="Google Shape;2492;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7" name="Shape 2497"/>
        <p:cNvGrpSpPr/>
        <p:nvPr/>
      </p:nvGrpSpPr>
      <p:grpSpPr>
        <a:xfrm>
          <a:off x="0" y="0"/>
          <a:ext cx="0" cy="0"/>
          <a:chOff x="0" y="0"/>
          <a:chExt cx="0" cy="0"/>
        </a:xfrm>
      </p:grpSpPr>
      <p:sp>
        <p:nvSpPr>
          <p:cNvPr id="2498" name="Google Shape;2498;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499" name="Google Shape;2499;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ASP.NET Core with Redis</a:t>
            </a:r>
            <a:endParaRPr b="0" i="0" sz="3000" u="none" cap="none" strike="noStrike">
              <a:solidFill>
                <a:schemeClr val="dk1"/>
              </a:solidFill>
              <a:latin typeface="Calibri"/>
              <a:ea typeface="Calibri"/>
              <a:cs typeface="Calibri"/>
              <a:sym typeface="Calibri"/>
            </a:endParaRPr>
          </a:p>
        </p:txBody>
      </p:sp>
      <p:sp>
        <p:nvSpPr>
          <p:cNvPr id="2500" name="Google Shape;2500;p22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01" name="Google Shape;2501;p22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02" name="Google Shape;2502;p22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ASP.NET Core + EF Core + IDistributedCache (Redis-backed).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Program.cs: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builder.Services.AddStackExchangeRedisCache(o =&gt; o.Configuration = "redis:6379");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builder.Services.AddDbContext&lt;ShopDb&gt;(o =&gt; o.UseNpgsql(...));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ILogger&lt;ProductsController&gt; log)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$"product:{id}";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              // 1. cache lookup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Ok(JsonSerializer.Deserialize&lt;Product&gt;(cached));    //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2. DB on miss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 3. populate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cache.RemoveAsync($"product:{id}", ct);                  // 4.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03" name="Google Shape;2503;p22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EF query and populate. Invalidate on write. Three operations; the rest is naming conventions.</a:t>
            </a:r>
            <a:endParaRPr b="0" i="0" sz="1300" u="none" cap="none" strike="noStrike">
              <a:solidFill>
                <a:schemeClr val="dk1"/>
              </a:solidFill>
              <a:latin typeface="Calibri"/>
              <a:ea typeface="Calibri"/>
              <a:cs typeface="Calibri"/>
              <a:sym typeface="Calibri"/>
            </a:endParaRPr>
          </a:p>
        </p:txBody>
      </p:sp>
      <p:sp>
        <p:nvSpPr>
          <p:cNvPr id="2504" name="Google Shape;250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05" name="Google Shape;250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12" name="Google Shape;251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dn/91-appL-read-through.png" id="2513" name="Google Shape;2513;p23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14" name="Google Shape;251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515" name="Google Shape;251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16" name="Google Shape;251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1" name="Shape 2521"/>
        <p:cNvGrpSpPr/>
        <p:nvPr/>
      </p:nvGrpSpPr>
      <p:grpSpPr>
        <a:xfrm>
          <a:off x="0" y="0"/>
          <a:ext cx="0" cy="0"/>
          <a:chOff x="0" y="0"/>
          <a:chExt cx="0" cy="0"/>
        </a:xfrm>
      </p:grpSpPr>
      <p:sp>
        <p:nvSpPr>
          <p:cNvPr id="2522" name="Google Shape;252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523" name="Google Shape;252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ASP.NET Core with FusionCache</a:t>
            </a:r>
            <a:endParaRPr b="0" i="0" sz="3000" u="none" cap="none" strike="noStrike">
              <a:solidFill>
                <a:schemeClr val="dk1"/>
              </a:solidFill>
              <a:latin typeface="Calibri"/>
              <a:ea typeface="Calibri"/>
              <a:cs typeface="Calibri"/>
              <a:sym typeface="Calibri"/>
            </a:endParaRPr>
          </a:p>
        </p:txBody>
      </p:sp>
      <p:sp>
        <p:nvSpPr>
          <p:cNvPr id="2524" name="Google Shape;2524;p23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5" name="Google Shape;2525;p23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FusionCache (MIT, open-source)</a:t>
            </a:r>
            <a:endParaRPr b="0" i="0" sz="1000" u="none" cap="none" strike="noStrike">
              <a:solidFill>
                <a:schemeClr val="dk1"/>
              </a:solidFill>
              <a:latin typeface="Calibri"/>
              <a:ea typeface="Calibri"/>
              <a:cs typeface="Calibri"/>
              <a:sym typeface="Calibri"/>
            </a:endParaRPr>
          </a:p>
        </p:txBody>
      </p:sp>
      <p:sp>
        <p:nvSpPr>
          <p:cNvPr id="2526" name="Google Shape;2526;p23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FusionCache: open-source (MIT), the modern .NET cache library with</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stampede protection, fail-safe, and L1+L2 (memory+Redis) layering.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builder.Services.AddFusionCache()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.WithSerializer(new FusionCacheSystemTextJsonSerializer())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.WithDistributedCache(sp =&gt; sp.GetRequiredService&lt;IDistributedCache&gt;())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.WithDefaultEntryOptions(o =&gt; o.Duration = TimeSpan.FromSeconds(60)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.SetFailSafe(true,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TimeSpan.FromMinutes(5)));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[ApiController, Route("products")]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ProductsController(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ShopDb db,</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IFusionCache cache) : ControllerBase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[HttpGet("{id}")]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Get(string id,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GetOrSetAsync IS read-through. Factory runs only on miss.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Built-in stampede protection: concurrent misses for the same key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invoke the factory ONCE; the rest await the result.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product = await cache.GetOrSetAsync&lt;Product&gt;(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$"product:{id}",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async token =&gt; await db.Products.FindAsync([id], token),     // loader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product is null ? NotFound() : Ok(product);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[HttpPut("{id}")]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async Task&lt;ActionResult&lt;Product&gt;&gt; Update(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string id, Product body, CancellationToken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var p = await db.Products.FindAsync([id], ct) ?? return NotFound();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p.Update(body);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db.SaveChangesAsync(ct);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Write the new value directly (write-through) OR remove (write-with-invalidate):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cache.RemoveAsync($"product:{id}", token: ct);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Ok(p);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p:txBody>
      </p:sp>
      <p:sp>
        <p:nvSpPr>
          <p:cNvPr id="2527" name="Google Shape;2527;p23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GetOrSetAsync IS read-through. Factory runs only on miss. Built-in stampede protection.</a:t>
            </a:r>
            <a:endParaRPr b="0" i="0" sz="1300" u="none" cap="none" strike="noStrike">
              <a:solidFill>
                <a:schemeClr val="dk1"/>
              </a:solidFill>
              <a:latin typeface="Calibri"/>
              <a:ea typeface="Calibri"/>
              <a:cs typeface="Calibri"/>
              <a:sym typeface="Calibri"/>
            </a:endParaRPr>
          </a:p>
        </p:txBody>
      </p:sp>
      <p:sp>
        <p:nvSpPr>
          <p:cNvPr id="2528" name="Google Shape;2528;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29" name="Google Shape;2529;p2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4" name="Shape 2534"/>
        <p:cNvGrpSpPr/>
        <p:nvPr/>
      </p:nvGrpSpPr>
      <p:grpSpPr>
        <a:xfrm>
          <a:off x="0" y="0"/>
          <a:ext cx="0" cy="0"/>
          <a:chOff x="0" y="0"/>
          <a:chExt cx="0" cy="0"/>
        </a:xfrm>
      </p:grpSpPr>
      <p:sp>
        <p:nvSpPr>
          <p:cNvPr id="2535" name="Google Shape;2535;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36" name="Google Shape;2536;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dn/92-appL-write-through.png" id="2537" name="Google Shape;2537;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8" name="Google Shape;2538;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539" name="Google Shape;2539;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0" name="Google Shape;2540;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5" name="Shape 2545"/>
        <p:cNvGrpSpPr/>
        <p:nvPr/>
      </p:nvGrpSpPr>
      <p:grpSpPr>
        <a:xfrm>
          <a:off x="0" y="0"/>
          <a:ext cx="0" cy="0"/>
          <a:chOff x="0" y="0"/>
          <a:chExt cx="0" cy="0"/>
        </a:xfrm>
      </p:grpSpPr>
      <p:sp>
        <p:nvSpPr>
          <p:cNvPr id="2546" name="Google Shape;2546;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547" name="Google Shape;2547;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ASP.NET Core</a:t>
            </a:r>
            <a:endParaRPr b="0" i="0" sz="3000" u="none" cap="none" strike="noStrike">
              <a:solidFill>
                <a:schemeClr val="dk1"/>
              </a:solidFill>
              <a:latin typeface="Calibri"/>
              <a:ea typeface="Calibri"/>
              <a:cs typeface="Calibri"/>
              <a:sym typeface="Calibri"/>
            </a:endParaRPr>
          </a:p>
        </p:txBody>
      </p:sp>
      <p:sp>
        <p:nvSpPr>
          <p:cNvPr id="2548" name="Google Shape;2548;p23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9" name="Google Shape;2549;p23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IDistributedCache  OR  + FusionCache</a:t>
            </a:r>
            <a:endParaRPr b="0" i="0" sz="1000" u="none" cap="none" strike="noStrike">
              <a:solidFill>
                <a:schemeClr val="dk1"/>
              </a:solidFill>
              <a:latin typeface="Calibri"/>
              <a:ea typeface="Calibri"/>
              <a:cs typeface="Calibri"/>
              <a:sym typeface="Calibri"/>
            </a:endParaRPr>
          </a:p>
        </p:txBody>
      </p:sp>
      <p:sp>
        <p:nvSpPr>
          <p:cNvPr id="2550" name="Google Shape;2550;p23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Two flavours: explicit IDistributedCache write, or FusionCache.SetAsync.</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static readonly DistributedCacheEntryOptions TTL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 AbsoluteExpirationRelativeToNow = TimeSpan.FromSeconds(60)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1. DB first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cache.SetStringAsync($"product:{id}",                     // 2. cache second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JsonSerializer.Serialize(p), TTL, ct);                      //    SET, not REMOVE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FusionCache flavour — SetAsync writes the value directly.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L1 (memory) and L2 (Redis) both get updated; backplane invalidates other Pods' L1.</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Route("products")]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ProductsFusionController(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IFusionCache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[HttpPut("{id}")]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Task&lt;ActionResult&lt;Product&gt;&gt; Update(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string id, Product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p = await db.Products.FindAsync([id], ct) ??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p.Update(body);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cache.SetAsync($"product:{id}", p, token: ct);            // write-through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51" name="Google Shape;2551;p23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(SET, not REMOVE). FusionCache.SetAsync handles L1+L2 + backplane.</a:t>
            </a:r>
            <a:endParaRPr b="0" i="0" sz="1300" u="none" cap="none" strike="noStrike">
              <a:solidFill>
                <a:schemeClr val="dk1"/>
              </a:solidFill>
              <a:latin typeface="Calibri"/>
              <a:ea typeface="Calibri"/>
              <a:cs typeface="Calibri"/>
              <a:sym typeface="Calibri"/>
            </a:endParaRPr>
          </a:p>
        </p:txBody>
      </p:sp>
      <p:sp>
        <p:nvSpPr>
          <p:cNvPr id="2552" name="Google Shape;2552;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3" name="Google Shape;2553;p23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8" name="Shape 2558"/>
        <p:cNvGrpSpPr/>
        <p:nvPr/>
      </p:nvGrpSpPr>
      <p:grpSpPr>
        <a:xfrm>
          <a:off x="0" y="0"/>
          <a:ext cx="0" cy="0"/>
          <a:chOff x="0" y="0"/>
          <a:chExt cx="0" cy="0"/>
        </a:xfrm>
      </p:grpSpPr>
      <p:sp>
        <p:nvSpPr>
          <p:cNvPr id="2559" name="Google Shape;2559;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60" name="Google Shape;2560;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dn/93-appL-write-around.png" id="2561" name="Google Shape;2561;p23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62" name="Google Shape;2562;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563" name="Google Shape;2563;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64" name="Google Shape;2564;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9" name="Shape 2569"/>
        <p:cNvGrpSpPr/>
        <p:nvPr/>
      </p:nvGrpSpPr>
      <p:grpSpPr>
        <a:xfrm>
          <a:off x="0" y="0"/>
          <a:ext cx="0" cy="0"/>
          <a:chOff x="0" y="0"/>
          <a:chExt cx="0" cy="0"/>
        </a:xfrm>
      </p:grpSpPr>
      <p:sp>
        <p:nvSpPr>
          <p:cNvPr id="2570" name="Google Shape;2570;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571" name="Google Shape;2571;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ASP.NET Core</a:t>
            </a:r>
            <a:endParaRPr b="0" i="0" sz="3000" u="none" cap="none" strike="noStrike">
              <a:solidFill>
                <a:schemeClr val="dk1"/>
              </a:solidFill>
              <a:latin typeface="Calibri"/>
              <a:ea typeface="Calibri"/>
              <a:cs typeface="Calibri"/>
              <a:sym typeface="Calibri"/>
            </a:endParaRPr>
          </a:p>
        </p:txBody>
      </p:sp>
      <p:sp>
        <p:nvSpPr>
          <p:cNvPr id="2572" name="Google Shape;2572;p23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3" name="Google Shape;2573;p23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EF Core + IDistributedCache</a:t>
            </a:r>
            <a:endParaRPr b="0" i="0" sz="1000" u="none" cap="none" strike="noStrike">
              <a:solidFill>
                <a:schemeClr val="dk1"/>
              </a:solidFill>
              <a:latin typeface="Calibri"/>
              <a:ea typeface="Calibri"/>
              <a:cs typeface="Calibri"/>
              <a:sym typeface="Calibri"/>
            </a:endParaRPr>
          </a:p>
        </p:txBody>
      </p:sp>
      <p:sp>
        <p:nvSpPr>
          <p:cNvPr id="2574" name="Google Shape;2574;p23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Common with append-heavy data: events, audit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Writes go straight to the DB.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Reads use cache-aside / FusionCache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[ApiController, Route("events")]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EventsController(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ShopDb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IDistributedCache cache) : ControllerBase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                       // DB only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deliberately NOT writing the cache — most events read ≤ 1 time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[HttpPost("with-invalidate")]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RecordInvalidate(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Event body,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db.Events.Add(body);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db.SaveChangesAsync(ct);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cache.RemoveAsync($"event:{body.Id}", ct);     // defensive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CreatedAtAction(nameof(Get), new { id = body.Id },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[HttpGet("{id}")]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public async Task&lt;ActionResult&lt;Event&gt;&gt; Get(string id, CancellationToken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key    = $"event:{id}";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cached = await cache.GetStringAsync(key,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is not null) return Ok(JsonSerializer.Deserialize&lt;Event&gt;(cached));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var e = await db.Events.FindAsync([id],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(e is null) return NotFound();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cache.SetStringAsync(key, JsonSerializer.Serialize(e),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DistributedCacheEntryOptions { AbsoluteExpirationRelativeToNow = TimeSpan.FromSeconds(60) }, 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575" name="Google Shape;2575;p23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first read populates. Avoids cache thrash from one-time writes.</a:t>
            </a:r>
            <a:endParaRPr b="0" i="0" sz="1300" u="none" cap="none" strike="noStrike">
              <a:solidFill>
                <a:schemeClr val="dk1"/>
              </a:solidFill>
              <a:latin typeface="Calibri"/>
              <a:ea typeface="Calibri"/>
              <a:cs typeface="Calibri"/>
              <a:sym typeface="Calibri"/>
            </a:endParaRPr>
          </a:p>
        </p:txBody>
      </p:sp>
      <p:sp>
        <p:nvSpPr>
          <p:cNvPr id="2576" name="Google Shape;2576;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77" name="Google Shape;2577;p23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2" name="Shape 2582"/>
        <p:cNvGrpSpPr/>
        <p:nvPr/>
      </p:nvGrpSpPr>
      <p:grpSpPr>
        <a:xfrm>
          <a:off x="0" y="0"/>
          <a:ext cx="0" cy="0"/>
          <a:chOff x="0" y="0"/>
          <a:chExt cx="0" cy="0"/>
        </a:xfrm>
      </p:grpSpPr>
      <p:sp>
        <p:nvSpPr>
          <p:cNvPr id="2583" name="Google Shape;2583;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84" name="Google Shape;2584;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dn/94-appL-write-back.png" id="2585" name="Google Shape;2585;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86" name="Google Shape;2586;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587" name="Google Shape;2587;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88" name="Google Shape;2588;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3" name="Shape 2593"/>
        <p:cNvGrpSpPr/>
        <p:nvPr/>
      </p:nvGrpSpPr>
      <p:grpSpPr>
        <a:xfrm>
          <a:off x="0" y="0"/>
          <a:ext cx="0" cy="0"/>
          <a:chOff x="0" y="0"/>
          <a:chExt cx="0" cy="0"/>
        </a:xfrm>
      </p:grpSpPr>
      <p:sp>
        <p:nvSpPr>
          <p:cNvPr id="2594" name="Google Shape;2594;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595" name="Google Shape;2595;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BackgroundService in ASP.NET Core</a:t>
            </a:r>
            <a:endParaRPr b="0" i="0" sz="3000" u="none" cap="none" strike="noStrike">
              <a:solidFill>
                <a:schemeClr val="dk1"/>
              </a:solidFill>
              <a:latin typeface="Calibri"/>
              <a:ea typeface="Calibri"/>
              <a:cs typeface="Calibri"/>
              <a:sym typeface="Calibri"/>
            </a:endParaRPr>
          </a:p>
        </p:txBody>
      </p:sp>
      <p:sp>
        <p:nvSpPr>
          <p:cNvPr id="2596" name="Google Shape;2596;p23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7" name="Google Shape;2597;p23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BackgroundService + StackExchange.Redis + EF Core</a:t>
            </a:r>
            <a:endParaRPr b="0" i="0" sz="1000" u="none" cap="none" strike="noStrike">
              <a:solidFill>
                <a:schemeClr val="dk1"/>
              </a:solidFill>
              <a:latin typeface="Calibri"/>
              <a:ea typeface="Calibri"/>
              <a:cs typeface="Calibri"/>
              <a:sym typeface="Calibri"/>
            </a:endParaRPr>
          </a:p>
        </p:txBody>
      </p:sp>
      <p:sp>
        <p:nvSpPr>
          <p:cNvPr id="2598" name="Google Shape;2598;p23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BackgroundService is the canonical ASP.NET Core long-running task host.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(StackExchange.Redis) gives us SPOP for batch dequeue.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[ApiController, Route("metrics")]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MetricsController(IConnectionMultiplexer redis) : ControllerBase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[HttpPut("{id}")]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Task&lt;IActionResult&gt; Write(string id, Metric body,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1. write only to Redis; return immediately (202)</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r.HashSetAsync($"metric:{id}", body.ToHashEntries());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                  // mark for flush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Accepted();                                          // microseconds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MetricsFlusher(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EF Core needs scoped DbContext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ILogger&lt;MetricsFlusher&gt; log)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const int Batch = 100;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2. SPOP up to Batch dirty keys atomically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ids = await r.SetPopAsync("metric:dirty", Batch);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(ids.Length == 0) { await Task.Delay(1000, ct); continue;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hash = await r.HashGetAllAsync($"metric:{id}");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db.Metrics.Add(Metric.FromHash(id!, hash));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db.SaveChangesAsync(ct);                       // batch insert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catch (Exception ex)</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log.LogError(ex, "flush failed; re-marking {Count} dirty", ids.Length);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3. on failure, re-mark dirty for retry</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r.SetAddAsync("metric:dirty", 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Program.cs: builder.Services.AddHostedService&lt;MetricsFlusher&gt;();</a:t>
            </a:r>
            <a:endParaRPr b="0" i="0" sz="75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dirty set is the key idea — it tells the flusher what to drain. Failed batches go back on the set for retry.</a:t>
            </a:r>
            <a:endParaRPr b="0" i="0" sz="13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1" name="Google Shape;2601;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6" name="Shape 2606"/>
        <p:cNvGrpSpPr/>
        <p:nvPr/>
      </p:nvGrpSpPr>
      <p:grpSpPr>
        <a:xfrm>
          <a:off x="0" y="0"/>
          <a:ext cx="0" cy="0"/>
          <a:chOff x="0" y="0"/>
          <a:chExt cx="0" cy="0"/>
        </a:xfrm>
      </p:grpSpPr>
      <p:sp>
        <p:nvSpPr>
          <p:cNvPr id="2607" name="Google Shape;2607;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08" name="Google Shape;2608;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dn/95-appL-refresh-ahead.png" id="2609" name="Google Shape;2609;p23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10" name="Google Shape;2610;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611" name="Google Shape;2611;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2" name="Google Shape;2612;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7" name="Shape 2617"/>
        <p:cNvGrpSpPr/>
        <p:nvPr/>
      </p:nvGrpSpPr>
      <p:grpSpPr>
        <a:xfrm>
          <a:off x="0" y="0"/>
          <a:ext cx="0" cy="0"/>
          <a:chOff x="0" y="0"/>
          <a:chExt cx="0" cy="0"/>
        </a:xfrm>
      </p:grpSpPr>
      <p:sp>
        <p:nvSpPr>
          <p:cNvPr id="2618" name="Google Shape;2618;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619" name="Google Shape;2619;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ASP.NET Core</a:t>
            </a:r>
            <a:endParaRPr b="0" i="0" sz="30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1" name="Google Shape;2621;p23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BackgroundService + StackExchange.Redis sorted set  OR  FusionCache eager-refresh</a:t>
            </a:r>
            <a:endParaRPr b="0" i="0" sz="1000" u="none" cap="none" strike="noStrike">
              <a:solidFill>
                <a:schemeClr val="dk1"/>
              </a:solidFill>
              <a:latin typeface="Calibri"/>
              <a:ea typeface="Calibri"/>
              <a:cs typeface="Calibri"/>
              <a:sym typeface="Calibri"/>
            </a:endParaRPr>
          </a:p>
        </p:txBody>
      </p:sp>
      <p:sp>
        <p:nvSpPr>
          <p:cNvPr id="2622" name="Google Shape;2622;p23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Two approaches: (1) BackgroundService + sorted-set hot-key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(2) FusionCache built-in EagerRefreshThreshold.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1: explicit sorted-set tracking</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ProductService(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ShopDb db,</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private static readonly TimeSpan TTL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public async Task&lt;Product?&gt; FindAsync(string id, 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r.SortedSetAddAsync("product:hot", 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DateTimeOffset.UtcNow.ToUnixTimeMilliseconds());  // touch hot-set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cached = await r.StringGetAsync($"product:{id}");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(cached.HasValue) return JsonSerializer.Deserialize&lt;Product&gt;(cached!);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null) return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 JsonSerializer.Serialize(p),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return p;</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public class HotKeyRefresher(</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IConnectionMultiplexer redis,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IServiceScopeFactory scopes) : BackgroundService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protected override async Task ExecuteAsync(CancellationToken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r = redis.GetDatabase();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while (!ct.IsCancellationRequested)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Task.Delay(5000,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 remove keys not touched in 5 minutes; refresh those with low TTL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cutoff = DateTimeOffset.UtcNow.AddMinutes(-5).ToUnixTimeMilliseconds();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r.SortedSetRemoveRangeByScoreAsync("product:hot", 0, cutoff);</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hotIds = await r.SortedSetRangeByRankAsync("product:hot");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using var scope = scopes.CreateScope();</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db = scope.ServiceProvider.GetRequiredService&lt;ShopDb&gt;();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foreach (var id in hotIds)</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ttl = await r.KeyTimeToLiveAsync($"product:{id}");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(ttl is { TotalSeconds: &gt; 0 and &lt; 10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var p = await db.Products.FindAsync([id.ToString()], ct);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if (p is not null)</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await r.StringSetAsync($"product:{id}",</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JsonSerializer.Serialize(p), TTL);    //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750"/>
              <a:buFont typeface="Calibri"/>
              <a:buNone/>
            </a:pPr>
            <a:r>
              <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Approach 2: FusionCache built-in eager refresh</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builder.Services.AddFusionCache().WithDefaultEntryOptions(o =&gt;</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o.Duration = TimeSpan.FromSeconds(60)</a:t>
            </a:r>
            <a:endParaRPr b="0" i="0" sz="7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750"/>
              <a:buFont typeface="Red Hat Mono"/>
              <a:buNone/>
            </a:pPr>
            <a:r>
              <a:rPr b="0" i="0" lang="en-US" sz="750" u="none" cap="none" strike="noStrike">
                <a:solidFill>
                  <a:srgbClr val="E6E6E6"/>
                </a:solidFill>
                <a:latin typeface="Red Hat Mono"/>
                <a:ea typeface="Red Hat Mono"/>
                <a:cs typeface="Red Hat Mono"/>
                <a:sym typeface="Red Hat Mono"/>
              </a:rPr>
              <a:t>//      .SetEagerRefresh(0.8f));    // refresh when 80% of TTL elapsed</a:t>
            </a:r>
            <a:endParaRPr b="0" i="0" sz="750" u="none" cap="none" strike="noStrike">
              <a:solidFill>
                <a:schemeClr val="dk1"/>
              </a:solidFill>
              <a:latin typeface="Calibri"/>
              <a:ea typeface="Calibri"/>
              <a:cs typeface="Calibri"/>
              <a:sym typeface="Calibri"/>
            </a:endParaRPr>
          </a:p>
        </p:txBody>
      </p:sp>
      <p:sp>
        <p:nvSpPr>
          <p:cNvPr id="2623" name="Google Shape;2623;p23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Hot keys live in a Redis sorted set scored by last-access time. Or use FusionCache's built-in EagerRefresh.</a:t>
            </a:r>
            <a:endParaRPr b="0" i="0" sz="13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633" name="Google Shape;2633;p2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read patterns first — OpenTelemetry's cache metrics give you hit/miss ratios per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kind of failure — unpredictable. Always set explicit AbsoluteExpirationRelativeToNow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ASP.NET Core Pods all miss at once, they all hit the DB. Mitigate with DistributedLock.NET per-key locks, or FusionCache (built-in stampede protection), or refresh-ahead, or jittered TTLs.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Always RemoveAsync on writes, or use a short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Redis outage must mean slower reads, not data loss — always have an EF Core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634" name="Google Shape;2634;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5" name="Google Shape;2635;p2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0" name="Shape 2640"/>
        <p:cNvGrpSpPr/>
        <p:nvPr/>
      </p:nvGrpSpPr>
      <p:grpSpPr>
        <a:xfrm>
          <a:off x="0" y="0"/>
          <a:ext cx="0" cy="0"/>
          <a:chOff x="0" y="0"/>
          <a:chExt cx="0" cy="0"/>
        </a:xfrm>
      </p:grpSpPr>
      <p:sp>
        <p:nvSpPr>
          <p:cNvPr id="2641" name="Google Shape;2641;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642" name="Google Shape;2642;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(FusionCache.GetOrSetAsync) — use when the read path is repetitive and you want declarative caching with built-in stampede protection. Like HybridCache (.NET 9), but with fail-safe and stampede protection built 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(FusionCache.SetAsync or IDistributedCache.SetStringAsync) — use when zero stale-read risk after a write matters more than write latency.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(BackgroundService + dirty-set) — use only when extreme write throughput is the constraint AND eventual durability is 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(FusionCache eager-refresh, or BackgroundService) — use when a small set of hot keys serves most traffic and miss latency is unacceptable.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ASP.NET Core systems use FusionCache for 95% of cases (it gets you read-through + stampede protection + eager-refresh in one library), with IDistributedCache directly where you need full control. Mix patterns; don't pick one as the rule.</a:t>
            </a:r>
            <a:endParaRPr b="0" i="0" sz="17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5" name="Google Shape;2645;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650" name="Shape 2650"/>
        <p:cNvGrpSpPr/>
        <p:nvPr/>
      </p:nvGrpSpPr>
      <p:grpSpPr>
        <a:xfrm>
          <a:off x="0" y="0"/>
          <a:ext cx="0" cy="0"/>
          <a:chOff x="0" y="0"/>
          <a:chExt cx="0" cy="0"/>
        </a:xfrm>
      </p:grpSpPr>
      <p:pic>
        <p:nvPicPr>
          <p:cNvPr descr="/home/claude/work/assets/rh-divider-bg.png" id="2651" name="Google Shape;2651;p24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652" name="Google Shape;2652;p24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653" name="Google Shape;2653;p24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654" name="Google Shape;2654;p24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655" name="Google Shape;2655;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0" name="Shape 2660"/>
        <p:cNvGrpSpPr/>
        <p:nvPr/>
      </p:nvGrpSpPr>
      <p:grpSpPr>
        <a:xfrm>
          <a:off x="0" y="0"/>
          <a:ext cx="0" cy="0"/>
          <a:chOff x="0" y="0"/>
          <a:chExt cx="0" cy="0"/>
        </a:xfrm>
      </p:grpSpPr>
      <p:sp>
        <p:nvSpPr>
          <p:cNvPr id="2661" name="Google Shape;2661;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62" name="Google Shape;2662;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663" name="Google Shape;2663;p24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 that's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664" name="Google Shape;2664;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65" name="Google Shape;2665;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0" name="Shape 2670"/>
        <p:cNvGrpSpPr/>
        <p:nvPr/>
      </p:nvGrpSpPr>
      <p:grpSpPr>
        <a:xfrm>
          <a:off x="0" y="0"/>
          <a:ext cx="0" cy="0"/>
          <a:chOff x="0" y="0"/>
          <a:chExt cx="0" cy="0"/>
        </a:xfrm>
      </p:grpSpPr>
      <p:sp>
        <p:nvSpPr>
          <p:cNvPr id="2671" name="Google Shape;2671;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672" name="Google Shape;2672;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dn/110-failure-taxonomy.png" id="2673" name="Google Shape;2673;p24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674" name="Google Shape;2674;p2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675" name="Google Shape;2675;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6" name="Google Shape;2676;p2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1" name="Shape 2681"/>
        <p:cNvGrpSpPr/>
        <p:nvPr/>
      </p:nvGrpSpPr>
      <p:grpSpPr>
        <a:xfrm>
          <a:off x="0" y="0"/>
          <a:ext cx="0" cy="0"/>
          <a:chOff x="0" y="0"/>
          <a:chExt cx="0" cy="0"/>
        </a:xfrm>
      </p:grpSpPr>
      <p:sp>
        <p:nvSpPr>
          <p:cNvPr id="2682" name="Google Shape;2682;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83" name="Google Shape;2683;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dn/111-failure-network-partition.png" id="2684" name="Google Shape;2684;p24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85" name="Google Shape;2685;p2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 they simply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686" name="Google Shape;2686;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7" name="Google Shape;2687;p2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2" name="Shape 2692"/>
        <p:cNvGrpSpPr/>
        <p:nvPr/>
      </p:nvGrpSpPr>
      <p:grpSpPr>
        <a:xfrm>
          <a:off x="0" y="0"/>
          <a:ext cx="0" cy="0"/>
          <a:chOff x="0" y="0"/>
          <a:chExt cx="0" cy="0"/>
        </a:xfrm>
      </p:grpSpPr>
      <p:sp>
        <p:nvSpPr>
          <p:cNvPr id="2693" name="Google Shape;2693;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694" name="Google Shape;2694;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dn/112-failure-split-brain.png" id="2695" name="Google Shape;2695;p24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96" name="Google Shape;2696;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697" name="Google Shape;2697;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8" name="Google Shape;2698;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3" name="Shape 2703"/>
        <p:cNvGrpSpPr/>
        <p:nvPr/>
      </p:nvGrpSpPr>
      <p:grpSpPr>
        <a:xfrm>
          <a:off x="0" y="0"/>
          <a:ext cx="0" cy="0"/>
          <a:chOff x="0" y="0"/>
          <a:chExt cx="0" cy="0"/>
        </a:xfrm>
      </p:grpSpPr>
      <p:sp>
        <p:nvSpPr>
          <p:cNvPr id="2704" name="Google Shape;2704;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05" name="Google Shape;2705;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dn/113-failure-partial.png" id="2706" name="Google Shape;2706;p24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07" name="Google Shape;2707;p2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708" name="Google Shape;2708;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9" name="Google Shape;2709;p2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4" name="Shape 2714"/>
        <p:cNvGrpSpPr/>
        <p:nvPr/>
      </p:nvGrpSpPr>
      <p:grpSpPr>
        <a:xfrm>
          <a:off x="0" y="0"/>
          <a:ext cx="0" cy="0"/>
          <a:chOff x="0" y="0"/>
          <a:chExt cx="0" cy="0"/>
        </a:xfrm>
      </p:grpSpPr>
      <p:sp>
        <p:nvSpPr>
          <p:cNvPr id="2715" name="Google Shape;2715;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716" name="Google Shape;2716;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dn/114-failure-gray.png" id="2717" name="Google Shape;2717;p24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18" name="Google Shape;2718;p24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719" name="Google Shape;2719;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20" name="Google Shape;2720;p2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5" name="Shape 2725"/>
        <p:cNvGrpSpPr/>
        <p:nvPr/>
      </p:nvGrpSpPr>
      <p:grpSpPr>
        <a:xfrm>
          <a:off x="0" y="0"/>
          <a:ext cx="0" cy="0"/>
          <a:chOff x="0" y="0"/>
          <a:chExt cx="0" cy="0"/>
        </a:xfrm>
      </p:grpSpPr>
      <p:sp>
        <p:nvSpPr>
          <p:cNvPr id="2726" name="Google Shape;2726;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27" name="Google Shape;2727;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dn/115-failure-amplification.png" id="2728" name="Google Shape;2728;p2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29" name="Google Shape;2729;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730" name="Google Shape;2730;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31" name="Google Shape;2731;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36" name="Shape 2736"/>
        <p:cNvGrpSpPr/>
        <p:nvPr/>
      </p:nvGrpSpPr>
      <p:grpSpPr>
        <a:xfrm>
          <a:off x="0" y="0"/>
          <a:ext cx="0" cy="0"/>
          <a:chOff x="0" y="0"/>
          <a:chExt cx="0" cy="0"/>
        </a:xfrm>
      </p:grpSpPr>
      <p:sp>
        <p:nvSpPr>
          <p:cNvPr id="2737" name="Google Shape;2737;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738" name="Google Shape;2738;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dn/116-failure-cascading.png" id="2739" name="Google Shape;2739;p25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40" name="Google Shape;2740;p25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741" name="Google Shape;2741;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42" name="Google Shape;2742;p25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7" name="Shape 2747"/>
        <p:cNvGrpSpPr/>
        <p:nvPr/>
      </p:nvGrpSpPr>
      <p:grpSpPr>
        <a:xfrm>
          <a:off x="0" y="0"/>
          <a:ext cx="0" cy="0"/>
          <a:chOff x="0" y="0"/>
          <a:chExt cx="0" cy="0"/>
        </a:xfrm>
      </p:grpSpPr>
      <p:sp>
        <p:nvSpPr>
          <p:cNvPr id="2748" name="Google Shape;2748;p2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9" name="Google Shape;2749;p2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750" name="Google Shape;2750;p25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 the platform layer underneath all of the above. The next slides cover each with code; the final matrix maps patterns to modes.</a:t>
            </a:r>
            <a:endParaRPr b="0" i="0" sz="1400" u="none" cap="none" strike="noStrike">
              <a:solidFill>
                <a:schemeClr val="dk1"/>
              </a:solidFill>
              <a:latin typeface="Calibri"/>
              <a:ea typeface="Calibri"/>
              <a:cs typeface="Calibri"/>
              <a:sym typeface="Calibri"/>
            </a:endParaRPr>
          </a:p>
        </p:txBody>
      </p:sp>
      <p:sp>
        <p:nvSpPr>
          <p:cNvPr id="2751" name="Google Shape;2751;p2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52" name="Google Shape;2752;p25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7" name="Shape 2757"/>
        <p:cNvGrpSpPr/>
        <p:nvPr/>
      </p:nvGrpSpPr>
      <p:grpSpPr>
        <a:xfrm>
          <a:off x="0" y="0"/>
          <a:ext cx="0" cy="0"/>
          <a:chOff x="0" y="0"/>
          <a:chExt cx="0" cy="0"/>
        </a:xfrm>
      </p:grpSpPr>
      <p:sp>
        <p:nvSpPr>
          <p:cNvPr id="2758" name="Google Shape;2758;p2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59" name="Google Shape;2759;p2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dn/119-failure-timeout-deadline.png" id="2760" name="Google Shape;2760;p252"/>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761" name="Google Shape;2761;p25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762" name="Google Shape;2762;p2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222</a:t>
            </a:r>
            <a:endParaRPr b="0" i="0" sz="1000" u="none" cap="none" strike="noStrike">
              <a:solidFill>
                <a:schemeClr val="dk1"/>
              </a:solidFill>
              <a:latin typeface="Calibri"/>
              <a:ea typeface="Calibri"/>
              <a:cs typeface="Calibri"/>
              <a:sym typeface="Calibri"/>
            </a:endParaRPr>
          </a:p>
        </p:txBody>
      </p:sp>
      <p:pic>
        <p:nvPicPr>
          <p:cNvPr descr="/home/claude/work/assets/rh-logo.png" id="2763" name="Google Shape;2763;p2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68" name="Shape 2768"/>
        <p:cNvGrpSpPr/>
        <p:nvPr/>
      </p:nvGrpSpPr>
      <p:grpSpPr>
        <a:xfrm>
          <a:off x="0" y="0"/>
          <a:ext cx="0" cy="0"/>
          <a:chOff x="0" y="0"/>
          <a:chExt cx="0" cy="0"/>
        </a:xfrm>
      </p:grpSpPr>
      <p:sp>
        <p:nvSpPr>
          <p:cNvPr id="2769" name="Google Shape;2769;p2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770" name="Google Shape;2770;p2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771" name="Google Shape;2771;p25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2" name="Google Shape;2772;p25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HttpClient</a:t>
            </a:r>
            <a:endParaRPr b="0" i="0" sz="1000" u="none" cap="none" strike="noStrike">
              <a:solidFill>
                <a:schemeClr val="dk1"/>
              </a:solidFill>
              <a:latin typeface="Calibri"/>
              <a:ea typeface="Calibri"/>
              <a:cs typeface="Calibri"/>
              <a:sym typeface="Calibri"/>
            </a:endParaRPr>
          </a:p>
        </p:txBody>
      </p:sp>
      <p:sp>
        <p:nvSpPr>
          <p:cNvPr id="2773" name="Google Shape;2773;p25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public class PaymentService(HttpClient http)   // http.Timeout set at registration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public async Task&lt;Receipt&gt; Charge(Order o, TimeSpan 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CancellationToken 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(deadline &lt; TimeSpan.FromMilliseconds(50))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throw new DeadlineExceededException();      // too little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link the caller's token with a deadline-bounded 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using var cts = CancellationTokenSource.CreateLinkedTokenSource(ct);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cts.CancelAfter(deadline);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req = new HttpRequestMessage(HttpMethod.Post, "/charge")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Content = JsonContent.Create(o)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req.Headers.Add("X-Deadline-Ms",                 // propagate budget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deadline.TotalMilliseconds.ToString("0"));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var resp = await http.SendAsync(req, cts.Token);  // throws on timeout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(await resp.Content.ReadFromJsonAsync&lt;Receipt&gt;(cts.Token))!;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p:txBody>
      </p:sp>
      <p:sp>
        <p:nvSpPr>
          <p:cNvPr id="2774" name="Google Shape;2774;p2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223</a:t>
            </a:r>
            <a:endParaRPr b="0" i="0" sz="1000" u="none" cap="none" strike="noStrike">
              <a:solidFill>
                <a:schemeClr val="dk1"/>
              </a:solidFill>
              <a:latin typeface="Calibri"/>
              <a:ea typeface="Calibri"/>
              <a:cs typeface="Calibri"/>
              <a:sym typeface="Calibri"/>
            </a:endParaRPr>
          </a:p>
        </p:txBody>
      </p:sp>
      <p:pic>
        <p:nvPicPr>
          <p:cNvPr descr="/home/claude/work/assets/rh-logo.png" id="2775" name="Google Shape;2775;p25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0" name="Shape 2780"/>
        <p:cNvGrpSpPr/>
        <p:nvPr/>
      </p:nvGrpSpPr>
      <p:grpSpPr>
        <a:xfrm>
          <a:off x="0" y="0"/>
          <a:ext cx="0" cy="0"/>
          <a:chOff x="0" y="0"/>
          <a:chExt cx="0" cy="0"/>
        </a:xfrm>
      </p:grpSpPr>
      <p:sp>
        <p:nvSpPr>
          <p:cNvPr id="2781" name="Google Shape;2781;p2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82" name="Google Shape;2782;p2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dn/118-failure-retry-backoff.png" id="2783" name="Google Shape;2783;p25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784" name="Google Shape;2784;p25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785" name="Google Shape;2785;p2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224</a:t>
            </a:r>
            <a:endParaRPr b="0" i="0" sz="1000" u="none" cap="none" strike="noStrike">
              <a:solidFill>
                <a:schemeClr val="dk1"/>
              </a:solidFill>
              <a:latin typeface="Calibri"/>
              <a:ea typeface="Calibri"/>
              <a:cs typeface="Calibri"/>
              <a:sym typeface="Calibri"/>
            </a:endParaRPr>
          </a:p>
        </p:txBody>
      </p:sp>
      <p:pic>
        <p:nvPicPr>
          <p:cNvPr descr="/home/claude/work/assets/rh-logo.png" id="2786" name="Google Shape;2786;p25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91" name="Shape 2791"/>
        <p:cNvGrpSpPr/>
        <p:nvPr/>
      </p:nvGrpSpPr>
      <p:grpSpPr>
        <a:xfrm>
          <a:off x="0" y="0"/>
          <a:ext cx="0" cy="0"/>
          <a:chOff x="0" y="0"/>
          <a:chExt cx="0" cy="0"/>
        </a:xfrm>
      </p:grpSpPr>
      <p:sp>
        <p:nvSpPr>
          <p:cNvPr id="2792" name="Google Shape;2792;p2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793" name="Google Shape;2793;p2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794" name="Google Shape;2794;p25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5" name="Google Shape;2795;p25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796" name="Google Shape;2796;p25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Polly v8: exponential backoff WITH jitter is built in</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private static readonly ResiliencePipeline _pipeline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ResiliencePipelineBuilder()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.AddRetry(new RetryStrategyOptions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ShouldHandle = new PredicateBuilder()</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.Handle&lt;HttpRequestException&gt;(),       // transient only</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MaxRetryAttempts = 3,                       // hard cap</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BackoffType = DelayBackoffType.Exponential,</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UseJitter = true,                           // de-synchronise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Delay = TimeSpan.FromMilliseconds(100)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.AddCircuitBreaker(new CircuitBreakerStrategyOptions {  // pair it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FailureRatio = 0.5, MinimumThroughput = 10,</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BreakDuration = TimeSpan.FromSeconds(5)</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Task&lt;Quote?&gt; Quote(string symbol, CancellationToken ct) =&gt;   // GET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_pipeline.ExecuteAsync(async t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await http.GetFromJsonAsync&lt;Quote&gt;($"/quote/{symbol}", t), ct).AsTask();</a:t>
            </a:r>
            <a:endParaRPr b="0" i="0" sz="950" u="none" cap="none" strike="noStrike">
              <a:solidFill>
                <a:schemeClr val="dk1"/>
              </a:solidFill>
              <a:latin typeface="Calibri"/>
              <a:ea typeface="Calibri"/>
              <a:cs typeface="Calibri"/>
              <a:sym typeface="Calibri"/>
            </a:endParaRPr>
          </a:p>
        </p:txBody>
      </p:sp>
      <p:sp>
        <p:nvSpPr>
          <p:cNvPr id="2797" name="Google Shape;2797;p2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225</a:t>
            </a:r>
            <a:endParaRPr b="0" i="0" sz="1000" u="none" cap="none" strike="noStrike">
              <a:solidFill>
                <a:schemeClr val="dk1"/>
              </a:solidFill>
              <a:latin typeface="Calibri"/>
              <a:ea typeface="Calibri"/>
              <a:cs typeface="Calibri"/>
              <a:sym typeface="Calibri"/>
            </a:endParaRPr>
          </a:p>
        </p:txBody>
      </p:sp>
      <p:pic>
        <p:nvPicPr>
          <p:cNvPr descr="/home/claude/work/assets/rh-logo.png" id="2798" name="Google Shape;2798;p25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3" name="Shape 2803"/>
        <p:cNvGrpSpPr/>
        <p:nvPr/>
      </p:nvGrpSpPr>
      <p:grpSpPr>
        <a:xfrm>
          <a:off x="0" y="0"/>
          <a:ext cx="0" cy="0"/>
          <a:chOff x="0" y="0"/>
          <a:chExt cx="0" cy="0"/>
        </a:xfrm>
      </p:grpSpPr>
      <p:sp>
        <p:nvSpPr>
          <p:cNvPr id="2804" name="Google Shape;2804;p2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05" name="Google Shape;2805;p2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dn/117-failure-circuit-breaker.png" id="2806" name="Google Shape;2806;p2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07" name="Google Shape;2807;p2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808" name="Google Shape;2808;p2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226</a:t>
            </a:r>
            <a:endParaRPr b="0" i="0" sz="1000" u="none" cap="none" strike="noStrike">
              <a:solidFill>
                <a:schemeClr val="dk1"/>
              </a:solidFill>
              <a:latin typeface="Calibri"/>
              <a:ea typeface="Calibri"/>
              <a:cs typeface="Calibri"/>
              <a:sym typeface="Calibri"/>
            </a:endParaRPr>
          </a:p>
        </p:txBody>
      </p:sp>
      <p:pic>
        <p:nvPicPr>
          <p:cNvPr descr="/home/claude/work/assets/rh-logo.png" id="2809" name="Google Shape;2809;p2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4" name="Shape 2814"/>
        <p:cNvGrpSpPr/>
        <p:nvPr/>
      </p:nvGrpSpPr>
      <p:grpSpPr>
        <a:xfrm>
          <a:off x="0" y="0"/>
          <a:ext cx="0" cy="0"/>
          <a:chOff x="0" y="0"/>
          <a:chExt cx="0" cy="0"/>
        </a:xfrm>
      </p:grpSpPr>
      <p:sp>
        <p:nvSpPr>
          <p:cNvPr id="2815" name="Google Shape;2815;p2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816" name="Google Shape;2816;p2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817" name="Google Shape;2817;p25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8" name="Google Shape;2818;p2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 + Polly v8</a:t>
            </a:r>
            <a:endParaRPr b="0" i="0" sz="1000" u="none" cap="none" strike="noStrike">
              <a:solidFill>
                <a:schemeClr val="dk1"/>
              </a:solidFill>
              <a:latin typeface="Calibri"/>
              <a:ea typeface="Calibri"/>
              <a:cs typeface="Calibri"/>
              <a:sym typeface="Calibri"/>
            </a:endParaRPr>
          </a:p>
        </p:txBody>
      </p:sp>
      <p:sp>
        <p:nvSpPr>
          <p:cNvPr id="2819" name="Google Shape;2819;p25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public class PaymentService(HttpClient http, IOutbox outbox)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private readonly ResiliencePipeline&lt;Receipt&gt; _pipeline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new ResiliencePipelineBuilder&lt;Receipt&gt;()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.AddCircuitBreaker(new CircuitBreakerStrategyOptions&lt;Receipt&gt;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FailureRatio = 0.5,                 // open at 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MinimumThroughput = 10,             // over a window of 10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BreakDuration = TimeSpan.FromSeconds(5),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.Handle&lt;HttpRequestException&gt;()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.AddFallback(new FallbackStrategyOptions&lt;Receipt&gt; {   // degrade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ShouldHandle = new PredicateBuilder&lt;Receipt&gt;()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.Handle&lt;BrokenCircuitException&gt;(),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FallbackAction = args =&gt;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outbox.Enqueue(args.Context.GetOrder());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Outcome.FromResultAsValueTask(Receipt.Pending());</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.Build();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p:txBody>
      </p:sp>
      <p:sp>
        <p:nvSpPr>
          <p:cNvPr id="2820" name="Google Shape;2820;p2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227</a:t>
            </a:r>
            <a:endParaRPr b="0" i="0" sz="1000" u="none" cap="none" strike="noStrike">
              <a:solidFill>
                <a:schemeClr val="dk1"/>
              </a:solidFill>
              <a:latin typeface="Calibri"/>
              <a:ea typeface="Calibri"/>
              <a:cs typeface="Calibri"/>
              <a:sym typeface="Calibri"/>
            </a:endParaRPr>
          </a:p>
        </p:txBody>
      </p:sp>
      <p:pic>
        <p:nvPicPr>
          <p:cNvPr descr="/home/claude/work/assets/rh-logo.png" id="2821" name="Google Shape;2821;p2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26" name="Shape 2826"/>
        <p:cNvGrpSpPr/>
        <p:nvPr/>
      </p:nvGrpSpPr>
      <p:grpSpPr>
        <a:xfrm>
          <a:off x="0" y="0"/>
          <a:ext cx="0" cy="0"/>
          <a:chOff x="0" y="0"/>
          <a:chExt cx="0" cy="0"/>
        </a:xfrm>
      </p:grpSpPr>
      <p:sp>
        <p:nvSpPr>
          <p:cNvPr id="2827" name="Google Shape;2827;p2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828" name="Google Shape;2828;p2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829" name="Google Shape;2829;p2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 connection pools, thread pools, async semaphores, queues —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Polly v8 AddConcurrencyLimiter strategy on a ResiliencePipeline, paired with AddTimeout.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830" name="Google Shape;2830;p2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228</a:t>
            </a:r>
            <a:endParaRPr b="0" i="0" sz="1000" u="none" cap="none" strike="noStrike">
              <a:solidFill>
                <a:schemeClr val="dk1"/>
              </a:solidFill>
              <a:latin typeface="Calibri"/>
              <a:ea typeface="Calibri"/>
              <a:cs typeface="Calibri"/>
              <a:sym typeface="Calibri"/>
            </a:endParaRPr>
          </a:p>
        </p:txBody>
      </p:sp>
      <p:pic>
        <p:nvPicPr>
          <p:cNvPr descr="/home/claude/work/assets/rh-logo.png" id="2831" name="Google Shape;2831;p2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36" name="Shape 2836"/>
        <p:cNvGrpSpPr/>
        <p:nvPr/>
      </p:nvGrpSpPr>
      <p:grpSpPr>
        <a:xfrm>
          <a:off x="0" y="0"/>
          <a:ext cx="0" cy="0"/>
          <a:chOff x="0" y="0"/>
          <a:chExt cx="0" cy="0"/>
        </a:xfrm>
      </p:grpSpPr>
      <p:sp>
        <p:nvSpPr>
          <p:cNvPr id="2837" name="Google Shape;2837;p2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838" name="Google Shape;2838;p2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839" name="Google Shape;2839;p2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840" name="Google Shape;2840;p2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229</a:t>
            </a:r>
            <a:endParaRPr b="0" i="0" sz="1000" u="none" cap="none" strike="noStrike">
              <a:solidFill>
                <a:schemeClr val="dk1"/>
              </a:solidFill>
              <a:latin typeface="Calibri"/>
              <a:ea typeface="Calibri"/>
              <a:cs typeface="Calibri"/>
              <a:sym typeface="Calibri"/>
            </a:endParaRPr>
          </a:p>
        </p:txBody>
      </p:sp>
      <p:pic>
        <p:nvPicPr>
          <p:cNvPr descr="/home/claude/work/assets/rh-logo.png" id="2841" name="Google Shape;2841;p2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6" name="Shape 2846"/>
        <p:cNvGrpSpPr/>
        <p:nvPr/>
      </p:nvGrpSpPr>
      <p:grpSpPr>
        <a:xfrm>
          <a:off x="0" y="0"/>
          <a:ext cx="0" cy="0"/>
          <a:chOff x="0" y="0"/>
          <a:chExt cx="0" cy="0"/>
        </a:xfrm>
      </p:grpSpPr>
      <p:sp>
        <p:nvSpPr>
          <p:cNvPr id="2847" name="Google Shape;2847;p2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848" name="Google Shape;2848;p2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dn/120-failure-istio-resilience.png" id="2849" name="Google Shape;2849;p26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850" name="Google Shape;2850;p26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851" name="Google Shape;2851;p2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230</a:t>
            </a:r>
            <a:endParaRPr b="0" i="0" sz="1000" u="none" cap="none" strike="noStrike">
              <a:solidFill>
                <a:schemeClr val="dk1"/>
              </a:solidFill>
              <a:latin typeface="Calibri"/>
              <a:ea typeface="Calibri"/>
              <a:cs typeface="Calibri"/>
              <a:sym typeface="Calibri"/>
            </a:endParaRPr>
          </a:p>
        </p:txBody>
      </p:sp>
      <p:pic>
        <p:nvPicPr>
          <p:cNvPr descr="/home/claude/work/assets/rh-logo.png" id="2852" name="Google Shape;2852;p26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57" name="Shape 2857"/>
        <p:cNvGrpSpPr/>
        <p:nvPr/>
      </p:nvGrpSpPr>
      <p:grpSpPr>
        <a:xfrm>
          <a:off x="0" y="0"/>
          <a:ext cx="0" cy="0"/>
          <a:chOff x="0" y="0"/>
          <a:chExt cx="0" cy="0"/>
        </a:xfrm>
      </p:grpSpPr>
      <p:sp>
        <p:nvSpPr>
          <p:cNvPr id="2858" name="Google Shape;2858;p26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859" name="Google Shape;2859;p26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860" name="Google Shape;2860;p26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61" name="Google Shape;2861;p26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csharp · ASP.NET Core 10</a:t>
            </a:r>
            <a:endParaRPr b="0" i="0" sz="1000" u="none" cap="none" strike="noStrike">
              <a:solidFill>
                <a:schemeClr val="dk1"/>
              </a:solidFill>
              <a:latin typeface="Calibri"/>
              <a:ea typeface="Calibri"/>
              <a:cs typeface="Calibri"/>
              <a:sym typeface="Calibri"/>
            </a:endParaRPr>
          </a:p>
        </p:txBody>
      </p:sp>
      <p:sp>
        <p:nvSpPr>
          <p:cNvPr id="2862" name="Google Shape;2862;p26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public class GracefulShutdown(IHostApplicationLifetime life) : IHostedService</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static volatile bool Draining;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StartAsync(CancellationToken ct)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life.ApplicationStopping.Register(() =&gt; {   // SIGTERM → this fires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Draining = true;                         // 1. readiness → 503</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Thread.Sleep(5_000);                     // 2. let the LB stop routing</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                                          // 3. host then drains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return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public Task StopAsync(CancellationToken ct) =&gt; Task.CompletedTask;</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50"/>
              <a:buFont typeface="Calibri"/>
              <a:buNone/>
            </a:pPr>
            <a:r>
              <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Program.cs</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builder.Services.AddHostedService&lt;GracefulShutdown&gt;();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builder.Services.Configure&lt;HostOptions&gt;(o =&gt;</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o.ShutdownTimeout = TimeSpan.FromSeconds(30));   // drain window</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app.MapHealthChecks("/readyz",</a:t>
            </a:r>
            <a:endParaRPr b="0" i="0" sz="9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50"/>
              <a:buFont typeface="Red Hat Mono"/>
              <a:buNone/>
            </a:pPr>
            <a:r>
              <a:rPr b="0" i="0" lang="en-US" sz="950" u="none" cap="none" strike="noStrike">
                <a:solidFill>
                  <a:srgbClr val="E6E6E6"/>
                </a:solidFill>
                <a:latin typeface="Red Hat Mono"/>
                <a:ea typeface="Red Hat Mono"/>
                <a:cs typeface="Red Hat Mono"/>
                <a:sym typeface="Red Hat Mono"/>
              </a:rPr>
              <a:t>//       new() { Predicate = _ =&gt; !GracefulShutdown.Draining });</a:t>
            </a:r>
            <a:endParaRPr b="0" i="0" sz="950" u="none" cap="none" strike="noStrike">
              <a:solidFill>
                <a:schemeClr val="dk1"/>
              </a:solidFill>
              <a:latin typeface="Calibri"/>
              <a:ea typeface="Calibri"/>
              <a:cs typeface="Calibri"/>
              <a:sym typeface="Calibri"/>
            </a:endParaRPr>
          </a:p>
        </p:txBody>
      </p:sp>
      <p:sp>
        <p:nvSpPr>
          <p:cNvPr id="2863" name="Google Shape;2863;p26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231</a:t>
            </a:r>
            <a:endParaRPr b="0" i="0" sz="1000" u="none" cap="none" strike="noStrike">
              <a:solidFill>
                <a:schemeClr val="dk1"/>
              </a:solidFill>
              <a:latin typeface="Calibri"/>
              <a:ea typeface="Calibri"/>
              <a:cs typeface="Calibri"/>
              <a:sym typeface="Calibri"/>
            </a:endParaRPr>
          </a:p>
        </p:txBody>
      </p:sp>
      <p:pic>
        <p:nvPicPr>
          <p:cNvPr descr="/home/claude/work/assets/rh-logo.png" id="2864" name="Google Shape;2864;p26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69" name="Shape 2869"/>
        <p:cNvGrpSpPr/>
        <p:nvPr/>
      </p:nvGrpSpPr>
      <p:grpSpPr>
        <a:xfrm>
          <a:off x="0" y="0"/>
          <a:ext cx="0" cy="0"/>
          <a:chOff x="0" y="0"/>
          <a:chExt cx="0" cy="0"/>
        </a:xfrm>
      </p:grpSpPr>
      <p:sp>
        <p:nvSpPr>
          <p:cNvPr id="2870" name="Google Shape;2870;p2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871" name="Google Shape;2871;p2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872" name="Google Shape;2872;p2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873" name="Google Shape;2873;p2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232</a:t>
            </a:r>
            <a:endParaRPr b="0" i="0" sz="1000" u="none" cap="none" strike="noStrike">
              <a:solidFill>
                <a:schemeClr val="dk1"/>
              </a:solidFill>
              <a:latin typeface="Calibri"/>
              <a:ea typeface="Calibri"/>
              <a:cs typeface="Calibri"/>
              <a:sym typeface="Calibri"/>
            </a:endParaRPr>
          </a:p>
        </p:txBody>
      </p:sp>
      <p:pic>
        <p:nvPicPr>
          <p:cNvPr descr="/home/claude/work/assets/rh-logo.png" id="2874" name="Google Shape;2874;p2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79" name="Shape 2879"/>
        <p:cNvGrpSpPr/>
        <p:nvPr/>
      </p:nvGrpSpPr>
      <p:grpSpPr>
        <a:xfrm>
          <a:off x="0" y="0"/>
          <a:ext cx="0" cy="0"/>
          <a:chOff x="0" y="0"/>
          <a:chExt cx="0" cy="0"/>
        </a:xfrm>
      </p:grpSpPr>
      <p:sp>
        <p:nvSpPr>
          <p:cNvPr id="2880" name="Google Shape;2880;p2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81" name="Google Shape;2881;p2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dn/121-failure-matrix.png" id="2882" name="Google Shape;2882;p2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883" name="Google Shape;2883;p2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884" name="Google Shape;2884;p2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233</a:t>
            </a:r>
            <a:endParaRPr b="0" i="0" sz="1000" u="none" cap="none" strike="noStrike">
              <a:solidFill>
                <a:schemeClr val="dk1"/>
              </a:solidFill>
              <a:latin typeface="Calibri"/>
              <a:ea typeface="Calibri"/>
              <a:cs typeface="Calibri"/>
              <a:sym typeface="Calibri"/>
            </a:endParaRPr>
          </a:p>
        </p:txBody>
      </p:sp>
      <p:pic>
        <p:nvPicPr>
          <p:cNvPr descr="/home/claude/work/assets/rh-logo.png" id="2885" name="Google Shape;2885;p2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0" name="Shape 2890"/>
        <p:cNvGrpSpPr/>
        <p:nvPr/>
      </p:nvGrpSpPr>
      <p:grpSpPr>
        <a:xfrm>
          <a:off x="0" y="0"/>
          <a:ext cx="0" cy="0"/>
          <a:chOff x="0" y="0"/>
          <a:chExt cx="0" cy="0"/>
        </a:xfrm>
      </p:grpSpPr>
      <p:sp>
        <p:nvSpPr>
          <p:cNvPr id="2891" name="Google Shape;2891;p2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892" name="Google Shape;2892;p2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893" name="Google Shape;2893;p2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AWS Builders' Library (timeouts, retries, backoff with jitter);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894" name="Google Shape;2894;p2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234</a:t>
            </a:r>
            <a:endParaRPr b="0" i="0" sz="1000" u="none" cap="none" strike="noStrike">
              <a:solidFill>
                <a:schemeClr val="dk1"/>
              </a:solidFill>
              <a:latin typeface="Calibri"/>
              <a:ea typeface="Calibri"/>
              <a:cs typeface="Calibri"/>
              <a:sym typeface="Calibri"/>
            </a:endParaRPr>
          </a:p>
        </p:txBody>
      </p:sp>
      <p:pic>
        <p:nvPicPr>
          <p:cNvPr descr="/home/claude/work/assets/rh-logo.png" id="2895" name="Google Shape;2895;p2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Program.cs - set the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await Api.Instance.SetProviderAsync(new FlagdProvider(new Uri("http://flagd:8013")));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[HttpPost("/checkout")]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Task&lt;Receipt&gt; 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Cart cart, [FromHeader(Name="X-User")] 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ctx = EvaluationContext.Builder()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.SetTargetingKey(user)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.Set("plan", cart.Plan).Set("region", cart.Region).Build();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 useNew = await flags.GetBooleanValueAsync("new-checkout",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useNew ? NewCheckout(cart) : LegacyCheckout(cart);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"flags":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"new-checkout":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"state": "ENABLED",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"variants": { "on": true, "off": false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"defaultVariant": "off",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{"var": "plan"}, "enterprise" ] }, "on",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"fractional": [ {"var": "targetingKey"},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["on", 25], ["off", 75]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csharp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unless deliberately killed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public async Task&lt;Recommendations&gt; Recommend(string 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(!await flags.GetBooleanValueAsync("recommendations-enabled", true, Ctx(user)))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_recs.FetchAsync(user);     // pairs with a circuit breaker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 deliberate flip disables it. The default flips with the flag type.</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 on plain Podman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"name": "Create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"method": "POST",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 [{ "key": "Idempotency-Key", "value": "{{$guid}}"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"url": "{{base_url}}/orders",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"body": { "mode": "raw", "raw": "{\"sku\":\"A-1\",\"qty\":2}"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"event": [{ "listen": "test", "script": { "exec":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"const body = pm.response.json();",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"pm.test('returns id', () =&gt; pm.expect(body).to.have.property('id'));",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"pm.collectionVariables.set('order_id', body.id);"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five backends</a:t>
            </a:r>
            <a:endParaRPr lang="en-US" sz="3000" dirty="0"/>
          </a:p>
        </p:txBody>
      </p:sp>
      <p:pic>
        <p:nvPicPr>
          <p:cNvPr id="6" name="Image 1" descr="./png/apxo-black-box.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.NET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start the service under test, then run the SAME collection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dotnet run &amp;                            # http://localhost:8080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local.postman_environment.json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five.</a:t>
            </a:r>
            <a:endParaRPr lang="en-US" sz="13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npm i -g newman newman-reporter-htmlextra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--environment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cli,junit,htmlextra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--reporter-junit-export results/newman.xml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--bail \                  # stop on first failure (fail fast in CI)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--timeout-request 5000     # per-request ceiling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data-driven: feed many inputs through the same requests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--iteration-data cases.csv   # csv columns become request variables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any runner with Podman + Node works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jobs: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api-tests: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runs-on: ubuntu-latest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steps: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uses: actions/checkout@v4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podman compose up -d         # order, payment, inventory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npm i -g newman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run: newman run orders.postman_collection.json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-e ci.postman_environment.json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--reporters cli,junit --reporter-junit-export results/newman.xml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on Podman, wait for readiness, run the collection — a failed assertion fails the build.</a:t>
            </a:r>
            <a:endParaRPr lang="en-US" sz="13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Podman</a:t>
            </a:r>
            <a:endParaRPr lang="en-US" sz="3000" dirty="0"/>
          </a:p>
        </p:txBody>
      </p:sp>
      <p:pic>
        <p:nvPicPr>
          <p:cNvPr id="6" name="Image 1" descr="./png/apxo-ci-gat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 above unit tests, below a thin end-to-end layer</a:t>
            </a:r>
            <a:endParaRPr lang="en-US" sz="13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five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Podman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P</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P · .NET on Linux</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Runtime, Kestrel, and Containers — what changes when Windows goes away.</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 is a language. .NET is a platform.</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is a statically-typed, garbage-collected language — one of several that target .NET. F# and VB.NET are the others. All three compile to the same intermediate representation.</a:t>
            </a:r>
          </a:p>
          <a:p>
            <a:pPr>
              <a:spcAft>
                <a:spcPts val="600"/>
              </a:spcAft>
            </a:pPr>
          </a:p>
          <a:p>
            <a:pPr>
              <a:spcAft>
                <a:spcPts val="600"/>
              </a:spcAft>
            </a:pPr>
            <a:r>
              <a:rPr sz="1700" b="0">
                <a:solidFill>
                  <a:srgbClr val="151515"/>
                </a:solidFill>
                <a:latin typeface="Red Hat Text"/>
              </a:rPr>
              <a:t>.NET (since .NET 5) is the platform: CoreCLR runtime, Base Class Library (System.*, Microsoft.Extensions.*), the Roslyn compiler, NuGet, and the dotnet CLI. The platform is cross-platform.</a:t>
            </a:r>
          </a:p>
          <a:p>
            <a:pPr>
              <a:spcAft>
                <a:spcPts val="600"/>
              </a:spcAft>
            </a:pPr>
          </a:p>
          <a:p>
            <a:pPr>
              <a:spcAft>
                <a:spcPts val="600"/>
              </a:spcAft>
            </a:pPr>
            <a:r>
              <a:rPr sz="1700" b="0">
                <a:solidFill>
                  <a:srgbClr val="151515"/>
                </a:solidFill>
                <a:latin typeface="Red Hat Text"/>
              </a:rPr>
              <a:t>When this book says “.NET 10,” it means the platform. When it says “C#,” it means the language. A .csproj targets a .NET version (net10.0), not a C# version, because the platform version determines what APIs are available.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distinction matters because conflating them causes architectural confusion — the runtime is language-agnostic.</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COMPILATION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CIL: what dotnet build actually produces</a:t>
            </a:r>
          </a:p>
        </p:txBody>
      </p:sp>
      <p:pic>
        <p:nvPicPr>
          <p:cNvPr id="4" name="Picture 3" descr="29-dotnet-compilation.png"/>
          <p:cNvPicPr>
            <a:picLocks noChangeAspect="1"/>
          </p:cNvPicPr>
          <p:nvPr/>
        </p:nvPicPr>
        <p:blipFill>
          <a:blip r:embed="rId2"/>
          <a:stretch>
            <a:fillRect/>
          </a:stretch>
        </p:blipFill>
        <p:spPr>
          <a:xfrm>
            <a:off x="1642709" y="1600200"/>
            <a:ext cx="8906256" cy="3440041"/>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Roslyn compiles C# to CIL bytecode — RyuJIT compiles CIL to native code method-at-a-time at runtime.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258</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RUNTIME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CoreCLR on Linux: libcoreclr.so</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JIT compilation (RyuJIT) — CIL to native x86-64 or ARM64, one method at a time, first call only.</a:t>
            </a:r>
          </a:p>
          <a:p>
            <a:pPr>
              <a:spcAft>
                <a:spcPts val="600"/>
              </a:spcAft>
            </a:pPr>
            <a:r>
              <a:rPr sz="1700" b="0">
                <a:solidFill>
                  <a:srgbClr val="151515"/>
                </a:solidFill>
                <a:latin typeface="Red Hat Text"/>
              </a:rPr>
              <a:t>Garbage collection — generational, concurrent GC. Server GC mode (default in ASP.NET Core) allocates one heap per CPU core.</a:t>
            </a:r>
          </a:p>
          <a:p>
            <a:pPr>
              <a:spcAft>
                <a:spcPts val="600"/>
              </a:spcAft>
            </a:pPr>
            <a:r>
              <a:rPr sz="1700" b="0">
                <a:solidFill>
                  <a:srgbClr val="151515"/>
                </a:solidFill>
                <a:latin typeface="Red Hat Text"/>
              </a:rPr>
              <a:t>Type system — reflection, generics, interface dispatch.</a:t>
            </a:r>
          </a:p>
          <a:p>
            <a:pPr>
              <a:spcAft>
                <a:spcPts val="600"/>
              </a:spcAft>
            </a:pPr>
            <a:r>
              <a:rPr sz="1700" b="0">
                <a:solidFill>
                  <a:srgbClr val="151515"/>
                </a:solidFill>
                <a:latin typeface="Red Hat Text"/>
              </a:rPr>
              <a:t>Threading — maps .NET threads to pthreads; Task and async/await run on the thread pool.</a:t>
            </a:r>
          </a:p>
          <a:p>
            <a:pPr>
              <a:spcAft>
                <a:spcPts val="600"/>
              </a:spcAft>
            </a:pPr>
            <a:r>
              <a:rPr sz="1700" b="0">
                <a:solidFill>
                  <a:srgbClr val="151515"/>
                </a:solidFill>
                <a:latin typeface="Red Hat Text"/>
              </a:rPr>
              <a:t>P/Invoke — call native C libraries directly (libpq, librdkafka, openssl).</a:t>
            </a:r>
          </a:p>
          <a:p>
            <a:pPr>
              <a:spcAft>
                <a:spcPts val="600"/>
              </a:spcAft>
            </a:pPr>
          </a:p>
          <a:p>
            <a:pPr>
              <a:spcAft>
                <a:spcPts val="600"/>
              </a:spcAft>
            </a:pPr>
            <a:r>
              <a:rPr sz="1700" b="0">
                <a:solidFill>
                  <a:srgbClr val="151515"/>
                </a:solidFill>
                <a:latin typeface="Red Hat Text"/>
              </a:rPr>
              <a:t>NativeAOT alternative: ahead-of-time compilation to a single native binary. Faster startup, less memory, but no Reflection.Emit — JIT is the default for full library compatibility.</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After JIT, a .NET method is indistinguishable from one compiled by GCC. The runtime stays for GC and exceptions, but the hot path is native code.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259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Kestrel: the web server that replaced IIS</a:t>
            </a:r>
          </a:p>
        </p:txBody>
      </p:sp>
      <p:pic>
        <p:nvPicPr>
          <p:cNvPr id="4" name="Picture 3" descr="29-kestrel-pipeline.png"/>
          <p:cNvPicPr>
            <a:picLocks noChangeAspect="1"/>
          </p:cNvPicPr>
          <p:nvPr/>
        </p:nvPicPr>
        <p:blipFill>
          <a:blip r:embed="rId2"/>
          <a:stretch>
            <a:fillRect/>
          </a:stretch>
        </p:blipFill>
        <p:spPr>
          <a:xfrm>
            <a:off x="1642709" y="1600200"/>
            <a:ext cx="8906256" cy="3846389"/>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Built into ASP.NET Core — no IIS, no nginx needed. Listens on TCP, handles TLS via OpenSSL, parses HTTP, runs the middleware pipeline.</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260</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KESTREL</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Why not nginx or Apache in front?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In Kubernetes, the service mesh handles TLS termination, load balancing, and retries. Kestrel handles everything else.</a:t>
            </a:r>
          </a:p>
          <a:p>
            <a:pPr>
              <a:spcAft>
                <a:spcPts val="600"/>
              </a:spcAft>
            </a:pPr>
          </a:p>
          <a:p>
            <a:pPr>
              <a:spcAft>
                <a:spcPts val="600"/>
              </a:spcAft>
            </a:pPr>
            <a:r>
              <a:rPr sz="1700" b="0">
                <a:solidFill>
                  <a:srgbClr val="151515"/>
                </a:solidFill>
                <a:latin typeface="Red Hat Text"/>
              </a:rPr>
              <a:t>Adding nginx as a sidecar adds latency, memory, and operational complexity for features Kestrel already provides.</a:t>
            </a:r>
          </a:p>
          <a:p>
            <a:pPr>
              <a:spcAft>
                <a:spcPts val="600"/>
              </a:spcAft>
            </a:pPr>
          </a:p>
          <a:p>
            <a:pPr>
              <a:spcAft>
                <a:spcPts val="600"/>
              </a:spcAft>
            </a:pPr>
            <a:r>
              <a:rPr sz="1700" b="0">
                <a:solidFill>
                  <a:srgbClr val="151515"/>
                </a:solidFill>
                <a:latin typeface="Red Hat Text"/>
              </a:rPr>
              <a:t>Every example in this book: builder.WebHost.UseUrls("http://+:8080")</a:t>
            </a:r>
          </a:p>
          <a:p>
            <a:pPr>
              <a:spcAft>
                <a:spcPts val="600"/>
              </a:spcAft>
            </a:pPr>
            <a:r>
              <a:rPr sz="1700" b="0">
                <a:solidFill>
                  <a:srgbClr val="151515"/>
                </a:solidFill>
                <a:latin typeface="Red Hat Text"/>
              </a:rPr>
              <a:t>For gRPC (HTTP/2 only): builder.WebHost.ConfigureKestrel(k =&gt; k.ListenAnyIP(50051, o =&gt; o.Protocols = HttpProtocols.Http2))</a:t>
            </a:r>
          </a:p>
          <a:p>
            <a:pPr>
              <a:spcAft>
                <a:spcPts val="600"/>
              </a:spcAft>
            </a:pPr>
          </a:p>
          <a:p>
            <a:pPr>
              <a:spcAft>
                <a:spcPts val="600"/>
              </a:spcAft>
            </a:pPr>
            <a:r>
              <a:rPr sz="1700" b="0">
                <a:solidFill>
                  <a:srgbClr val="151515"/>
                </a:solidFill>
                <a:latin typeface="Red Hat Text"/>
              </a:rPr>
              <a:t>Port 8080 because ports below 1024 require root, which containers should not run as.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Kestrel supports HTTP/1.1, HTTP/2, HTTP/3 natively — gRPC, WebSockets, and REST share the same host.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Multi-stage container build</a:t>
            </a:r>
          </a:p>
        </p:txBody>
      </p:sp>
      <p:pic>
        <p:nvPicPr>
          <p:cNvPr id="4" name="Picture 3" descr="29-container-layers.png"/>
          <p:cNvPicPr>
            <a:picLocks noChangeAspect="1"/>
          </p:cNvPicPr>
          <p:nvPr/>
        </p:nvPicPr>
        <p:blipFill>
          <a:blip r:embed="rId2"/>
          <a:stretch>
            <a:fillRect/>
          </a:stretch>
        </p:blipFill>
        <p:spPr>
          <a:xfrm>
            <a:off x="1939474" y="1600200"/>
            <a:ext cx="8312727" cy="4343400"/>
          </a:xfrm>
          <a:prstGeom prst="rect">
            <a:avLst/>
          </a:prstGeom>
        </p:spPr>
      </p:pic>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SDK compiles (∼780 MB image), only the runtime + app DLLs ship (∼200 MB image). The SDK never reaches production.</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262</a:t>
            </a:r>
          </a:p>
        </p:txBody>
      </p:sp>
      <p:pic>
        <p:nvPicPr>
          <p:cNvPr id="7" name="Picture 6"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CONTAINERS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Red Hat UBI: what ships to production</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UBI9 base (∼70 MB) — glibc, openssl, ca-certificates, tzdata, libicu.</a:t>
            </a:r>
          </a:p>
          <a:p>
            <a:pPr>
              <a:spcAft>
                <a:spcPts val="600"/>
              </a:spcAft>
            </a:pPr>
            <a:r>
              <a:rPr sz="1700" b="0">
                <a:solidFill>
                  <a:srgbClr val="151515"/>
                </a:solidFill>
                <a:latin typeface="Red Hat Text"/>
              </a:rPr>
              <a:t>ASP.NET Core runtime (∼100 MB) — libcoreclr.so, libclrjit.so, BCL assemblies, ASP.NET shared framework.</a:t>
            </a:r>
          </a:p>
          <a:p>
            <a:pPr>
              <a:spcAft>
                <a:spcPts val="600"/>
              </a:spcAft>
            </a:pPr>
            <a:r>
              <a:rPr sz="1700" b="0">
                <a:solidFill>
                  <a:srgbClr val="151515"/>
                </a:solidFill>
                <a:latin typeface="Red Hat Text"/>
              </a:rPr>
              <a:t>Your application (∼5–80 MB) — compiled .dll files, NuGet package DLLs, appsettings.json.</a:t>
            </a:r>
          </a:p>
          <a:p>
            <a:pPr>
              <a:spcAft>
                <a:spcPts val="600"/>
              </a:spcAft>
            </a:pPr>
          </a:p>
          <a:p>
            <a:pPr>
              <a:spcAft>
                <a:spcPts val="600"/>
              </a:spcAft>
            </a:pPr>
            <a:r>
              <a:rPr sz="1700" b="0">
                <a:solidFill>
                  <a:srgbClr val="151515"/>
                </a:solidFill>
                <a:latin typeface="Red Hat Text"/>
              </a:rPr>
              <a:t>Not in the image: SDK, MSBuild, Roslyn, NuGet, source code, obj/ and bin/ intermediates, test projects.</a:t>
            </a:r>
          </a:p>
          <a:p>
            <a:pPr>
              <a:spcAft>
                <a:spcPts val="600"/>
              </a:spcAft>
            </a:pPr>
          </a:p>
          <a:p>
            <a:pPr>
              <a:spcAft>
                <a:spcPts val="600"/>
              </a:spcAft>
            </a:pPr>
            <a:r>
              <a:rPr sz="1700" b="0">
                <a:solidFill>
                  <a:srgbClr val="151515"/>
                </a:solidFill>
                <a:latin typeface="Red Hat Text"/>
              </a:rPr>
              <a:t>UBI images are freely redistributable, based on RHEL 9, and supported by Red Hat on OpenShift. They contain the same .NET runtime bits as Microsoft’s images — the difference is the base OS layer.</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ubi9/dotnet-100 (SDK, build only) → ubi9/dotnet-100-aspnet (runtime, ships) — both from registry.access.redhat.com.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263</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LIFECYCLE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Container runtime lifecycle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1. CoreCLR initializes — loads libcoreclr.so, starts the GC, initializes the thread pool.</a:t>
            </a:r>
          </a:p>
          <a:p>
            <a:pPr>
              <a:spcAft>
                <a:spcPts val="600"/>
              </a:spcAft>
            </a:pPr>
            <a:r>
              <a:rPr sz="1700" b="0">
                <a:solidFill>
                  <a:srgbClr val="151515"/>
                </a:solidFill>
                <a:latin typeface="Red Hat Text"/>
              </a:rPr>
              <a:t>2. Host builder runs — registers services (DI), configures logging, sets up OpenTelemetry.</a:t>
            </a:r>
          </a:p>
          <a:p>
            <a:pPr>
              <a:spcAft>
                <a:spcPts val="600"/>
              </a:spcAft>
            </a:pPr>
            <a:r>
              <a:rPr sz="1700" b="0">
                <a:solidFill>
                  <a:srgbClr val="151515"/>
                </a:solidFill>
                <a:latin typeface="Red Hat Text"/>
              </a:rPr>
              <a:t>3. Kestrel binds to port 8080 — begins accepting HTTP connections.</a:t>
            </a:r>
          </a:p>
          <a:p>
            <a:pPr>
              <a:spcAft>
                <a:spcPts val="600"/>
              </a:spcAft>
            </a:pPr>
            <a:r>
              <a:rPr sz="1700" b="0">
                <a:solidFill>
                  <a:srgbClr val="151515"/>
                </a:solidFill>
                <a:latin typeface="Red Hat Text"/>
              </a:rPr>
              <a:t>4. Application is ready — Kubernetes starts sending liveness and readiness probes.</a:t>
            </a:r>
          </a:p>
          <a:p>
            <a:pPr>
              <a:spcAft>
                <a:spcPts val="600"/>
              </a:spcAft>
            </a:pPr>
            <a:r>
              <a:rPr sz="1700" b="0">
                <a:solidFill>
                  <a:srgbClr val="151515"/>
                </a:solidFill>
                <a:latin typeface="Red Hat Text"/>
              </a:rPr>
              <a:t>5. On shutdown, SIGTERM arrives — .NET host catches it and begins graceful shutdown: stops accepting new requests, drains in-flight, flushes telemetry, disposes services.</a:t>
            </a:r>
          </a:p>
          <a:p>
            <a:pPr>
              <a:spcAft>
                <a:spcPts val="600"/>
              </a:spcAft>
            </a:pPr>
          </a:p>
          <a:p>
            <a:pPr>
              <a:spcAft>
                <a:spcPts val="600"/>
              </a:spcAft>
            </a:pPr>
            <a:r>
              <a:rPr sz="1700" b="0">
                <a:solidFill>
                  <a:srgbClr val="151515"/>
                </a:solidFill>
                <a:latin typeface="Red Hat Text"/>
              </a:rPr>
              <a:t>The entire lifecycle is the same as any Linux process. No IIS app pool recycle, no w3wp.exe, no application domain.</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container is the process boundary — SIGTERM is your shutdown signal, HostOptions.ShutdownTimeout is your budget.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264</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P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C# compiles to CIL bytecode, not native code. The CoreCLR JIT (RyuJIT) compiles to native at runtime, method-at-a-time. After that first call, performance is identical to C or C++.</a:t>
            </a:r>
          </a:p>
          <a:p>
            <a:pPr>
              <a:spcAft>
                <a:spcPts val="600"/>
              </a:spcAft>
            </a:pPr>
            <a:r>
              <a:rPr sz="1700" b="0">
                <a:solidFill>
                  <a:srgbClr val="151515"/>
                </a:solidFill>
                <a:latin typeface="Red Hat Text"/>
              </a:rPr>
              <a:t>Kestrel is the built-in web server — it handles TLS (via OpenSSL), HTTP/1.1+2+3, gRPC, and WebSockets natively. No reverse proxy layer is needed inside the Pod.</a:t>
            </a:r>
          </a:p>
          <a:p>
            <a:pPr>
              <a:spcAft>
                <a:spcPts val="600"/>
              </a:spcAft>
            </a:pPr>
            <a:r>
              <a:rPr sz="1700" b="0">
                <a:solidFill>
                  <a:srgbClr val="151515"/>
                </a:solidFill>
                <a:latin typeface="Red Hat Text"/>
              </a:rPr>
              <a:t>Multi-stage Dockerfiles separate the SDK (∼780 MB) from the runtime (∼170 MB). Only the published DLLs and the ASP.NET runtime ship to production.</a:t>
            </a:r>
          </a:p>
          <a:p>
            <a:pPr>
              <a:spcAft>
                <a:spcPts val="600"/>
              </a:spcAft>
            </a:pPr>
            <a:r>
              <a:rPr sz="1700" b="0">
                <a:solidFill>
                  <a:srgbClr val="151515"/>
                </a:solidFill>
                <a:latin typeface="Red Hat Text"/>
              </a:rPr>
              <a:t>Red Hat UBI images are the same .NET runtime on a RHEL 9 base — freely redistributable, commercially supported on OpenShift.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References: .NET runtime architecture (docs.microsoft.com) · Kestrel web server (ASP.NET Core docs) · Red Hat UBI .NET images (access.redhat.com)</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265</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694" cy="6857999"/>
          </a:xfrm>
          <a:prstGeom prst="rect">
            <a:avLst/>
          </a:prstGeom>
        </p:spPr>
      </p:pic>
      <p:sp>
        <p:nvSpPr>
          <p:cNvPr id="3" name="TextBox 2"/>
          <p:cNvSpPr txBox="1"/>
          <p:nvPr/>
        </p:nvSpPr>
        <p:spPr>
          <a:xfrm>
            <a:off x="5733288" y="2121408"/>
            <a:ext cx="5852100" cy="457200"/>
          </a:xfrm>
          <a:prstGeom prst="rect">
            <a:avLst/>
          </a:prstGeom>
          <a:noFill/>
        </p:spPr>
        <p:txBody>
          <a:bodyPr wrap="square">
            <a:spAutoFit/>
          </a:bodyPr>
          <a:lstStyle/>
          <a:p>
            <a:pPr algn="l"/>
            <a:r>
              <a:rPr sz="2200" b="1">
                <a:solidFill>
                  <a:srgbClr val="FFFFFF"/>
                </a:solidFill>
                <a:latin typeface="Overpass SemiBold"/>
              </a:rPr>
              <a:t>Q</a:t>
            </a:r>
          </a:p>
        </p:txBody>
      </p:sp>
      <p:sp>
        <p:nvSpPr>
          <p:cNvPr id="4" name="TextBox 3"/>
          <p:cNvSpPr txBox="1"/>
          <p:nvPr/>
        </p:nvSpPr>
        <p:spPr>
          <a:xfrm>
            <a:off x="5705856" y="2596896"/>
            <a:ext cx="6126600" cy="1371600"/>
          </a:xfrm>
          <a:prstGeom prst="rect">
            <a:avLst/>
          </a:prstGeom>
          <a:noFill/>
        </p:spPr>
        <p:txBody>
          <a:bodyPr wrap="square">
            <a:spAutoFit/>
          </a:bodyPr>
          <a:lstStyle/>
          <a:p>
            <a:pPr algn="l"/>
            <a:r>
              <a:rPr sz="4000" b="1">
                <a:solidFill>
                  <a:srgbClr val="FFFFFF"/>
                </a:solidFill>
                <a:latin typeface="Overpass SemiBold"/>
              </a:rPr>
              <a:t>Appendix Q · Blazor Server + SignalR</a:t>
            </a:r>
          </a:p>
        </p:txBody>
      </p:sp>
      <p:sp>
        <p:nvSpPr>
          <p:cNvPr id="5" name="TextBox 4"/>
          <p:cNvSpPr txBox="1"/>
          <p:nvPr/>
        </p:nvSpPr>
        <p:spPr>
          <a:xfrm>
            <a:off x="5733288" y="4114800"/>
            <a:ext cx="6035100" cy="548700"/>
          </a:xfrm>
          <a:prstGeom prst="rect">
            <a:avLst/>
          </a:prstGeom>
          <a:noFill/>
        </p:spPr>
        <p:txBody>
          <a:bodyPr wrap="square">
            <a:spAutoFit/>
          </a:bodyPr>
          <a:lstStyle/>
          <a:p>
            <a:pPr algn="l"/>
            <a:r>
              <a:rPr sz="1500" b="0">
                <a:solidFill>
                  <a:srgbClr val="FFD9D9"/>
                </a:solidFill>
                <a:latin typeface="Red Hat Text"/>
              </a:rPr>
              <a:t>Real-time .NET — server-rendered UI, push updates, and the Redis backplane.</a:t>
            </a:r>
          </a:p>
        </p:txBody>
      </p:sp>
      <p:pic>
        <p:nvPicPr>
          <p:cNvPr id="6" name="Picture 5" descr="image.png"/>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BLAZOR SERVER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What Blazor Server is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is a hosting model where all C# component logic runs on the server. The browser runs a thin JavaScript runtime that sends UI events (clicks, keystrokes) over a persistent WebSocket and applies DOM diffs returned by the server.</a:t>
            </a:r>
          </a:p>
          <a:p>
            <a:r>
              <a:rPr sz="1700" b="0">
                <a:solidFill>
                  <a:srgbClr val="151515"/>
                </a:solidFill>
                <a:latin typeface="Red Hat Text"/>
              </a:rPr>
              <a:t/>
            </a:r>
          </a:p>
          <a:p>
            <a:r>
              <a:rPr sz="1700" b="0">
                <a:solidFill>
                  <a:srgbClr val="151515"/>
                </a:solidFill>
                <a:latin typeface="Red Hat Text"/>
              </a:rPr>
              <a:t>The WebSocket is a SignalR “circuit” — one per browser tab. The server keeps a component tree in memory for each circuit, re-renders on state change, and sends only the diff (a binary serialized RenderBatch).</a:t>
            </a:r>
          </a:p>
          <a:p>
            <a:r>
              <a:rPr sz="1700" b="0">
                <a:solidFill>
                  <a:srgbClr val="151515"/>
                </a:solidFill>
                <a:latin typeface="Red Hat Text"/>
              </a:rPr>
              <a:t/>
            </a:r>
          </a:p>
          <a:p>
            <a:r>
              <a:rPr sz="1700" b="0">
                <a:solidFill>
                  <a:srgbClr val="151515"/>
                </a:solidFill>
                <a:latin typeface="Red Hat Text"/>
              </a:rPr>
              <a:t>No WASM, no client-side .NET. The trade-off: latency per interaction (each event round-trips), but zero download size and full access to server-side resources (databases, internal APIs, secrets).</a:t>
            </a:r>
          </a:p>
          <a:p>
            <a:r>
              <a:rPr sz="1700" b="0">
                <a:solidFill>
                  <a:srgbClr val="151515"/>
                </a:solidFill>
                <a:latin typeface="Red Hat Text"/>
              </a:rPr>
              <a:t/>
            </a:r>
          </a:p>
          <a:p>
            <a:r>
              <a:rPr sz="1700" b="0">
                <a:solidFill>
                  <a:srgbClr val="151515"/>
                </a:solidFill>
                <a:latin typeface="Red Hat Text"/>
              </a:rPr>
              <a:t>For an internal dashboard that shows live order status to an operations team — low user count, high data freshness, full server access — Blazor Server is a natural fit.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Blazor Server requires a persistent WebSocket per tab — the scaling challenge from Appendix C applies directly.</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266</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SIGNALR</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SignalR: the transport underneath</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SignalR is ASP.NET Core’s real-time communication library. It abstracts WebSockets (preferred), Server-Sent Events, and long-polling behind a single Hub API.</a:t>
            </a:r>
          </a:p>
          <a:p>
            <a:r>
              <a:rPr sz="1700" b="0">
                <a:solidFill>
                  <a:srgbClr val="151515"/>
                </a:solidFill>
                <a:latin typeface="Red Hat Text"/>
              </a:rPr>
              <a:t/>
            </a:r>
          </a:p>
          <a:p>
            <a:r>
              <a:rPr sz="1700" b="0">
                <a:solidFill>
                  <a:srgbClr val="151515"/>
                </a:solidFill>
                <a:latin typeface="Red Hat Text"/>
              </a:rPr>
              <a:t>A Hub is a server-side class with methods that clients can call (client → server), and the server can invoke methods on connected clients (server → client). Groups let you broadcast to subsets of connections.</a:t>
            </a:r>
          </a:p>
          <a:p>
            <a:r>
              <a:rPr sz="1700" b="0">
                <a:solidFill>
                  <a:srgbClr val="151515"/>
                </a:solidFill>
                <a:latin typeface="Red Hat Text"/>
              </a:rPr>
              <a:t/>
            </a:r>
          </a:p>
          <a:p>
            <a:r>
              <a:rPr sz="1700" b="0">
                <a:solidFill>
                  <a:srgbClr val="151515"/>
                </a:solidFill>
                <a:latin typeface="Red Hat Text"/>
              </a:rPr>
              <a:t>Blazor Server uses SignalR internally for its circuit, but you can also use SignalR directly in any ASP.NET Core app for push notifications, live feeds, or collaborative editing — independent of Blazor.</a:t>
            </a:r>
          </a:p>
          <a:p>
            <a:r>
              <a:rPr sz="1700" b="0">
                <a:solidFill>
                  <a:srgbClr val="151515"/>
                </a:solidFill>
                <a:latin typeface="Red Hat Text"/>
              </a:rPr>
              <a:t/>
            </a:r>
          </a:p>
          <a:p>
            <a:r>
              <a:rPr sz="1700" b="0">
                <a:solidFill>
                  <a:srgbClr val="151515"/>
                </a:solidFill>
                <a:latin typeface="Red Hat Text"/>
              </a:rPr>
              <a:t>The Hub pattern: clients call server methods by name, server invokes client methods by name. No manual frame parsing, no custom protocol — SignalR handles serialization (JSON or MessagePack), reconnection, and connection lifecycle.</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SignalR is not Blazor-specific — it is a general-purpose real-time library that Blazor Server happens to use as its transport.</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267</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SCALING</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Scaling with the Redis backplane</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The same per-pod pinning problem from Appendix C appears here: a SignalR connection is pinned to the pod that accepted it. If pod A calls Clients.Group("dashboard").SendAsync(), only clients connected to pod A receive the message.</a:t>
            </a:r>
          </a:p>
          <a:p>
            <a:r>
              <a:rPr sz="1700" b="0">
                <a:solidFill>
                  <a:srgbClr val="151515"/>
                </a:solidFill>
                <a:latin typeface="Red Hat Text"/>
              </a:rPr>
              <a:t/>
            </a:r>
          </a:p>
          <a:p>
            <a:r>
              <a:rPr sz="1700" b="0">
                <a:solidFill>
                  <a:srgbClr val="151515"/>
                </a:solidFill>
                <a:latin typeface="Red Hat Text"/>
              </a:rPr>
              <a:t>SignalR’s built-in Redis backplane solves this. One line of configuration — AddSignalR().AddStackExchangeRedis(redisConn) — and every hub invocation is published to Redis Pub/Sub. All pods subscribe, so all connected clients receive the update.</a:t>
            </a:r>
          </a:p>
          <a:p>
            <a:r>
              <a:rPr sz="1700" b="0">
                <a:solidFill>
                  <a:srgbClr val="151515"/>
                </a:solidFill>
                <a:latin typeface="Red Hat Text"/>
              </a:rPr>
              <a:t/>
            </a:r>
          </a:p>
          <a:p>
            <a:r>
              <a:rPr sz="1700" b="0">
                <a:solidFill>
                  <a:srgbClr val="151515"/>
                </a:solidFill>
                <a:latin typeface="Red Hat Text"/>
              </a:rPr>
              <a:t>For higher scale: Azure SignalR Service offloads connection management entirely — the app server handles only business logic, and Azure manages the WebSocket connections.</a:t>
            </a:r>
          </a:p>
          <a:p>
            <a:r>
              <a:rPr sz="1700" b="0">
                <a:solidFill>
                  <a:srgbClr val="151515"/>
                </a:solidFill>
                <a:latin typeface="Red Hat Text"/>
              </a:rPr>
              <a:t/>
            </a:r>
          </a:p>
          <a:p>
            <a:r>
              <a:rPr sz="1700" b="0">
                <a:solidFill>
                  <a:srgbClr val="151515"/>
                </a:solidFill>
                <a:latin typeface="Red Hat Text"/>
              </a:rPr>
              <a:t>For this book’s self-hosted stack, Redis is the right choice — it reuses the same Redis already running for caching.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builder.Services.AddSignalR().AddStackExchangeRedis(redisConn) — that is the entire backplane setup.</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268</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CODE</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The order dashboard: how the pieces connect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OrderHub.cs — a SignalR Hub with a JoinDashboard method. Clients call it to join the “dashboard” group. The hub itself has no push logic — it is just a group-management entry point.</a:t>
            </a:r>
          </a:p>
          <a:p>
            <a:r>
              <a:rPr sz="1700" b="0">
                <a:solidFill>
                  <a:srgbClr val="151515"/>
                </a:solidFill>
                <a:latin typeface="Red Hat Text"/>
              </a:rPr>
              <a:t/>
            </a:r>
          </a:p>
          <a:p>
            <a:r>
              <a:rPr sz="1700" b="0">
                <a:solidFill>
                  <a:srgbClr val="151515"/>
                </a:solidFill>
                <a:latin typeface="Red Hat Text"/>
              </a:rPr>
              <a:t>POST /orders — the REST endpoint creates an order in Postgres, then calls hub.Clients.Group("dashboard").SendAsync("OrderPlaced", order). This pushes the order to every connected dashboard client.</a:t>
            </a:r>
          </a:p>
          <a:p>
            <a:r>
              <a:rPr sz="1700" b="0">
                <a:solidFill>
                  <a:srgbClr val="151515"/>
                </a:solidFill>
                <a:latin typeface="Red Hat Text"/>
              </a:rPr>
              <a:t/>
            </a:r>
          </a:p>
          <a:p>
            <a:r>
              <a:rPr sz="1700" b="0">
                <a:solidFill>
                  <a:srgbClr val="151515"/>
                </a:solidFill>
                <a:latin typeface="Red Hat Text"/>
              </a:rPr>
              <a:t>Dashboard.razor — a Blazor Server component. On initialization, it connects a HubConnection to /hubs/orders, calls JoinDashboard, and registers a handler for “OrderPlaced” that prepends the order to the list and calls StateHasChanged().</a:t>
            </a:r>
          </a:p>
          <a:p>
            <a:r>
              <a:rPr sz="1700" b="0">
                <a:solidFill>
                  <a:srgbClr val="151515"/>
                </a:solidFill>
                <a:latin typeface="Red Hat Text"/>
              </a:rPr>
              <a:t/>
            </a:r>
          </a:p>
          <a:p>
            <a:r>
              <a:rPr sz="1700" b="0">
                <a:solidFill>
                  <a:srgbClr val="151515"/>
                </a:solidFill>
                <a:latin typeface="Red Hat Text"/>
              </a:rPr>
              <a:t>The result: POST an order via curl, and the Blazor dashboard updates in real time with no polling. The SignalR circuit carries both the Blazor DOM diffs and the explicit OrderPlaced messages.</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The example runs on Podman Compose: Blazor app + Postgres + Redis + LGTM stack.</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269</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COMPARISON</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When to use what</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Raw WebSockets (Appendix C): full control, cross-language, works anywhere. Use when you need a custom binary protocol (protobuf frames), or when clients are not .NET.</a:t>
            </a:r>
          </a:p>
          <a:p>
            <a:r>
              <a:rPr sz="1700" b="0">
                <a:solidFill>
                  <a:srgbClr val="151515"/>
                </a:solidFill>
                <a:latin typeface="Red Hat Text"/>
              </a:rPr>
              <a:t/>
            </a:r>
          </a:p>
          <a:p>
            <a:r>
              <a:rPr sz="1700" b="0">
                <a:solidFill>
                  <a:srgbClr val="151515"/>
                </a:solidFill>
                <a:latin typeface="Red Hat Text"/>
              </a:rPr>
              <a:t>SignalR: managed reconnection, groups, Hub RPC pattern, MessagePack serialization. Use when the server is ASP.NET Core and you want push without managing WebSocket lifecycle.</a:t>
            </a:r>
          </a:p>
          <a:p>
            <a:r>
              <a:rPr sz="1700" b="0">
                <a:solidFill>
                  <a:srgbClr val="151515"/>
                </a:solidFill>
                <a:latin typeface="Red Hat Text"/>
              </a:rPr>
              <a:t/>
            </a:r>
          </a:p>
          <a:p>
            <a:r>
              <a:rPr sz="1700" b="0">
                <a:solidFill>
                  <a:srgbClr val="151515"/>
                </a:solidFill>
                <a:latin typeface="Red Hat Text"/>
              </a:rPr>
              <a:t>Blazor Server: server-rendered UI with no client-side framework. Use for internal tools, dashboards, admin panels — where the user count is low and server-side access matters more than offline support.</a:t>
            </a:r>
          </a:p>
          <a:p>
            <a:r>
              <a:rPr sz="1700" b="0">
                <a:solidFill>
                  <a:srgbClr val="151515"/>
                </a:solidFill>
                <a:latin typeface="Red Hat Text"/>
              </a:rPr>
              <a:t/>
            </a:r>
          </a:p>
          <a:p>
            <a:r>
              <a:rPr sz="1700" b="0">
                <a:solidFill>
                  <a:srgbClr val="151515"/>
                </a:solidFill>
                <a:latin typeface="Red Hat Text"/>
              </a:rPr>
              <a:t>Blazor WebAssembly: client-side .NET in the browser. Use when you need offline support or want to reduce server load. Not covered here — the scaling model is different (no persistent circuit).</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Choose the lowest abstraction that meets your requirements — raw WS for cross-language, SignalR for .NET push, Blazor Server for .NET UI.</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270</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700" cy="292500"/>
          </a:xfrm>
          <a:prstGeom prst="rect">
            <a:avLst/>
          </a:prstGeom>
          <a:noFill/>
        </p:spPr>
        <p:txBody>
          <a:bodyPr wrap="square">
            <a:spAutoFit/>
          </a:bodyPr>
          <a:lstStyle/>
          <a:p>
            <a:pPr algn="l"/>
            <a:r>
              <a:rPr sz="1200" b="1">
                <a:solidFill>
                  <a:srgbClr val="EE0000"/>
                </a:solidFill>
                <a:latin typeface="Red Hat Text"/>
              </a:rPr>
              <a:t>APPENDIX Q · TAKE-AWAYS</a:t>
            </a:r>
          </a:p>
        </p:txBody>
      </p:sp>
      <p:sp>
        <p:nvSpPr>
          <p:cNvPr id="3" name="TextBox 2"/>
          <p:cNvSpPr txBox="1"/>
          <p:nvPr/>
        </p:nvSpPr>
        <p:spPr>
          <a:xfrm>
            <a:off x="566928" y="676656"/>
            <a:ext cx="11057700" cy="822900"/>
          </a:xfrm>
          <a:prstGeom prst="rect">
            <a:avLst/>
          </a:prstGeom>
          <a:noFill/>
        </p:spPr>
        <p:txBody>
          <a:bodyPr wrap="square">
            <a:spAutoFit/>
          </a:bodyPr>
          <a:lstStyle/>
          <a:p>
            <a:pPr algn="l"/>
            <a:r>
              <a:rPr sz="3000" b="1">
                <a:solidFill>
                  <a:srgbClr val="151515"/>
                </a:solidFill>
                <a:latin typeface="Overpass SemiBold"/>
              </a:rPr>
              <a:t>Take-aways</a:t>
            </a:r>
          </a:p>
        </p:txBody>
      </p:sp>
      <p:sp>
        <p:nvSpPr>
          <p:cNvPr id="4" name="TextBox 3"/>
          <p:cNvSpPr txBox="1"/>
          <p:nvPr/>
        </p:nvSpPr>
        <p:spPr>
          <a:xfrm>
            <a:off x="566928" y="1600200"/>
            <a:ext cx="11057700" cy="4480500"/>
          </a:xfrm>
          <a:prstGeom prst="rect">
            <a:avLst/>
          </a:prstGeom>
          <a:noFill/>
        </p:spPr>
        <p:txBody>
          <a:bodyPr wrap="square">
            <a:spAutoFit/>
          </a:bodyPr>
          <a:lstStyle/>
          <a:p>
            <a:pPr>
              <a:spcAft>
                <a:spcPts val="600"/>
              </a:spcAft>
            </a:pPr>
            <a:r>
              <a:rPr sz="1700" b="0">
                <a:solidFill>
                  <a:srgbClr val="151515"/>
                </a:solidFill>
                <a:latin typeface="Red Hat Text"/>
              </a:rPr>
              <a:t>Blazor Server runs all UI logic on the server — the browser is a thin terminal connected by a SignalR circuit. No WASM download, full server access, but every interaction round-trips.</a:t>
            </a:r>
          </a:p>
          <a:p>
            <a:r>
              <a:rPr sz="1700" b="0">
                <a:solidFill>
                  <a:srgbClr val="151515"/>
                </a:solidFill>
                <a:latin typeface="Red Hat Text"/>
              </a:rPr>
              <a:t/>
            </a:r>
          </a:p>
          <a:p>
            <a:r>
              <a:rPr sz="1700" b="0">
                <a:solidFill>
                  <a:srgbClr val="151515"/>
                </a:solidFill>
                <a:latin typeface="Red Hat Text"/>
              </a:rPr>
              <a:t>SignalR abstracts WebSockets behind a Hub API with groups, automatic reconnection, and serialization. It is a general-purpose real-time library, not Blazor-specific.</a:t>
            </a:r>
          </a:p>
          <a:p>
            <a:r>
              <a:rPr sz="1700" b="0">
                <a:solidFill>
                  <a:srgbClr val="151515"/>
                </a:solidFill>
                <a:latin typeface="Red Hat Text"/>
              </a:rPr>
              <a:t/>
            </a:r>
          </a:p>
          <a:p>
            <a:r>
              <a:rPr sz="1700" b="0">
                <a:solidFill>
                  <a:srgbClr val="151515"/>
                </a:solidFill>
                <a:latin typeface="Red Hat Text"/>
              </a:rPr>
              <a:t>The Redis backplane (AddStackExchangeRedis) lets multiple pods broadcast to all connected clients — the same per-pod pinning solution from Appendix C, built into SignalR.</a:t>
            </a:r>
          </a:p>
          <a:p>
            <a:r>
              <a:rPr sz="1700" b="0">
                <a:solidFill>
                  <a:srgbClr val="151515"/>
                </a:solidFill>
                <a:latin typeface="Red Hat Text"/>
              </a:rPr>
              <a:t/>
            </a:r>
          </a:p>
          <a:p>
            <a:r>
              <a:rPr sz="1700" b="0">
                <a:solidFill>
                  <a:srgbClr val="151515"/>
                </a:solidFill>
                <a:latin typeface="Red Hat Text"/>
              </a:rPr>
              <a:t>For internal dashboards with low user counts and high data freshness, Blazor Server + SignalR is a pragmatic choice. For public-facing, high-scale, or cross-language scenarios, use raw WebSockets.</a:t>
            </a:r>
          </a:p>
          <a:p>
            <a:r>
              <a:rPr sz="1700" b="0">
                <a:solidFill>
                  <a:srgbClr val="151515"/>
                </a:solidFill>
                <a:latin typeface="Red Hat Text"/>
              </a:rPr>
              <a:t/>
            </a:r>
          </a:p>
          <a:p>
            <a:r>
              <a:rPr sz="1700" b="0">
                <a:solidFill>
                  <a:srgbClr val="151515"/>
                </a:solidFill>
                <a:latin typeface="Red Hat Text"/>
              </a:rPr>
              <a:t>References: ASP.NET Core Blazor hosting models (docs.microsoft.com) · SignalR documentation · Appendix C: WebSocket scaling</a:t>
            </a:r>
          </a:p>
        </p:txBody>
      </p:sp>
      <p:sp>
        <p:nvSpPr>
          <p:cNvPr id="5" name="TextBox 4"/>
          <p:cNvSpPr txBox="1"/>
          <p:nvPr/>
        </p:nvSpPr>
        <p:spPr>
          <a:xfrm>
            <a:off x="566928" y="5943600"/>
            <a:ext cx="11057700" cy="310800"/>
          </a:xfrm>
          <a:prstGeom prst="rect">
            <a:avLst/>
          </a:prstGeom>
          <a:noFill/>
        </p:spPr>
        <p:txBody>
          <a:bodyPr wrap="square">
            <a:spAutoFit/>
          </a:bodyPr>
          <a:lstStyle/>
          <a:p>
            <a:pPr algn="l"/>
            <a:r>
              <a:rPr sz="1200" b="0">
                <a:solidFill>
                  <a:srgbClr val="5A5A5A"/>
                </a:solidFill>
                <a:latin typeface="Red Hat Text"/>
              </a:rPr>
              <a:t/>
            </a:r>
          </a:p>
        </p:txBody>
      </p:sp>
      <p:sp>
        <p:nvSpPr>
          <p:cNvPr id="6" name="TextBox 5"/>
          <p:cNvSpPr txBox="1"/>
          <p:nvPr/>
        </p:nvSpPr>
        <p:spPr>
          <a:xfrm>
            <a:off x="566928" y="6364224"/>
            <a:ext cx="914400" cy="274200"/>
          </a:xfrm>
          <a:prstGeom prst="rect">
            <a:avLst/>
          </a:prstGeom>
          <a:noFill/>
        </p:spPr>
        <p:txBody>
          <a:bodyPr wrap="square">
            <a:spAutoFit/>
          </a:bodyPr>
          <a:lstStyle/>
          <a:p>
            <a:pPr algn="l"/>
            <a:r>
              <a:rPr sz="1000" b="0">
                <a:solidFill>
                  <a:srgbClr val="8A8A8A"/>
                </a:solidFill>
                <a:latin typeface="Red Hat Text"/>
              </a:rPr>
              <a:t>271</a:t>
            </a:r>
          </a:p>
        </p:txBody>
      </p:sp>
      <p:pic>
        <p:nvPicPr>
          <p:cNvPr id="7" name="Picture 6" descr="image.png"/>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