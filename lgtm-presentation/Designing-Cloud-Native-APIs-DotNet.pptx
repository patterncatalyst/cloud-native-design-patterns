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 id="559" r:id="rId320"/>
    <p:sldId id="560" r:id="rId321"/>
    <p:sldId id="561" r:id="rId322"/>
    <p:sldId id="562" r:id="rId323"/>
    <p:sldId id="563" r:id="rId324"/>
    <p:sldId id="564" r:id="rId325"/>
    <p:sldId id="565" r:id="rId326"/>
    <p:sldId id="566" r:id="rId327"/>
    <p:sldId id="567" r:id="rId328"/>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 Id="rId320" Type="http://schemas.openxmlformats.org/officeDocument/2006/relationships/slide" Target="slides/slide304.xml"/><Relationship Id="rId321" Type="http://schemas.openxmlformats.org/officeDocument/2006/relationships/slide" Target="slides/slide305.xml"/><Relationship Id="rId322" Type="http://schemas.openxmlformats.org/officeDocument/2006/relationships/slide" Target="slides/slide306.xml"/><Relationship Id="rId323" Type="http://schemas.openxmlformats.org/officeDocument/2006/relationships/slide" Target="slides/slide307.xml"/><Relationship Id="rId324" Type="http://schemas.openxmlformats.org/officeDocument/2006/relationships/slide" Target="slides/slide308.xml"/><Relationship Id="rId325" Type="http://schemas.openxmlformats.org/officeDocument/2006/relationships/slide" Target="slides/slide309.xml"/><Relationship Id="rId326" Type="http://schemas.openxmlformats.org/officeDocument/2006/relationships/slide" Target="slides/slide310.xml"/><Relationship Id="rId327" Type="http://schemas.openxmlformats.org/officeDocument/2006/relationships/slide" Target="slides/slide311.xml"/><Relationship Id="rId328" Type="http://schemas.openxmlformats.org/officeDocument/2006/relationships/slide" Target="slides/slide3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Confluent.Kafka 2.16.0 for events, Streamiz.Kafka.Net 1.8.2 for stream processing, Temporal .NET SDK for durable workflows (Stateless for the lightweight alternative), SignalR for WebSockets, OpenTelemetry .NET for observability — every library MIT or Apache 2.0. On Kubernetes with Kafka (Strimzi), Istio and KEDA. The platform around the code (Strimzi, Apicurio, OpenMetadata, the LGTM stack) is the same for every language; .NET 10 is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lnSpc>
                <a:spcPct val="100000"/>
              </a:lnSpc>
              <a:spcBef>
                <a:spcPts val="0"/>
              </a:spcBef>
              <a:spcAft>
                <a:spcPts val="0"/>
              </a:spcAft>
              <a:buSzPts val="1400"/>
              <a:buNone/>
            </a:pPr>
            <a:r>
              <a:rPr lang="en-US"/>
              <a:t>The appendices are reference material for the questions that come up: protocols, versioning, WebSockets, sagas, errors, DDD, coupling, shutdown, L7 routing, monolith-to-microservices decomposition, caching, failure modes, feature flags and API testing, plus the .NET toolkit, .NET on Linux and Blazor Server. Appendix R runs Example 05 on minikube with the same verify.sh as compose. A glossary of acronyms closes the deck.</a:t>
            </a:r>
            <a:endParaRPr/>
          </a:p>
          <a:p>
            <a:pPr indent="0" lvl="0" marL="0" rtl="0" algn="l">
              <a:lnSpc>
                <a:spcPct val="100000"/>
              </a:lnSpc>
              <a:spcBef>
                <a:spcPts val="0"/>
              </a:spcBef>
              <a:spcAft>
                <a:spcPts val="0"/>
              </a:spcAft>
              <a:buSzPts val="1400"/>
              <a:buNone/>
            </a:pPr>
            <a:r>
              <a:rPr lang="en-US"/>
              <a:t>Tell the audience which sections you will cover given the session length. The overview that follows reframes the agenda as the narrative arc: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 a re-platforming of those patterns, not a rejection: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line under the table is the architectural shift to make explicit: you stop owning the host and start owning the code, because the platform now provides the host as a primitive. These six pillars are the rubric Kubernetes enforces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 Tie back to the Windows-to-Kubernetes bridge: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ConnectionStrings__Default reaches GetConnectionString("Default"), the cloud-native equivalent of web.config transforms, except that the cluster injects the values through ConfigMaps and Secrets instead of an MSDeploy package. The two probes come from AddHealthChecks and MapHealthChecks in Example 01: /healthz is liveness (am I alive? if not, restart me, and Kubernetes kills the Pod) and runs no dependency check; /readyz is readiness (can I serve? if not, take me out of rotation but don't kill me): its check is AddDbContextCheck, which asks the EF Core context whether it can reach Postgres, and when that fails the endpoint answers 503 with status down, which removes the Pod from the Service endpoints. The probe reads the status code, not the body: Kubernetes treats any answer from 200 to 399 as ready. Getting these wrong is a top cause of cascading restarts, the same way wrong IIS app-pool ping settings used to crash apps under load. A ResponseWriter keeps the bodies identical in every language, so each stack serves the same paths and JSON; the package is Microsoft.Extensions.Diagnostics.HealthChecks.EntityFrameworkCore. The .NET runtime side: the service ships as a Linux container image built from a UBI Containerfile,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not /GetOrder?id=123 like an .asmx service; (2) request contracts validated declaratively, with records carrying [Required] and [Range] or FluentValidation rules, so bad input never reaches your logic; (3) correct status codes: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it avoids: a managed SignalR service and managed app hosting (Kubernetes is the deployment target);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OrderWriteController handles writes through WriteDb, an EF Core context on the write database, then produces order.placed with Confluent.Kafka, keyed by the order id. The read side queries ReadDb, a separate context on a denormalised store: another Postgres, or a search index.</a:t>
            </a:r>
            <a:endParaRPr/>
          </a:p>
          <a:p>
            <a:pPr indent="0" lvl="0" marL="0" rtl="0" algn="l">
              <a:lnSpc>
                <a:spcPct val="100000"/>
              </a:lnSpc>
              <a:spcBef>
                <a:spcPts val="0"/>
              </a:spcBef>
              <a:spcAft>
                <a:spcPts val="0"/>
              </a:spcAft>
              <a:buSzPts val="1400"/>
              <a:buNone/>
            </a:pPr>
            <a:r>
              <a:rPr lang="en-US"/>
              <a:t>The projection is a BackgroundService that runs a Confluent.Kafka consumer loop; the host cancels its stoppingToken on shutdown. It deserializes each event, upserts the summary row keyed by the order id, and commits the offset only after the write, so a crash means redelivery and the upsert keeps the replay idempotent.</a:t>
            </a:r>
            <a:endParaRPr/>
          </a:p>
          <a:p>
            <a:pPr indent="0" lvl="0" marL="0" rtl="0" algn="l">
              <a:lnSpc>
                <a:spcPct val="100000"/>
              </a:lnSpc>
              <a:spcBef>
                <a:spcPts val="0"/>
              </a:spcBef>
              <a:spcAft>
                <a:spcPts val="0"/>
              </a:spcAft>
              <a:buSzPts val="1400"/>
              <a:buNone/>
            </a:pPr>
            <a:r>
              <a:rPr lang="en-US"/>
              <a:t>Producing right after SaveChangesAsync is a dual write; in production the outbox from the Data section closes that gap. Each side scales on its own load: the write side on commands, the read side on queries.</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OutboxEvent entity manually as shown, where one SaveChangesAsync commits the order and the outbox row in a single transaction (Postgres/SQL Server + the Debezium Outbox Event Router single-message transform handles the unwrap on the connector side); or use a framework outbox such as Wolverine's (MIT) EF Core integration, which gives the same guarantees with framework-managed plumbing.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Confluent.Kafka is the .NET Kafka client for every Kafka path in this deck, pinned at 2.16.0. MassTransit was dropped: its abstraction hides the Kafka semantics this section teaches (keys, partitions, consumer groups, offsets), and version 9 moved to a commercial license.</a:t>
            </a:r>
            <a:endParaRPr/>
          </a:p>
          <a:p>
            <a:pPr indent="0" lvl="0" marL="0" rtl="0" algn="l">
              <a:lnSpc>
                <a:spcPct val="100000"/>
              </a:lnSpc>
              <a:spcBef>
                <a:spcPts val="0"/>
              </a:spcBef>
              <a:spcAft>
                <a:spcPts val="0"/>
              </a:spcAft>
              <a:buSzPts val="1400"/>
              <a:buNone/>
            </a:pPr>
            <a:r>
              <a:rPr lang="en-US"/>
              <a:t>The producer emits order.placed and awaits the broker's delivery report. The consumer joins notification-group, starts from the earliest offset, and runs with auto-commit off.</a:t>
            </a:r>
            <a:endParaRPr/>
          </a:p>
          <a:p>
            <a:pPr indent="0" lvl="0" marL="0" rtl="0" algn="l">
              <a:lnSpc>
                <a:spcPct val="100000"/>
              </a:lnSpc>
              <a:spcBef>
                <a:spcPts val="0"/>
              </a:spcBef>
              <a:spcAft>
                <a:spcPts val="0"/>
              </a:spcAft>
              <a:buSzPts val="1400"/>
              <a:buNone/>
            </a:pPr>
            <a:r>
              <a:rPr lang="en-US"/>
              <a:t>Two points to drill home. First, the offset is committed only after the work succeeds; a crash before the commit means redelivery, so delivery is at-least-once and handlers must be idempotent (dedupe by order id or an idempotency key). Exactly-once is mostly at-least-once plus idempotency. Second, the loop is yours: retries, dead-letter topics and shutdown are explicit code, shown in Appendix E and Appendix H. In the running example each consumer is a BackgroundService in a Worker SDK host: the host cancels its stoppingToken on SIGTERM, and the handler looks the order up before inserting, with the unique index on order_id as the backstop, so a redelivered record is processed once.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Streamiz.Kafka.Net 1.8.2 (MIT) is a .NET implementation of the Kafka Streams model: the same topology, state-store and changelog design, in native C#, with no JVM in the container.</a:t>
            </a:r>
            <a:endParaRPr/>
          </a:p>
          <a:p>
            <a:pPr indent="0" lvl="0" marL="0" rtl="0" algn="l">
              <a:lnSpc>
                <a:spcPct val="100000"/>
              </a:lnSpc>
              <a:spcBef>
                <a:spcPts val="0"/>
              </a:spcBef>
              <a:spcAft>
                <a:spcPts val="0"/>
              </a:spcAft>
              <a:buSzPts val="1400"/>
              <a:buNone/>
            </a:pPr>
            <a:r>
              <a:rPr lang="en-US"/>
              <a:t>The processor in the running example is a BackgroundService in a Worker SDK host; it keys each order by merchant, groups by key, and aggregates into tumbling windows (WINDOW_SECONDS, 10 s in the example) held in a RocksDB window store backed by a Kafka changelog topic. If the Pod dies, the state rebuilds by replaying the changelog. The aggregate keeps an exact decimal total and skips records whose amount does not parse; the output rounds half-up to two places, the same contract as the Spring Boot and Quarkus Kafka Streams processors.</a:t>
            </a:r>
            <a:endParaRPr/>
          </a:p>
          <a:p>
            <a:pPr indent="0" lvl="0" marL="0" rtl="0" algn="l">
              <a:lnSpc>
                <a:spcPct val="100000"/>
              </a:lnSpc>
              <a:spcBef>
                <a:spcPts val="0"/>
              </a:spcBef>
              <a:spcAft>
                <a:spcPts val="0"/>
              </a:spcAft>
              <a:buSzPts val="1400"/>
              <a:buNone/>
            </a:pPr>
            <a:r>
              <a:rPr lang="en-US"/>
              <a:t>ApplicationId is also the consumer group, so KEDA can scale the processor on its lag. For this audience it replaces SQL Server Service Broker activation procedures or a hand-rolled Windows Service draining MSMQ. Alternatives if Streamiz doesn't fit: Apache Flink as a separate service fed by Kafka, Akka.NET Streams for in-process reactive streams, or Orleans Streams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implements the OTel spec on top of types the runtime already has: System.Diagnostics.ActivitySource is the span API, built into the BCL since .NET 6, so starting a span needs no extra dependency.</a:t>
            </a:r>
            <a:endParaRPr/>
          </a:p>
          <a:p>
            <a:pPr indent="0" lvl="0" marL="0" rtl="0" algn="l">
              <a:lnSpc>
                <a:spcPct val="100000"/>
              </a:lnSpc>
              <a:spcBef>
                <a:spcPts val="0"/>
              </a:spcBef>
              <a:spcAft>
                <a:spcPts val="0"/>
              </a:spcAft>
              <a:buSzPts val="1400"/>
              <a:buNone/>
            </a:pPr>
            <a:r>
              <a:rPr lang="en-US"/>
              <a:t>This is the running example's setup. AddAspNetCoreInstrumentation turns every HTTP request into a span; AddSource registers the service's own ActivitySource; AddOtlpExporter reads OTEL_EXPORTER_OTLP_ENDPOINT and OTEL_EXPORTER_OTLP_PROTOCOL from the environment, which compose sets to http://lgtm:4318 and http/protobuf. Add OpenTelemetry.Instrumentation.Http, GrpcNetClient or Runtime when you want outbound HTTP, gRPC client and GC or thread-pool signals as well.</a:t>
            </a:r>
            <a:endParaRPr/>
          </a:p>
          <a:p>
            <a:pPr indent="0" lvl="0" marL="0" rtl="0" algn="l">
              <a:lnSpc>
                <a:spcPct val="100000"/>
              </a:lnSpc>
              <a:spcBef>
                <a:spcPts val="0"/>
              </a:spcBef>
              <a:spcAft>
                <a:spcPts val="0"/>
              </a:spcAft>
              <a:buSzPts val="1400"/>
              <a:buNone/>
            </a:pPr>
            <a:r>
              <a:rPr lang="en-US"/>
              <a:t>For business operations, declare one ActivitySource and wrap the work in using var span = source.StartActivity(...); the using stops the span when the scope exits. The gRPC call to inventory carries the W3C traceparent through HttpClient, so the inventory span lands in the same trace. For this audience this replaces Windows performance counters, ETW providers and the Event Log with one model that works the same in a container, in CI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Baggage in .NET goes through OpenTelemetry's Baggage API: Baggage.SetBaggage at the edge, and the default propagator writes the W3C baggage header on every outbound HTTP and gRPC call.</a:t>
            </a:r>
            <a:endParaRPr/>
          </a:p>
          <a:p>
            <a:pPr indent="0" lvl="0" marL="0" rtl="0" algn="l">
              <a:lnSpc>
                <a:spcPct val="100000"/>
              </a:lnSpc>
              <a:spcBef>
                <a:spcPts val="0"/>
              </a:spcBef>
              <a:spcAft>
                <a:spcPts val="0"/>
              </a:spcAft>
              <a:buSzPts val="1400"/>
              <a:buNone/>
            </a:pPr>
            <a:r>
              <a:rPr lang="en-US"/>
              <a:t>Kafka is different: Confluent.Kafka has no built-in tracing, so the producer injects the trace context and baggage into the record headers and the consumer extracts them, as examples/05-event-driven/dotnet does (OrderService injects, ShippingConsumer and NotificationConsumer extract). After the extract, Baggage.Current carries the values and the consumer span is a child of the producer span.</a:t>
            </a:r>
            <a:endParaRPr/>
          </a:p>
          <a:p>
            <a:pPr indent="0" lvl="0" marL="0" rtl="0" algn="l">
              <a:lnSpc>
                <a:spcPct val="100000"/>
              </a:lnSpc>
              <a:spcBef>
                <a:spcPts val="0"/>
              </a:spcBef>
              <a:spcAft>
                <a:spcPts val="0"/>
              </a:spcAft>
              <a:buSzPts val="1400"/>
              <a:buNone/>
            </a:pPr>
            <a:r>
              <a:rPr lang="en-US"/>
              <a:t>Baggage propagates on the wire; span attributes do not, but they are recorded and searchable. The idiom is to read the baggage value and set it as a tag on the local span so traces filter by tenant. Baggage travels to every downstream hop, so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handler mints a ticket that authorises one operation (GET or PUT) on one resource for 300 seconds; after that it is worthless. In Example 12 the ticket is an HMAC-SHA256 signature over resource:operation:expires, keyed with VALET_SECRET, read through IConfiguration (HMACSHA256). POST /valet-key returns the resource, the operation, the expiry and the token.</a:t>
            </a:r>
            <a:endParaRPr/>
          </a:p>
          <a:p>
            <a:pPr indent="0" lvl="0" marL="0" rtl="0" algn="l">
              <a:lnSpc>
                <a:spcPct val="100000"/>
              </a:lnSpc>
              <a:spcBef>
                <a:spcPts val="0"/>
              </a:spcBef>
              <a:spcAft>
                <a:spcPts val="0"/>
              </a:spcAft>
              <a:buSzPts val="1400"/>
              <a:buNone/>
            </a:pPr>
            <a:r>
              <a:rPr lang="en-US"/>
              <a:t>The verifier (GET /verify-valet in the example, the storage gateway in a real system) rejects an expired ticket first, recomputes the signature and compares the two with CryptographicOperations.FixedTimeEquals, a constant-time comparison. A changed resource, operation or expiry gives a different signature, so any tampering is a 403.</a:t>
            </a:r>
            <a:endParaRPr/>
          </a:p>
          <a:p>
            <a:pPr indent="0" lvl="0" marL="0" rtl="0" algn="l">
              <a:lnSpc>
                <a:spcPct val="100000"/>
              </a:lnSpc>
              <a:spcBef>
                <a:spcPts val="0"/>
              </a:spcBef>
              <a:spcAft>
                <a:spcPts val="0"/>
              </a:spcAft>
              <a:buSzPts val="1400"/>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bulkhead in its simplest .NET form: one SemaphoreSlim per tenant, created on first use. A tenant that floods the service fills only its own five slots and waits; other tenants keep their capacity.</a:t>
            </a:r>
            <a:endParaRPr/>
          </a:p>
          <a:p>
            <a:pPr indent="0" lvl="0" marL="0" rtl="0" algn="l">
              <a:lnSpc>
                <a:spcPct val="100000"/>
              </a:lnSpc>
              <a:spcBef>
                <a:spcPts val="0"/>
              </a:spcBef>
              <a:spcAft>
                <a:spcPts val="0"/>
              </a:spcAft>
              <a:buSzPts val="1400"/>
              <a:buNone/>
            </a:pPr>
            <a:r>
              <a:rPr lang="en-US"/>
              <a:t>Polly 8 offers the same isolation as a pipeline strategy: AddConcurrencyLimiter (Polly.RateLimiting) with a permit limit and a queue limit, one pipeline per tenant, combined with a timeout so a slow downstream fails fast. Microsoft.Extensions.Http.Resilience can attach such pipelines to named HttpClients.</a:t>
            </a:r>
            <a:endParaRPr/>
          </a:p>
          <a:p>
            <a:pPr indent="0" lvl="0" marL="0" rtl="0" algn="l">
              <a:lnSpc>
                <a:spcPct val="100000"/>
              </a:lnSpc>
              <a:spcBef>
                <a:spcPts val="0"/>
              </a:spcBef>
              <a:spcAft>
                <a:spcPts val="0"/>
              </a:spcAft>
              <a:buSzPts val="1400"/>
              <a:buNone/>
            </a:pPr>
            <a:r>
              <a:rPr lang="en-US"/>
              <a:t>At the platform layer, Istio connection-pool limits per destination complement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halves. The producer writes the payload to an encrypted object store under payloads/&lt;order id&gt;, mints a GET-only ticket for that key with Example 12's ComputeHmac (900 seconds), and publishes only a small claim (order id, URI and the ticket) to order.documents with Confluent.Kafka's ProduceAsync. The PII is never on Kafka's wire.</a:t>
            </a:r>
            <a:endParaRPr/>
          </a:p>
          <a:p>
            <a:pPr indent="0" lvl="0" marL="0" rtl="0" algn="l">
              <a:lnSpc>
                <a:spcPct val="100000"/>
              </a:lnSpc>
              <a:spcBef>
                <a:spcPts val="0"/>
              </a:spcBef>
              <a:spcAft>
                <a:spcPts val="0"/>
              </a:spcAft>
              <a:buSzPts val="1400"/>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lnSpc>
                <a:spcPct val="100000"/>
              </a:lnSpc>
              <a:spcBef>
                <a:spcPts val="0"/>
              </a:spcBef>
              <a:spcAft>
                <a:spcPts val="0"/>
              </a:spcAft>
              <a:buSzPts val="1400"/>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The slides and these references are enough to build the system, not only to discuss it.</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versioning lives in Asp.Versioning.Http (.NET Foundation). The reader is pluggable: MediaTypeApiVersionReaderBuilder with a template reads the version from the Accept media type (application/vnd.acme.order.v2+json), the most RESTful choice; UrlSegment, QueryString and Header readers swap in without changing handlers.</a:t>
            </a:r>
            <a:endParaRPr/>
          </a:p>
          <a:p>
            <a:pPr indent="0" lvl="0" marL="0" rtl="0" algn="l">
              <a:lnSpc>
                <a:spcPct val="100000"/>
              </a:lnSpc>
              <a:spcBef>
                <a:spcPts val="0"/>
              </a:spcBef>
              <a:spcAft>
                <a:spcPts val="0"/>
              </a:spcAft>
              <a:buSzPts val="1400"/>
              <a:buNone/>
            </a:pPr>
            <a:r>
              <a:rPr lang="en-US"/>
              <a:t>There is one URL for the order resource, and it never changes. NewVersionedApi declares the versions the group supports, and MapToApiVersion binds each handler to one. New clients ask for the v2 media type and get the currency field; old clients send the default and get v1, unaffected. Contrast with /v2/orders, which gives one resource two URLs.</a:t>
            </a:r>
            <a:endParaRPr/>
          </a:p>
          <a:p>
            <a:pPr indent="0" lvl="0" marL="0" rtl="0" algn="l">
              <a:lnSpc>
                <a:spcPct val="100000"/>
              </a:lnSpc>
              <a:spcBef>
                <a:spcPts val="0"/>
              </a:spcBef>
              <a:spcAft>
                <a:spcPts val="0"/>
              </a:spcAft>
              <a:buSzPts val="1400"/>
              <a:buNone/>
            </a:pPr>
            <a:r>
              <a:rPr lang="en-US"/>
              <a:t>OrderV1 and OrderV2 are explicit representation DTOs: the wire contract stays decoupled from the domain entity, a discipline WCF DataContracts taught, applied to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and nothing breaks, but the deprecation shows up in introspection, in any IDE plugin that reads the schema, and in HotChocolate's bundled GraphQL IDE (Nitro, formerly Banana Cake Pop)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covers the protocol left out of the main interaction-styles discussion, because it behaves so differently on Kubernetes. WebSockets are long-lived, stateful and pinned to a Pod: the opposite of the stateless request model the platform assumes.</a:t>
            </a:r>
            <a:endParaRPr/>
          </a:p>
          <a:p>
            <a:pPr indent="0" lvl="0" marL="0" rtl="0" algn="l">
              <a:lnSpc>
                <a:spcPct val="100000"/>
              </a:lnSpc>
              <a:spcBef>
                <a:spcPts val="0"/>
              </a:spcBef>
              <a:spcAft>
                <a:spcPts val="0"/>
              </a:spcAft>
              <a:buSzPts val="1400"/>
              <a:buNone/>
            </a:pPr>
            <a:r>
              <a:rPr lang="en-US"/>
              <a:t>We build an endpoint with raw ASP.NET Core WebSockets, as the running example does, see why it fights scaling, fix it with a Redis backplane, make it fast and versioned with protobuf frames, and make it survivable with reconnection. Then Blazor: Blazor Server sits on the SignalR pinning side of this discussion and Blazor WebAssembly on the other; both run on Kubernetes as plain ASP.NET Core Pods. SignalR itself is the subject of Appendix Q.</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endpoint uses raw ASP.NET Core WebSockets: UseWebSockets, a mapped route, AcceptWebSocketAsync, then a receive loop. No SignalR, so any client can connect and verify.sh can test it with a plain WebSocket client.</a:t>
            </a:r>
            <a:endParaRPr/>
          </a:p>
          <a:p>
            <a:pPr indent="0" lvl="0" marL="0" rtl="0" algn="l">
              <a:lnSpc>
                <a:spcPct val="100000"/>
              </a:lnSpc>
              <a:spcBef>
                <a:spcPts val="0"/>
              </a:spcBef>
              <a:spcAft>
                <a:spcPts val="0"/>
              </a:spcAft>
              <a:buSzPts val="1400"/>
              <a:buNone/>
            </a:pPr>
            <a:r>
              <a:rPr lang="en-US"/>
              <a:t>Point at the clients dictionary: it lives in this Pod's memory. The connection, the client id and the fan-out all stay on one Pod, and that single fact is the scaling problem a Redis backplane solves, which the example also runs.</a:t>
            </a:r>
            <a:endParaRPr/>
          </a:p>
          <a:p>
            <a:pPr indent="0" lvl="0" marL="0" rtl="0" algn="l">
              <a:lnSpc>
                <a:spcPct val="100000"/>
              </a:lnSpc>
              <a:spcBef>
                <a:spcPts val="0"/>
              </a:spcBef>
              <a:spcAft>
                <a:spcPts val="0"/>
              </a:spcAft>
              <a:buSzPts val="1400"/>
              <a:buNone/>
            </a:pPr>
            <a:r>
              <a:rPr lang="en-US"/>
              <a:t>SignalR (Appendix Q) wraps the same transport with hubs, groups, reconnection and serialization; it is the choice when server and clients are .NET. The per-Pod state problem is the same either way.</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(MIT). When a publisher calls Clients.User("X").SendAsync(…), the message goes to the backplane without knowing which Pod holds X; the backplane fans it to all Pods, and the one Pod that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A managed, cloud-hosted SignalR service is not used: the open-source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protobuf binary frames are smaller and cheaper to parse than JSON text, which matters when pushing high-frequency updates to many connections.</a:t>
            </a:r>
            <a:endParaRPr/>
          </a:p>
          <a:p>
            <a:pPr indent="0" lvl="0" marL="0" rtl="0" algn="l">
              <a:lnSpc>
                <a:spcPct val="100000"/>
              </a:lnSpc>
              <a:spcBef>
                <a:spcPts val="0"/>
              </a:spcBef>
              <a:spcAft>
                <a:spcPts val="0"/>
              </a:spcAft>
              <a:buSzPts val="1400"/>
              <a:buNone/>
            </a:pPr>
            <a:r>
              <a:rPr lang="en-US"/>
              <a:t>Versioning: a WebSocket message has no URL to hang a version on, so you version the envelope. The Version field lets the client detect an incompatible payload format and renegotiate; the Type field dispatches to the right typed payload; and a monotonic Seq number per connection is what makes reconnection and replay possible, the subject of the failure-handling slide.</a:t>
            </a:r>
            <a:endParaRPr/>
          </a:p>
          <a:p>
            <a:pPr indent="0" lvl="0" marL="0" rtl="0" algn="l">
              <a:lnSpc>
                <a:spcPct val="100000"/>
              </a:lnSpc>
              <a:spcBef>
                <a:spcPts val="0"/>
              </a:spcBef>
              <a:spcAft>
                <a:spcPts val="0"/>
              </a:spcAft>
              <a:buSzPts val="1400"/>
              <a:buNone/>
            </a:pPr>
            <a:r>
              <a:rPr lang="en-US"/>
              <a:t>The envelope is a protobuf message compiled with Grpc.Tools, so the same .proto evolution rules from Appendix B apply. With SignalR (Appendix Q) the equivalent is the MessagePack hub protocol plus a versioned envelope record.</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every button click, is a round-trip. Every component instance is pinned to one Pod for its session lifetime. Calls to inventory, payment, etc. happen server-to-server. Once you scale to N Pods, you need a Redis backplane (one line: AddStackExchangeRedis), and every pinning, connection-count and drain concern from this appendix applies in full: it is a WebSocket workload that happens to drive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(server-side state, cookie auth, classic web app shape),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 managed cloud service. SignalR is in-box ASP.NET Core. The Redis backplane is the StackExchangeRedis package (MIT) against any Redis (or Valkey, or KeyDB). The static-file host can be nginx or ASP.NET Core's UseStaticFiles. Hosting on Kubernetes is just two Deployments and two Services. A team moving from managed app hosting to Kubernetes keeps Blazor: it runs Redis itself as the backplane instead of a managed SignalR service.</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a Pod restart would strand every in-flight saga with no idea what to compensate. Three real options. A DB-backed state machine: one row per saga instance holding its status and a context blob; you own the transitions with EF Core; the simplest option, and enough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the lighter in-process alternative, compared with Temporal in this appendix.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default choice when the saga is bounded and the team wants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which is what the data-dependency slide relies on, and bumps the step index; the EF Core SaveChangesAsync makes the row durable after every step. Recovery needs no special path: Example 17 resumes RUNNING sagas from an IHostedService at startup by calling AdvanceAsync again, and a BackgroundService with PeriodicTimer (or Quartz.NET on a cron) plus DistributedLock does the same continuously, the cloud-native equivalent of a Windows Service that processed an MSMQ queue. Temporal .NET and Stateless, both in this appendix, solve the same problem at a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With Temporal .NET the workflow keeps a stack of compensations and runs them in reverse on failure, with the same guarantees and durable history.</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against lightweight in-process state, both open source and production-grade.</a:t>
            </a:r>
            <a:endParaRPr/>
          </a:p>
          <a:p>
            <a:pPr indent="0" lvl="0" marL="0" rtl="0" algn="l">
              <a:lnSpc>
                <a:spcPct val="100000"/>
              </a:lnSpc>
              <a:spcBef>
                <a:spcPts val="0"/>
              </a:spcBef>
              <a:spcAft>
                <a:spcPts val="0"/>
              </a:spcAft>
              <a:buSzPts val="1400"/>
              <a:buNone/>
            </a:pPr>
            <a:r>
              <a:rPr lang="en-US"/>
              <a:t>Temporal: an MIT-licensed Server and an open-source .NET SDK, on NuGet as Temporalio, actively maintained by the team that built Cadence. You get durable execution, deterministic replay, retries with backoff, timers, child workflows, signals and queries, and a CLI and UI to inspect runs. The cost is operating a Temporal cluster on your own Kubernetes, or choosing Temporal Cloud.</a:t>
            </a:r>
            <a:endParaRPr/>
          </a:p>
          <a:p>
            <a:pPr indent="0" lvl="0" marL="0" rtl="0" algn="l">
              <a:lnSpc>
                <a:spcPct val="100000"/>
              </a:lnSpc>
              <a:spcBef>
                <a:spcPts val="0"/>
              </a:spcBef>
              <a:spcAft>
                <a:spcPts val="0"/>
              </a:spcAft>
              <a:buSzPts val="1400"/>
              <a:buNone/>
            </a:pPr>
            <a:r>
              <a:rPr lang="en-US"/>
              <a:t>Stateless: a small in-process .NET state-machine library (a community project). No extra cluster; you persist the CurrentState property to your own database, one column, and restore it before firing the next trigger. Better when the saga is small, the team already works in EF Core, and another runtime is overkill.</a:t>
            </a:r>
            <a:endParaRPr/>
          </a:p>
          <a:p>
            <a:pPr indent="0" lvl="0" marL="0" rtl="0" algn="l">
              <a:lnSpc>
                <a:spcPct val="100000"/>
              </a:lnSpc>
              <a:spcBef>
                <a:spcPts val="0"/>
              </a:spcBef>
              <a:spcAft>
                <a:spcPts val="0"/>
              </a:spcAft>
              <a:buSzPts val="1400"/>
              <a:buNone/>
            </a:pPr>
            <a:r>
              <a:rPr lang="en-US"/>
              <a:t>Dapr Workflows is a sidebar: a third option when your environment already uses the sidecar pattern, not the focus of this deck. The decision is how much engine this saga needs.</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a REST handler in an ASP.NET Core app, injects ITemporalClient and calls StartWorkflowAsync(…)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whole story on one slide. Activity classes are plain C#; methods marked [Activity] are registered with the worker at startup. The workflow class is marked [Workflow] with one [WorkflowRun] entry point. The body reads like synchronous code, but every activity call goes through Temporal's task queue and is durably scheduled, retried and timed out on the Server. StartToCloseTimeout is required on every activity call, so the options object is shared.</a:t>
            </a:r>
            <a:endParaRPr/>
          </a:p>
          <a:p>
            <a:pPr indent="0" lvl="0" marL="0" rtl="0" algn="l">
              <a:lnSpc>
                <a:spcPct val="100000"/>
              </a:lnSpc>
              <a:spcBef>
                <a:spcPts val="0"/>
              </a:spcBef>
              <a:spcAft>
                <a:spcPts val="0"/>
              </a:spcAft>
              <a:buSzPts val="1400"/>
              <a:buNone/>
            </a:pPr>
            <a:r>
              <a:rPr lang="en-US"/>
              <a:t>The output of each activity (paymentId, reservationId) is captured in a local variable and in Temporal's event history. If the worker dies between charge and reserve, a replacement worker replays the history, recovers paymentId, and continues at reserve without re-running charge.</a:t>
            </a:r>
            <a:endParaRPr/>
          </a:p>
          <a:p>
            <a:pPr indent="0" lvl="0" marL="0" rtl="0" algn="l">
              <a:lnSpc>
                <a:spcPct val="100000"/>
              </a:lnSpc>
              <a:spcBef>
                <a:spcPts val="0"/>
              </a:spcBef>
              <a:spcAft>
                <a:spcPts val="0"/>
              </a:spcAft>
              <a:buSzPts val="1400"/>
              <a:buNone/>
            </a:pPr>
            <a:r>
              <a:rPr lang="en-US"/>
              <a:t>Compensation is plain C# as well: each completed step pushes its undo onto a stack, and on an activity failure the workflow pops and runs them in reverse, the same discipline as the hand-rolled version, now durable because each undo is itself an activity. Hosting in ASP.NET Core: Temporalio.Extensions.Hosting registers the client and a hosted worker that lists the workflow and activity types.</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Under it,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FulfillmentSagaMachine wraps a Stateless StateMachine&lt;State, Trigger&gt; with enums for both type parameters: type-safe states and triggers. Configure() declares each state's permitted transitions and its entry action; OnEntryAsync runs the business call when the state is entered, and FireAsync is required once entry actions are asynchronous. The Permit chain reads like the state diagram.</a:t>
            </a:r>
            <a:endParaRPr/>
          </a:p>
          <a:p>
            <a:pPr indent="0" lvl="0" marL="0" rtl="0" algn="l">
              <a:lnSpc>
                <a:spcPct val="100000"/>
              </a:lnSpc>
              <a:spcBef>
                <a:spcPts val="0"/>
              </a:spcBef>
              <a:spcAft>
                <a:spcPts val="0"/>
              </a:spcAft>
              <a:buSzPts val="1400"/>
              <a:buNone/>
            </a:pPr>
            <a:r>
              <a:rPr lang="en-US"/>
              <a:t>FulfillmentService.OnAsync is the entry point, called from an HTTP handler or a Kafka consumer. It restores the saga's state by order id from EF Core, rebuilds the machine in that state, fires the trigger, and saves the new CurrentState.</a:t>
            </a:r>
            <a:endParaRPr/>
          </a:p>
          <a:p>
            <a:pPr indent="0" lvl="0" marL="0" rtl="0" algn="l">
              <a:lnSpc>
                <a:spcPct val="100000"/>
              </a:lnSpc>
              <a:spcBef>
                <a:spcPts val="0"/>
              </a:spcBef>
              <a:spcAft>
                <a:spcPts val="0"/>
              </a:spcAft>
              <a:buSzPts val="1400"/>
              <a:buNone/>
            </a:pPr>
            <a:r>
              <a:rPr lang="en-US"/>
              <a:t>The transactional discipline is yours: wrap the action's effects and the state save in one DbContext transaction, the same commit-together rule as the hand-rolled version. Compared with Temporal there is no separate server, but also no automatic retries, timers or replay; the BackgroundService sweeper from the persisted-state slide still applies.</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Nothing internal leaks: no stack trace, exception class name, or SQL. Those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Confluent.Kafka the loop is yours, so the invariant is explicit: bounded retries, then a delayed-retry topic, then a DLQ, with the offset committed on every branch.</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Appendix E pattern over Confluent.Kafka. The loop is yours, so the invariant is explicit and readable: a Polly 8 retry pipeline gives bounded in-place retries with exponential backoff and jitter, and treats ValidationException as non-retryable, since retrying a 4xx gains nothing.</a:t>
            </a:r>
            <a:endParaRPr/>
          </a:p>
          <a:p>
            <a:pPr indent="0" lvl="0" marL="0" rtl="0" algn="l">
              <a:lnSpc>
                <a:spcPct val="100000"/>
              </a:lnSpc>
              <a:spcBef>
                <a:spcPts val="0"/>
              </a:spcBef>
              <a:spcAft>
                <a:spcPts val="0"/>
              </a:spcAft>
              <a:buSzPts val="1400"/>
              <a:buNone/>
            </a:pPr>
            <a:r>
              <a:rPr lang="en-US"/>
              <a:t>When the in-place retries are exhausted, the record is re-published to a delayed-retry topic with a retries header; after MaxRetries attempts, or immediately for a validation failure, it goes to the dead-letter topic with the error type attached. Either way the offset is committed, so the consumer keeps making progress and a poison record never blocks the partition.</a:t>
            </a:r>
            <a:endParaRPr/>
          </a:p>
          <a:p>
            <a:pPr indent="0" lvl="0" marL="0" rtl="0" algn="l">
              <a:lnSpc>
                <a:spcPct val="100000"/>
              </a:lnSpc>
              <a:spcBef>
                <a:spcPts val="0"/>
              </a:spcBef>
              <a:spcAft>
                <a:spcPts val="0"/>
              </a:spcAft>
              <a:buSzPts val="1400"/>
              <a:buNone/>
            </a:pPr>
            <a:r>
              <a:rPr lang="en-US"/>
              <a:t>Make the handler idempotent: at-least-once delivery means a retried record may have partly applied. For the MSMQ audience this is the MaxRetryCount, ReceiveErrorHandling and poison-queue model, written as code you can test.</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a repository and an event publisher, and depends on nothing else (no ASP.NET Core, no EF Core, no Confluent.Kafka imports anywhere in the domain project). The application service PlaceOrderUseCase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minimal-API endpoint is a thin driving adapter — turn the HTTP body into a command and call the use case; a gRPC service or HotChocolate resolver is the same shape. The outbound ports are implemented by adapters (EfOrderRepository over an EF Core OrdersContext for persistence, a log publisher in the example and a Kafka publisher on Confluent.Kafka in production)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default ConsoleLifetime already turns SIGTERM into a graceful stop, so Example 21 keeps it and adds the drain as one more hosted service. DrainService implements IHostedLifecycleService, and the host runs every StoppingAsync before any StopAsync. In StoppingAsync the service flips ShutdownState, so the ShutdownHealthCheck behind /readyz answers 503 and the Service stops routing, then waits DRAIN_DELAY_SECONDS (5 s, read through IConfiguration; it plays the part of a preStop sleep) while the endpoint removal propagates; /healthz stays 200 and Kestrel keeps serving. Kestrel then stops accepting and finishes in-flight requests in its StopAsync, all bounded by HostOptions.ShutdownTimeout (20 s here; the default is 30 s). The host disposes the DbContext services and the process exits 0, inside the 30-second grace period. The pattern for other work: one BackgroundService per long-running concern (a Kafka consumer, a scheduler, the Temporal worker from Appendix D, the Streamiz processor from Section 6), each draining in its own StopAsync: consumer.Close() commits offsets and leaves the group, a SignalR hub sends close frames, a Temporal worker shuts down. For the WCF refugees: this is the in-box equivalent of ServiceHost.Close, except that SIGTERM triggers it and the budget is HostOptions.ShutdownTimeout rather than a per-binding timeout. The Kubernetes settings (probes, preStop, grace period) are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lnSpc>
                <a:spcPct val="100000"/>
              </a:lnSpc>
              <a:spcBef>
                <a:spcPts val="0"/>
              </a:spcBef>
              <a:spcAft>
                <a:spcPts val="0"/>
              </a:spcAft>
              <a:buSzPts val="1400"/>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lnSpc>
                <a:spcPct val="100000"/>
              </a:lnSpc>
              <a:spcBef>
                <a:spcPts val="0"/>
              </a:spcBef>
              <a:spcAft>
                <a:spcPts val="0"/>
              </a:spcAft>
              <a:buSzPts val="1400"/>
              <a:buNone/>
            </a:pPr>
            <a:r>
              <a:rPr lang="en-US"/>
              <a:t>The preStop sleep looks crude, but it is the practical fix for the asynchronous-deregistration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a Confluent.Kafka consumer and NRules, then circle back to east/west, where most decisions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a Confluent.Kafka consumer + NRules). Each layer is the right place for a different type of decision; every topic in this appendix maps to one of them.</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YARP are API gateways with plugin ecosystems and a more product-aware feature set; YARP (MIT, from Microsoft) is the .NET-native option — a library you embed in an ASP.NET Core app for full code-level control of routing, transforms and load-balancing.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Payload modification as configuration, not code. The URL rewrite cleans up the path before forwarding: public /api/v1/orders becomes internal /orders.</a:t>
            </a:r>
            <a:endParaRPr/>
          </a:p>
          <a:p>
            <a:pPr indent="0" lvl="0" marL="0" rtl="0" algn="l">
              <a:lnSpc>
                <a:spcPct val="100000"/>
              </a:lnSpc>
              <a:spcBef>
                <a:spcPts val="0"/>
              </a:spcBef>
              <a:spcAft>
                <a:spcPts val="0"/>
              </a:spcAft>
              <a:buSzPts val="1400"/>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lnSpc>
                <a:spcPct val="100000"/>
              </a:lnSpc>
              <a:spcBef>
                <a:spcPts val="0"/>
              </a:spcBef>
              <a:spcAft>
                <a:spcPts val="0"/>
              </a:spcAft>
              <a:buSzPts val="1400"/>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if the decision fits in a few YAML lines and depends only on the envelope, do it at the mesh. If it depends on the payload, needs a decision table that domain experts edit, or involves many intersecting conditions, push it into the app.</a:t>
            </a:r>
            <a:endParaRPr/>
          </a:p>
          <a:p>
            <a:pPr indent="0" lvl="0" marL="0" rtl="0" algn="l">
              <a:lnSpc>
                <a:spcPct val="100000"/>
              </a:lnSpc>
              <a:spcBef>
                <a:spcPts val="0"/>
              </a:spcBef>
              <a:spcAft>
                <a:spcPts val="0"/>
              </a:spcAft>
              <a:buSzPts val="1400"/>
              <a:buNone/>
            </a:pPr>
            <a:r>
              <a:rPr lang="en-US"/>
              <a:t>The classic example is HL7 healthcare messages, routed by patient class, encounter type and message subtype: dozens of conditions a non-developer maintains. That belongs in a rule engine, not a VirtualService. In-app routing sits behind the mesh and complements it.</a:t>
            </a:r>
            <a:endParaRPr/>
          </a:p>
          <a:p>
            <a:pPr indent="0" lvl="0" marL="0" rtl="0" algn="l">
              <a:lnSpc>
                <a:spcPct val="100000"/>
              </a:lnSpc>
              <a:spcBef>
                <a:spcPts val="0"/>
              </a:spcBef>
              <a:spcAft>
                <a:spcPts val="0"/>
              </a:spcAft>
              <a:buSzPts val="1400"/>
              <a:buNone/>
            </a:pPr>
            <a:r>
              <a:rPr lang="en-US"/>
              <a:t>In .NET the router is a plain Confluent.Kafka consumer (or Wolverine's routing), and NRules (MIT, Rete-based, the same algorithm as Drools) is the open-source decision engine. The rule-based-routing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take on rule-based routing. Inputs arrive over REST, gRPC or Kafka and land in a Confluent.Kafka consumer, which does two things: it enriches the message with context from an HTTP lookup (customer, region, tier), then evaluates the enriched fact in an NRules session.</a:t>
            </a:r>
            <a:endParaRPr/>
          </a:p>
          <a:p>
            <a:pPr indent="0" lvl="0" marL="0" rtl="0" algn="l">
              <a:lnSpc>
                <a:spcPct val="100000"/>
              </a:lnSpc>
              <a:spcBef>
                <a:spcPts val="0"/>
              </a:spcBef>
              <a:spcAft>
                <a:spcPts val="0"/>
              </a:spcAft>
              <a:buSzPts val="1400"/>
              <a:buNone/>
            </a:pPr>
            <a:r>
              <a:rPr lang="en-US"/>
              <a:t>NRules is an MIT-licensed Rete rules engine, the algorithm Drools uses. Rules are C# classes with a fluent Match/Do API, so the IDE catches typos and the test runner runs them, or external NRules.Language files when domain experts edit the rules on their own. The rules set a WhereTo property on the fact, and the consumer dispatches to each destination: a Kafka topic or an HTTP endpoint.</a:t>
            </a:r>
            <a:endParaRPr/>
          </a:p>
          <a:p>
            <a:pPr indent="0" lvl="0" marL="0" rtl="0" algn="l">
              <a:lnSpc>
                <a:spcPct val="100000"/>
              </a:lnSpc>
              <a:spcBef>
                <a:spcPts val="0"/>
              </a:spcBef>
              <a:spcAft>
                <a:spcPts val="0"/>
              </a:spcAft>
              <a:buSzPts val="1400"/>
              <a:buNone/>
            </a:pPr>
            <a:r>
              <a:rPr lang="en-US"/>
              <a:t>Everything runs in the ASP.NET Core Pod, with no separate rule server, behind Istio, which still owns mTLS, retries and locality. The running example keeps the rules in a runtime-editable table instead of NRules; the shape is the same.</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reading of the Camel and Drools pattern, on Confluent.Kafka. OrderRouter takes an HttpClient for enrichment and destinations, an NRules ISessionFactory, and a producer.</a:t>
            </a:r>
            <a:endParaRPr/>
          </a:p>
          <a:p>
            <a:pPr indent="0" lvl="0" marL="0" rtl="0" algn="l">
              <a:lnSpc>
                <a:spcPct val="100000"/>
              </a:lnSpc>
              <a:spcBef>
                <a:spcPts val="0"/>
              </a:spcBef>
              <a:spcAft>
                <a:spcPts val="0"/>
              </a:spcAft>
              <a:buSzPts val="1400"/>
              <a:buNone/>
            </a:pPr>
            <a:r>
              <a:rPr lang="en-US"/>
              <a:t>The flow: enrich the message by calling customer-svc (attach Polly pipelines through Microsoft.Extensions.Http.Resilience, as in Appendix E); create a session per message, because sessions are not thread-safe; insert the fact and call Fire(), which runs every rule whose pattern matches and sets WhereTo; then dispatch to each destination, producing to a Kafka topic or posting to an HTTP endpoint.</a:t>
            </a:r>
            <a:endParaRPr/>
          </a:p>
          <a:p>
            <a:pPr indent="0" lvl="0" marL="0" rtl="0" algn="l">
              <a:lnSpc>
                <a:spcPct val="100000"/>
              </a:lnSpc>
              <a:spcBef>
                <a:spcPts val="0"/>
              </a:spcBef>
              <a:spcAft>
                <a:spcPts val="0"/>
              </a:spcAft>
              <a:buSzPts val="1400"/>
              <a:buNone/>
            </a:pPr>
            <a:r>
              <a:rPr lang="en-US"/>
              <a:t>NRules.Language, also MIT, parses an external rule file into the same model, so domain experts can change routing without rebuilding the consumer; the NRules rule slide shows the C# class form. The EIP semantics match Apache Camel; the API is C#-native.</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router will consume. Two real rules and a default with Priority -100 (salience equivalent) so it fires last if nothing else matched. The point isn't the syntax: these rules are first-class C# classes (type-safe, refactor-friendly, unit-testable through NRules.Testing)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fit a spreadsheet shape (the DMN sweet spot), the .NET ecosystem doesn't ship a strong open-source DMN runtime; the pragmatic answer is to run Apache KIE (Kogito) DMN as a separate service and call it via REST from the same enrichment step, or implement the table convention in NRules. The toolkit appendix (Appendix J) lists that gap.</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NRules samples.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the gaps in the .NET cloud-native story,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application-side bill of materials: every NuGet library used in the deck, grouped by concern, each MIT, Apache 2.0 or BSD-3, with no commercial-only dependency and no cloud-only service.</a:t>
            </a:r>
            <a:endParaRPr/>
          </a:p>
          <a:p>
            <a:pPr indent="0" lvl="0" marL="0" rtl="0" algn="l">
              <a:lnSpc>
                <a:spcPct val="100000"/>
              </a:lnSpc>
              <a:spcBef>
                <a:spcPts val="0"/>
              </a:spcBef>
              <a:spcAft>
                <a:spcPts val="0"/>
              </a:spcAft>
              <a:buSzPts val="1400"/>
              <a:buNone/>
            </a:pPr>
            <a:r>
              <a:rPr lang="en-US"/>
              <a:t>Highlights: Microsoft.AspNetCore.OpenApi and SignalR are part of ASP.NET Core 10; Confluent.Kafka 2.16.0 is the Kafka client for every producer and consumer, chosen because it keeps the Kafka semantics visible (MassTransit was dropped: it hides those semantics and moved to a commercial license in version 9); Streamiz.Kafka.Net 1.8.2 is the Kafka Streams model in .NET, so windowed aggregations need no Flink cluster; Temporalio pairs with the Temporal Server for durable workflows; Stateless covers the lightweight state-machine slot; NRules covers rules; YARP and Wolverine appear where they fit.</a:t>
            </a:r>
            <a:endParaRPr/>
          </a:p>
          <a:p>
            <a:pPr indent="0" lvl="0" marL="0" rtl="0" algn="l">
              <a:lnSpc>
                <a:spcPct val="100000"/>
              </a:lnSpc>
              <a:spcBef>
                <a:spcPts val="0"/>
              </a:spcBef>
              <a:spcAft>
                <a:spcPts val="0"/>
              </a:spcAft>
              <a:buSzPts val="1400"/>
              <a:buNone/>
            </a:pPr>
            <a:r>
              <a:rPr lang="en-US"/>
              <a:t>The running examples pin every package exactly on .NET 10.0.12: OpenTelemetry 1.19.1, EF Core 10.0.12 with Npgsql.EntityFrameworkCore.PostgreSQL 10.0.3, HybridCache 10.10.0, Grpc 2.84.0, StackExchange.Redis 3.4.0, HotChocolate 16.6.8, OpenFeature 2.14.1. Everything runs on plain Kubernetes; nothing requires a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in the toolkit table are entirely separable from the platform choices on this one. If you're already running this platform with a Java or Python application, you can drop .NET services in alongside without changing anything under the application layer. A few callouts: Strimzi is the Kubernetes-native Kafka operator (open-source, Apache 2.0); Apicurio is the open-source schema registry that holds your OpenAPI / .proto / Avro contracts; OpenMetadata is the asset-catalog/lineage tool; LGTM (Tempo + Mimir + Loki + Grafana) is Grafana Labs' open-source observability stack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expanded version of the bridge diagram from Cloud-Native Principles, a 22-row table with four columns: the concern, what you came from in the Windows world, what it becomes in the cloud-native world, and what changes most. Read the rightmost column first; that is where the architectural shift lives.</a:t>
            </a:r>
            <a:endParaRPr/>
          </a:p>
          <a:p>
            <a:pPr indent="0" lvl="0" marL="0" rtl="0" algn="l">
              <a:lnSpc>
                <a:spcPct val="100000"/>
              </a:lnSpc>
              <a:spcBef>
                <a:spcPts val="0"/>
              </a:spcBef>
              <a:spcAft>
                <a:spcPts val="0"/>
              </a:spcAft>
              <a:buSzPts val="1400"/>
              <a:buNone/>
            </a:pPr>
            <a:r>
              <a:rPr lang="en-US"/>
              <a:t>Almost every row keeps the shape of the pattern (request handlers, background workers, scheduled jobs, distributed locks, health checks, configuration, telemetry) and changes who owns the substrate. IIS owned the host; Kubernetes does now. MSDTC owned distributed transactions; the saga and outbox do. MSMQ owned messaging; Kafka with Confluent.Kafka does. Active Directory owned service identity; SPIFFE and mTLS through Istio do. Performance counters and the Event Log owned telemetry; OpenTelemetry with Loki, Tempo and Mimir does.</a:t>
            </a:r>
            <a:endParaRPr/>
          </a:p>
          <a:p>
            <a:pPr indent="0" lvl="0" marL="0" rtl="0" algn="l">
              <a:lnSpc>
                <a:spcPct val="100000"/>
              </a:lnSpc>
              <a:spcBef>
                <a:spcPts val="0"/>
              </a:spcBef>
              <a:spcAft>
                <a:spcPts val="0"/>
              </a:spcAft>
              <a:buSzPts val="1400"/>
              <a:buNone/>
            </a:pPr>
            <a:r>
              <a:rPr lang="en-US"/>
              <a:t>Two rows are conceptual rewrites, not substrate swaps. COM+ and MSDTC distributed transactions become sagas, with compensations written explicitly because there is no two-phase commit across services. BizTalk orchestration becomes a Temporal workflow or a Kafka consumer with NRules routing: orchestration is C# in your repository, not an artifact in a separate runtime.</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ecosystem has gaps; naming them keeps trust. (1) DMN: the closest open-source option in .NET is a decision-table convention on top of NRules; for spreadsheet authoring, decision-table semantics and the FEEL expression language, run Apache KIE (Kogito) as a separate service.</a:t>
            </a:r>
            <a:endParaRPr/>
          </a:p>
          <a:p>
            <a:pPr indent="0" lvl="0" marL="0" rtl="0" algn="l">
              <a:lnSpc>
                <a:spcPct val="100000"/>
              </a:lnSpc>
              <a:spcBef>
                <a:spcPts val="0"/>
              </a:spcBef>
              <a:spcAft>
                <a:spcPts val="0"/>
              </a:spcAft>
              <a:buSzPts val="1400"/>
              <a:buNone/>
            </a:pPr>
            <a:r>
              <a:rPr lang="en-US"/>
              <a:t>(2) Camel breadth: Apache Camel has about 300 components, from HL7 over MLLP to FTP and mainframe gateways. An integration shop with heavy mainframe, EDI or HL7 needs may run Camel in a JVM Pod and call it from .NET. (3) Streamiz scale: it works well, but its maintainer count and ecosystem are smaller than Kafka Streams'; if streams are central, plan for that.</a:t>
            </a:r>
            <a:endParaRPr/>
          </a:p>
          <a:p>
            <a:pPr indent="0" lvl="0" marL="0" rtl="0" algn="l">
              <a:lnSpc>
                <a:spcPct val="100000"/>
              </a:lnSpc>
              <a:spcBef>
                <a:spcPts val="0"/>
              </a:spcBef>
              <a:spcAft>
                <a:spcPts val="0"/>
              </a:spcAft>
              <a:buSzPts val="1400"/>
              <a:buNone/>
            </a:pPr>
            <a:r>
              <a:rPr lang="en-US"/>
              <a:t>(4) DI: Microsoft.Extensions.DependencyInjection is simple enough that complex patterns sometimes want Autofac. (5) Licensing moves: MediatR and MassTransit both moved to commercial licenses; many teams pick Wolverine (MIT) to replace MediatR, and this deck uses Confluent.Kafka directly instead of MassTransit. For LOB and SaaS workloads these gaps rarely bite; for integration platforms or heavy stream processing, plan for a polyglot runtime.</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an opinionated recipe. The order of the five steps is the point: instrument first (factor XI and observability), then choose the protocol surface (avoid the one-of-each trap), then settle data ownership (outbox plus DbContext), then choose the workflow tier (Temporal or Stateless), then deploy with the cluster doing the heavy lifting.</a:t>
            </a:r>
            <a:endParaRPr/>
          </a:p>
          <a:p>
            <a:pPr indent="0" lvl="0" marL="0" rtl="0" algn="l">
              <a:lnSpc>
                <a:spcPct val="100000"/>
              </a:lnSpc>
              <a:spcBef>
                <a:spcPts val="0"/>
              </a:spcBef>
              <a:spcAft>
                <a:spcPts val="0"/>
              </a:spcAft>
              <a:buSzPts val="1400"/>
              <a:buNone/>
            </a:pPr>
            <a:r>
              <a:rPr lang="en-US"/>
              <a:t>The six-library sub-bullet is the one to leave up: a new .NET cloud-native service that starts with those packages, on the platform stack from the platform table, has most of the patterns in this deck working from day one. SignalR, Streamiz, NRules and HotChocolate are opt-in per workload.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IHttpClientFactory + IDistributedCache + StackExchange.Redis + Confluent.Kafka + FusionCache,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workloads that scale differently.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(an in-process event dispatcher such as Wolverine for module events, Confluent.Kafka for cross-service events).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There are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is what makes this work: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It is an intermediate state, not a destination: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only routing. The new ASP.NET Core service sits in front of the legacy API and adds cross-cutting capability: a Redis cache, Kafka events with Confluent.Kafka, audit logging, validation, enrichment, rate limiting, OpenTelemetry metrics. The legacy service is unaware.</a:t>
            </a:r>
            <a:endParaRPr/>
          </a:p>
          <a:p>
            <a:pPr indent="0" lvl="0" marL="0" rtl="0" algn="l">
              <a:lnSpc>
                <a:spcPct val="100000"/>
              </a:lnSpc>
              <a:spcBef>
                <a:spcPts val="0"/>
              </a:spcBef>
              <a:spcAft>
                <a:spcPts val="0"/>
              </a:spcAft>
              <a:buSzPts val="1400"/>
              <a:buNone/>
            </a:pPr>
            <a:r>
              <a:rPr lang="en-US"/>
              <a:t>Clients talk to the decorator's API, which delegates the underlying work and contributes everything else. It is most useful when the legacy system is a third-party product, a vendor system, or fragile code you may not touch. The decorator is a full .NET microservice with its own deploy, scaling and data; the running example builds it on StackExchange.Redis and Confluent.Kafka.</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running example's decorator: an ASP.NET Core minimal API in front of the legacy /orders API, with StackExchange.Redis for the cache and Confluent.Kafka for events.</a:t>
            </a:r>
            <a:endParaRPr/>
          </a:p>
          <a:p>
            <a:pPr indent="0" lvl="0" marL="0" rtl="0" algn="l">
              <a:lnSpc>
                <a:spcPct val="100000"/>
              </a:lnSpc>
              <a:spcBef>
                <a:spcPts val="0"/>
              </a:spcBef>
              <a:spcAft>
                <a:spcPts val="0"/>
              </a:spcAft>
              <a:buSzPts val="1400"/>
              <a:buNone/>
            </a:pPr>
            <a:r>
              <a:rPr lang="en-US"/>
              <a:t>The GET path is cache-aside: try Redis, fall back to the legacy service on a miss, populate the key with a 60-second TTL. The POST path delegates to the legacy service, which stays the source of truth, then produces order.placed and deletes the cached entry so the next read is fresh.</a:t>
            </a:r>
            <a:endParaRPr/>
          </a:p>
          <a:p>
            <a:pPr indent="0" lvl="0" marL="0" rtl="0" algn="l">
              <a:lnSpc>
                <a:spcPct val="100000"/>
              </a:lnSpc>
              <a:spcBef>
                <a:spcPts val="0"/>
              </a:spcBef>
              <a:spcAft>
                <a:spcPts val="0"/>
              </a:spcAft>
              <a:buSzPts val="1400"/>
              <a:buNone/>
            </a:pPr>
            <a:r>
              <a:rPr lang="en-US"/>
              <a:t>The legacy service has no idea it is wrapped. Over time you move more behaviour into the decorator (validation, idempotency keys, deduplication, multi-source reads); when the legacy service retires, the decorator owns the storage and the API clients see does not change.</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design for reversibility, so every step is a config change you can undo without coordinating a release.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FusionCache for the read-through / declarative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Cache-aside as Example 25 runs it: the handler owns the three steps on a StackExchange.Redis client, because the steps are the lesson. SafeCacheGet and SafeCacheSet swallow Redis failures, so a Redis outage falls back to the EF Core query and the read still works (the verify script stops Redis to prove it). The handler tries the cache first, queries EF Core on a miss, populates the cache with a 60-second TTL and tags the answer with its source. The PUT path updates the row with ExecuteUpdateAsync and then removes the cache entry: invalidate-on-write. IDistributedCache is the Microsoft.Extensions.Caching abstraction behind HybridCache on the read-through slide, which adds typed access and stampede protection.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HybridCache (Microsoft.Extensions.Caching.Hybrid, MIT) is the in-box answer: it gives you GetOrCreateAsync with a factory function (the loader), built-in stampede protection and L1+L2 layering (in-memory plus a distributed cache such as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with more features: FusionCache (MIT, open-source) adds fail-safe stale fallback, eager refresh and a backplane.</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HybridCache (Microsoft.Extensions.Caching.Hybrid, MIT) is the in-box answer for declarative read-through caching: a two-level cache with an in-process L1 and any IDistributedCache as L2, here Redis through AddStackExchangeRedisCache. The registration sets a 60-second expiry for both levels. The endpoint calls GetOrCreateAsync with a loader that runs only on a cache miss, and HybridCache's built-in concurrency control ensures that if 100 concurrent requests hit the same missing key, the loader runs once and the other 99 await the result: no thundering herd. The loader also sets a flag, so the response reports source db for the request that loaded the value and cache for the others. A missing product returns null, which the endpoint removes from the cache again so a later insert is visible at once. When Redis is unreachable, HybridCache logs the L2 failure and still runs the loader. The trade against a hand-written cache-aside: a library dependency, in exchange for typed values, serialization and stampede protection. Alternative: FusionCache (MIT) adds fail-safe stale fallback, eager refresh and a backplane for multi-Pod L1 invalidation.</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is Example 25: update the row through EF Core, read it back, then SET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FusionCache.GetOrSetAsync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Write-around: the POST writes to the database only and leaves the cache alone; the GET is plain cache-aside, so the first read after a write populates the cache.</a:t>
            </a:r>
            <a:endParaRPr/>
          </a:p>
          <a:p>
            <a:pPr indent="0" lvl="0" marL="0" rtl="0" algn="l">
              <a:lnSpc>
                <a:spcPct val="100000"/>
              </a:lnSpc>
              <a:spcBef>
                <a:spcPts val="0"/>
              </a:spcBef>
              <a:spcAft>
                <a:spcPts val="0"/>
              </a:spcAft>
              <a:buSzPts val="1400"/>
              <a:buNone/>
            </a:pPr>
            <a:r>
              <a:rPr lang="en-US"/>
              <a:t>The pattern fits workloads with a high write-to-re-read ratio. A security event log might take 10,000 writes a minute and 100 reads a day for active alerts; caching every write would only churn entries. Compare a product catalog, where every read is a likely hit and write-through makes more sense because readers should see the writer's update at once.</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 flusher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as Example 25 runs it. PUT /write-back/metrics/{mid} writes the metric fields to a Redis hash, adds the id to a 'dirty set' that tells the flusher what to drain, and answers 202 Accepted in microseconds: the value is queued, not yet durable. The flusher is a BackgroundService registered with AddHostedService, so the host starts it and cancels it on shutdown; each cycle SPOPs up to 100 dirty ids at once. SPOP is the right primitive: it removes and returns elements in one call, so two flusher instances would each get a distinct subset of ids and horizontal scale works. Each id is upserted with one ExecuteSqlAsync statement, INSERT ... ON CONFLICT (id) DO UPDATE, so an id flushed twice stays one row. An id whose upsert fails is re-queued: HashIncrementAsync counts its attempts in metric:attempts and it goes back on the dirty set, or, after five attempts, onto metric:failed with its value still in the cache and the failure in the log; the loop then waits two, four and at most eight seconds between runs.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hurt. The second is the profile-first rule. The third is operational. The fourth is the cache stampede problem — FusionCache solves this out of the box, otherwise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to leave audience with. FusionCache + IDistributedCache is the default modern stack: read-through with stampede protection via GetOrSetAsync, write-through via SetAsync, eager-refresh built in. Drop to IDistributedCache directly when you want full control. Write-around for telemetry. Write-back is the niche extreme-throughput pattern. The bold final line is the take-home: don't pick one pattern as 'the' cache strategy. FusionCache for 95% of cases is the modern default; everything else is a specialization.</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application half of graceful shutdown, from the running example's .NET order-service. The default ConsoleLifetime turns the single SIGTERM into a graceful stop, and DrainService, a hosted service, runs first: its StoppingAsync flips a flag so /readyz answers 503 and Kubernetes takes the Pod out of the Service, while /healthz stays 200 so the kubelet does not restart a Pod that is winding down.</a:t>
            </a:r>
            <a:endParaRPr/>
          </a:p>
          <a:p>
            <a:pPr indent="0" lvl="0" marL="0" rtl="0" algn="l">
              <a:lnSpc>
                <a:spcPct val="100000"/>
              </a:lnSpc>
              <a:spcBef>
                <a:spcPts val="0"/>
              </a:spcBef>
              <a:spcAft>
                <a:spcPts val="0"/>
              </a:spcAft>
              <a:buSzPts val="1400"/>
              <a:buNone/>
            </a:pPr>
            <a:r>
              <a:rPr lang="en-US"/>
              <a:t>New requests get 503. After DRAIN_DELAY_SECONDS StoppingAsync returns and Kestrel stops accepting and finishes in-flight requests within HostOptions.ShutdownTimeout (20 s), the host disposes its services and the process exits 0, inside terminationGracePeriodSeconds. Appendix H covers the hosted-service drain hooks, the preStop hook and the grace period.</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P is for the audience moving from .NET Framework on Windows: what the runtime does on Linux, what replaces IIS, and what ships in the container. Four parts: the platform and the language, compilation and the runtime, Kestrel, and the container image.</a:t>
            </a:r>
          </a:p>
          <a:p>
            <a:r>
              <a:t>It is reference material; pull it up when someone asks what changes when Windows goes away.</a:t>
            </a:r>
          </a:p>
        </p:txBody>
      </p:sp>
      <p:sp>
        <p:nvSpPr>
          <p:cNvPr id="4" name="Slide Number Placeholder 3"/>
          <p:cNvSpPr>
            <a:spLocks noGrp="1"/>
          </p:cNvSpPr>
          <p:nvPr>
            <p:ph type="sldNum" idx="12"/>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 is the language, .NET is the platform. C#, F# and VB.NET all compile to the same intermediate language; the platform is the CoreCLR runtime, the Base Class Library, the Roslyn compiler, NuGet and the dotnet CLI, cross-platform since .NET 5.</a:t>
            </a:r>
          </a:p>
          <a:p>
            <a:r>
              <a:t>A .csproj targets a platform version, net10.0, not a language version, because the platform version decides which APIs exist. The examples target .NET 10.0.12 with SDK 10.0.112, and the C# version follows from the SDK. Keeping the two words apart avoids design confusion: the runtime is language-agnostic.</a:t>
            </a:r>
          </a:p>
        </p:txBody>
      </p:sp>
      <p:sp>
        <p:nvSpPr>
          <p:cNvPr id="4" name="Slide Number Placeholder 3"/>
          <p:cNvSpPr>
            <a:spLocks noGrp="1"/>
          </p:cNvSpPr>
          <p:nvPr>
            <p:ph type="sldNum" idx="12"/>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compilation pipeline. Roslyn compiles C# to CIL bytecode in an assembly; dotnet build and dotnet publish produce .dll files, not native executables. At run time RyuJIT compiles each method to native x86-64 or ARM64 code on its first call, and tiered compilation recompiles hot methods with more optimization.</a:t>
            </a:r>
          </a:p>
          <a:p>
            <a:r>
              <a:t>The practical consequence: start-up pays a JIT cost, and steady-state code runs as native code. NativeAOT trades that start-up cost for restrictions on dynamic code; the CoreCLR slide covers it.</a:t>
            </a:r>
          </a:p>
        </p:txBody>
      </p:sp>
      <p:sp>
        <p:nvSpPr>
          <p:cNvPr id="4" name="Slide Number Placeholder 3"/>
          <p:cNvSpPr>
            <a:spLocks noGrp="1"/>
          </p:cNvSpPr>
          <p:nvPr>
            <p:ph type="sldNum" idx="12"/>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 Linux the runtime is libcoreclr.so, a native shared library. It owns JIT compilation, garbage collection (generational and concurrent; ASP.NET Core defaults to Server GC with one heap per core), the type system, threading (managed threads map to pthreads, and async work runs on the thread pool) and P/Invoke into native libraries such as libpq, librdkafka (which Confluent.Kafka wraps) and OpenSSL.</a:t>
            </a:r>
          </a:p>
          <a:p>
            <a:r>
              <a:t>NativeAOT compiles ahead of time to one native binary: faster start-up and less memory, but no runtime code generation, so some reflection-heavy libraries do not work. JIT stays the default for full library compatibility. After the JIT, a hot .NET method is native code like any other; the runtime remains for GC and exceptions.</a:t>
            </a:r>
          </a:p>
        </p:txBody>
      </p:sp>
      <p:sp>
        <p:nvSpPr>
          <p:cNvPr id="4" name="Slide Number Placeholder 3"/>
          <p:cNvSpPr>
            <a:spLocks noGrp="1"/>
          </p:cNvSpPr>
          <p:nvPr>
            <p:ph type="sldNum" idx="12"/>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Kestrel is the web server built into ASP.NET Core. It listens on a TCP socket, handles TLS through OpenSSL on Linux, parses HTTP/1.1, HTTP/2 and HTTP/3, and hands each request to the middleware pipeline. There is no IIS and no w3wp.exe worker process.</a:t>
            </a:r>
          </a:p>
          <a:p>
            <a:r>
              <a:t>Walk the figure from the socket to your endpoint: connection, protocol parsing, middleware (routing, authentication, health checks, OpenTelemetry), then the handler. Every example in the deck runs on Kestrel inside the container.</a:t>
            </a:r>
          </a:p>
        </p:txBody>
      </p:sp>
      <p:sp>
        <p:nvSpPr>
          <p:cNvPr id="4" name="Slide Number Placeholder 3"/>
          <p:cNvSpPr>
            <a:spLocks noGrp="1"/>
          </p:cNvSpPr>
          <p:nvPr>
            <p:ph type="sldNum" idx="12"/>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Teams moving from IIS often put nginx or Apache in front of Kestrel out of habit. On Kubernetes the service mesh or the ingress already terminates TLS, balances load and retries, so a reverse proxy sidecar adds latency, memory and another component to operate for features Kestrel and the platform already provide.</a:t>
            </a:r>
          </a:p>
          <a:p>
            <a:r>
              <a:t>The examples bind with builder.WebHost.UseUrls("http://+:8080"), and gRPC services listen on an HTTP/2-only endpoint configured through ConfigureKestrel. Port 8080 because ports under 1024 need root, and the containers run as a non-root user. REST, gRPC and WebSockets share one Kestrel host.</a:t>
            </a:r>
          </a:p>
        </p:txBody>
      </p:sp>
      <p:sp>
        <p:nvSpPr>
          <p:cNvPr id="4" name="Slide Number Placeholder 3"/>
          <p:cNvSpPr>
            <a:spLocks noGrp="1"/>
          </p:cNvSpPr>
          <p:nvPr>
            <p:ph type="sldNum" idx="12"/>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multi-stage Containerfile. The build stage uses the SDK image, ubi9/dotnet-100 (about 780 MB), to restore and publish; the runtime stage uses ubi9/dotnet-100-aspnet (about 170 MB) and copies only the published output, owned by UID 1001 with group-0 permissions. The final image is about 200 MB, and the SDK, the NuGet cache and the source never reach production.</a:t>
            </a:r>
          </a:p>
          <a:p>
            <a:r>
              <a:t>Restore and publish run in one RUN step with a BuildKit cache mount for NuGet packages, so rebuilds are fast and a stale layer cannot point at packages that are gone. What to show: docker image inspect on an example image and the number of layers.</a:t>
            </a:r>
          </a:p>
        </p:txBody>
      </p:sp>
      <p:sp>
        <p:nvSpPr>
          <p:cNvPr id="4" name="Slide Number Placeholder 3"/>
          <p:cNvSpPr>
            <a:spLocks noGrp="1"/>
          </p:cNvSpPr>
          <p:nvPr>
            <p:ph type="sldNum" idx="12"/>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ships in the runtime image, layer by layer: the UBI 9 base (glibc, OpenSSL, CA certificates, tzdata, libicu), the ASP.NET Core runtime (libcoreclr.so, the JIT, the BCL and the ASP.NET shared framework), and your application's assemblies and configuration. The SDK, MSBuild, Roslyn, sources and test projects are not in it.</a:t>
            </a:r>
          </a:p>
          <a:p>
            <a:r>
              <a:t>The examples pin ubi9/dotnet-100:9.8-1791421718 for the build and ubi9/dotnet-100-aspnet:9.8-1791363520 for the runtime. They stay on UBI 9 because Red Hat publishes no UBI 10 .NET image; every other language in the deck builds on UBI 10. UBI images are freely redistributable, run on any Kubernetes cluster, and carry the same .NET runtime as Microsoft's images; the difference is the base OS layer.</a:t>
            </a:r>
          </a:p>
        </p:txBody>
      </p:sp>
      <p:sp>
        <p:nvSpPr>
          <p:cNvPr id="4" name="Slide Number Placeholder 3"/>
          <p:cNvSpPr>
            <a:spLocks noGrp="1"/>
          </p:cNvSpPr>
          <p:nvPr>
            <p:ph type="sldNum" idx="12"/>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life of a .NET container, in order: CoreCLR loads and starts the GC and the thread pool; the host builder registers services, logging and OpenTelemetry; Kestrel binds port 8080; Kubernetes starts its probes. On SIGTERM the host stops accepting requests, drains in-flight work, flushes telemetry and disposes services, within HostOptions.ShutdownTimeout.</a:t>
            </a:r>
          </a:p>
          <a:p>
            <a:r>
              <a:t>It is an ordinary Linux process: no application-pool recycling, no w3wp.exe, no application domains. The container is the process boundary, SIGTERM is the shutdown signal, and the grace period is the budget, which Appendix H covers in detail.</a:t>
            </a:r>
          </a:p>
        </p:txBody>
      </p:sp>
      <p:sp>
        <p:nvSpPr>
          <p:cNvPr id="4" name="Slide Number Placeholder 3"/>
          <p:cNvSpPr>
            <a:spLocks noGrp="1"/>
          </p:cNvSpPr>
          <p:nvPr>
            <p:ph type="sldNum" idx="12"/>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four points to keep. C# compiles to CIL and the JIT produces native code method by method, so steady-state performance is native. Kestrel is the web server, with TLS through OpenSSL and HTTP/1.1, HTTP/2, HTTP/3, gRPC and WebSockets, and needs no reverse proxy inside the Pod.</a:t>
            </a:r>
          </a:p>
          <a:p>
            <a:r>
              <a:t>Multi-stage builds keep the SDK out of the shipped image. The Red Hat UBI 9 images carry the same .NET runtime on a RHEL 9 base, freely redistributable and run on any Kubernetes cluster; .NET stays on UBI 9 because no UBI 10 .NET image exists yet.</a:t>
            </a:r>
          </a:p>
        </p:txBody>
      </p:sp>
      <p:sp>
        <p:nvSpPr>
          <p:cNvPr id="4" name="Slide Number Placeholder 3"/>
          <p:cNvSpPr>
            <a:spLocks noGrp="1"/>
          </p:cNvSpPr>
          <p:nvPr>
            <p:ph type="sldNum" idx="12"/>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Appendix Q covers real-time .NET: Blazor Server for server-rendered UI, SignalR for push, and the Redis backplane that lets several Pods serve one audience. It builds on the WebSocket scaling problem from Appendix C and is backed by Example 30, an order dashboard that updates live when an order is placed.</a:t>
            </a:r>
          </a:p>
        </p:txBody>
      </p:sp>
      <p:sp>
        <p:nvSpPr>
          <p:cNvPr id="4" name="Slide Number Placeholder 3"/>
          <p:cNvSpPr>
            <a:spLocks noGrp="1"/>
          </p:cNvSpPr>
          <p:nvPr>
            <p:ph type="sldNum" idx="12"/>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Blazor Server runs all component logic on the server. The browser loads a thin JavaScript runtime that sends UI events over a persistent connection and applies the DOM diffs the server sends back.</a:t>
            </a:r>
          </a:p>
          <a:p>
            <a:r>
              <a:t>Each browser tab is one SignalR circuit, and the server keeps that tab's component tree in memory, re-renders on state change and sends only the diff. There is no WebAssembly download and full access to server-side resources; the cost is a round trip per interaction and memory per connected tab. Because every tab holds a persistent connection, the Pod-pinning problem from Appendix C applies directly.</a:t>
            </a:r>
          </a:p>
        </p:txBody>
      </p:sp>
      <p:sp>
        <p:nvSpPr>
          <p:cNvPr id="4" name="Slide Number Placeholder 3"/>
          <p:cNvSpPr>
            <a:spLocks noGrp="1"/>
          </p:cNvSpPr>
          <p:nvPr>
            <p:ph type="sldNum" idx="12"/>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SignalR is ASP.NET Core's real-time library. It negotiates WebSockets first, with Server-Sent Events and long polling as fallbacks, behind one Hub API. Clients call server methods by name, the server invokes client methods by name, and groups broadcast to subsets of connections. Serialization (JSON or MessagePack), reconnection and the connection lifecycle are handled for you.</a:t>
            </a:r>
          </a:p>
          <a:p>
            <a:r>
              <a:t>Blazor Server uses SignalR for its circuit, but SignalR stands on its own: push notifications, live feeds and collaborative editing in any ASP.NET Core app. Example 30 uses it both ways.</a:t>
            </a:r>
          </a:p>
        </p:txBody>
      </p:sp>
      <p:sp>
        <p:nvSpPr>
          <p:cNvPr id="4" name="Slide Number Placeholder 3"/>
          <p:cNvSpPr>
            <a:spLocks noGrp="1"/>
          </p:cNvSpPr>
          <p:nvPr>
            <p:ph type="sldNum" idx="12"/>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Pod-pinning problem again: a SignalR connection stays on the Pod that accepted it, so a broadcast from Pod A reaches only Pod A's clients. The Redis backplane fixes it: AddSignalR().AddStackExchangeRedis(...) publishes every hub invocation to Redis pub/sub, every Pod subscribes, and each delivers to its own connections.</a:t>
            </a:r>
          </a:p>
          <a:p>
            <a:r>
              <a:t>Example 30 runs two dashboard instances, on ports 8080 and 8081, against one Redis, and verify.sh checks that an order pushed through one instance reaches a client connected to the other, including after one instance restarts. Redis 8 is used under its AGPLv3 open-source option.</a:t>
            </a:r>
          </a:p>
        </p:txBody>
      </p:sp>
      <p:sp>
        <p:nvSpPr>
          <p:cNvPr id="4" name="Slide Number Placeholder 3"/>
          <p:cNvSpPr>
            <a:spLocks noGrp="1"/>
          </p:cNvSpPr>
          <p:nvPr>
            <p:ph type="sldNum" idx="12"/>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How Example 30 fits together. OrderHub has one method, JoinDashboard, which adds the caller to the dashboard group; the hub holds no push logic. POST /orders stores the order in Postgres and calls Clients.Group("dashboard").SendAsync("OrderPlaced", order) through IHubContext. Dashboard.razor connects a HubConnection to /hubs/orders, joins the group, and on OrderPlaced prepends the order and re-renders.</a:t>
            </a:r>
          </a:p>
          <a:p>
            <a:r>
              <a:t>What to show: open the dashboard on port 8080 and on port 8081, place an order with curl, and watch both update with no polling. Fallback: run verify.sh, which checks the health endpoints, the orders API, the SignalR negotiate endpoint and cross-instance delivery.</a:t>
            </a:r>
          </a:p>
        </p:txBody>
      </p:sp>
      <p:sp>
        <p:nvSpPr>
          <p:cNvPr id="4" name="Slide Number Placeholder 3"/>
          <p:cNvSpPr>
            <a:spLocks noGrp="1"/>
          </p:cNvSpPr>
          <p:nvPr>
            <p:ph type="sldNum" idx="12"/>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Choose the lowest abstraction that meets the requirement. Raw WebSockets, as in Appendix C: full control, any client language, custom binary framing such as protobuf. SignalR: managed reconnection, groups, hub RPC and MessagePack when the server is ASP.NET Core and you want push without owning the WebSocket lifecycle.</a:t>
            </a:r>
          </a:p>
          <a:p>
            <a:r>
              <a:t>Blazor Server: server-rendered UI with no client framework, for internal tools, dashboards and admin consoles where user counts are modest and server-side access matters more than offline use. Blazor WebAssembly runs .NET in the browser, holds no persistent circuit and scales like static content; it is not covered here.</a:t>
            </a:r>
          </a:p>
        </p:txBody>
      </p:sp>
      <p:sp>
        <p:nvSpPr>
          <p:cNvPr id="4" name="Slide Number Placeholder 3"/>
          <p:cNvSpPr>
            <a:spLocks noGrp="1"/>
          </p:cNvSpPr>
          <p:nvPr>
            <p:ph type="sldNum" idx="12"/>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take-aways. Blazor Server runs the UI on the server and the browser is a thin terminal on a SignalR circuit: no download, full server access, a round trip per interaction. SignalR is a general real-time library, not only Blazor's transport.</a:t>
            </a:r>
          </a:p>
          <a:p>
            <a:r>
              <a:t>The Redis backplane lets several Pods broadcast to every connected client, the same answer to Pod pinning as in Appendix C, built into SignalR. For internal dashboards with modest user counts, Blazor Server with SignalR is a pragmatic choice; for public, high-scale or cross-language clients, use raw WebSockets.</a:t>
            </a:r>
          </a:p>
        </p:txBody>
      </p:sp>
      <p:sp>
        <p:nvSpPr>
          <p:cNvPr id="4" name="Slide Number Placeholder 3"/>
          <p:cNvSpPr>
            <a:spLocks noGrp="1"/>
          </p:cNvSpPr>
          <p:nvPr>
            <p:ph type="sldNum" idx="12"/>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.NET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4" Type="http://schemas.openxmlformats.org/officeDocument/2006/relationships/image" Target="../media/image1.png"/><Relationship Id="rId5" Type="http://schemas.openxmlformats.org/officeDocument/2006/relationships/image" Target="../media/image1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4" Type="http://schemas.openxmlformats.org/officeDocument/2006/relationships/image" Target="../media/image1.png"/><Relationship Id="rId5"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4" Type="http://schemas.openxmlformats.org/officeDocument/2006/relationships/image" Target="../media/image1.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4" Type="http://schemas.openxmlformats.org/officeDocument/2006/relationships/image" Target="../media/image1.png"/><Relationship Id="rId5"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4" Type="http://schemas.openxmlformats.org/officeDocument/2006/relationships/image" Target="../media/image1.png"/><Relationship Id="rId5"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4" Type="http://schemas.openxmlformats.org/officeDocument/2006/relationships/image" Target="../media/image1.png"/><Relationship Id="rId5" Type="http://schemas.openxmlformats.org/officeDocument/2006/relationships/image" Target="../media/image9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4" Type="http://schemas.openxmlformats.org/officeDocument/2006/relationships/image" Target="../media/image1.png"/><Relationship Id="rId5"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4" Type="http://schemas.openxmlformats.org/officeDocument/2006/relationships/image" Target="../media/image1.png"/><Relationship Id="rId5"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4" Type="http://schemas.openxmlformats.org/officeDocument/2006/relationships/image" Target="../media/image1.png"/><Relationship Id="rId5" Type="http://schemas.openxmlformats.org/officeDocument/2006/relationships/image" Target="../media/image1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4" Type="http://schemas.openxmlformats.org/officeDocument/2006/relationships/image" Target="../media/image1.png"/><Relationship Id="rId5" Type="http://schemas.openxmlformats.org/officeDocument/2006/relationships/image" Target="../media/image3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4" Type="http://schemas.openxmlformats.org/officeDocument/2006/relationships/image" Target="../media/image1.png"/><Relationship Id="rId5" Type="http://schemas.openxmlformats.org/officeDocument/2006/relationships/image" Target="../media/image3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4" Type="http://schemas.openxmlformats.org/officeDocument/2006/relationships/image" Target="../media/image1.png"/><Relationship Id="rId5" Type="http://schemas.openxmlformats.org/officeDocument/2006/relationships/image" Target="../media/image4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4" Type="http://schemas.openxmlformats.org/officeDocument/2006/relationships/image" Target="../media/image1.png"/><Relationship Id="rId5" Type="http://schemas.openxmlformats.org/officeDocument/2006/relationships/image" Target="../media/image2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4" Type="http://schemas.openxmlformats.org/officeDocument/2006/relationships/image" Target="../media/image1.png"/><Relationship Id="rId5" Type="http://schemas.openxmlformats.org/officeDocument/2006/relationships/image" Target="../media/image56.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4" Type="http://schemas.openxmlformats.org/officeDocument/2006/relationships/image" Target="../media/image1.png"/><Relationship Id="rId5" Type="http://schemas.openxmlformats.org/officeDocument/2006/relationships/image" Target="../media/image77.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4" Type="http://schemas.openxmlformats.org/officeDocument/2006/relationships/image" Target="../media/image1.png"/><Relationship Id="rId5" Type="http://schemas.openxmlformats.org/officeDocument/2006/relationships/image" Target="../media/image7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1.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4" Type="http://schemas.openxmlformats.org/officeDocument/2006/relationships/image" Target="../media/image1.png"/><Relationship Id="rId5" Type="http://schemas.openxmlformats.org/officeDocument/2006/relationships/image" Target="../media/image80.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1.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4" Type="http://schemas.openxmlformats.org/officeDocument/2006/relationships/image" Target="../media/image1.png"/><Relationship Id="rId5" Type="http://schemas.openxmlformats.org/officeDocument/2006/relationships/image" Target="../media/image86.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87.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4" Type="http://schemas.openxmlformats.org/officeDocument/2006/relationships/image" Target="../media/image1.png"/><Relationship Id="rId5" Type="http://schemas.openxmlformats.org/officeDocument/2006/relationships/image" Target="../media/image85.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4" Type="http://schemas.openxmlformats.org/officeDocument/2006/relationships/image" Target="../media/image1.png"/><Relationship Id="rId5" Type="http://schemas.openxmlformats.org/officeDocument/2006/relationships/image" Target="../media/image90.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4" Type="http://schemas.openxmlformats.org/officeDocument/2006/relationships/image" Target="../media/image1.png"/><Relationship Id="rId5" Type="http://schemas.openxmlformats.org/officeDocument/2006/relationships/image" Target="../media/image157.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3" Type="http://schemas.openxmlformats.org/officeDocument/2006/relationships/slideLayout" Target="../slideLayouts/slideLayout1.xml"/><Relationship Id="rId4" Type="http://schemas.openxmlformats.org/officeDocument/2006/relationships/notesSlide" Target="../notesSlides/notesSlide279.xml"/><Relationship Id="rId5" Type="http://schemas.openxmlformats.org/officeDocument/2006/relationships/image" Target="../media/image155.png"/></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3" Type="http://schemas.openxmlformats.org/officeDocument/2006/relationships/slideLayout" Target="../slideLayouts/slideLayout1.xml"/><Relationship Id="rId4" Type="http://schemas.openxmlformats.org/officeDocument/2006/relationships/notesSlide" Target="../notesSlides/notesSlide284.xml"/><Relationship Id="rId5" Type="http://schemas.openxmlformats.org/officeDocument/2006/relationships/image" Target="../media/image139.png"/></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 Id="rId3" Type="http://schemas.openxmlformats.org/officeDocument/2006/relationships/image" Target="../media/image1.png"/><Relationship Id="rId4" Type="http://schemas.openxmlformats.org/officeDocument/2006/relationships/image" Target="../media/image100.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 Id="rId3" Type="http://schemas.openxmlformats.org/officeDocument/2006/relationships/image" Target="../media/image1.png"/><Relationship Id="rId4" Type="http://schemas.openxmlformats.org/officeDocument/2006/relationships/image" Target="../media/image150.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 Id="rId3" Type="http://schemas.openxmlformats.org/officeDocument/2006/relationships/image" Target="../media/image1.png"/><Relationship Id="rId5" Type="http://schemas.openxmlformats.org/officeDocument/2006/relationships/image" Target="../media/image72.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07.xml"/><Relationship Id="rId5" Type="http://schemas.openxmlformats.org/officeDocument/2006/relationships/image" Target="../media/image37.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4" Type="http://schemas.openxmlformats.org/officeDocument/2006/relationships/notesSlide" Target="../notesSlides/notesSlide310.xml"/><Relationship Id="rId5" Type="http://schemas.openxmlformats.org/officeDocument/2006/relationships/image" Target="../media/image156.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notesSlide" Target="../notesSlides/notesSlide3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J–L · .NET 10 Toolkit, Monolith → Microservices,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P–R · .NET on Linux, Blazor,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5">
            <a:alphaModFix/>
          </a:blip>
          <a:stretch/>
        </p:blipFill>
        <p:spPr>
          <a:xfrm>
            <a:off x="2054527" y="1600200"/>
            <a:ext cx="8082641"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from IIS and WCF to COM+ and MSMQ,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EF Core health 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Program.cs (excerpt), examples/01-cloud-native-principles/dotnet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builder.Services.AddDbContext&lt;OrdersContext&gt;(o =&gt; o.UseNpgsql(connString)); // factor III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builder.Services.AddHealthChecks()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.AddDbContextCheck&lt;OrdersContext&gt;("database", tags: ["ready"]);  // readiness: can connect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app = builder.Build();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app.MapHealthChecks("/healthz", new HealthCheckOptions               // liveness: process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_ =&gt; false,                                           // no dependency checks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_) =&gt; ctx.Response.WriteAsJsonAsync(new { status = "ok"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app.MapHealthChecks("/readyz", new HealthCheckOptions                // readiness: 200 or 503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Predicate = r =&gt; r.Tags.Contains("ready"),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ResponseWriter = (ctx, report)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up = report.Status == HealthStatus.Healthy;               // down: out of rotation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ctx.Response.WriteAsJsonAsync(new { status = up ? "ready" :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checks = new { database = up ? "ok" : "unreachable" }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 minimal API style; FluentValidation for input contracts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     // Microsoft.AspNetCore.OpenApi documents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orders.MapPost("/", async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IValidator&lt;OrderIn&gt; validator,            // FluentValidation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IOrderService svc,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IEventPublisher events)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validator.ValidateAsync(body);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(!result.IsValid) return Results.ValidationProblem(result.ToDictionary());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await svc.CreateAsync(body);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events.PublishAsync("order.placed", order);       // made safe by the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Results.Created($"/orders/{order.Id}", order);   // 201, not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 (string? after, int limit,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svc.Page(after, limit));                       // cursor pagination, not offset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request record: immutable, validated (types follow the top-level statements)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[Required, StringLength(64)] string Sku,</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[Range(1, 1_000)]            int    Quantity);</a:t>
            </a:r>
            <a:endParaRPr b="0" i="0" sz="100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inventory.proto — the contract, registered in Apicurio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syntax = "proto3";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Inventory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rpc ReserveStock (ReserveRequest) returns (ReserveReply);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ReserveRequest { string sku = 1; int32 quantity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message ReserveReply   { bool reserved = 1; int32 remaining = 2;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Grpc.AspNetCore + Grpc.Tools compiles .proto to C</a:t>
            </a:r>
            <a:r>
              <a:rPr b="0" i="0" lang="en-US" sz="900" u="none" cap="none" strike="noStrike">
                <a:solidFill>
                  <a:srgbClr val="8FB98F"/>
                </a:solidFill>
                <a:latin typeface="Red Hat Mono"/>
                <a:ea typeface="Red Hat Mono"/>
                <a:cs typeface="Red Hat Mono"/>
                <a:sym typeface="Red Hat Mono"/>
              </a:rPr>
              <a:t># at build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cloud-native replacement for WCF NetTcpBinding service contracts)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InventoryService : Inventory.InventoryBase  // generated 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IStockRepository 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InventoryService(IStockRepository stock) =&gt; _stock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await _stock.ReserveAsync(req.Sku, req.Quantity);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 ReserveReply { Reserved = r.Ok, Remaining = r.Remaining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builder.Services.AddGrpc();                          // server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app.MapGrpcService&lt;InventoryService&gt;();              // expose the service</a:t>
            </a:r>
            <a:endParaRPr b="0" i="0" sz="9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HotChocolate (MIT, by ChilliCream) — the dominant open-source GraphQL 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.NET. Code-first or schema-first. Built-in DataLoader for N+1.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Query                                   // the gateway's schema</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[Service] IOrderClient orders)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orders.GetAsync(id);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                            // adds fields to Order type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batched per-request to kill N+1: one gRPC call for N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IInventoryStockDataLoader loader) =&gt;         // generated DataLoader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loader.LoadAsync(order.Sku);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registration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.AddGraphQLServer()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.AddQueryType&lt;Query&gt;()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.AddTypeExtension&lt;OrderExtensions&gt;()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.AddDataLoader&lt;IInventoryStockDataLoader, InventoryStockDataLoader&gt;();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app.MapGraphQL();                                    // POST /graphql + IDE</a:t>
            </a:r>
            <a:endParaRPr b="0" i="0" sz="9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Confluent.Kafka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with no managed hosting and no managed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Every Blazor Server interaction is a SignalR round-trip and inherits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Confluent.Kafka</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 side — the command handler commits, then emits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OrderWriteController(WriteDb writes, IProducer&lt;string,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ControllerBase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Task&lt;ActionResult&lt;Order&gt;&gt; Create(OrderIn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writes.Orders.Add(order);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writes.SaveChangesAsync(ct);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new Message&lt;string, string&gt;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Key = order.Id, Value = JsonSerializer.Serialize(order) },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Ok(order);                        // the outbox makes this crash-safe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 side — a different, denormalised store (OrderReadController(ReadDb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[HttpGet("{id}/summary")]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Task&lt;ActionResult&lt;OrderSummary&gt;&gt; Summary(string id,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reads.OrderSummaries.FindAsync([id], ct) is { } s ? Ok(s) : NotFound();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Projection — a BackgroundService on Confluent.Kafka, idempotent upsert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cr = consumer.Consume(stoppingToken);   // in ExecuteAsync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summary = OrderSummary.From(JsonSerializer.Deserialize&lt;Order&gt;(cr.Message.Value)!);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reads.UpsertAsync(summary, stoppingToken);                        // keyed by order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consumer.Commit(cr);                                          // ack after the write</a:t>
            </a:r>
            <a:endParaRPr b="0" i="0" sz="9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POST /orders (excerpt), examples/04-data/dotnet: EF Core + Debezium CDC, the .NET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For WCF/COM+ refugees: this replaces the MSDTC two-phase commit you used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make 'save the order and queue the event' atomic across databases.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(OrderRequest request, OrdersContext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new Order { Id = Guid.NewGuid().ToString(), Sku = request.Sku,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Quantity = request.Quantity, Status = "confirmed"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dto = OrderDto.From(order);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db.Orders.Add(order);                         // state change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db.Outbox.Add(new OutboxEvent                 // same SaveChanges: outbox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AggregateId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EventType = "order.placed",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JsonSerializer.SerializeToElement(dto, JsonSerializerOptions.Web),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one local txn; Debezium tails the WAL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Results.Json(dto, statusCode: StatusCodes.Status201Created);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No Kafka call on the request path: if the broker is down, the order still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commits and the event ships when the Debezium connector catches 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Wolverine (MIT) ships an EF Core transactional outbox if you prefer a framework.</a:t>
            </a:r>
            <a:endParaRPr b="0" i="0" sz="90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Confluent.Kafka</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2.16.0</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2.16.0 — the low-level Kafka client (Apache 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Auto-commit off, commit after the work: at-least-once processing.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producer — order-service emits the 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producer = new ProducerBuilder&lt;Null, string&gt;(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ProducerConfig { BootstrapServers = kafkaBootstrap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producer.ProduceAsync("order.placed",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     // awaits the broker 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consumer — ShipmentWorker : BackgroundService; the host cancels stoppingToken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var consumer = new ConsumerBuilder&lt;Ignore, string&gt;(new ConsumerConfig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config.GetValue("KAFKA_BOOTSTRAP", "kafka:9094"),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GroupId          = "shipping-group",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AutoOffsetReset  = AutoOffsetReset.Earliest,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EnableAutoCommit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consumer.Subscribe("order.placed");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consumer.Consume(stoppingToken);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HandleAsync(cr.Message.Value);   // exists? skip; unique index on order_id backs 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ack after — at-least-once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Confluent.Kafka keeps the Kafka semantics visible: keys, partitions, offsets. Commit after the work; handlers are idempotent.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Streamiz.Kafka.Net 1.8.2</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StreamProcessor/RevenueStream.cs (excerpt), a BackgroundService — Streamiz.Kafka.Net 1.8.2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config = new StreamConfig&lt;StringSerDes, StringSerDes&gt;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ApplicationId    = "stream-processor",    // also the consumer group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BootstrapServers = kafkaBootstrap,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StateDir         = "/tmp/kafka-streams",  // local RocksDB, changelog-backed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builder = new StreamBuilder();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builder.Stream&lt;string, string&gt;("order.placed")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.Map((_, json, _) =&gt; Rekey(json))                     // key by merchant_id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.Filter((merchant, _, _) =&gt; merchant.Length &gt;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.GroupByKey()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.WindowedBy(TumblingWindowOptions.Of(TimeSpan.FromSeconds(windowSeconds), TimeSpan.Zero))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.Aggregate(() =&gt; new Acc(),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(merchant, amount, acc) =&gt; Add(merchant, acc, amount),   // exact decimal total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RocksDbWindows.As&lt;string, Acc&gt;("revenue-store")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.WithKeySerdes(new StringSerDes())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.WithValueSerdes(new JsonSerDes&lt;Acc&gt;()))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.Map(...): window_start, merchant_id, order_count, revenue rounded half-up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.To&lt;StringSerDes, StringSerDes&gt;("revenue.by-merchant");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await new KafkaStream(builder.Build(), config).StartAsync(stoppingToken);</a:t>
            </a:r>
            <a:endParaRPr b="0" i="0" sz="9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No Maven plugin for .NET: gate breaking changes through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dryRun=true runs the COMPATIBILITY rule server-side and stores nothing.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actions/checkout@v7</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body=$(jq -n --rawfile s src/Schemas/order-placed.avsc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'{content: {content: $s, contentType: "application/json"}}')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"$REGISTRY/groups/orders/artifacts/order-placed/versions?dryRun=true"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-d "$body")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400 with RuleViolationException: the COMPATIBILITY rule rejected 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activitySource.StartActivity(...), activity.SetTag(...), activity.AddEvent(...).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 OpenTelemetry .NET replaces Windows performance counters,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ETW and the Event Log with one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builder.Services.AddOpenTelemetry()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.ConfigureResource(r =&gt; r.AddService("order-service"))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.WithTracing(t =&gt; 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.AddAspNetCoreInstrumentation()        // every HTTP request → span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.AddSource("order-service")            // your own ActivitySource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                    // endpoint and protocol from the env</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.WithMetrics(m =&gt; 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.AddMeter("order-service")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.AddOtlpExporter());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compose: OTEL_EXPORTER_OTLP_ENDPOINT=http://lgtm:4318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OTEL_EXPORTER_OTLP_PROTOCOL=http/protobuf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custom business spans use the BCL ActivitySource (no extra dependency)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activitySource = new ActivitySource("order-service");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...parse sku and quantity from the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reserveSpan = activitySource.StartActivity("reserve-stock");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reserveSpan?.SetTag("sku", sku);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reply = await inventoryClient.ReserveStockAsync(          // gRPC; HttpClient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ReserveRequest { Sku = sku, Quantity = quantity });   // carries traceparent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...insert the order, produce order.placed: trace_id rides every hop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requests become spans with no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OpenTelemetry Baggage + Confluent.Kafka</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                        // Baggage: the W3C baggage 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OpenTelemetry.Context.Propagation;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at the edge in middleware; the propagator writes the baggage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app.Use(async (ctx, next)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Baggage.SetBaggage("tenant_id",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ctx.Request.Headers["X-Tenant"].FirstOrDefault() ?? "unknown");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next();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Confluent.Kafka has no built-in propagation: the producer injects the 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into the record headers and the consumer extracts 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parent = Propagators.DefaultTextMapPropagator.Extract(default,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cr.Message.Headers, ReadHeaders);      // ReadHeaders: UTF-8 values for a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Baggage.Current = parent.Baggage;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using var span = source.StartActivity("process_shipment", ActivityKind.Consumer,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parent.ActivityContext);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tenant = Baggage.GetBaggage("tenant_id");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span?.SetTag("tenant_id", tenant);          // filterable in the trace UI</a:t>
            </a:r>
            <a:endParaRPr b="0" i="0" sz="10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Baggage.SetBaggage at the edge; extract from the record headers and GetBaggage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HMACSHA256</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Program.cs (excerpt), examples/12-security/dotnet: an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valetSecret = builder.Configuration.GetValue("VALET_SECRET",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"demo-secret-do-not-use-in-prod");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app.MapPost("/valet-key", (HttpContext ctx)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resource = ctx.Request.Query["resource"].ToString();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operation = ctx.Request.Query["operation"].FirstOrDefault() ?? "GET";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expires = DateTimeOffset.UtcNow.ToUnixTimeSeconds()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payload = $"{resource}:{operation}:{expires}";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sig = ComputeHmac(valetSecret, payload);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Results.Ok(new { resource, operation, expires, token = sig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GET /verify-valet: 403 once expired, then a constant-time compare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(DateTimeOffset.UtcNow.ToUnixTimeSeconds() &gt;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expected = ComputeHmac(valetSecret, $"{resource}:{operation}:{expires}");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(!CryptographicOperations.FixedTimeEquals(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Encoding.UTF8.GetBytes(token), Encoding.UTF8.GetBytes(expected)))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Results.Json(new { detail = "invalid or expired valet key" }, statusCode: 403);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ComputeHmac: HMACSHA256 keyed with the secret, Convert.ToHexStringLower of the hash</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SemaphoreSlim</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 with a SemaphoreSlim; A's storm can't drain B's capacity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TenantBulkhead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SemaphoreSlim&gt; _sems =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Task&lt;T&gt; HandleAsync&lt;T&gt;(string tenant, Func&lt;Task&lt;T&gt;&gt; 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sem = _sems.GetOrAdd(tenant, _ =&gt; new SemaphoreSlim(5));   // 5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sem.WaitAsync();               // blocks only this tenant when full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return await work();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 { sem.Release();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Polly 8 alternative: ResiliencePipelineBuilder().AddConcurrencyLimiter(permitLimit,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queueLimit) per tenant, from the Polly.RateLimiting package.</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Confluent.Kafka</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key = $"payloads/{orderId}";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store.PutAsync(key, largePayload, encrypt: true);   // encrypted at rest, ACL'd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expires = DateTimeOffset.UtcNow.ToUnixTimeSeconds() + 900;</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token = ComputeHmac(valetSecret, $"{key}:GET:{expires}");   // GET only, 15 minutes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await producer.ProduceAsync("order.documents",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Message&lt;Null, string&gt; { Value = JsonSerializer.Serialize(new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order_id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uri = $"https://objects.internal/{key}",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resource = key, operation = "GET", expires, 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                                             // claim only: small, routable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consumer: read the claim, fetch the body out of band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claim = JsonSerializer.Deserialize&lt;Claim&gt;(cr.Message.Value)!;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var body = await store.GetAsync(claim.Uri, claim.Token);  // PII never touched the topic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consumer.Commit(cr);</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Cloud-Native Patterns and Architecture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Confluent.Kafka, HotChocolate, Streamiz.Kafka.Net, EF Core and Debezium docs — for the runtime specifics</a:t>
            </a:r>
            <a:endParaRPr b="0" i="0" sz="14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EF Core (Entity Framework Core,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Asp.Versioning.Http (MIT, .NET Foundation): media-type, URI segment,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query string or header versioning,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.Template("application/vnd.acme.order.v{version}+json")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one resource URL, /orders/{id}; the representation is versioned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app.NewVersionedApi("Orders").MapGroup("/orders")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.MapToApiVersion(1, 0);                     // the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HotChocolate — [GraphQLDeprecated] maps to the SDL @deprecated directive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string Id { get; init;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[GraphQLDeprecated("Use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double Total { get; init; }           // still served; shows in introspection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 TotalMinor =&gt; (int)(Total * 100); // the replacement, added additively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Schema-first alternative, if your team prefers .graphql files: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type Order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id: 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 Float @deprecated(reason: "Use totalMinor (integer cents) instead.")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totalMinor: Int!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Per-field usage counters (a diagnostic event listener exporting to OpenTelemetry)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show when 'total' has zero callers. Only then remove it. No /v2 endpoint.</a:t>
            </a:r>
            <a:endParaRPr b="0" i="0" sz="105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Raw WebSockets,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ASP.NET Core</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WebSockets</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raw ASP.NET Core WebSockets, as in the running example (no 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app.UseWebSockets();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app.Map("/ws/{clientId}", async (HttpContext ctx, string clientId)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(!ctx.WebSockets.IsWebSocketRequest) { ctx.Response.StatusCode = 400; return;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ws = await ctx.WebSockets.AcceptWebSocketAsync();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clients[clientId] = ws;                             // per-pod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buf = new byte[4096];</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while (ws.State == WebSocketState.Open)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result = await ws.ReceiveAsync(buf, CancellationToken.None);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(result.MessageType == WebSocketMessageType.Close) break;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msg = Encoding.UTF8.GetString(buf, 0, result.Count);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Broadcast(msg);                           // fan-out to this pod's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clients.TryRemove(clientId, out _);</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Raw ASP.NET Core WebSockets, as in the running example. The clients map lives in this 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Google.Protobuf + WebSockets</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raw System.Net.WebSockets: a protobuf binary frame, not JSON text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async Task Push(WebSocket socket, ulong seq, OrderPlaced ev)</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new Envelope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Version = 2, Seq = seq, Type =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Payload = ev.ToByteString() };                // nested protobuf</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socket.SendAsync(env.ToByteArray(),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WebSocketMessageType.Binary, endOfMessage: true,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receive: parse the Envelope, dispatch on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result = await ws.ReceiveAsync(buf,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(result.MessageType == WebSocketMessageType.Binary)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env = Envelope.Parser.ParseFrom(buf, 0, result.Count);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switch (env.Type)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HandleOrderPlaced(env.Seq, OrderPlaced.Parser.ParseFrom(env.Payload));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with different scaling profiles; both run on plain ASP.NET Core Pods and need no managed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managed cloud service. Open-source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SagaEngine.cs (excerpt), examples/17-sagas/dotnet: one durable step per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string[] Steps = { "charge_payment", "reserve_stock", "book_shipping"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AdvanceAsync(string sagaId, CancellationToken ct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db = await dbFactory.CreateDbContextAsync(ct);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db.Database.BeginTransactionAsync(ct);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saga = (await db.Sagas.FromSql(                          // pessimistic row 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.ToListAsync(ct)).SingleOrDefault();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is not { Status: "RUNNING" }) { await tx.CommitAsync(ct); return; }  // idempotent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(saga.StepIndex &gt;= Steps.Length) saga.Status = "COMPLETED";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step = Steps[saga.StepIndex];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saga.Context[step] = ExecuteStep(step, saga.Context);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saga.StepIndex++;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saga.Status = "COMPENSATING";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                                   // the caller advances again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["charge_payment"] = "refund_payment",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["reserve_stock"]  = "release_stock",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["book_shipping"]  = "cancel_shipping",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async Task CompensateAsync(string sagaId,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using var tx = await db.Database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.BeginTransactionAsync(IsolationLevel.ReadCommitted,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 = await db.Sagas.FromSqlInterpolated(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 FROM sagas WHERE id = {sagaId} FOR UPDATE").FirstAsync(ct);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undo only the steps that actually completed, newest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step in Steps.Take(s.StepIndex).Reverse())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InvokeAsync(Compensations[step], 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idempotencyKey: $"{sagaId}:{step}", ct);   // safe to retry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s.Status = "COMPENSATED";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tx.CommitAsync(ct);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a plain-C# saga the Server makes durable</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8FB98F"/>
                </a:solidFill>
                <a:latin typeface="Red Hat Mono"/>
                <a:ea typeface="Red Hat Mono"/>
                <a:cs typeface="Red Hat Mono"/>
                <a:sym typeface="Red Hat Mono"/>
              </a:rPr>
              <a:t>// PaymentActivities: [Activity] ChargeAsync / RefundAsync, plain C# methods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    // deterministic C#, replayed by a Worker after a crash</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ActivityOptions Opts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undo = new Stack&lt;Func&lt;Task&gt;&gt;();                // compensations, newest on top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a.ChargeAsync(input),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(PaymentActivities a) =&gt; a.RefundAsync(paymentId),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a.ReserveAsync(input, paymentId),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undo.Push(()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(InventoryActivities a) =&gt; a.ReleaseAsync(reservationId),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(ShippingActivities a) =&gt; a.BookAsync(input, reservationId), Opts);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 { while (undo.TryPop(out var u)) await u(); throw;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and activities are plain C# classes; the workflow keeps its own compensation stack.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5">
            <a:alphaModFix/>
          </a:blip>
          <a:stretch/>
        </p:blipFill>
        <p:spPr>
          <a:xfrm>
            <a:off x="1658319" y="1600200"/>
            <a:ext cx="887506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enum Trigger  { PayOk, ReserveOk, ShipOk, Delivered, StepFail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FulfillmentSagaMachine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StateMachine&lt;State, Trigger&gt; _sm;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CurrentState =&gt; _sm.State; OrderId { get;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FulfillmentSagaMachine(string orderId, State 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IPaymentService payments,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IShippingService shipping)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 = new StateMachine&lt;State, Trigger&gt;(initial);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_sm.Configure(State.Created)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.Permit(Trigger.PayOk, 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payments.ChargeAsync(orderId));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_sm.Configure(State.Paid)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.Permit(Trigger.ReserveOk, State.Reserved)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.Permit(Trigger.StepFail,  State.Compensating)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.OnEntryAsync(() =&gt; inventory.ReserveAsync(orderId));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Reserved -&gt; Shipped and Compensating -&gt; Failed are configured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FireAsync(Trigger t) =&gt; _sm.FireAsync(t);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drive it: FulfillmentService.OnAsync loads the saga row, builds the machine, fires, saves</a:t>
            </a:r>
            <a:endParaRPr b="0" i="0" sz="9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8556418" y="1700784"/>
            <a:ext cx="2976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ProblemDetails (RFC 9457) in the box since .NET 6; IExceptionHandler since .NET 8.</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(JsonSerializerOptions?)null,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"application/problem+json", ct);                       // RFC 9457 media 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Grpc.Core;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using Google.Rpc;            // ErrorInfo, RetryInfo, 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override async Task&lt;ReserveReply&gt; ReserveStock(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ReserveRequest req, ServerCallContext context)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(_inventoryDown)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 new Google.Rpc.Status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(int)Code.Unavailable,        // canonical 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 = "inventory temporarily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ErrorInfo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Reason = "STOCK_DOWN", Domain = "inventory"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Any.Pack(new RetryInfo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RetryDelay = Duration.FromTimeSpan(TimeSpan.FromSeconds(2))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grpc-dotnet: throw RpcException with the rich status in trailers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status.ToRpcException();           // extension from Grpc.StatusProto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ToReply(await _stock.ReserveAsync(req));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Confluent.Kafka</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Confluent.Kafka + Polly 8</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Confluent.Kafka + Polly 8: bounded in-place retries, a delayed-retry topic, a DLQ.</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pipeline = new ResiliencePipelineBuilder()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.AddRetry(new RetryStrategyOptions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MaxRetryAttempts = 3, Delay = TimeSpan.FromMilliseconds(200),   // in-place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BackoffType = DelayBackoffType.Exponential, UseJitter =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.Handle&lt;Exception&gt;(e =&gt; e is not ValidationException)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cr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pipeline.ExecuteAsync(async t =&gt; await HandleAsync(cr.Message.Value, t), ct);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attempts = cr.Message.Headers.TryGetLastBytes("retries", out var raw)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int.Parse(Encoding.UTF8.GetString(raw))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dlq = ex is ValidationException || attempts &gt;= MaxRetries;  // 4xx or exhausted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headers = new 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(dlq) headers.Add("error", Encoding.UTF8.GetBytes(ex.GetType().Name));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headers.Add("retries", Encoding.UTF8.GetBytes((attempts + 1).ToString()));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producer.ProduceAsync(dlq ? "orders.DLQ" : "orders.retry.30s",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cr.Message.Value, Headers =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consumer.Commit(cr);                     // every branch commits: no head-of-line block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in-place retries, a delayed-retry topic, then a DLQ; the offset is committed on every branch,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GraphQLErrorFilter : IErrorFilter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IError OnError(IError error)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error.Exception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InventoryUnavailable iu =&gt; 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.WithMessage(iu.Message)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.WithCode("UNAVAILABLE")                  // → extensions.code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.SetExtension("retryable",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.SetExtension("traceId",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.RemoveException(),                       // don't leak stack trace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error                                    // default for everything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Program.cs: AddGraphQLServer().AddErrorFilter&lt;GraphQLErrorFilter&gt;()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[ExtendObjectType&lt;Order&gt;]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OrderExtensions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Task&lt;int&gt; GetStock(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[Parent] Order order, IInventoryService inventory)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RemainingAsync; on UpstreamException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IOrderRepository { Task SaveAsync(Order order); /* FindByIdAsync, ...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IEventPublisher  { Task PublishAsync(OrderPlaced evt);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pure application logic; C# 12 primary constructor — no DI annotations needed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PlaceOrderUseCase(IOrderRepository repo, IEventPublisher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ExecuteAsync(PlaceOrderCmd cmd)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repo.SaveAsync(order);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events.PublishAsync(new OrderPlaced(order.Id, order.Sku, order.Quantity));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driving adapter — REST; the CLI adapter calls the same use case on a plain Host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(PlaceOrderCmd cmd, PlaceOrderUseCase placeOrder)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Results.Json(OrderView.From(await placeOrder.ExecuteAsync(cmd)), statusCode: 201));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driven adapters (Adapters/): EfOrderRepository : IOrderRepository over an OrdersContext,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LogEventPublisher : IEventPublisher.</a:t>
            </a:r>
            <a:endParaRPr b="0" i="0" sz="9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log or Kafka publisher).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DrainService.cs (excerpt), examples/21-graceful-shutdown/dotnet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default ConsoleLifetime turns one SIGTERM into a graceful stop; the drain is a hosted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service step and HostOptions.ShutdownTimeout bounds the whole stop.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builder.Services.AddSingleton&lt;ShutdownState&gt;();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builder.Services.AddHostedService&lt;DrainService&gt;();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builder.Services.AddHealthChecks().AddCheck&lt;ShutdownHealthCheck&gt;("shutdown", tags: ["ready"]);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GET /readyz answers 503 once ShutdownState.ShuttingDown is set;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sealed class DrainService(ShutdownState state, IConfiguration config,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ILogger&lt;DrainService&gt; logger) : IHostedLifecycleService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StoppingAsync(CancellationToken cancellationToken)  // before StopAsync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state.MarkShuttingDown();                          // 1. readiness fails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delay = TimeSpan.FromSeconds(config.GetValue("DRAIN_DELAY_SECONDS",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Task.Delay(delay, cancellationToken); }   // 2. serve on: endpoints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(OperationCanceledException)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logger.LogInformation("shutting down HTTP server (in_flight={InFlight})",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state.InFlight);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3. Kestrel stops in StopAsync: no new requests, drains in-flight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4. the DbContext services are disposed with the host; exit 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StoppingAsync waits DRAIN_DELAY_SECONDS, then Kestrel drains in-flight requests within ShutdownTimeout (20 s).</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Confluent.Kafka consumer Close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Kafka consumer + NRules: when the routing logic is a business rule, push it into the app — a content-based router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Kafka consumer,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Confluent.Kafka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5">
            <a:alphaModFix/>
          </a:blip>
          <a:stretch/>
        </p:blipFill>
        <p:spPr>
          <a:xfrm>
            <a:off x="1788310" y="1964946"/>
            <a:ext cx="8615076" cy="3796787"/>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Kafka consumer owns the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Kafka consumer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Confluent.Kafka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NRules + Confluent.Kafka — the consumer enriches, evaluates, dispatches.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record OrderFact(OrderId, AmountCents, Customer) with a settable 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OrderRouter(HttpClient http, ISessionFactory rules,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IProducer&lt;Null, string&gt; producer)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 Route(OrderInbound msg)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customer = await http.GetFromJsonAsync&lt;Customer&gt;(          // 1) enrich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$"http://customer-svc/lookup/{msg.OrderId}") ??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fact = new OrderFact(msg.OrderId, msg.AmountCents, customer);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session = rules.CreateSession();     // 2) evaluate; one session per message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session.Insert(fact); session.Fire();    // matching rules set fact.WhereTo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JsonSerializer.Serialize(msg); // 3) dispatch: kafka:&lt;topic&gt;, http:&lt;url&gt;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dest in (fact.WhereTo ?? "kafka:orders.default").Split(','))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parts = dest.Split(':', 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(parts[0] ==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(parts[0] ==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http.PostAsync(parts[1],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dispatch to Kafka or HTTP: the content-based router,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EuropeanOrderRule: Customer.Region == "EU" sets 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 Kafka consumer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Confluent.Kafka .NET client documentation; NRules documentation (Fluent API + NRules.Language + NRules.Testing); YARP docs for the reverse-proxy library. For DMN specifically, the Apache KIE (Kogito) DMN docs — run as a separate service called over REST when you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known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tretch/>
        </p:blipFill>
        <p:spPr>
          <a:xfrm>
            <a:off x="2728795" y="1600200"/>
            <a:ext cx="6734102" cy="4526278"/>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Apache 2.0 or BSD-3;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5">
            <a:alphaModFix/>
          </a:blip>
          <a:stretch/>
        </p:blipFill>
        <p:spPr>
          <a:xfrm>
            <a:off x="1493156" y="1617884"/>
            <a:ext cx="9205386" cy="4490913"/>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5">
            <a:alphaModFix/>
          </a:blip>
          <a:stretch/>
        </p:blipFill>
        <p:spPr>
          <a:xfrm>
            <a:off x="2838707" y="2153339"/>
            <a:ext cx="6514284" cy="3419999"/>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a DMN engine such as Apache KIE (Kogito) as a separate service and call it over REST from your enrichment step. NRules covers the rule-engine slot but not the DMN UX.</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Apache Camel ecosystem — nothing in .NET matches the breadth of Camel's 300+ component connectors. For integration with long-tail systems (HL7, AS2, EDI, mainframe connectors) you may still want a Camel sidecar in a JVM Pod.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DI complexity — Microsoft.Extensions.DependencyInjection is simple by design. For property injection, decorators, or advanced lifetime scopes, look at Autofac (MIT) or Lamar (MIT) — both drop-in replacements.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MediatR is no longer open source — it moved to a commercial license in 2025. Wolverine (MIT) is the modern OSS equivalent; consider it for new projects.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These are real gaps with known workarounds: in each case there is either a workable .NET path or a polyglot path. The .NET cloud-native story is solid for &gt;95% of cases; the remaining 5% is where you mix runtimes or accept a different trade-off.</a:t>
            </a:r>
            <a:endParaRPr b="0" i="0" sz="15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1. dotnet new web; add Microsoft.AspNetCore.OpenApi, Microsoft.Extensions.Diagnostics.HealthChecks.EntityFrameworkCore, OpenTelemetry.Extensions.Hosting. AddHealthChecks with AddDbContextCheck, MapHealthChecks at /healthz and /readyz; expose ActivitySource-based telemetry from line one.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only if you need GraphQL aggregation. Don't surface all three by default.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Produce and consume with Confluent.Kafka directly; it keeps the Kafka semantics (keys, partitions, offsets) visible.</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0" i="0" lang="en-US" sz="145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4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50"/>
              <a:buFont typeface="Red Hat Text"/>
              <a:buChar char="•"/>
            </a:pPr>
            <a:r>
              <a:rPr b="1" i="0" lang="en-US" sz="145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45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200"/>
              <a:buFont typeface="Red Hat Text"/>
              <a:buChar char="–"/>
            </a:pPr>
            <a:r>
              <a:rPr b="0" i="0" lang="en-US" sz="1200" u="none" cap="none" strike="noStrike">
                <a:solidFill>
                  <a:srgbClr val="5A5A5A"/>
                </a:solidFill>
                <a:latin typeface="Red Hat Text"/>
                <a:ea typeface="Red Hat Text"/>
                <a:cs typeface="Red Hat Text"/>
                <a:sym typeface="Red Hat Text"/>
              </a:rPr>
              <a:t>Six libraries get you 95% of the way: ASP.NET Core, EF Core, Confluent.Kafka, Temporalio, OpenTelemetry, Polly. Add NRules / Streamiz / HotChocolate / SignalR per workload — only when the use case earns them.</a:t>
            </a:r>
            <a:endParaRPr b="0" i="0" sz="145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ASP.NET Core minimal API + IHttpClientFactory — content-aware proxy that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IHttpClientFactory factory)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body = await ctx.Request.ReadFromJsonAsync&lt;JsonObject&gt;()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throw new BadHttpRequestException("empty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tenant = body["tenant"]?.GetValue&lt;string&gt;()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region = body["region"]?.GetValue&lt;string&gt;()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upstream = (tenant, region)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 _) =&gt; factory.CreateClient("orders"),    //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"EU")  =&gt; factory.CreateClient("ordersEu"),  // regional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factory.CreateClient("monolith")   //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response = await upstream.PostAsJsonAsync("/orders",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stream =&gt; await response.Content.CopyToAsync(stream),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response.Content.Headers.ContentType?.ToString());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Confluent.Kafka</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Wraps the legacy /orders API: Redis cache, Kafka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app.MapGet("/orders/{id}", async (string id,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redis.GetDatabase().StringGetAsync($"order:{id}");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(cached.HasValue)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Results.Content(cached!,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legacyClient.GetAsync($"/orders/{id}");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redis.GetDatabase().StringSetAsync(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$"order:{id}", json, TimeSpan.FromSeconds(60));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app.MapPost("/orders", async (HttpContext ctx)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body = await JsonDocument.ParseAsync(ctx.Request.Body);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resp = await legacyClient.PostAsync("/orders",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StringContent(body.RootElement.GetRawText(), Encoding.UTF8, "application/json"));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json = await resp.Content.ReadAsStringAsync();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using var order = JsonDocument.Parse(json);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orderId = order.RootElement.GetProperty("id").GetString()!;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producer.ProduceAsync("order.placed",                           // Confluent.Kafka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Message&lt;Null, string&gt; { Value = json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redis.GetDatabase().KeyDeleteAsync($"order:{orderId}");         //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Results.Content(json, "application/json", statusCode: 201);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AddDbContext&lt;T&gt; registrations is much cheaper than coordinating across services.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0" i="0" lang="en-US" sz="155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55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50"/>
              <a:buFont typeface="Red Hat Text"/>
              <a:buChar char="•"/>
            </a:pPr>
            <a:r>
              <a:rPr b="1" i="0" lang="en-US" sz="155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55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cache-aside on a Redis client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app.MapGet("/cache-aside/products/{pid}", async (string pid,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$"ca:product:{pid}";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   // 2. DB on a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JsonSerializer.Serialize(product, CacheJson.Options)); // 3. fill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pid).ExecuteUpdateAsync(s =&gt;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SafeCacheDelete($"ca:product:{pid}");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"cache-aside", action = "invalidated"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HybridCache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6956218" y="1700784"/>
            <a:ext cx="4577049"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HybridCache + Redis (L2)</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HybridCache is read-through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builder.Services.AddStackExchangeRedisCache(o =&gt; o.Configuration = redisUrl);   // L2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builder.Services.AddHybridCache(o =&gt; o.DefaultEntryOptions = new HybridCacheEntryOptions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Expiration = 60 s, LocalCacheExpiration = 60 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CacheContext db, HybridCache cache)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$"rt:product:{pid}";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source =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cache.GetOrCreateAsync&lt;ProductDto?&gt;(key, async ct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source = "db";                                     // the loader ran: a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ProductDto.From(p)).FirstOrDefaultAsync(ct);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null) { await cache.RemoveAsync(key); return Results.NotFound();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Results.Json(Merge(source,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 write invalidates both levels: await cache.RemoveAsync(key)</a:t>
            </a:r>
            <a:endParaRPr b="0" i="0" sz="90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GetOrCreateAsync is read-through. The loader runs only on a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6499017" y="1700784"/>
            <a:ext cx="50342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StackExchange.Redis</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write-through, DB first then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(string pid, ProductUpdate update,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db.Products.Where(p =&gt; p.Id == pid)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.ExecuteUpdateAsync(s =&gt; s.SetProperty(p =&gt; p.Name, update.Name)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.SetProperty(p =&gt; p.PriceCents, update.PriceCents));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 = await db.Products.AsNoTracking().Where(p =&gt; p.Id ==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.Select(p =&gt; ProductDto.From(p)).FirstOrDefaultAsync();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(product is not null)                                // 2. cache second: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SafeCacheSet($"wt:product:{pid}",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JsonSerializer.Serialize(product, CacheJson.Options));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"write-through", action = "set"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await cache.SetAsync($"product:{id}", p, token: ct);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Redis</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(excerpt), examples/25-caching/dotnet: writes skip the cache; reads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app.MapPost("/write-around/events", async (EventRequest request,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db.Events.Add(new EventRecord { Id = request.Id, Type = request.Type,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request.Payload ?? JsonSerializer.SerializeToElement(new {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                           // DB only, cache untouched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"write-around", action = "db-only"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app.MapGet("/write-around/events/{eid}", async (string eid, CacheContext db)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$"wa:event:{eid}";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SafeCacheGet(key);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Results.Json(Merge("cache", JsonSerializer.Deserialize&lt;JsonElement&gt;(cached)));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evt = await db.Events.AsNoTracking().Where(e =&gt; e.Id == eid)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.Select(e =&gt; EventDto.From(e)).FirstOrDefaultAsync();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(evt is null) return Results.NotFound(new { error = "not found"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SafeCacheSet(key, JsonSerializer.Serialize(evt, CacheJson.Options)); // 1st 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Results.Json(Merge("db", evt));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5508417" y="1700784"/>
            <a:ext cx="60248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Program.cs and CacheWorkers.cs (excerpt), examples/25-caching/dotnet: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app.MapPut("/write-back/metrics/{mid}", async (string mid, MetricRequest request)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Results.Json(new { ok = true, pattern = "write-back", action = "cached-for-flush"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statusCode: StatusCodes.Status202Accepted);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builder.Services.AddHostedService&lt;MetricFlusher&gt;();      // the flusher, started with the host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MetricFlusher : BackgroundService, in ExecuteAsync(CancellationToken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var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while (!stoppingToken.IsCancellationRequested)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Task.Delay(Math.Min(FlushPeriodMs &lt;&lt; failures, MaxFlushBackoffMs), stoppingToken);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ids = await db.SetPopAsync("metric:dirty", 100);      // atomic batch dequeue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(ids.Length == 0)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failed = new List&lt;RedisValue&gt;();  // Upsert: HGETALL, one ExecuteSqlAsync ON CONFLICT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foreach (var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await Upsert(mid); await db.HashDeleteAsync("metric:attempts", 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(Exception ex)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logger.LogError(ex, "flush failed for {Id}", (string?)mid); failed.Add(mid);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(failed.Count == 0) { failures = 0; continue;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Math.Min(failures + 1, 3);                    // back off: 2 s, 4 s, 8 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Requeue(db, failed);   // HINCRBY metric:attempts: dirty again, failed after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7342267" y="1700784"/>
            <a:ext cx="4191000" cy="457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Two approaches: (1) BackgroundService + sorted-set hot-key tracking,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FusionCache built-in EagerRefreshThreshold.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ProductService.FindAsync: ZADD product:hot &lt;now&gt;, then cache-aside on product:{id}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HotKeyRefresher(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IConnectionMultiplexer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IServiceScopeFactory scopes)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 = redis.GetDatabase();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Task.Delay(5000,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remove keys not touched in 5 minutes; refresh those with low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cutoff = DateTimeOffset.UtcNow.AddMinutes(-5).ToUnixTimeMilliseconds();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r.SortedSetRemoveRangeByScoreAsync("product:hot",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hotIds = await r.SortedSetRangeByRankAsync("product:hot");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for each hot id with a TTL under 10 s: reload from ShopDb, SET with a fresh TTL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Approach 2: FusionCache built-in eager refresh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builder.Services.AddFusionCache().WithDefaultEntryOptions(o =&gt;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o.Duration = TimeSpan.FromSeconds(60)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.SetEagerRefresh(0.8f));    // refresh when 80% of TTL elapsed</a:t>
            </a:r>
            <a:endParaRPr b="0" i="0" sz="90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AbsoluteExpirationRelativeToNow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FusionCache (built-in stampede protection),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(FusionCache.GetOrSetAsync) — use when the read path is repetitive and you want declarative caching with built-in stampede protection. Like HybridCache (.NET 9), but with fail-safe and stampede protection built 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(FusionCache.SetAsync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ASP.NET Core systems use FusionCache for 95% of cases (it gets you read-through + stampede protection + eager-refresh in one library), with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OrderService (excerpt, example 21): the default ConsoleLifetime plus one hosted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builder.Services.AddSingleton&lt;ShutdownState&gt;();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builder.Services.AddHostedService&lt;DrainService&gt;();     // StoppingAsync runs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builder.Services.Configure&lt;HostOptions&gt;(o =&gt; o.ShutdownTimeout = TimeSpan.FromSeconds(20));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builder.Services.AddHealthChecks()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.AddCheck&lt;ShutdownHealthCheck&gt;("shutdown", tags: ["ready"])     // 503 once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.AddDbContextCheck&lt;OrdersContext&gt;("database", tags: ["ready"]);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DrainService.StoppingAsync, on the single SIGTERM: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state.MarkShuttingDown();                  // 1. readiness → 503: the Service stops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Task.Delay(delay, cancellationToken);           // 2. endpoints update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3. Kestrel stops in StopAsync and drains in-flight (ShutdownTimeout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app.MapHealthChecks("/healthz", ...);                //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app.MapHealthChecks("/readyz", ...);                 // ready tag: shutdown + 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app.MapPost("/orders", async (OrderRequest request, OrdersContext db, ShutdownState state)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Results.Json(new { error = "shutting down" }, statusCode: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 in-flight requests finish before the host stops; 4. the context is disposed,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(OpenFeature + flagd 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app.MapPost("/checkout", async (Cart cart, [FromHeader(Name = "X-User")] string user) =&gt;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flags = Api.Instance.GetClient();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EvaluationContext.Builder()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.SetTargetingKey(user)                     // sticky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.Set("plan", cart.Plan).Set("region", cart.Region).Build();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.NET — run the service,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dotnet 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produces</a:t>
            </a:r>
          </a:p>
        </p:txBody>
      </p:sp>
      <p:pic>
        <p:nvPicPr>
          <p:cNvPr id="4" name="Picture 3" descr="29-dotnet-compilation.png"/>
          <p:cNvPicPr>
            <a:picLocks noChangeAspect="1"/>
          </p:cNvPicPr>
          <p:nvPr/>
        </p:nvPicPr>
        <p:blipFill>
          <a:blip r:embed="rId4"/>
          <a:stretch>
            <a:fillRect/>
          </a:stretch>
        </p:blipFill>
        <p:spPr>
          <a:xfrm>
            <a:off x="1644767" y="1600200"/>
            <a:ext cx="8902139"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4"/>
          <a:stretch>
            <a:fillRect/>
          </a:stretch>
        </p:blipFill>
        <p:spPr>
          <a:xfrm>
            <a:off x="1645470" y="1600200"/>
            <a:ext cx="8900734"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5"/>
          <a:stretch>
            <a:fillRect/>
          </a:stretch>
        </p:blipFill>
        <p:spPr>
          <a:xfrm>
            <a:off x="1942313" y="1600200"/>
            <a:ext cx="8307049" cy="434339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run on any Kubernetes cluster. Red Hat publishes no UBI 10 .NET image, so .NET stays on UBI 9 while the other languages use UBI 10.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ubi9/dotnet-100:9.8-1791421718 (SDK, build only) → ubi9/dotnet-100-aspnet:9.8-1791363520 (runtime, ships),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Containerfiles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9 images (no UBI 10 .NET image exists) are the same .NET runtime on a RHEL 9 base — freely redistributable, and run on any Kubernetes cluster.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AddSignalR().AddStackExchangeRedis(redisConn),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docker compose: two Blazor app instances (ports 8080 and 8081) on one Redis backplane, plus Postgres and the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k8s/overlays/dotnet/kustomization.yaml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localhost/cndp-05/dotnet-order-service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"Host=cndp-postgres-rw;Port=5432;Database=appdb;\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Username=$(PG_USER);Password=$(PG_PASSWORD)"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order-service only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SERVICE_VERSION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"1.0.0"</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dotnet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dotnet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