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Lst>
  <p:sldSz cy="6858000" cx="12191675"/>
  <p:notesSz cx="6858000" cy="12191675"/>
  <p:embeddedFontLst>
    <p:embeddedFont>
      <p:font typeface="Overpass SemiBold"/>
      <p:regular r:id="rId257"/>
      <p:bold r:id="rId258"/>
      <p:italic r:id="rId259"/>
      <p:boldItalic r:id="rId260"/>
    </p:embeddedFont>
    <p:embeddedFont>
      <p:font typeface="Red Hat Text"/>
      <p:regular r:id="rId261"/>
      <p:bold r:id="rId262"/>
      <p:italic r:id="rId263"/>
      <p:boldItalic r:id="rId264"/>
    </p:embeddedFont>
    <p:embeddedFont>
      <p:font typeface="Red Hat Mono"/>
      <p:regular r:id="rId265"/>
      <p:bold r:id="rId266"/>
      <p:italic r:id="rId267"/>
      <p:boldItalic r:id="rId2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font" Target="fonts/OverpassSemiBold-regular.fntdata"/><Relationship Id="rId258" Type="http://schemas.openxmlformats.org/officeDocument/2006/relationships/font" Target="fonts/OverpassSemiBold-bold.fntdata"/><Relationship Id="rId259" Type="http://schemas.openxmlformats.org/officeDocument/2006/relationships/font" Target="fonts/OverpassSemiBold-italic.fntdata"/><Relationship Id="rId260" Type="http://schemas.openxmlformats.org/officeDocument/2006/relationships/font" Target="fonts/OverpassSemiBold-boldItalic.fntdata"/><Relationship Id="rId261" Type="http://schemas.openxmlformats.org/officeDocument/2006/relationships/font" Target="fonts/RedHatText-regular.fntdata"/><Relationship Id="rId262" Type="http://schemas.openxmlformats.org/officeDocument/2006/relationships/font" Target="fonts/RedHatText-bold.fntdata"/><Relationship Id="rId263" Type="http://schemas.openxmlformats.org/officeDocument/2006/relationships/font" Target="fonts/RedHatText-italic.fntdata"/><Relationship Id="rId264" Type="http://schemas.openxmlformats.org/officeDocument/2006/relationships/font" Target="fonts/RedHatText-boldItalic.fntdata"/><Relationship Id="rId265" Type="http://schemas.openxmlformats.org/officeDocument/2006/relationships/font" Target="fonts/RedHatMono-regular.fntdata"/><Relationship Id="rId266" Type="http://schemas.openxmlformats.org/officeDocument/2006/relationships/font" Target="fonts/RedHatMono-bold.fntdata"/><Relationship Id="rId267" Type="http://schemas.openxmlformats.org/officeDocument/2006/relationships/font" Target="fonts/RedHatMono-italic.fntdata"/><Relationship Id="rId268" Type="http://schemas.openxmlformats.org/officeDocument/2006/relationships/font" Target="fonts/RedHatMono-boldItalic.fntdata"/><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0de7c6a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0de7c6a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Welcome and framing. This is a working architect's tour of designing cloud-native APIs on Spring Boot 4.1.1. We build one realistic system (five services and a gateway) and re-examine it section by section; the appendices go deep on protocols, versioning, WebSockets, sagas, errors, DDD, coupling, shutdown, L7 routing, migration, caching, failure modes, feature flags and API testing, and run Example 05 on minikube. The whole deck is a reference the audience can keep.</a:t>
            </a:r>
            <a:endParaRPr/>
          </a:p>
          <a:p>
            <a:pPr indent="0" lvl="0" marL="0" rtl="0" algn="l">
              <a:spcBef>
                <a:spcPts val="0"/>
              </a:spcBef>
              <a:spcAft>
                <a:spcPts val="0"/>
              </a:spcAft>
              <a:buClr>
                <a:schemeClr val="dk1"/>
              </a:buClr>
              <a:buFont typeface="Arial"/>
              <a:buNone/>
            </a:pPr>
            <a:r>
              <a:rPr lang="en-US"/>
              <a:t>The running stack: Java 25 with Spring Boot 4.1.1 on Spring Framework 7.0.9 (Spring Web MVC, gRPC on grpc-java, Spring for GraphQL, Spring for Apache Kafka with Kafka Streams, Spring WebSocket, Jackson 3), on Kubernetes with Kafka, Istio and KEDA, traced by the OpenTelemetry Java agent. The platform around the code (Strimzi, Apicurio, OpenMetadata, the LGTM stack) is the same whatever the language; Spring Boot is how these services are written.</a:t>
            </a:r>
            <a:endParaRPr/>
          </a:p>
        </p:txBody>
      </p:sp>
      <p:sp>
        <p:nvSpPr>
          <p:cNvPr id="14" name="Google Shape;14;g3e50de7c6a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46f4b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46f4b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46f4b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846f4b4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846f4b4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846f4b4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846f4b4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846f4b4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846f4b4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846f4b4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846f4b4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patterns-literacy framing.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846f4b4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846f4b4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846f4b4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846f4b4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846f4b4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846f4b4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846f4b4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846f4b4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846f4b4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846f4b4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846f4b4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846f4b4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846f4b4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846f4b4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846f4b4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Spring Boot world the contract artifacts come naturally: springdoc-openapi emits the REST spec from your @RestController methods, the protobuf-maven-plugin compiles the .proto, and Spring for GraphQL loads the .graphqls schema (or generates SDL from your @SchemaMapping methods if you go code-first) — all checked into the registry.</a:t>
            </a:r>
            <a:endParaRPr/>
          </a:p>
        </p:txBody>
      </p:sp>
      <p:sp>
        <p:nvSpPr>
          <p:cNvPr id="108" name="Google Shape;108;g3e54846f4b4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846f4b4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846f4b4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846f4b4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846f4b4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846f4b4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mapping of each factor onto our architecture.</a:t>
            </a:r>
            <a:endParaRPr/>
          </a:p>
        </p:txBody>
      </p:sp>
      <p:sp>
        <p:nvSpPr>
          <p:cNvPr id="128" name="Google Shape;128;g3e54846f4b4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846f4b4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846f4b4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846f4b4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846f4b4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846f4b4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Spring's property resolution (factor III): SPRING_DATASOURCE_URL and its credentials configure the DataSource and SERVICE_VERSION feeds service.version, never a baked-in file; Spring profiles override per environment. The application name (spring.application.name) shows up in Micrometer metrics and traces. The two probes come from Spring Boot Actuator, with no controller code in Example 01: the liveness and readiness health groups are served on the main port at /healthz and /readyz (additional-path), so the compose healthchecks and the Kubernetes probes keep their paths. /healthz is liveness (am I alive? if not, restart me) and includes only livenessState, so it never checks a dependency; /readyz is readiness (can I serve?): its group adds the db contributor, which checks a pooled connection, and when that fails it answers 503 with status DOWN, which takes the pod out of rotation without killing it. The probe reads the status code, not the body: Kubernetes treats any answer from 200 to 399 as ready. A custom check is a HealthIndicator bean added to a group's include list; Example 21 adds one. Persistence is Spring Data JPA: the entity maps the existing orders table and Hibernate only validates it (ddl-auto=validate), because the db/init scripts own the schema. Getting liveness vs readiness wrong is a top cause of cascading restarts, so stress the distinction. Maven with spring-boot-starter-parent pins every dependency reproducibly. Constructor injection is the idiomatic Spring style: the bean stays immutable and is unit-testable without a container.</a:t>
            </a:r>
            <a:endParaRPr/>
          </a:p>
        </p:txBody>
      </p:sp>
      <p:sp>
        <p:nvSpPr>
          <p:cNvPr id="150" name="Google Shape;150;g3e54846f4b4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846f4b4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846f4b4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What follows gives you a decision rule and then shows each protocol in code against the running system.</a:t>
            </a:r>
            <a:endParaRPr/>
          </a:p>
        </p:txBody>
      </p:sp>
      <p:sp>
        <p:nvSpPr>
          <p:cNvPr id="163" name="Google Shape;163;g3e54846f4b4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846f4b4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846f4b4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is the map for the whole section.</a:t>
            </a:r>
            <a:endParaRPr/>
          </a:p>
        </p:txBody>
      </p:sp>
      <p:sp>
        <p:nvSpPr>
          <p:cNvPr id="173" name="Google Shape;173;g3e54846f4b4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846f4b4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846f4b4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a Java record with Bean Validation 3.1 annotations (@NotBlank, @Positive, @Valid), where Spring's @Valid triggers the validator so bad input never reaches your logic; (3) correct status codes: HttpStatus.CREATED on create, not 200; (4) cursor pagination, not offset, because offset breaks under concurrent writes and gets slow at depth. Constructor injection is the idiomatic Spring style (no @Autowired needed, fields can be final). For non-blocking I/O, swap @RestController for WebFlux's reactive style with Mono&lt;Order&gt; and Flux&lt;Order&gt;: same controller, reactive runtime. springdoc-openapi generates the OpenAPI spec from the controllers, and that spec is what we register and gate.</a:t>
            </a:r>
            <a:endParaRPr/>
          </a:p>
        </p:txBody>
      </p:sp>
      <p:sp>
        <p:nvSpPr>
          <p:cNvPr id="184" name="Google Shape;184;g3e54846f4b4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846f4b4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846f4b4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The protobuf-maven-plugin runs protoc at build time; the service extends the generated InventoryImplBase and fills in the one method, never touching the wire format.</a:t>
            </a:r>
            <a:endParaRPr/>
          </a:p>
          <a:p>
            <a:pPr indent="0" lvl="0" marL="0" rtl="0" algn="l">
              <a:spcBef>
                <a:spcPts val="0"/>
              </a:spcBef>
              <a:spcAft>
                <a:spcPts val="0"/>
              </a:spcAft>
              <a:buNone/>
            </a:pPr>
            <a:r>
              <a:rPr lang="en-US"/>
              <a:t>The inventory service is a @GrpcService bean: spring-boot-starter-grpc-server starts the server on spring.grpc.server.port, drains it on shutdown and adds the standard gRPC health service, and the order service gets its channel from GrpcChannelFactory. The field numbers (=1, =2) are the wire contract; Appendix B explains why they can never be reused.</a:t>
            </a:r>
            <a:endParaRPr/>
          </a:p>
          <a:p>
            <a:pPr indent="0" lvl="0" marL="0" rtl="0" algn="l">
              <a:spcBef>
                <a:spcPts val="0"/>
              </a:spcBef>
              <a:spcAft>
                <a:spcPts val="0"/>
              </a:spcAft>
              <a:buNone/>
            </a:pPr>
            <a:r>
              <a:rPr lang="en-US"/>
              <a:t>gRPC is binary and multiplexed over HTTP/2, so it is fast and supports streaming: the right default for chatty service-to-service calls where you control both ends. Load-test it with ghz.</a:t>
            </a:r>
            <a:endParaRPr/>
          </a:p>
        </p:txBody>
      </p:sp>
      <p:sp>
        <p:nvSpPr>
          <p:cNvPr id="197" name="Google Shape;197;g3e54846f4b4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846f4b4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846f4b4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846f4b4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846f4b4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846f4b4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We then show the actual config.</a:t>
            </a:r>
            <a:endParaRPr/>
          </a:p>
        </p:txBody>
      </p:sp>
      <p:sp>
        <p:nvSpPr>
          <p:cNvPr id="221" name="Google Shape;221;g3e54846f4b4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846f4b4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846f4b4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846f4b4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846f4b4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846f4b4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846f4b4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846f4b4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846f4b4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We then show the resolver code.</a:t>
            </a:r>
            <a:endParaRPr/>
          </a:p>
        </p:txBody>
      </p:sp>
      <p:sp>
        <p:nvSpPr>
          <p:cNvPr id="255" name="Google Shape;255;g3e54846f4b4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846f4b4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846f4b4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via a typed @QueryMapping; the stock method, annotated @SchemaMapping with typeName=Order and field=stock,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(Spring for GraphQL's @BatchMapping does exactly this, batching N orders into one upstream call). Spring for GraphQL is built on graphql-java and ships as a first-class Spring Boot starter; the schema lives in a .graphqls file under resources and is exported to the registry automatically by the build.</a:t>
            </a:r>
            <a:endParaRPr/>
          </a:p>
        </p:txBody>
      </p:sp>
      <p:sp>
        <p:nvSpPr>
          <p:cNvPr id="266" name="Google Shape;266;g3e54846f4b4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846f4b4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846f4b4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846f4b4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846f4b4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846f4b4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846f4b4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846f4b4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846f4b4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846f4b4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846f4b4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846f4b4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846f4b4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846f4b4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846f4b4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Two @RestController classes: OrderWriteController handles writes, OrderReadController handles reads. Each can have its own DataSource bean wired through @Qualifier (or two separate Spring contexts in a modulith). KafkaTemplate publishes to Kafka after the DB write — in production you'd use the outbox and Debezium combination shown in the outbox write instead of direct publishing. The projection is a @Service with a @KafkaListener that consumes the order.created topic with its own consumer group, then upserts into the read-side OrderSummaryRepository. The read-side table is denormalised: customer_name, line_count, total_cents, status — whatever the UI query needs without a JOIN. Different scaling (read replicas for the read side), different team ownership possible.</a:t>
            </a:r>
            <a:endParaRPr/>
          </a:p>
        </p:txBody>
      </p:sp>
      <p:sp>
        <p:nvSpPr>
          <p:cNvPr id="322" name="Google Shape;322;g3e54846f4b4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846f4b4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846f4b4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846f4b4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846f4b4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846f4b4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We then show the actual transaction.</a:t>
            </a:r>
            <a:endParaRPr/>
          </a:p>
        </p:txBody>
      </p:sp>
      <p:sp>
        <p:nvSpPr>
          <p:cNvPr id="345" name="Google Shape;345;g3e54846f4b4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846f4b4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846f4b4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happen in one local transaction, through two Spring Data JPA repositories.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There is no Spring-specific outbox starter: the outbox is a small table (aggregate id, event type, JSON payload, created_at), the payload is a JSONB column that Hibernate maps from a Map with @JdbcTypeCode(SqlTypes.JSON), and a standard Debezium Postgres connector handles the CDC. The Debezium Outbox Event Router single-message transform unwraps the row into the event envelope on the connector side. The same commit-together discipline reappears in the saga appendix.</a:t>
            </a:r>
            <a:endParaRPr/>
          </a:p>
        </p:txBody>
      </p:sp>
      <p:sp>
        <p:nvSpPr>
          <p:cNvPr id="356" name="Google Shape;356;g3e54846f4b4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846f4b4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846f4b4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846f4b4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846f4b4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846f4b4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846f4b4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846f4b4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846f4b4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846f4b4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846f4b4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846f4b4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is the canonical Spring Boot starter for Apache Kafka, and Spring Boot 4 keeps it as the default. The producer holds a KafkaTemplate, which is auto-configured from spring.kafka.* properties; the send keys the message by order id (so all events for one order land on the same partition and stay ordered). The consumer is annotated @KafkaListener and the manualAckFactory is a ConcurrentKafkaListenerContainerFactory configured with AckMode.MANUAL. Two things to drill home: we ack only once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Apicurio's Avro / Protobuf SerDes, so the registry enforces the schema. Reactor Kafka is discontinued, so the examples use the imperative @KafkaListener.</a:t>
            </a:r>
            <a:endParaRPr/>
          </a:p>
        </p:txBody>
      </p:sp>
      <p:sp>
        <p:nvSpPr>
          <p:cNvPr id="401" name="Google Shape;401;g3e54846f4b4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846f4b4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846f4b4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846f4b4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846f4b4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846f4b4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846f4b4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846f4b4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846f4b4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846f4b4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846f4b4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846f4b4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846f4b4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846f4b4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846f4b4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846f4b4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846f4b4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846f4b4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846f4b4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846f4b4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846f4b4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on Spring Boot you get it through spring-kafka with @EnableKafkaStreams, which auto-configures a StreamsBuilderFactoryBean from spring.kafka.streams.* properties and injects the StreamsBuilder. The topology is a regular @Bean.</a:t>
            </a:r>
            <a:endParaRPr/>
          </a:p>
          <a:p>
            <a:pPr indent="0" lvl="0" marL="0" rtl="0" algn="l">
              <a:spcBef>
                <a:spcPts val="0"/>
              </a:spcBef>
              <a:spcAft>
                <a:spcPts val="0"/>
              </a:spcAft>
              <a:buNone/>
            </a:pPr>
            <a:r>
              <a:rPr lang="en-US"/>
              <a:t>The example reads each order.placed event as a typed OrderPlaced record (merchant_id and total), re-keys it by merchant, groups by key and aggregates into a tumbling window (window.seconds, 10 seconds by default). The accumulator, a count and a BigDecimal total, is serialized with Spring Kafka 4's JacksonJsonSerde on Jackson 3. The Materialized state store is local state backed by a Kafka changelog topic, so if the pod dies the state rebuilds by replaying the changelog: fault-tolerant local state with no external database in the hot path.</a:t>
            </a:r>
            <a:endParaRPr/>
          </a:p>
          <a:p>
            <a:pPr indent="0" lvl="0" marL="0" rtl="0" algn="l">
              <a:spcBef>
                <a:spcPts val="0"/>
              </a:spcBef>
              <a:spcAft>
                <a:spcPts val="0"/>
              </a:spcAft>
              <a:buNone/>
            </a:pPr>
            <a:r>
              <a:rPr lang="en-US"/>
              <a:t>Each update to a (merchant, window) row is mapped to a MerchantRevenue record with the window start and end, merchant_id, order_count and the revenue rounded HALF_UP; a JacksonJsonSerde writes it as the same JSON object other services already consume from revenue.by-merchant, so the payload does not change for non-Java readers. An event that cannot be deserialized, such as a total that is not a number, is logged and skipped by the LogAndContinue handler instead of killing the stream thread. If you would rather express this as routing than as a topology, Spring Integration is the alternative; Flink is the heavyweight option.</a:t>
            </a:r>
            <a:endParaRPr/>
          </a:p>
        </p:txBody>
      </p:sp>
      <p:sp>
        <p:nvSpPr>
          <p:cNvPr id="479" name="Google Shape;479;g3e54846f4b4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846f4b4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846f4b4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We then show both configs.</a:t>
            </a:r>
            <a:endParaRPr/>
          </a:p>
        </p:txBody>
      </p:sp>
      <p:sp>
        <p:nvSpPr>
          <p:cNvPr id="492" name="Google Shape;492;g3e54846f4b4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846f4b4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846f4b4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846f4b4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846f4b4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846f4b4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Appendix D sets two approaches against the saga from the data section: the hand-rolled, database-backed orchestrator that Example 17 runs, and Temporal (Java SDK + Spring Boot) for durable execution when the saga outgrows it.</a:t>
            </a:r>
            <a:endParaRPr/>
          </a:p>
        </p:txBody>
      </p:sp>
      <p:sp>
        <p:nvSpPr>
          <p:cNvPr id="516" name="Google Shape;516;g3e54846f4b4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846f4b4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846f4b4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we then give the selection criteria. This connects straight to the saga discussion and Appendix D.</a:t>
            </a:r>
            <a:endParaRPr/>
          </a:p>
        </p:txBody>
      </p:sp>
      <p:sp>
        <p:nvSpPr>
          <p:cNvPr id="526" name="Google Shape;526;g3e54846f4b4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846f4b4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846f4b4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846f4b4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846f4b4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846f4b4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Spring's @Scheduled (with ShedLock for cluster-aware locking) covers recurring work without leaving the JVM; Kubernetes Jobs and CronJobs own the heavier or isolated batch runs; and KEDA's Cron scaler is the declarative way to wake a worker on a schedule.</a:t>
            </a:r>
            <a:endParaRPr/>
          </a:p>
        </p:txBody>
      </p:sp>
      <p:sp>
        <p:nvSpPr>
          <p:cNvPr id="552" name="Google Shape;552;g3e54846f4b4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846f4b4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846f4b4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846f4b4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846f4b4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846f4b4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846f4b4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846f4b4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846f4b4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846f4b4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846f4b4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846f4b4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846f4b4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846f4b4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846f4b4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We then show the CI gate that turns this into an automatic guardrail.</a:t>
            </a:r>
            <a:endParaRPr/>
          </a:p>
        </p:txBody>
      </p:sp>
      <p:sp>
        <p:nvSpPr>
          <p:cNvPr id="604" name="Google Shape;604;g3e54846f4b4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846f4b4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846f4b4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4846f4b4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846f4b4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846f4b4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846f4b4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846f4b4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846f4b4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We then list what consumers get from it.</a:t>
            </a:r>
            <a:endParaRPr/>
          </a:p>
        </p:txBody>
      </p:sp>
      <p:sp>
        <p:nvSpPr>
          <p:cNvPr id="638" name="Google Shape;638;g3e54846f4b4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846f4b4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846f4b4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846f4b4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846f4b4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846f4b4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846f4b4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846f4b4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846f4b4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We then show the instrumentation, then the trace.</a:t>
            </a:r>
            <a:endParaRPr/>
          </a:p>
        </p:txBody>
      </p:sp>
      <p:sp>
        <p:nvSpPr>
          <p:cNvPr id="669" name="Google Shape;669;g3e54846f4b4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846f4b4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846f4b4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846f4b4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846f4b4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846f4b4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846f4b4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846f4b4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846f4b4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846f4b4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846f4b4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846f4b4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The examples attach the OpenTelemetry Java agent 2.32.0 with JAVA_TOOL_OPTIONS in the Containerfile; Spring Boot 4 needs no tracing starter. The Containerfile downloads the agent jar from Maven Central and checks it against a pinned SHA-256.</a:t>
            </a:r>
            <a:endParaRPr/>
          </a:p>
          <a:p>
            <a:pPr indent="0" lvl="0" marL="0" rtl="0" algn="l">
              <a:spcBef>
                <a:spcPts val="0"/>
              </a:spcBef>
              <a:spcAft>
                <a:spcPts val="0"/>
              </a:spcAft>
              <a:buNone/>
            </a:pPr>
            <a:r>
              <a:rPr lang="en-US"/>
              <a:t>Every Spring MVC endpoint, RestClient call, gRPC invocation, JDBC query and Kafka producer and consumer is instrumented: spans are created and W3C trace context is propagated with zero code, and the agent writes trace_id and span_id into the logback MDC. Configuration is environment only: the service name, the OTLP endpoint and the sampler.</a:t>
            </a:r>
            <a:endParaRPr/>
          </a:p>
          <a:p>
            <a:pPr indent="0" lvl="0" marL="0" rtl="0" algn="l">
              <a:spcBef>
                <a:spcPts val="0"/>
              </a:spcBef>
              <a:spcAft>
                <a:spcPts val="0"/>
              </a:spcAft>
              <a:buNone/>
            </a:pPr>
            <a:r>
              <a:rPr lang="en-US"/>
              <a:t>You hand-write spans only for business operations worth measuring, and even that is declarative: @WithSpan from the OpenTelemetry instrumentation annotations. The trace_id flows REST to gRPC to Kafka to the consumer with no manual plumbing, because the agent injects and extracts context at each hop. Instrument once, correlate everything.</a:t>
            </a:r>
            <a:endParaRPr/>
          </a:p>
        </p:txBody>
      </p:sp>
      <p:sp>
        <p:nvSpPr>
          <p:cNvPr id="711" name="Google Shape;711;g3e54846f4b4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846f4b4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846f4b4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846f4b4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846f4b4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846f4b4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in practice. OpenTelemetry Baggage rides the same context propagation as the trace: the Java agent's default propagators are tracecontext and baggage, so the W3C baggage header travels on every REST, gRPC and Kafka hop with no extra code.</a:t>
            </a:r>
            <a:endParaRPr/>
          </a:p>
          <a:p>
            <a:pPr indent="0" lvl="0" marL="0" rtl="0" algn="l">
              <a:spcBef>
                <a:spcPts val="0"/>
              </a:spcBef>
              <a:spcAft>
                <a:spcPts val="0"/>
              </a:spcAft>
              <a:buNone/>
            </a:pPr>
            <a:r>
              <a:rPr lang="en-US"/>
              <a:t>The OncePerRequestFilter puts tenant.id into the current baggage at the edge, and the try-with-resources scope restores the previous context when the request ends. A @KafkaListener downstream reads it with Baggage.current().getEntryValue(...). Baggage is not recorded on spans automatically, so the consumer copies it onto its span as an attribute, which is what makes traces filterable by tenant.</a:t>
            </a:r>
            <a:endParaRPr/>
          </a:p>
          <a:p>
            <a:pPr indent="0" lvl="0" marL="0" rtl="0" algn="l">
              <a:spcBef>
                <a:spcPts val="0"/>
              </a:spcBef>
              <a:spcAft>
                <a:spcPts val="0"/>
              </a:spcAft>
              <a:buNone/>
            </a:pPr>
            <a:r>
              <a:rPr lang="en-US"/>
              <a:t>Caution: baggage goes on the wire to every hop, including third parties you call. No secrets, no PII.</a:t>
            </a:r>
            <a:endParaRPr/>
          </a:p>
        </p:txBody>
      </p:sp>
      <p:sp>
        <p:nvSpPr>
          <p:cNvPr id="735" name="Google Shape;735;g3e54846f4b4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846f4b4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846f4b4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846f4b4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846f4b4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846f4b4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846f4b4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846f4b4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846f4b4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846f4b4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846f4b4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846f4b4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Spring for GraphQL serves at /graphiql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846f4b4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846f4b4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846f4b4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846f4b4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846f4b4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846f4b4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We then cover what each layer's controls are.</a:t>
            </a:r>
            <a:endParaRPr/>
          </a:p>
        </p:txBody>
      </p:sp>
      <p:sp>
        <p:nvSpPr>
          <p:cNvPr id="800" name="Google Shape;800;g3e54846f4b4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846f4b4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846f4b4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We then open the pattern catalog — seven patterns that show up across these four layers.</a:t>
            </a:r>
            <a:endParaRPr/>
          </a:p>
        </p:txBody>
      </p:sp>
      <p:sp>
        <p:nvSpPr>
          <p:cNvPr id="811" name="Google Shape;811;g3e54846f4b4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846f4b4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846f4b4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what follows alternates between pattern-and-implementation pairs.</a:t>
            </a:r>
            <a:endParaRPr/>
          </a:p>
        </p:txBody>
      </p:sp>
      <p:sp>
        <p:nvSpPr>
          <p:cNvPr id="821" name="Google Shape;821;g3e54846f4b4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846f4b4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846f4b4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846f4b4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846f4b4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846f4b4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846f4b4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846f4b4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846f4b4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We then show the code.</a:t>
            </a:r>
            <a:endParaRPr/>
          </a:p>
        </p:txBody>
      </p:sp>
      <p:sp>
        <p:nvSpPr>
          <p:cNvPr id="852" name="Google Shape;852;g3e54846f4b4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846f4b4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846f4b4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846f4b4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846f4b4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846f4b4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is the application of those mechanics to a specific security need.</a:t>
            </a:r>
            <a:endParaRPr/>
          </a:p>
        </p:txBody>
      </p:sp>
      <p:sp>
        <p:nvSpPr>
          <p:cNvPr id="875" name="Google Shape;875;g3e54846f4b4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846f4b4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846f4b4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846f4b4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846f4b4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846f4b4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846f4b4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846f4b4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846f4b4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846f4b4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846f4b4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846f4b4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846f4b4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846f4b4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846f4b4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846f4b4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846f4b4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846f4b4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(the resilience4j-spring-boot4 starter) provides the bulkhead. Example 12 needs one limit per tenant, so instead of the @Bulkhead annotation, which names a single fixed instance, it asks the BulkheadRegistry for a bulkhead named after the tenant, created on first use from a shared 'tenant' configuration: five concurrent calls and a maximum wait of zero.</a:t>
            </a:r>
            <a:endParaRPr/>
          </a:p>
          <a:p>
            <a:pPr indent="0" lvl="0" marL="0" rtl="0" algn="l">
              <a:spcBef>
                <a:spcPts val="0"/>
              </a:spcBef>
              <a:spcAft>
                <a:spcPts val="0"/>
              </a:spcAft>
              <a:buNone/>
            </a:pPr>
            <a:r>
              <a:rPr lang="en-US"/>
              <a:t>A tenant that fills its five permits gets BulkheadFullException and a 429 at once, while every other tenant keeps its own five. Refusing instead of queueing matters: a queue in front of a saturated tenant only turns its storm into a pile of waiting requests. At the platform layer, Istio's per-destination connection-pool limits complement these in-process limits.</a:t>
            </a:r>
            <a:endParaRPr/>
          </a:p>
        </p:txBody>
      </p:sp>
      <p:sp>
        <p:nvSpPr>
          <p:cNvPr id="940" name="Google Shape;940;g3e54846f4b4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846f4b4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846f4b4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846f4b4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846f4b4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846f4b4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KafkaTemplate.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846f4b4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846f4b4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846f4b4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846f4b4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846f4b4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846f4b4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846f4b4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846f4b4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846f4b4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846f4b4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846f4b4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846f4b4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We then turn these into positive heuristics.</a:t>
            </a:r>
            <a:endParaRPr/>
          </a:p>
        </p:txBody>
      </p:sp>
      <p:sp>
        <p:nvSpPr>
          <p:cNvPr id="1005" name="Google Shape;1005;g3e54846f4b4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846f4b4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846f4b4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846f4b4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846f4b4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846f4b4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846f4b4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846f4b4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846f4b4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Spring, Quarkus, or anything else. The Spring Boot reference docs, Temporal Java SDK guides,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846f4b4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846f4b4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846f4b4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846f4b4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846f4b4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846f4b4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846f4b4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846f4b4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846f4b4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846f4b4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846f4b4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846f4b4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846f4b4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846f4b4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846f4b4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846f4b4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846f4b4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846f4b4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846f4b4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846f4b4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846f4b4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846f4b4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846f4b4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846f4b4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846f4b4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846f4b4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846f4b4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846f4b4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846f4b4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846f4b4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846f4b4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846f4b4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846f4b4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code follows.</a:t>
            </a:r>
            <a:endParaRPr/>
          </a:p>
        </p:txBody>
      </p:sp>
      <p:sp>
        <p:nvSpPr>
          <p:cNvPr id="1148" name="Google Shape;1148;g3e54846f4b4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846f4b4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846f4b4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Spring Web. There's one URL for the order resource — it never changes. Two handler methods share the path but declare different produces media types; Spring's content negotiation picks the handler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 Mention that Spring Boot 4 adds first-class API versioning support if you prefer to declare versions centrally (annotation- or filter-based) instead of per-handler.</a:t>
            </a:r>
            <a:endParaRPr/>
          </a:p>
        </p:txBody>
      </p:sp>
      <p:sp>
        <p:nvSpPr>
          <p:cNvPr id="1159" name="Google Shape;1159;g3e54846f4b4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846f4b4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846f4b4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846f4b4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846f4b4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846f4b4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846f4b4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846f4b4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846f4b4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846f4b4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846f4b4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846f4b4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Spring for GraphQL. Spring for GraphQL is schema-first: the .graphqls file is the contract. We add totalMinor additively and mark the old total field with GraphQL's native @deprecated directive, carrying a human reason. The Java record on the data side contains both fields and Spring binds them when the field is queried (custom resolvers are needed only when a field comes from a different source). The field keeps working and nothing breaks, but the deprecation shows up in introspection, in the GraphiQL UI Spring serves at /graphiql, and in any IDE plugin that reads the schema. The crucial operational piece is the comment: you instrument field-level usage (Micrometer's Observation API hooks DataFetchingEnvironment so you can record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4846f4b4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846f4b4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846f4b4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846f4b4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846f4b4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846f4b4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Spring's WebSocket support (spring-boot-starter-websocket), see why it fights scaling, fix it with a backplane, make it fast and versioned with protobuf, and make it survivable with reconnection.</a:t>
            </a:r>
            <a:endParaRPr/>
          </a:p>
        </p:txBody>
      </p:sp>
      <p:sp>
        <p:nvSpPr>
          <p:cNvPr id="1230" name="Google Shape;1230;g3e54846f4b4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846f4b4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846f4b4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WebSocket makes the endpoint declarative: register one handler at a path in a small @Configuration class, then extend TextWebSocketHandler (or BinaryWebSocketHandler) and override the lifecycle methods you care about — afterConnectionEstablished, handleTextMessage, afterConnectionClosed. Constructor injection brings in any beans you need. But point hard at the conns map — the registry of who's connected lives in this pod's memory. That one design fact drives everything in this appendix: the connection and the knowledge of who's connected live on exactly one pod. Everything stateless about HTTP (any replica can serve any request) is now false. We then show what that does to scaling. (If you want a higher-level pub/sub style with topics and per-user destinations, Spring also ships STOMP-over-WebSocket via @EnableWebSocketMessageBroker; the trade-offs in this appendix still apply.)</a:t>
            </a:r>
            <a:endParaRPr/>
          </a:p>
        </p:txBody>
      </p:sp>
      <p:sp>
        <p:nvSpPr>
          <p:cNvPr id="1240" name="Google Shape;1240;g3e54846f4b4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846f4b4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846f4b4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846f4b4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846f4b4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846f4b4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Every one of these is solved or eased by a pub/sub backplane.</a:t>
            </a:r>
            <a:endParaRPr/>
          </a:p>
        </p:txBody>
      </p:sp>
      <p:sp>
        <p:nvSpPr>
          <p:cNvPr id="1264" name="Google Shape;1264;g3e54846f4b4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846f4b4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846f4b4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846f4b4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846f4b4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846f4b4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Spring's BinaryWebSocketHandler and session.sendMessage(new BinaryMessage(...)) are markedly smaller and cheaper to parse than JSON text — meaningful when pushing high-frequency updates to many sockets. The server parses the raw ByteBuffer directly into the generated Envelope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which the failure-handling material relies on. So the envelope solves both 'make it fast' and 'how do I version a socket message' at once.</a:t>
            </a:r>
            <a:endParaRPr/>
          </a:p>
        </p:txBody>
      </p:sp>
      <p:sp>
        <p:nvSpPr>
          <p:cNvPr id="1285" name="Google Shape;1285;g3e54846f4b4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846f4b4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846f4b4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846f4b4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846f4b4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846f4b4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846f4b4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846f4b4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846f4b4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846f4b4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846f4b4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846f4b4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durable execution with retries and timers built in — most power, least code, but a new dependency to run. Example 17 runs the first option, and this appendix sets its code beside Temporal. The cross-cutting rule on screen: the state transition and the outbound command must commit together (the outbox pattern again), or you get lost or duplicated steps.</a:t>
            </a:r>
            <a:endParaRPr/>
          </a:p>
        </p:txBody>
      </p:sp>
      <p:sp>
        <p:nvSpPr>
          <p:cNvPr id="1329" name="Google Shape;1329;g3e54846f4b4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846f4b4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846f4b4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Spring Data JPA, and the default choice when the team wants to own the transitions. Key ideas: one Saga entity row, loaded via EntityManager with a PESSIMISTIC_WRITE lock so two workers can't advance the same saga concurrently. The status guard makes advance() idempotent — calling it on a finished saga is a no-op, which matters because retries and redeliveries will call it again. Each successful step accumulates its result into the context map (the data-dependency pattern depends on it) and bumps the step index; @Transactional makes the save durable after every step, atomic with the work record. Recovery needs no special path: a Spring @Scheduled sweeper (with ShedLock so only one node runs it) loads RUNNING sagas and calls advance() again. Temporal, in this appendix, solves the same problem at a different point on the build-vs-buy spectrum; Example 17 runs the hand-rolled version with JdbcClient.</a:t>
            </a:r>
            <a:endParaRPr/>
          </a:p>
        </p:txBody>
      </p:sp>
      <p:sp>
        <p:nvSpPr>
          <p:cNvPr id="1340" name="Google Shape;1340;g3e54846f4b4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846f4b4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846f4b4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846f4b4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846f4b4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846f4b4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the completed steps (subList up to stepIndex) in reverse, newest first,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If you use Temporal instead, its Saga utility (Workflow.newSaga(...).addCompensation(...)) drives the unwind for you with the same guarantees; the Temporal slides in this appendix show it.</a:t>
            </a:r>
            <a:endParaRPr/>
          </a:p>
        </p:txBody>
      </p:sp>
      <p:sp>
        <p:nvSpPr>
          <p:cNvPr id="1364" name="Google Shape;1364;g3e54846f4b4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846f4b4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846f4b4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's.getContext().put(step, result)' line is exactly this. Temporal does the same through its workflow input/output passing, and Example 17 stores each step's result in the saga's JSONB context under the step name.</a:t>
            </a:r>
            <a:endParaRPr/>
          </a:p>
        </p:txBody>
      </p:sp>
      <p:sp>
        <p:nvSpPr>
          <p:cNvPr id="1377" name="Google Shape;1377;g3e54846f4b4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846f4b4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846f4b4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choice as owning the transitions against buying durable execution. Both are open source and both survive a pod crash mid-flow.</a:t>
            </a:r>
            <a:endParaRPr/>
          </a:p>
          <a:p>
            <a:pPr indent="0" lvl="0" marL="0" rtl="0" algn="l">
              <a:spcBef>
                <a:spcPts val="0"/>
              </a:spcBef>
              <a:spcAft>
                <a:spcPts val="0"/>
              </a:spcAft>
              <a:buNone/>
            </a:pPr>
            <a:r>
              <a:rPr lang="en-US"/>
              <a:t>The hand-rolled orchestrator is what Example 17 runs: a sagas table with one row per saga holding status, step_index and a JSONB context, and a saga_log table that records every execute, failed and compensate action. Each step runs in its own transaction that locks the row, runs the step and commits the new context and step index together. On startup the service resumes every saga still marked RUNNING. Nothing new to operate.</a:t>
            </a:r>
            <a:endParaRPr/>
          </a:p>
          <a:p>
            <a:pPr indent="0" lvl="0" marL="0" rtl="0" algn="l">
              <a:spcBef>
                <a:spcPts val="0"/>
              </a:spcBef>
              <a:spcAft>
                <a:spcPts val="0"/>
              </a:spcAft>
              <a:buNone/>
            </a:pPr>
            <a:r>
              <a:rPr lang="en-US"/>
              <a:t>Temporal: founded by the original Cadence team, MIT-licensed Server and Apache-2.0 Java SDK, actively maintained. It adds durable execution, deterministic replay, automatic retries with backoff, timers, a Saga compensation utility, child workflows, and a CLI and UI to inspect runs. The cost is operating a Temporal cluster, which runs on your own Kubernetes with no SaaS required.</a:t>
            </a:r>
            <a:endParaRPr/>
          </a:p>
          <a:p>
            <a:pPr indent="0" lvl="0" marL="0" rtl="0" algn="l">
              <a:spcBef>
                <a:spcPts val="0"/>
              </a:spcBef>
              <a:spcAft>
                <a:spcPts val="0"/>
              </a:spcAft>
              <a:buNone/>
            </a:pPr>
            <a:r>
              <a:rPr lang="en-US"/>
              <a:t>Spring Statemachine is archived upstream: github.com/spring-projects/spring-statemachine is a read-only archive whose README says the project is no longer maintained (last release 4.0.2, June 2026), and the spring.io announcement of 21 April 2025 made 4.0.x the last open-source line, with later releases for commercial Tanzu Spring customers only. That conflicts with the open-source-only rule, so the deck does not offer it.</a:t>
            </a:r>
            <a:endParaRPr/>
          </a:p>
          <a:p>
            <a:pPr indent="0" lvl="0" marL="0" rtl="0" algn="l">
              <a:spcBef>
                <a:spcPts val="0"/>
              </a:spcBef>
              <a:spcAft>
                <a:spcPts val="0"/>
              </a:spcAft>
              <a:buNone/>
            </a:pPr>
            <a:r>
              <a:rPr lang="en-US"/>
              <a:t>The decision rule to leave with the audience: the question is how much engine this saga needs.</a:t>
            </a:r>
            <a:endParaRPr/>
          </a:p>
        </p:txBody>
      </p:sp>
      <p:sp>
        <p:nvSpPr>
          <p:cNvPr id="1388" name="Google Shape;1388;g3e54846f4b4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5" name="Shape 1395"/>
        <p:cNvGrpSpPr/>
        <p:nvPr/>
      </p:nvGrpSpPr>
      <p:grpSpPr>
        <a:xfrm>
          <a:off x="0" y="0"/>
          <a:ext cx="0" cy="0"/>
          <a:chOff x="0" y="0"/>
          <a:chExt cx="0" cy="0"/>
        </a:xfrm>
      </p:grpSpPr>
      <p:sp>
        <p:nvSpPr>
          <p:cNvPr id="1396" name="Google Shape;1396;g3e54846f4b4_0_1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7" name="Google Shape;1397;g3e54846f4b4_0_1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Three boxes. On the left, your client, a REST handler in a Spring Boot app, calls WorkflowClient.start(...)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Spring Boot app where you implement the workflow as a regular Java class (FulfillmentWorkflowImpl with @WorkflowMethod) and the activities as regular Spring beans. The worker polls a task queue, gets the next workflow task, executes the next deterministic step. Crash the worker mid-flow and Temporal reissues the task to another worker, which replays history and resumes exactly where you were — no lost steps, no double-charges. That's durable execution. The bottom captions hammer the open-source posture: Temporal Server is MIT, the Java SDK is Apache 2.0, both running on your Kubernetes if you want, no SaaS lock-in.</a:t>
            </a:r>
            <a:endParaRPr/>
          </a:p>
        </p:txBody>
      </p:sp>
      <p:sp>
        <p:nvSpPr>
          <p:cNvPr id="1398" name="Google Shape;1398;g3e54846f4b4_0_1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6" name="Shape 1406"/>
        <p:cNvGrpSpPr/>
        <p:nvPr/>
      </p:nvGrpSpPr>
      <p:grpSpPr>
        <a:xfrm>
          <a:off x="0" y="0"/>
          <a:ext cx="0" cy="0"/>
          <a:chOff x="0" y="0"/>
          <a:chExt cx="0" cy="0"/>
        </a:xfrm>
      </p:grpSpPr>
      <p:sp>
        <p:nvSpPr>
          <p:cNvPr id="1407" name="Google Shape;1407;g3e54846f4b4_0_1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8" name="Google Shape;1408;g3e54846f4b4_0_1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whole story on one slide. ActivityInterfaces are plain Spring beans annotated @ActivityInterface, registered with the worker at startup. The Workflow interface is annotated @WorkflowInterface with one @WorkflowMethod entry point; the impl is plain Java that looks synchronous but every activity call goes through Temporal's task queue and is durably scheduled, retried (configurable retry policy on the stub),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utility from the Temporal SDK: addCompensation registers an undo for each completed step, and saga.compensate() runs them in reverse on failure — the same compensation discipline from earlier, but built into the SDK. Bootstrapping in Spring Boot: define a WorkflowServiceStubs bean (pointing at your Temporal Server), a WorkflowClient bean, and a WorkerFactory that starts a Worker, registering activity beans and workflow implementation types. The temporal-spring-boot-autoconfigure project does most of that wiring for you.</a:t>
            </a:r>
            <a:endParaRPr/>
          </a:p>
        </p:txBody>
      </p:sp>
      <p:sp>
        <p:nvSpPr>
          <p:cNvPr id="1409" name="Google Shape;1409;g3e54846f4b4_0_1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846f4b4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846f4b4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the saga-orchestrator service of Example 17. POST /sagas creates a sagas row (status RUNNING, step_index 0, the order in a JSONB context) and runs the steps in order: charge_payment, reserve_stock, book_shipping. Postgres holds two tables: sagas, one row per saga, and saga_log, one row per execute, failed or compensate action.</a:t>
            </a:r>
            <a:endParaRPr/>
          </a:p>
          <a:p>
            <a:pPr indent="0" lvl="0" marL="0" rtl="0" algn="l">
              <a:spcBef>
                <a:spcPts val="0"/>
              </a:spcBef>
              <a:spcAft>
                <a:spcPts val="0"/>
              </a:spcAft>
              <a:buNone/>
            </a:pPr>
            <a:r>
              <a:rPr lang="en-US"/>
              <a:t>Each step runs in its own transaction. The orchestrator locks the row with SELECT ... FOR UPDATE, returns at once unless the status is RUNNING (a repeated call is a no-op), runs the step, writes its output into the context and the log, and moves step_index forward, all in one commit. When the index passes the last step the status becomes COMPLETED.</a:t>
            </a:r>
            <a:endParaRPr/>
          </a:p>
          <a:p>
            <a:pPr indent="0" lvl="0" marL="0" rtl="0" algn="l">
              <a:spcBef>
                <a:spcPts val="0"/>
              </a:spcBef>
              <a:spcAft>
                <a:spcPts val="0"/>
              </a:spcAft>
              <a:buNone/>
            </a:pPr>
            <a:r>
              <a:rPr lang="en-US"/>
              <a:t>When a step throws, the same transaction logs the failure and sets COMPENSATING; the compensation pass then walks the completed steps in reverse (release_stock, then refund_payment) and ends in COMPENSATED. The dashed path in the picture is that unwind.</a:t>
            </a:r>
            <a:endParaRPr/>
          </a:p>
          <a:p>
            <a:pPr indent="0" lvl="0" marL="0" rtl="0" algn="l">
              <a:spcBef>
                <a:spcPts val="0"/>
              </a:spcBef>
              <a:spcAft>
                <a:spcPts val="0"/>
              </a:spcAft>
              <a:buNone/>
            </a:pPr>
            <a:r>
              <a:rPr lang="en-US"/>
              <a:t>Recovery is a StartupRunner: on boot it advances every saga still marked RUNNING. Everything runs in-process in the Spring Boot app, on the Postgres you already operate.</a:t>
            </a:r>
            <a:endParaRPr/>
          </a:p>
        </p:txBody>
      </p:sp>
      <p:sp>
        <p:nvSpPr>
          <p:cNvPr id="1422" name="Google Shape;1422;g3e54846f4b4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846f4b4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846f4b4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excerpt is advanceOnce() from SagaEngine in Example 17: one transaction per step, with the log row for a failed step left out.</a:t>
            </a:r>
            <a:endParaRPr/>
          </a:p>
          <a:p>
            <a:pPr indent="0" lvl="0" marL="0" rtl="0" algn="l">
              <a:spcBef>
                <a:spcPts val="0"/>
              </a:spcBef>
              <a:spcAft>
                <a:spcPts val="0"/>
              </a:spcAft>
              <a:buNone/>
            </a:pPr>
            <a:r>
              <a:rPr lang="en-US"/>
              <a:t>STEPS is a list of SagaStep records pairing each forward step with its compensation (charge_payment with refund_payment, reserve_stock with release_stock, book_shipping with cancel_shipping), so the unwind order is data. advanceOnce() is @Transactional and loads the saga through lockById, a repository query annotated @Lock(PESSIMISTIC_WRITE) that Hibernate runs as SELECT ... FOR UPDATE. It returns at once unless the status is RUNNING, so a redelivered request or a second worker finds a finished saga and does nothing.</a:t>
            </a:r>
            <a:endParaRPr/>
          </a:p>
          <a:p>
            <a:pPr indent="0" lvl="0" marL="0" rtl="0" algn="l">
              <a:spcBef>
                <a:spcPts val="0"/>
              </a:spcBef>
              <a:spcAft>
                <a:spcPts val="0"/>
              </a:spcAft>
              <a:buNone/>
            </a:pPr>
            <a:r>
              <a:rPr lang="en-US"/>
              <a:t>Inside the transaction the step runs, its result goes into the JSONB context under the step's name (this is how book_shipping can read what reserve_stock produced), the log row is saved, and step_index moves forward. The entity is managed, so Hibernate writes the changes when the transaction commits: the lock, the log and the new state commit together, the same rule as the outbox.</a:t>
            </a:r>
            <a:endParaRPr/>
          </a:p>
          <a:p>
            <a:pPr indent="0" lvl="0" marL="0" rtl="0" algn="l">
              <a:spcBef>
                <a:spcPts val="0"/>
              </a:spcBef>
              <a:spcAft>
                <a:spcPts val="0"/>
              </a:spcAft>
              <a:buNone/>
            </a:pPr>
            <a:r>
              <a:rPr lang="en-US"/>
              <a:t>SagaService.advance() calls advanceOnce() in a loop, each call in a new transaction, until the status is no longer RUNNING. A crash rolls back at most the step in flight, which runs again on resume, so every step must be idempotent. A thrown exception marks the saga COMPENSATING, and compensate() runs the completed steps' compensations in reverse before setting COMPENSATED. The transaction boundary lives in SagaEngine, a separate bean, because a @Transactional method called from inside its own class would bypass the proxy.</a:t>
            </a:r>
            <a:endParaRPr/>
          </a:p>
          <a:p>
            <a:pPr indent="0" lvl="0" marL="0" rtl="0" algn="l">
              <a:spcBef>
                <a:spcPts val="0"/>
              </a:spcBef>
              <a:spcAft>
                <a:spcPts val="0"/>
              </a:spcAft>
              <a:buNone/>
            </a:pPr>
            <a:r>
              <a:rPr lang="en-US"/>
              <a:t>Compared with Temporal: no extra server, but no built-in retries, timers or replay; the retry and resume logic is yours. The step executor in the example simulates the three services.</a:t>
            </a:r>
            <a:endParaRPr/>
          </a:p>
        </p:txBody>
      </p:sp>
      <p:sp>
        <p:nvSpPr>
          <p:cNvPr id="1433" name="Google Shape;1433;g3e54846f4b4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846f4b4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846f4b4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46" name="Google Shape;1446;g3e54846f4b4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e54846f4b4_0_1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g3e54846f4b4_0_1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56" name="Google Shape;1456;g3e54846f4b4_0_1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e54846f4b4_0_13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e54846f4b4_0_13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67" name="Google Shape;1467;g3e54846f4b4_0_13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g3e54846f4b4_0_13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7" name="Google Shape;1477;g3e54846f4b4_0_13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Framework 6 introduced ProblemDetail and ErrorResponseException; Spring 7 (Boot 4) leans on them as the default. Two complementary patterns. (1) A @RestControllerAdvice that extends ResponseEntityExceptionHandler is the central mapping point — domain code throws typed exceptions, one @ExceptionHandler per family builds a ProblemDetail, and Spring sets the Content-Type to application/problem+json automatically. Use setType for the URI, setTitle for the human label, setProperty for the extensions (machine code, traceId, anything else). (2) For checked, well-known errors, subclass ErrorResponseException and just throw — Spring's built-in handler picks it up. What the body leaves out: any stack trace, exception class name or SQL; those leak internals and are an attack surface. You can also opt in to Spring Boot's default ProblemDetailsExceptionHandler with spring.mvc.problemdetails=true if you want all framework exceptions returned as ProblemDetail too.</a:t>
            </a:r>
            <a:endParaRPr/>
          </a:p>
        </p:txBody>
      </p:sp>
      <p:sp>
        <p:nvSpPr>
          <p:cNvPr id="1478" name="Google Shape;1478;g3e54846f4b4_0_13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e54846f4b4_0_13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0" name="Google Shape;1490;g3e54846f4b4_0_13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91" name="Google Shape;1491;g3e54846f4b4_0_13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9" name="Shape 1499"/>
        <p:cNvGrpSpPr/>
        <p:nvPr/>
      </p:nvGrpSpPr>
      <p:grpSpPr>
        <a:xfrm>
          <a:off x="0" y="0"/>
          <a:ext cx="0" cy="0"/>
          <a:chOff x="0" y="0"/>
          <a:chExt cx="0" cy="0"/>
        </a:xfrm>
      </p:grpSpPr>
      <p:sp>
        <p:nvSpPr>
          <p:cNvPr id="1500" name="Google Shape;1500;g3e54846f4b4_0_13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1" name="Google Shape;1501;g3e54846f4b4_0_13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standard rich-error model via StatusProto — the same API surface whether you're on Spring Boot or any other JVM stack.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responseObserver.onError signals the failure. The key discipline: don't overload a generic INTERNAL code for everything — the code is how automated clients and Istio decide whether and when to retry, so getting it right is what prevents both lost work and retry storms.</a:t>
            </a:r>
            <a:endParaRPr/>
          </a:p>
        </p:txBody>
      </p:sp>
      <p:sp>
        <p:nvSpPr>
          <p:cNvPr id="1502" name="Google Shape;1502;g3e54846f4b4_0_13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2" name="Shape 1512"/>
        <p:cNvGrpSpPr/>
        <p:nvPr/>
      </p:nvGrpSpPr>
      <p:grpSpPr>
        <a:xfrm>
          <a:off x="0" y="0"/>
          <a:ext cx="0" cy="0"/>
          <a:chOff x="0" y="0"/>
          <a:chExt cx="0" cy="0"/>
        </a:xfrm>
      </p:grpSpPr>
      <p:sp>
        <p:nvSpPr>
          <p:cNvPr id="1513" name="Google Shape;1513;g3e54846f4b4_0_13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4" name="Google Shape;1514;g3e54846f4b4_0_13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Spring Kafka this is configuration (DefaultErrorHandler + DeadLetterPublishingRecoverer, or RetryTopicConfigurationBuilder for delayed-retry topics), not hand-rolled plumbing.</a:t>
            </a:r>
            <a:endParaRPr/>
          </a:p>
        </p:txBody>
      </p:sp>
      <p:sp>
        <p:nvSpPr>
          <p:cNvPr id="1515" name="Google Shape;1515;g3e54846f4b4_0_13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g3e54846f4b4_0_13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g3e54846f4b4_0_13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wires this up declaratively. DefaultErrorHandler is the SeekToCurrentErrorHandler successor that gives bounded in-place retries with ExponentialBackOffWithMaxRetries (200ms initial, 2x multiplier, capped at 5s, 3 attempts). When retries are exhausted the DeadLetterPublishingRecoverer writes the record to a sibling DLQ topic and commits the offset, so the consumer keeps making progress — a poison record never causes head-of-line blocking. The non-retryable list short-circuits validation errors straight to DLQ (no point retrying a 4xx). For multi-topic retry-with-delay flows, RetryTopicConfigurationBuilder lets you declare 5s/30s/5m retry topics fluently (analogous to SmallRye's delayed-retry-topic). Make handle() idempotent — at-least-once delivery means retried records may have partially applied. The error handler is registered on your ConcurrentKafkaListenerContainerFactory so all @KafkaListener methods inherit it.</a:t>
            </a:r>
            <a:endParaRPr/>
          </a:p>
        </p:txBody>
      </p:sp>
      <p:sp>
        <p:nvSpPr>
          <p:cNvPr id="1526" name="Google Shape;1526;g3e54846f4b4_0_13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846f4b4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846f4b4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39" name="Google Shape;1539;g3e54846f4b4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g3e54846f4b4_0_13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g3e54846f4b4_0_13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Spring for GraphQL's exception-resolution chain catches it, sets that field to null, and appends an entry to errors[] with the message and path — while every other field resolves and returns normally. The DataFetcherExceptionResolver (or its convenience adapter DataFetcherExceptionResolverAdapter) is the central mapping point — one @Component, one method per exception family, return a GraphQLError built via GraphqlErrorBuilder, and the framework places it in the response correctly. ErrorType gives you the standard categories (NOT_FOUND, UNAUTHORIZED, FORBIDDEN, BAD_REQUEST, INTERNAL_ERROR, UNAVAILABLE) that map sensibly across clients; extensions carries the machine code, retryable flag, and traceId — the same five facts as everywhere else.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50" name="Google Shape;1550;g3e54846f4b4_0_13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0" name="Shape 1560"/>
        <p:cNvGrpSpPr/>
        <p:nvPr/>
      </p:nvGrpSpPr>
      <p:grpSpPr>
        <a:xfrm>
          <a:off x="0" y="0"/>
          <a:ext cx="0" cy="0"/>
          <a:chOff x="0" y="0"/>
          <a:chExt cx="0" cy="0"/>
        </a:xfrm>
      </p:grpSpPr>
      <p:sp>
        <p:nvSpPr>
          <p:cNvPr id="1561" name="Google Shape;1561;g3e54846f4b4_0_1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2" name="Google Shape;1562;g3e54846f4b4_0_1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Spring Boot 4, the built-in retry API in spring-core (with @Retryable / RetryTemplate, supporting backoff and jitter) plus Resilience4j for circuit breakers and bulkheads, plus the Istio config from section 2, give you these at both the code and mesh layers.</a:t>
            </a:r>
            <a:endParaRPr/>
          </a:p>
        </p:txBody>
      </p:sp>
      <p:sp>
        <p:nvSpPr>
          <p:cNvPr id="1563" name="Google Shape;1563;g3e54846f4b4_0_1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1" name="Shape 1571"/>
        <p:cNvGrpSpPr/>
        <p:nvPr/>
      </p:nvGrpSpPr>
      <p:grpSpPr>
        <a:xfrm>
          <a:off x="0" y="0"/>
          <a:ext cx="0" cy="0"/>
          <a:chOff x="0" y="0"/>
          <a:chExt cx="0" cy="0"/>
        </a:xfrm>
      </p:grpSpPr>
      <p:sp>
        <p:nvSpPr>
          <p:cNvPr id="1572" name="Google Shape;1572;g3e54846f4b4_0_1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3" name="Google Shape;1573;g3e54846f4b4_0_1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(Spring Boot 4's built-in retry API gives you @Retryable with exponential backoff + jitter, and Resilience4j adds @CircuitBreaker and @TimeLimiter declaratively), protected by a retry budget, and every handler idempotent so a redelivered or retried request is safe. Get these right and your failure paths become as boring as your happy paths.</a:t>
            </a:r>
            <a:endParaRPr/>
          </a:p>
        </p:txBody>
      </p:sp>
      <p:sp>
        <p:nvSpPr>
          <p:cNvPr id="1574" name="Google Shape;1574;g3e54846f4b4_0_1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1" name="Shape 1581"/>
        <p:cNvGrpSpPr/>
        <p:nvPr/>
      </p:nvGrpSpPr>
      <p:grpSpPr>
        <a:xfrm>
          <a:off x="0" y="0"/>
          <a:ext cx="0" cy="0"/>
          <a:chOff x="0" y="0"/>
          <a:chExt cx="0" cy="0"/>
        </a:xfrm>
      </p:grpSpPr>
      <p:sp>
        <p:nvSpPr>
          <p:cNvPr id="1582" name="Google Shape;1582;g3e54846f4b4_0_14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3" name="Google Shape;1583;g3e54846f4b4_0_14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84" name="Google Shape;1584;g3e54846f4b4_0_14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g3e54846f4b4_0_14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g3e54846f4b4_0_14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94" name="Google Shape;1594;g3e54846f4b4_0_14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g3e54846f4b4_0_14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g3e54846f4b4_0_14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04" name="Google Shape;1604;g3e54846f4b4_0_14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g3e54846f4b4_0_1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g3e54846f4b4_0_1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15" name="Google Shape;1615;g3e54846f4b4_0_1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846f4b4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846f4b4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25" name="Google Shape;1625;g3e54846f4b4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3e54846f4b4_0_14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g3e54846f4b4_0_14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vocabulary connects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36" name="Google Shape;1636;g3e54846f4b4_0_14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g3e54846f4b4_0_14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g3e54846f4b4_0_14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46" name="Google Shape;1646;g3e54846f4b4_0_14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g3e54846f4b4_0_14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g3e54846f4b4_0_14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Java interfaces (a repository and an event publisher) and depends on nothing else (no Spring imports anywhere in the domain package). The application service PlaceOrder is pure logic: it creates the aggregate, saves via the port, publishes a domain event via the port, and never references Spring Web, JPA or Kafka types directly. Constructor injection is the key Spring-friendly choice: fields can be final, the bean is immutable and unit-testable with mocks, and there's no @Autowired anywhere in the domain core (Spring's only mark is @Service, which a @Configuration can replace if you want zero framework annotations in the domain). The REST controller is a thin driving adapter — turn the HTTP body into a command and call the use case; a gRPC or GraphQL adapter is the same shape. The outbound ports are implemented by adapters (a Spring Data JPA OrderRepository, a Spring Kafka EventPublisher) and Spring injects them at startup. That's dependency inversion serving the boundary: protocols are replaceable, the domain stays stable.</a:t>
            </a:r>
            <a:endParaRPr/>
          </a:p>
        </p:txBody>
      </p:sp>
      <p:sp>
        <p:nvSpPr>
          <p:cNvPr id="1657" name="Google Shape;1657;g3e54846f4b4_0_14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g3e54846f4b4_0_14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9" name="Google Shape;1669;g3e54846f4b4_0_14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is where DDD stops being abstract and visibly underpins the data, event and saga designs.</a:t>
            </a:r>
            <a:endParaRPr/>
          </a:p>
        </p:txBody>
      </p:sp>
      <p:sp>
        <p:nvSpPr>
          <p:cNvPr id="1670" name="Google Shape;1670;g3e54846f4b4_0_14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7" name="Shape 1677"/>
        <p:cNvGrpSpPr/>
        <p:nvPr/>
      </p:nvGrpSpPr>
      <p:grpSpPr>
        <a:xfrm>
          <a:off x="0" y="0"/>
          <a:ext cx="0" cy="0"/>
          <a:chOff x="0" y="0"/>
          <a:chExt cx="0" cy="0"/>
        </a:xfrm>
      </p:grpSpPr>
      <p:sp>
        <p:nvSpPr>
          <p:cNvPr id="1678" name="Google Shape;1678;g3e54846f4b4_0_15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9" name="Google Shape;1679;g3e54846f4b4_0_15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80" name="Google Shape;1680;g3e54846f4b4_0_15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7" name="Shape 1687"/>
        <p:cNvGrpSpPr/>
        <p:nvPr/>
      </p:nvGrpSpPr>
      <p:grpSpPr>
        <a:xfrm>
          <a:off x="0" y="0"/>
          <a:ext cx="0" cy="0"/>
          <a:chOff x="0" y="0"/>
          <a:chExt cx="0" cy="0"/>
        </a:xfrm>
      </p:grpSpPr>
      <p:sp>
        <p:nvSpPr>
          <p:cNvPr id="1688" name="Google Shape;1688;g3e54846f4b4_0_1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9" name="Google Shape;1689;g3e54846f4b4_0_15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90" name="Google Shape;1690;g3e54846f4b4_0_15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e54846f4b4_0_1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e54846f4b4_0_1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00" name="Google Shape;1700;g3e54846f4b4_0_1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g3e54846f4b4_0_1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g3e54846f4b4_0_15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10" name="Google Shape;1710;g3e54846f4b4_0_15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g3e54846f4b4_0_15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g3e54846f4b4_0_15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21" name="Google Shape;1721;g3e54846f4b4_0_15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3e54846f4b4_0_15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g3e54846f4b4_0_15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31" name="Google Shape;1731;g3e54846f4b4_0_15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g3e54846f4b4_0_15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g3e54846f4b4_0_15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42" name="Google Shape;1742;g3e54846f4b4_0_15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g3e54846f4b4_0_15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g3e54846f4b4_0_15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52" name="Google Shape;1752;g3e54846f4b4_0_15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g3e54846f4b4_0_1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g3e54846f4b4_0_1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63" name="Google Shape;1763;g3e54846f4b4_0_1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g3e54846f4b4_0_1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g3e54846f4b4_0_1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73" name="Google Shape;1773;g3e54846f4b4_0_1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g3e54846f4b4_0_15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g3e54846f4b4_0_15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83" name="Google Shape;1783;g3e54846f4b4_0_15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0" name="Shape 1790"/>
        <p:cNvGrpSpPr/>
        <p:nvPr/>
      </p:nvGrpSpPr>
      <p:grpSpPr>
        <a:xfrm>
          <a:off x="0" y="0"/>
          <a:ext cx="0" cy="0"/>
          <a:chOff x="0" y="0"/>
          <a:chExt cx="0" cy="0"/>
        </a:xfrm>
      </p:grpSpPr>
      <p:sp>
        <p:nvSpPr>
          <p:cNvPr id="1791" name="Google Shape;1791;g3e54846f4b4_0_16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2" name="Google Shape;1792;g3e54846f4b4_0_16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93" name="Google Shape;1793;g3e54846f4b4_0_16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g3e54846f4b4_0_16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g3e54846f4b4_0_16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03" name="Google Shape;1803;g3e54846f4b4_0_16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846f4b4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846f4b4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13" name="Google Shape;1813;g3e54846f4b4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1" name="Shape 1821"/>
        <p:cNvGrpSpPr/>
        <p:nvPr/>
      </p:nvGrpSpPr>
      <p:grpSpPr>
        <a:xfrm>
          <a:off x="0" y="0"/>
          <a:ext cx="0" cy="0"/>
          <a:chOff x="0" y="0"/>
          <a:chExt cx="0" cy="0"/>
        </a:xfrm>
      </p:grpSpPr>
      <p:sp>
        <p:nvSpPr>
          <p:cNvPr id="1822" name="Google Shape;1822;g3e54846f4b4_0_1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3" name="Google Shape;1823;g3e54846f4b4_0_1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24" name="Google Shape;1824;g3e54846f4b4_0_1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g3e54846f4b4_0_16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3" name="Google Shape;1833;g3e54846f4b4_0_16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34" name="Google Shape;1834;g3e54846f4b4_0_16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g3e54846f4b4_0_16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g3e54846f4b4_0_16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whole sequence. On SIGTERM the JVM's shutdown hook closes the application context, and Spring stops SmartLifecycle beans from the highest phase down. DrainLifecycle runs at DEFAULT_PHASE minus 512, a higher phase than the web server's graceful-shutdown phase, so it stops first. One SIGTERM, the only signal Kubernetes sends before SIGKILL, drives everything: the bean flips ShutdownState and publishes ReadinessState.REFUSING_TRAFFIC through an AvailabilityChangeEvent, so /readyz answers 503 and the Service stops routing, and it then keeps the service serving for DRAIN_DELAY_SECONDS (5 s; it plays the part of a preStop sleep) while the endpoint removal propagates.</a:t>
            </a:r>
            <a:endParaRPr/>
          </a:p>
          <a:p>
            <a:pPr indent="0" lvl="0" marL="0" rtl="0" algn="l">
              <a:spcBef>
                <a:spcPts val="0"/>
              </a:spcBef>
              <a:spcAft>
                <a:spcPts val="0"/>
              </a:spcAft>
              <a:buNone/>
            </a:pPr>
            <a:r>
              <a:rPr lang="en-US"/>
              <a:t>A drain HealthIndicator is part of the readiness group and reports DOWN with the reason shutting down, which the 503 body shows; the liveness group does not include it, so /healthz stays 200. Then, with server.shutdown=graceful, the embedded Tomcat, Jetty or Reactor Netty stops accepting new connections and finishes in-flight HTTP, bounded by spring.lifecycle.timeout-per-shutdown-phase (20 s here; the default is 30 s), the context closes the pool, and the process ends inside the 30-second grace period. The JVM exits with 143 (128 + SIGTERM) after a clean shutdown, which Kubernetes and the verify script treat as success.</a:t>
            </a:r>
            <a:endParaRPr/>
          </a:p>
          <a:p>
            <a:pPr indent="0" lvl="0" marL="0" rtl="0" algn="l">
              <a:spcBef>
                <a:spcPts val="0"/>
              </a:spcBef>
              <a:spcAft>
                <a:spcPts val="0"/>
              </a:spcAft>
              <a:buNone/>
            </a:pPr>
            <a:r>
              <a:rPr lang="en-US"/>
              <a:t>Use @EventListener(ContextClosedEvent.class), @PreDestroy or SmartLifecycle to drain what Spring does not drain for you: Kafka consumers (consumer.wakeup() then commit on close), the scheduler (stop accepting new triggers), WebSockets (send a close frame so clients reconnect elsewhere). In a real cluster the drain delay is usually a preStop sleep in the pod spec; the lifecycle bean keeps the example self-contained on compose. Pair it with the Kubernetes settings: readiness, preStop and the grace period.</a:t>
            </a:r>
            <a:endParaRPr/>
          </a:p>
        </p:txBody>
      </p:sp>
      <p:sp>
        <p:nvSpPr>
          <p:cNvPr id="1845" name="Google Shape;1845;g3e54846f4b4_0_16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5" name="Shape 1855"/>
        <p:cNvGrpSpPr/>
        <p:nvPr/>
      </p:nvGrpSpPr>
      <p:grpSpPr>
        <a:xfrm>
          <a:off x="0" y="0"/>
          <a:ext cx="0" cy="0"/>
          <a:chOff x="0" y="0"/>
          <a:chExt cx="0" cy="0"/>
        </a:xfrm>
      </p:grpSpPr>
      <p:sp>
        <p:nvSpPr>
          <p:cNvPr id="1856" name="Google Shape;1856;g3e54846f4b4_0_16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7" name="Google Shape;1857;g3e54846f4b4_0_16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58" name="Google Shape;1858;g3e54846f4b4_0_16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8" name="Shape 1868"/>
        <p:cNvGrpSpPr/>
        <p:nvPr/>
      </p:nvGrpSpPr>
      <p:grpSpPr>
        <a:xfrm>
          <a:off x="0" y="0"/>
          <a:ext cx="0" cy="0"/>
          <a:chOff x="0" y="0"/>
          <a:chExt cx="0" cy="0"/>
        </a:xfrm>
      </p:grpSpPr>
      <p:sp>
        <p:nvSpPr>
          <p:cNvPr id="1869" name="Google Shape;1869;g3e54846f4b4_0_1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0" name="Google Shape;1870;g3e54846f4b4_0_1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71" name="Google Shape;1871;g3e54846f4b4_0_1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8" name="Shape 1878"/>
        <p:cNvGrpSpPr/>
        <p:nvPr/>
      </p:nvGrpSpPr>
      <p:grpSpPr>
        <a:xfrm>
          <a:off x="0" y="0"/>
          <a:ext cx="0" cy="0"/>
          <a:chOff x="0" y="0"/>
          <a:chExt cx="0" cy="0"/>
        </a:xfrm>
      </p:grpSpPr>
      <p:sp>
        <p:nvSpPr>
          <p:cNvPr id="1879" name="Google Shape;1879;g3e54846f4b4_0_1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0" name="Google Shape;1880;g3e54846f4b4_0_1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Spring Boot's reference docs recommend you validate your shutdown configuration.</a:t>
            </a:r>
            <a:endParaRPr/>
          </a:p>
        </p:txBody>
      </p:sp>
      <p:sp>
        <p:nvSpPr>
          <p:cNvPr id="1881" name="Google Shape;1881;g3e54846f4b4_0_1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g3e54846f4b4_0_1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0" name="Google Shape;1890;g3e54846f4b4_0_1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Spring Boot + Apache Camel + Drools, then circle back to east/west, where most routing decisions happen.</a:t>
            </a:r>
            <a:endParaRPr/>
          </a:p>
        </p:txBody>
      </p:sp>
      <p:sp>
        <p:nvSpPr>
          <p:cNvPr id="1891" name="Google Shape;1891;g3e54846f4b4_0_1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8" name="Shape 1898"/>
        <p:cNvGrpSpPr/>
        <p:nvPr/>
      </p:nvGrpSpPr>
      <p:grpSpPr>
        <a:xfrm>
          <a:off x="0" y="0"/>
          <a:ext cx="0" cy="0"/>
          <a:chOff x="0" y="0"/>
          <a:chExt cx="0" cy="0"/>
        </a:xfrm>
      </p:grpSpPr>
      <p:sp>
        <p:nvSpPr>
          <p:cNvPr id="1899" name="Google Shape;1899;g3e54846f4b4_0_1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0" name="Google Shape;1900;g3e54846f4b4_0_1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01" name="Google Shape;1901;g3e54846f4b4_0_1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g3e54846f4b4_0_1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g3e54846f4b4_0_17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example will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11" name="Google Shape;1911;g3e54846f4b4_0_17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9" name="Shape 1919"/>
        <p:cNvGrpSpPr/>
        <p:nvPr/>
      </p:nvGrpSpPr>
      <p:grpSpPr>
        <a:xfrm>
          <a:off x="0" y="0"/>
          <a:ext cx="0" cy="0"/>
          <a:chOff x="0" y="0"/>
          <a:chExt cx="0" cy="0"/>
        </a:xfrm>
      </p:grpSpPr>
      <p:sp>
        <p:nvSpPr>
          <p:cNvPr id="1920" name="Google Shape;1920;g3e54846f4b4_0_1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1" name="Google Shape;1921;g3e54846f4b4_0_1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22" name="Google Shape;1922;g3e54846f4b4_0_1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846f4b4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846f4b4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(Spring Boot + Apache Camel + Drools + Kogito DMN). Each layer is the right place for a different type of decision; every topic in this appendix maps to one of them.</a:t>
            </a:r>
            <a:endParaRPr/>
          </a:p>
        </p:txBody>
      </p:sp>
      <p:sp>
        <p:nvSpPr>
          <p:cNvPr id="1932" name="Google Shape;1932;g3e54846f4b4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g3e54846f4b4_0_1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g3e54846f4b4_0_1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43" name="Google Shape;1943;g3e54846f4b4_0_1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3e54846f4b4_0_17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3" name="Google Shape;1953;g3e54846f4b4_0_17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54" name="Google Shape;1954;g3e54846f4b4_0_17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g3e54846f4b4_0_1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g3e54846f4b4_0_1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64" name="Google Shape;1964;g3e54846f4b4_0_1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g3e54846f4b4_0_17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g3e54846f4b4_0_17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77" name="Google Shape;1977;g3e54846f4b4_0_17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7" name="Shape 1987"/>
        <p:cNvGrpSpPr/>
        <p:nvPr/>
      </p:nvGrpSpPr>
      <p:grpSpPr>
        <a:xfrm>
          <a:off x="0" y="0"/>
          <a:ext cx="0" cy="0"/>
          <a:chOff x="0" y="0"/>
          <a:chExt cx="0" cy="0"/>
        </a:xfrm>
      </p:grpSpPr>
      <p:sp>
        <p:nvSpPr>
          <p:cNvPr id="1988" name="Google Shape;1988;g3e54846f4b4_0_1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9" name="Google Shape;1989;g3e54846f4b4_0_17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90" name="Google Shape;1990;g3e54846f4b4_0_17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g3e54846f4b4_0_17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2" name="Google Shape;2002;g3e54846f4b4_0_17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03" name="Google Shape;2003;g3e54846f4b4_0_17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846f4b4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846f4b4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13" name="Google Shape;2013;g3e54846f4b4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1" name="Shape 2021"/>
        <p:cNvGrpSpPr/>
        <p:nvPr/>
      </p:nvGrpSpPr>
      <p:grpSpPr>
        <a:xfrm>
          <a:off x="0" y="0"/>
          <a:ext cx="0" cy="0"/>
          <a:chOff x="0" y="0"/>
          <a:chExt cx="0" cy="0"/>
        </a:xfrm>
      </p:grpSpPr>
      <p:sp>
        <p:nvSpPr>
          <p:cNvPr id="2022" name="Google Shape;2022;g3e54846f4b4_0_18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3" name="Google Shape;2023;g3e54846f4b4_0_18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24" name="Google Shape;2024;g3e54846f4b4_0_18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1" name="Shape 2031"/>
        <p:cNvGrpSpPr/>
        <p:nvPr/>
      </p:nvGrpSpPr>
      <p:grpSpPr>
        <a:xfrm>
          <a:off x="0" y="0"/>
          <a:ext cx="0" cy="0"/>
          <a:chOff x="0" y="0"/>
          <a:chExt cx="0" cy="0"/>
        </a:xfrm>
      </p:grpSpPr>
      <p:sp>
        <p:nvSpPr>
          <p:cNvPr id="2032" name="Google Shape;2032;g3e54846f4b4_0_18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3" name="Google Shape;2033;g3e54846f4b4_0_18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34" name="Google Shape;2034;g3e54846f4b4_0_18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g3e54846f4b4_0_18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g3e54846f4b4_0_18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45" name="Google Shape;2045;g3e54846f4b4_0_18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5" name="Shape 2055"/>
        <p:cNvGrpSpPr/>
        <p:nvPr/>
      </p:nvGrpSpPr>
      <p:grpSpPr>
        <a:xfrm>
          <a:off x="0" y="0"/>
          <a:ext cx="0" cy="0"/>
          <a:chOff x="0" y="0"/>
          <a:chExt cx="0" cy="0"/>
        </a:xfrm>
      </p:grpSpPr>
      <p:sp>
        <p:nvSpPr>
          <p:cNvPr id="2056" name="Google Shape;2056;g3e54846f4b4_0_18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7" name="Google Shape;2057;g3e54846f4b4_0_18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58" name="Google Shape;2058;g3e54846f4b4_0_18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8" name="Shape 2068"/>
        <p:cNvGrpSpPr/>
        <p:nvPr/>
      </p:nvGrpSpPr>
      <p:grpSpPr>
        <a:xfrm>
          <a:off x="0" y="0"/>
          <a:ext cx="0" cy="0"/>
          <a:chOff x="0" y="0"/>
          <a:chExt cx="0" cy="0"/>
        </a:xfrm>
      </p:grpSpPr>
      <p:sp>
        <p:nvSpPr>
          <p:cNvPr id="2069" name="Google Shape;2069;g3e54846f4b4_0_18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0" name="Google Shape;2070;g3e54846f4b4_0_18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71" name="Google Shape;2071;g3e54846f4b4_0_18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8" name="Shape 2078"/>
        <p:cNvGrpSpPr/>
        <p:nvPr/>
      </p:nvGrpSpPr>
      <p:grpSpPr>
        <a:xfrm>
          <a:off x="0" y="0"/>
          <a:ext cx="0" cy="0"/>
          <a:chOff x="0" y="0"/>
          <a:chExt cx="0" cy="0"/>
        </a:xfrm>
      </p:grpSpPr>
      <p:sp>
        <p:nvSpPr>
          <p:cNvPr id="2079" name="Google Shape;2079;g3e54846f4b4_0_18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0" name="Google Shape;2080;g3e54846f4b4_0_18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81" name="Google Shape;2081;g3e54846f4b4_0_18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1" name="Shape 2091"/>
        <p:cNvGrpSpPr/>
        <p:nvPr/>
      </p:nvGrpSpPr>
      <p:grpSpPr>
        <a:xfrm>
          <a:off x="0" y="0"/>
          <a:ext cx="0" cy="0"/>
          <a:chOff x="0" y="0"/>
          <a:chExt cx="0" cy="0"/>
        </a:xfrm>
      </p:grpSpPr>
      <p:sp>
        <p:nvSpPr>
          <p:cNvPr id="2092" name="Google Shape;2092;g3e54846f4b4_0_18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3" name="Google Shape;2093;g3e54846f4b4_0_18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94" name="Google Shape;2094;g3e54846f4b4_0_18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1" name="Shape 2101"/>
        <p:cNvGrpSpPr/>
        <p:nvPr/>
      </p:nvGrpSpPr>
      <p:grpSpPr>
        <a:xfrm>
          <a:off x="0" y="0"/>
          <a:ext cx="0" cy="0"/>
          <a:chOff x="0" y="0"/>
          <a:chExt cx="0" cy="0"/>
        </a:xfrm>
      </p:grpSpPr>
      <p:sp>
        <p:nvSpPr>
          <p:cNvPr id="2102" name="Google Shape;2102;g3e54846f4b4_0_18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3" name="Google Shape;2103;g3e54846f4b4_0_18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identical in Spring Boot to any other JVM stack — Apache Camel's DSL is framework-neutral.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104" name="Google Shape;2104;g3e54846f4b4_0_18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2" name="Shape 2112"/>
        <p:cNvGrpSpPr/>
        <p:nvPr/>
      </p:nvGrpSpPr>
      <p:grpSpPr>
        <a:xfrm>
          <a:off x="0" y="0"/>
          <a:ext cx="0" cy="0"/>
          <a:chOff x="0" y="0"/>
          <a:chExt cx="0" cy="0"/>
        </a:xfrm>
      </p:grpSpPr>
      <p:sp>
        <p:nvSpPr>
          <p:cNvPr id="2113" name="Google Shape;2113;g3e54846f4b4_0_19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4" name="Google Shape;2114;g3e54846f4b4_0_19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Drools content-based-routing examples. The Camel DSL is identical across JVM frameworks, so a Quarkus implementation and a Spring Boot one differ only in dependency choice and DI style. camel-spring-boot-starter auto-configures the CamelContext and registers any @Component RouteBuilder beans: no manual XML, no Java config. Constructor injection brings in the rules evaluator. from() picks up Kafka messages via camel-kafka-starter.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actual routing logic lives in the .drl rules, owned by domain experts and editable without a Spring Boot rebuild.</a:t>
            </a:r>
            <a:endParaRPr/>
          </a:p>
        </p:txBody>
      </p:sp>
      <p:sp>
        <p:nvSpPr>
          <p:cNvPr id="2115" name="Google Shape;2115;g3e54846f4b4_0_19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846f4b4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846f4b4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The point isn't the syntax; it's that this file is owned by domain experts (the people who decide what 'VIP' or 'high-value' means) and can be redeployed without a developer touching Camel or Spring Boot code. When the rules get complex, Drools/Kogito has a DMN (Decision Model and Notation) flavour with decision tables in a spreadsheet form that non-developers find easier still.</a:t>
            </a:r>
            <a:endParaRPr/>
          </a:p>
        </p:txBody>
      </p:sp>
      <p:sp>
        <p:nvSpPr>
          <p:cNvPr id="2128" name="Google Shape;2128;g3e54846f4b4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8" name="Shape 2138"/>
        <p:cNvGrpSpPr/>
        <p:nvPr/>
      </p:nvGrpSpPr>
      <p:grpSpPr>
        <a:xfrm>
          <a:off x="0" y="0"/>
          <a:ext cx="0" cy="0"/>
          <a:chOff x="0" y="0"/>
          <a:chExt cx="0" cy="0"/>
        </a:xfrm>
      </p:grpSpPr>
      <p:sp>
        <p:nvSpPr>
          <p:cNvPr id="2139" name="Google Shape;2139;g3e54846f4b4_0_19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0" name="Google Shape;2140;g3e54846f4b4_0_19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41" name="Google Shape;2141;g3e54846f4b4_0_19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g3e54846f4b4_0_1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1" name="Google Shape;2151;g3e54846f4b4_0_19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session-affinity trade-off.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52" name="Google Shape;2152;g3e54846f4b4_0_19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9" name="Shape 2159"/>
        <p:cNvGrpSpPr/>
        <p:nvPr/>
      </p:nvGrpSpPr>
      <p:grpSpPr>
        <a:xfrm>
          <a:off x="0" y="0"/>
          <a:ext cx="0" cy="0"/>
          <a:chOff x="0" y="0"/>
          <a:chExt cx="0" cy="0"/>
        </a:xfrm>
      </p:grpSpPr>
      <p:sp>
        <p:nvSpPr>
          <p:cNvPr id="2160" name="Google Shape;2160;g3e54846f4b4_0_19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1" name="Google Shape;2161;g3e54846f4b4_0_19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62" name="Google Shape;2162;g3e54846f4b4_0_19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0" name="Shape 2170"/>
        <p:cNvGrpSpPr/>
        <p:nvPr/>
      </p:nvGrpSpPr>
      <p:grpSpPr>
        <a:xfrm>
          <a:off x="0" y="0"/>
          <a:ext cx="0" cy="0"/>
          <a:chOff x="0" y="0"/>
          <a:chExt cx="0" cy="0"/>
        </a:xfrm>
      </p:grpSpPr>
      <p:sp>
        <p:nvSpPr>
          <p:cNvPr id="2171" name="Google Shape;2171;g3e54846f4b4_0_19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2" name="Google Shape;2172;g3e54846f4b4_0_19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73" name="Google Shape;2173;g3e54846f4b4_0_19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g3e54846f4b4_0_19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g3e54846f4b4_0_19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83" name="Google Shape;2183;g3e54846f4b4_0_19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3" name="Shape 2193"/>
        <p:cNvGrpSpPr/>
        <p:nvPr/>
      </p:nvGrpSpPr>
      <p:grpSpPr>
        <a:xfrm>
          <a:off x="0" y="0"/>
          <a:ext cx="0" cy="0"/>
          <a:chOff x="0" y="0"/>
          <a:chExt cx="0" cy="0"/>
        </a:xfrm>
      </p:grpSpPr>
      <p:sp>
        <p:nvSpPr>
          <p:cNvPr id="2194" name="Google Shape;2194;g3e54846f4b4_0_19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5" name="Google Shape;2195;g3e54846f4b4_0_19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96" name="Google Shape;2196;g3e54846f4b4_0_19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g3e54846f4b4_0_1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5" name="Google Shape;2205;g3e54846f4b4_0_1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06" name="Google Shape;2206;g3e54846f4b4_0_1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3e54846f4b4_0_1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5" name="Google Shape;2215;g3e54846f4b4_0_1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Camel + Apache Drools pattern shown — wired here with camel-spring-boot-starter).</a:t>
            </a:r>
            <a:endParaRPr/>
          </a:p>
        </p:txBody>
      </p:sp>
      <p:sp>
        <p:nvSpPr>
          <p:cNvPr id="2216" name="Google Shape;2216;g3e54846f4b4_0_1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3" name="Shape 2223"/>
        <p:cNvGrpSpPr/>
        <p:nvPr/>
      </p:nvGrpSpPr>
      <p:grpSpPr>
        <a:xfrm>
          <a:off x="0" y="0"/>
          <a:ext cx="0" cy="0"/>
          <a:chOff x="0" y="0"/>
          <a:chExt cx="0" cy="0"/>
        </a:xfrm>
      </p:grpSpPr>
      <p:sp>
        <p:nvSpPr>
          <p:cNvPr id="2224" name="Google Shape;2224;g3e54846f4b4_0_20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5" name="Google Shape;2225;g3e54846f4b4_0_20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Spring Web + RestClient + Spring Kafka + Spring Data Redis, but the patterns are language-neutral.</a:t>
            </a:r>
            <a:endParaRPr/>
          </a:p>
        </p:txBody>
      </p:sp>
      <p:sp>
        <p:nvSpPr>
          <p:cNvPr id="2226" name="Google Shape;2226;g3e54846f4b4_0_20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g3e54846f4b4_0_20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g3e54846f4b4_0_20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Spring Boot codebase with clear @Service layers, @RestController boundaries, and 1000 unit tests is a monolith if it ships as one fat JAR on one heartbeat. The defining property: change anywhere, redeploy everything; a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a:t>
            </a:r>
            <a:endParaRPr/>
          </a:p>
        </p:txBody>
      </p:sp>
      <p:sp>
        <p:nvSpPr>
          <p:cNvPr id="2236" name="Google Shape;2236;g3e54846f4b4_0_20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e54846f4b4_0_2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6" name="Google Shape;2246;g3e54846f4b4_0_2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Spring Boot process have clear public APIs and private internals that other modules cannot reach. Enforcement is the key bit: Spring Modulith (org.springframework.modulith:spring-modulith-starter-core, GA since the Spring Boot 3 line and supported on Spring Boot 4.1.1) gives you first-class module boundaries with @ApplicationModule, package-private internals, and ApplicationModuleListener for cross-module events. ArchUnit in CI is the testing-time enforcement. Modules can share a database, but each owns a schema and no cross-schema joins are allowed. Spring Modulith specifically anticipates this — each @ApplicationModule documents itself as a candidate service.</a:t>
            </a:r>
            <a:endParaRPr/>
          </a:p>
        </p:txBody>
      </p:sp>
      <p:sp>
        <p:nvSpPr>
          <p:cNvPr id="2247" name="Google Shape;2247;g3e54846f4b4_0_2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g3e54846f4b4_0_2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g3e54846f4b4_0_2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Spring Boot process. Each module gets its own DataSource bean, its own JpaRepository, its own Liquibase or Flyway migration history. Spring Boot makes this clean — multiple @ConfigurationProperties-bound DataSource beans, with @Primary marking the default, and module-scoped @EnableJpaRepositories pointing at the right one. Cross-module data is now async or event-driven (typically via ApplicationModuleListener for in-process events, or KafkaTemplate for cross-service). Once this is done, promoting a module to a separate service is a refactor of the deployment topology, not a data-migration project.</a:t>
            </a:r>
            <a:endParaRPr/>
          </a:p>
        </p:txBody>
      </p:sp>
      <p:sp>
        <p:nvSpPr>
          <p:cNvPr id="2258" name="Google Shape;2258;g3e54846f4b4_0_2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6" name="Shape 2266"/>
        <p:cNvGrpSpPr/>
        <p:nvPr/>
      </p:nvGrpSpPr>
      <p:grpSpPr>
        <a:xfrm>
          <a:off x="0" y="0"/>
          <a:ext cx="0" cy="0"/>
          <a:chOff x="0" y="0"/>
          <a:chExt cx="0" cy="0"/>
        </a:xfrm>
      </p:grpSpPr>
      <p:sp>
        <p:nvSpPr>
          <p:cNvPr id="2267" name="Google Shape;2267;g3e54846f4b4_0_20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8" name="Google Shape;2268;g3e54846f4b4_0_20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The three steps you repeat. Identify: pick a bounded asset — 'order creation' or 'order status query' specifically. The smaller the better. Move: build the new Spring Boot service alongside the monolith, replicate the behaviour, test it in parallel without production traffic (often by shadowing reads through the new service and comparing outputs). REDIRECT: switch callers to the new service. Each cycle is independently reversible — if the new service is wrong, redirect back.</a:t>
            </a:r>
            <a:endParaRPr/>
          </a:p>
        </p:txBody>
      </p:sp>
      <p:sp>
        <p:nvSpPr>
          <p:cNvPr id="2269" name="Google Shape;2269;g3e54846f4b4_0_20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7" name="Shape 2277"/>
        <p:cNvGrpSpPr/>
        <p:nvPr/>
      </p:nvGrpSpPr>
      <p:grpSpPr>
        <a:xfrm>
          <a:off x="0" y="0"/>
          <a:ext cx="0" cy="0"/>
          <a:chOff x="0" y="0"/>
          <a:chExt cx="0" cy="0"/>
        </a:xfrm>
      </p:grpSpPr>
      <p:sp>
        <p:nvSpPr>
          <p:cNvPr id="2278" name="Google Shape;2278;g3e54846f4b4_0_20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9" name="Google Shape;2279;g3e54846f4b4_0_20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Spring Boot service, then 5%, then 100%. Without this step, every cutover is a coordinated client release. With it, every cutover is a proxy config change. For Spring Boot deployments this is typically nginx, Envoy, or Istio gateway as a Kubernetes Service ahead of your application Pods — or Spring Cloud Gateway as an in-app gateway if you prefer code-level routing control.</a:t>
            </a:r>
            <a:endParaRPr/>
          </a:p>
        </p:txBody>
      </p:sp>
      <p:sp>
        <p:nvSpPr>
          <p:cNvPr id="2280" name="Google Shape;2280;g3e54846f4b4_0_20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8" name="Shape 2288"/>
        <p:cNvGrpSpPr/>
        <p:nvPr/>
      </p:nvGrpSpPr>
      <p:grpSpPr>
        <a:xfrm>
          <a:off x="0" y="0"/>
          <a:ext cx="0" cy="0"/>
          <a:chOff x="0" y="0"/>
          <a:chExt cx="0" cy="0"/>
        </a:xfrm>
      </p:grpSpPr>
      <p:sp>
        <p:nvSpPr>
          <p:cNvPr id="2289" name="Google Shape;2289;g3e54846f4b4_0_20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0" name="Google Shape;2290;g3e54846f4b4_0_20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proxy routes by path, by header (X-Tenant: acme), by percentage (1% canary), or by feature flag. The new Spring Boot service handles its slice; the monolith handles everything else. Clients still see one URL. Roll forward by widening; roll back by narrowing. The new service can fail completely and the monolith picks up — bounded blast radius is the whole point. Instrument both paths in Micrometer so you can verify the new service produces the same outcomes as the monolith before widening.</a:t>
            </a:r>
            <a:endParaRPr/>
          </a:p>
        </p:txBody>
      </p:sp>
      <p:sp>
        <p:nvSpPr>
          <p:cNvPr id="2291" name="Google Shape;2291;g3e54846f4b4_0_20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9" name="Shape 2299"/>
        <p:cNvGrpSpPr/>
        <p:nvPr/>
      </p:nvGrpSpPr>
      <p:grpSpPr>
        <a:xfrm>
          <a:off x="0" y="0"/>
          <a:ext cx="0" cy="0"/>
          <a:chOff x="0" y="0"/>
          <a:chExt cx="0" cy="0"/>
        </a:xfrm>
      </p:grpSpPr>
      <p:sp>
        <p:nvSpPr>
          <p:cNvPr id="2300" name="Google Shape;2300;g3e54846f4b4_0_20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1" name="Google Shape;2301;g3e54846f4b4_0_20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The new Spring Boot service and the monolith share a database for a while. Both apps read and write the same tables; the new service owns the API but not the data. Useful for extracting reads first, or as a stepping stone. It is not a destination: every Liquibase / Flyway change now needs both apps to agree. The next step is to give the new service its own store: CDC out of the monolith's DB via Debezium, or dual-writing during a sync window, or event-sourcing via Spring Modulith ApplicationModuleListener feeding the new service's DB.</a:t>
            </a:r>
            <a:endParaRPr/>
          </a:p>
        </p:txBody>
      </p:sp>
      <p:sp>
        <p:nvSpPr>
          <p:cNvPr id="2302" name="Google Shape;2302;g3e54846f4b4_0_20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0" name="Shape 2310"/>
        <p:cNvGrpSpPr/>
        <p:nvPr/>
      </p:nvGrpSpPr>
      <p:grpSpPr>
        <a:xfrm>
          <a:off x="0" y="0"/>
          <a:ext cx="0" cy="0"/>
          <a:chOff x="0" y="0"/>
          <a:chExt cx="0" cy="0"/>
        </a:xfrm>
      </p:grpSpPr>
      <p:sp>
        <p:nvSpPr>
          <p:cNvPr id="2311" name="Google Shape;2311;g3e54846f4b4_0_20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2" name="Google Shape;2312;g3e54846f4b4_0_20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Proxy is a Spring REST controller that reads the body and decides which downstream to call via RestClient. Constructor injection brings in a RestClient.Builder; we build three typed clients, one per backend. Decision is by payload content: tenant, region, feature flag — not URL pattern. The pattern goes further than path-based proxying: you can roll out the new service to one tenant at a time, observe real-traffic behaviour, then widen. For Spring deployments running behind a real proxy (nginx, Envoy, Istio, Spring Cloud Gateway), express the same logic in Lua / WASM filters or RoutePredicateFactories at the gateway. The CPU cost of body parsing is the only real downside.</a:t>
            </a:r>
            <a:endParaRPr/>
          </a:p>
        </p:txBody>
      </p:sp>
      <p:sp>
        <p:nvSpPr>
          <p:cNvPr id="2313" name="Google Shape;2313;g3e54846f4b4_0_20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3" name="Shape 2323"/>
        <p:cNvGrpSpPr/>
        <p:nvPr/>
      </p:nvGrpSpPr>
      <p:grpSpPr>
        <a:xfrm>
          <a:off x="0" y="0"/>
          <a:ext cx="0" cy="0"/>
          <a:chOff x="0" y="0"/>
          <a:chExt cx="0" cy="0"/>
        </a:xfrm>
      </p:grpSpPr>
      <p:sp>
        <p:nvSpPr>
          <p:cNvPr id="2324" name="Google Shape;2324;g3e54846f4b4_0_20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5" name="Google Shape;2325;g3e54846f4b4_0_20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from the proxy patterns: the decorator owns behaviour, not just routing. The new Spring Boot service sits in front of the legacy API and adds cross-cutting capability: Redis caching, Kafka event emission, audit logging, validation, enrichment, rate-limiting, metrics via Micrometer. Legacy service unaware. Clients now talk to the decorator's API, which delegates for the underlying work but contributes everything else. Particularly useful when the legacy system is a 3rd-party product, a vendor system, or fragile code that touching is forbidden. Common implementation: Spring Boot + RestClient + Spring Data Redis + KafkaTemplate.</a:t>
            </a:r>
            <a:endParaRPr/>
          </a:p>
        </p:txBody>
      </p:sp>
      <p:sp>
        <p:nvSpPr>
          <p:cNvPr id="2326" name="Google Shape;2326;g3e54846f4b4_0_20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4" name="Shape 2334"/>
        <p:cNvGrpSpPr/>
        <p:nvPr/>
      </p:nvGrpSpPr>
      <p:grpSpPr>
        <a:xfrm>
          <a:off x="0" y="0"/>
          <a:ext cx="0" cy="0"/>
          <a:chOff x="0" y="0"/>
          <a:chExt cx="0" cy="0"/>
        </a:xfrm>
      </p:grpSpPr>
      <p:sp>
        <p:nvSpPr>
          <p:cNvPr id="2335" name="Google Shape;2335;g3e54846f4b4_0_2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6" name="Google Shape;2336;g3e54846f4b4_0_2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decorator is a clean @RestController. Three injected collaborators: RestClient pointed at the legacy service, RedisTemplate&lt;String, Order&gt; for the cache, KafkaTemplate&lt;String, Order&gt; for the event stream. The GET path uses cache-aside semantics. The POST path delegates to legacy (still source of truth), emits a Kafka event so downstream systems can subscribe to the new event stream, invalidates the cache. Legacy service has no idea it's been wrapped. Over time you can move more behaviour into the decorator: validation, idempotency keys, dedup. When you're ready to retire the legacy service, you implement the storage inside the decorator (or in a clean new service it calls) and stop forwarding — the API stays the same for clients.</a:t>
            </a:r>
            <a:endParaRPr/>
          </a:p>
        </p:txBody>
      </p:sp>
      <p:sp>
        <p:nvSpPr>
          <p:cNvPr id="2337" name="Google Shape;2337;g3e54846f4b4_0_2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7" name="Shape 2347"/>
        <p:cNvGrpSpPr/>
        <p:nvPr/>
      </p:nvGrpSpPr>
      <p:grpSpPr>
        <a:xfrm>
          <a:off x="0" y="0"/>
          <a:ext cx="0" cy="0"/>
          <a:chOff x="0" y="0"/>
          <a:chExt cx="0" cy="0"/>
        </a:xfrm>
      </p:grpSpPr>
      <p:sp>
        <p:nvSpPr>
          <p:cNvPr id="2348" name="Google Shape;2348;g3e54846f4b4_0_2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9" name="Google Shape;2349;g3e54846f4b4_0_2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First point is the most important and most often skipped — with Spring Modulith especially, a modular monolith is frequently a fine destination. Second point is the most underrated: the database split is where projects get stuck for years; do it early, while still one Spring Boot process. Third point: no proxy, no incremental migration. Fourth point is the schedule discipline. The bold final line is the architectural take-home: design for reversibility, so every step is a config change you can undo without coordinating a release.</a:t>
            </a:r>
            <a:endParaRPr/>
          </a:p>
        </p:txBody>
      </p:sp>
      <p:sp>
        <p:nvSpPr>
          <p:cNvPr id="2350" name="Google Shape;2350;g3e54846f4b4_0_2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7" name="Shape 2357"/>
        <p:cNvGrpSpPr/>
        <p:nvPr/>
      </p:nvGrpSpPr>
      <p:grpSpPr>
        <a:xfrm>
          <a:off x="0" y="0"/>
          <a:ext cx="0" cy="0"/>
          <a:chOff x="0" y="0"/>
          <a:chExt cx="0" cy="0"/>
        </a:xfrm>
      </p:grpSpPr>
      <p:sp>
        <p:nvSpPr>
          <p:cNvPr id="2358" name="Google Shape;2358;g3e54846f4b4_0_2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9" name="Google Shape;2359;g3e54846f4b4_0_2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Code uses Spring Data Redis (RedisTemplate) for explicit patterns and Spring Cache abstraction (@Cacheable) where idiomatic.</a:t>
            </a:r>
            <a:endParaRPr/>
          </a:p>
        </p:txBody>
      </p:sp>
      <p:sp>
        <p:nvSpPr>
          <p:cNvPr id="2360" name="Google Shape;2360;g3e54846f4b4_0_2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846f4b4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846f4b4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Application performance is the user-facing win. Backend load matters more in steady state.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370" name="Google Shape;2370;g3e54846f4b4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7" name="Shape 2377"/>
        <p:cNvGrpSpPr/>
        <p:nvPr/>
      </p:nvGrpSpPr>
      <p:grpSpPr>
        <a:xfrm>
          <a:off x="0" y="0"/>
          <a:ext cx="0" cy="0"/>
          <a:chOff x="0" y="0"/>
          <a:chExt cx="0" cy="0"/>
        </a:xfrm>
      </p:grpSpPr>
      <p:sp>
        <p:nvSpPr>
          <p:cNvPr id="2378" name="Google Shape;2378;g3e54846f4b4_0_2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9" name="Google Shape;2379;g3e54846f4b4_0_2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Spring Boot application is in charge: try the cache first via RedisTemplate, on a miss query JPA, populate the cache on the way back, return. Every other pattern differs in who does the work. Pros: explicit, debuggable, no magic. Cons: every read has the if/else; cache miss costs two round trips; cache logic is repeated across services if you don't extract it (which is what @Cacheable read-through does for you, next pattern). TTL is the consistency knob.</a:t>
            </a:r>
            <a:endParaRPr/>
          </a:p>
        </p:txBody>
      </p:sp>
      <p:sp>
        <p:nvSpPr>
          <p:cNvPr id="2380" name="Google Shape;2380;g3e54846f4b4_0_2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8" name="Shape 2388"/>
        <p:cNvGrpSpPr/>
        <p:nvPr/>
      </p:nvGrpSpPr>
      <p:grpSpPr>
        <a:xfrm>
          <a:off x="0" y="0"/>
          <a:ext cx="0" cy="0"/>
          <a:chOff x="0" y="0"/>
          <a:chExt cx="0" cy="0"/>
        </a:xfrm>
      </p:grpSpPr>
      <p:sp>
        <p:nvSpPr>
          <p:cNvPr id="2389" name="Google Shape;2389;g3e54846f4b4_0_2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0" name="Google Shape;2390;g3e54846f4b4_0_2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Minimal cache-aside in Spring Boot. RedisTemplate&lt;String, Product&gt; is the typed Spring Data Redis client. The @Transactional on update() so the DB write is transactional; cache invalidation is outside the transaction. Key convention: 'product:{id}'. Invalidate-on-write step: if you don't invalidate, stale reads for the full TTL. Choose: invalidate (this code) or set the new value directly (write-through). For Redis failures, wrap the cache.opsForValue().get() in try/catch (or use a Resilience4j CircuitBreaker around RedisTemplate) so an outage falls back to JPA.</a:t>
            </a:r>
            <a:endParaRPr/>
          </a:p>
        </p:txBody>
      </p:sp>
      <p:sp>
        <p:nvSpPr>
          <p:cNvPr id="2391" name="Google Shape;2391;g3e54846f4b4_0_2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1" name="Shape 2401"/>
        <p:cNvGrpSpPr/>
        <p:nvPr/>
      </p:nvGrpSpPr>
      <p:grpSpPr>
        <a:xfrm>
          <a:off x="0" y="0"/>
          <a:ext cx="0" cy="0"/>
          <a:chOff x="0" y="0"/>
          <a:chExt cx="0" cy="0"/>
        </a:xfrm>
      </p:grpSpPr>
      <p:sp>
        <p:nvSpPr>
          <p:cNvPr id="2402" name="Google Shape;2402;g3e54846f4b4_0_2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3" name="Google Shape;2403;g3e54846f4b4_0_2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abstraction, not the application, calls the database on a miss. The Spring app calls productService.findById(id) and gets the value back. For Spring, the cleanest expression is the Spring Cache abstraction with @Cacheable. Pros: cleaner application code, declarative TTL. Cons: less control over what triggers a DB hit. Use when read paths are repetitive and you want declarative caching.</a:t>
            </a:r>
            <a:endParaRPr/>
          </a:p>
        </p:txBody>
      </p:sp>
      <p:sp>
        <p:nvSpPr>
          <p:cNvPr id="2404" name="Google Shape;2404;g3e54846f4b4_0_2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2" name="Shape 2412"/>
        <p:cNvGrpSpPr/>
        <p:nvPr/>
      </p:nvGrpSpPr>
      <p:grpSpPr>
        <a:xfrm>
          <a:off x="0" y="0"/>
          <a:ext cx="0" cy="0"/>
          <a:chOff x="0" y="0"/>
          <a:chExt cx="0" cy="0"/>
        </a:xfrm>
      </p:grpSpPr>
      <p:sp>
        <p:nvSpPr>
          <p:cNvPr id="2413" name="Google Shape;2413;g3e54846f4b4_0_2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4" name="Google Shape;2414;g3e54846f4b4_0_2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Spring read-through. The Cache abstraction is the library's read-through interface: cache.get(key, loader) returns the cached value, or calls the loader on a miss and stores the result. RedisCacheManager configures Redis as the backing store with a TTL from configuration, keys prefixed rt:product: and plain JSON values (JacksonJsonRedisSerializer on Jackson 3), so non-Java readers can parse them. Example 25 calls the Cache directly instead of using @Cacheable because the endpoint reports where the answer came from: a flag set inside the loader becomes the source field, db on a miss and cache on a hit. The loader throws when the product does not exist, which keeps null out of the cache and becomes a 404. If Redis is down, the call fails and the endpoint falls back to the database. The annotation form, @Cacheable on a service method with @CacheEvict on update(), gives the same behavior declaratively; it requires the service layer (Spring AOP proxies don't catch self-calls), which is also good architecture. Trade vs explicit cache-aside: explicit if/else replaced by declarative annotations. SpEL: key = "#order.id + ':' + #user", condition = "#qty &gt; 100": flexible but harder to debug.</a:t>
            </a:r>
            <a:endParaRPr/>
          </a:p>
        </p:txBody>
      </p:sp>
      <p:sp>
        <p:nvSpPr>
          <p:cNvPr id="2415" name="Google Shape;2415;g3e54846f4b4_0_2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5" name="Shape 2425"/>
        <p:cNvGrpSpPr/>
        <p:nvPr/>
      </p:nvGrpSpPr>
      <p:grpSpPr>
        <a:xfrm>
          <a:off x="0" y="0"/>
          <a:ext cx="0" cy="0"/>
          <a:chOff x="0" y="0"/>
          <a:chExt cx="0" cy="0"/>
        </a:xfrm>
      </p:grpSpPr>
      <p:sp>
        <p:nvSpPr>
          <p:cNvPr id="2426" name="Google Shape;2426;g3e54846f4b4_0_2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7" name="Google Shape;2427;g3e54846f4b4_0_2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Spring app calls repo.save(...) and cache.opsForValue().set(...) and both must succeed. Pros: a read immediately after a write sees the new value. Cons: write latency is the sum of both stores. Spring's @CachePut annotation is the idiomatic shortcut — always invokes the method and writes the return value to the cache.</a:t>
            </a:r>
            <a:endParaRPr/>
          </a:p>
        </p:txBody>
      </p:sp>
      <p:sp>
        <p:nvSpPr>
          <p:cNvPr id="2428" name="Google Shape;2428;g3e54846f4b4_0_2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6" name="Shape 2436"/>
        <p:cNvGrpSpPr/>
        <p:nvPr/>
      </p:nvGrpSpPr>
      <p:grpSpPr>
        <a:xfrm>
          <a:off x="0" y="0"/>
          <a:ext cx="0" cy="0"/>
          <a:chOff x="0" y="0"/>
          <a:chExt cx="0" cy="0"/>
        </a:xfrm>
      </p:grpSpPr>
      <p:sp>
        <p:nvSpPr>
          <p:cNvPr id="2437" name="Google Shape;2437;g3e54846f4b4_0_2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8" name="Google Shape;2438;g3e54846f4b4_0_2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write-through flavours. First uses @CachePut — the most concise Spring idiom. The second shows the more careful @TransactionalEventListener approach: publish an event inside the transaction, @TransactionalEventListener with phase=AFTER_COMMIT writes the cache only after the DB transaction commits. Critical when the DB transaction might roll back. Either way, DB write goes first because DB is the source of truth. Short TTL self-heals any cache/DB divergence.</a:t>
            </a:r>
            <a:endParaRPr/>
          </a:p>
        </p:txBody>
      </p:sp>
      <p:sp>
        <p:nvSpPr>
          <p:cNvPr id="2439" name="Google Shape;2439;g3e54846f4b4_0_2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9" name="Shape 2449"/>
        <p:cNvGrpSpPr/>
        <p:nvPr/>
      </p:nvGrpSpPr>
      <p:grpSpPr>
        <a:xfrm>
          <a:off x="0" y="0"/>
          <a:ext cx="0" cy="0"/>
          <a:chOff x="0" y="0"/>
          <a:chExt cx="0" cy="0"/>
        </a:xfrm>
      </p:grpSpPr>
      <p:sp>
        <p:nvSpPr>
          <p:cNvPr id="2450" name="Google Shape;2450;g3e54846f4b4_0_2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1" name="Google Shape;2451;g3e54846f4b4_0_2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Write-around: write the DB, leave the cache alone. The next reader pays the cache-miss cost and populates the cache. Pros: no cache pollution by write-only data. Cons: the first read after every write is slow. Pair with cache-aside or @Cacheable on the read side. Common use: any 'append-only' or 'mostly-written' workload.</a:t>
            </a:r>
            <a:endParaRPr/>
          </a:p>
        </p:txBody>
      </p:sp>
      <p:sp>
        <p:nvSpPr>
          <p:cNvPr id="2452" name="Google Shape;2452;g3e54846f4b4_0_2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0" name="Shape 2460"/>
        <p:cNvGrpSpPr/>
        <p:nvPr/>
      </p:nvGrpSpPr>
      <p:grpSpPr>
        <a:xfrm>
          <a:off x="0" y="0"/>
          <a:ext cx="0" cy="0"/>
          <a:chOff x="0" y="0"/>
          <a:chExt cx="0" cy="0"/>
        </a:xfrm>
      </p:grpSpPr>
      <p:sp>
        <p:nvSpPr>
          <p:cNvPr id="2461" name="Google Shape;2461;g3e54846f4b4_0_2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2" name="Google Shape;2462;g3e54846f4b4_0_2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write path and a @Cacheable read. The write just calls repo.save(): the cache is not touched. The read side is @Cacheable, which populates lazily on the first read of each id.</a:t>
            </a:r>
            <a:endParaRPr/>
          </a:p>
          <a:p>
            <a:pPr indent="0" lvl="0" marL="0" rtl="0" algn="l">
              <a:spcBef>
                <a:spcPts val="0"/>
              </a:spcBef>
              <a:spcAft>
                <a:spcPts val="0"/>
              </a:spcAft>
              <a:buNone/>
            </a:pPr>
            <a:r>
              <a:rPr lang="en-US"/>
              <a:t>The pattern pays off when most written records are rarely or never read again: security event logs, telemetry, audit entries. If a stale cached copy could exist for a rewritten id, delete that key after the save. Compare with a product catalog, where every read is a probable cache hit; there @CachePut write-through makes more sense.</a:t>
            </a:r>
            <a:endParaRPr/>
          </a:p>
        </p:txBody>
      </p:sp>
      <p:sp>
        <p:nvSpPr>
          <p:cNvPr id="2463" name="Google Shape;2463;g3e54846f4b4_0_2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3" name="Shape 2473"/>
        <p:cNvGrpSpPr/>
        <p:nvPr/>
      </p:nvGrpSpPr>
      <p:grpSpPr>
        <a:xfrm>
          <a:off x="0" y="0"/>
          <a:ext cx="0" cy="0"/>
          <a:chOff x="0" y="0"/>
          <a:chExt cx="0" cy="0"/>
        </a:xfrm>
      </p:grpSpPr>
      <p:sp>
        <p:nvSpPr>
          <p:cNvPr id="2474" name="Google Shape;2474;g3e54846f4b4_0_2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5" name="Google Shape;2475;g3e54846f4b4_0_2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Spring app writes to the cache, returns an immediate ack — the cache is the source of truth for that window. A @Scheduled background task drains the cache to the DB. Pros: write latency equals cache latency — microseconds. Cons: a cache crash before the flusher catches up loses unflushed writes; Redis must be configured for persistence (AOF or RDB). Use only when extreme write throughput is the constraint, eventual durability is acceptable and you've thought about what 'lost the last 5 seconds of writes' means.</a:t>
            </a:r>
            <a:endParaRPr/>
          </a:p>
        </p:txBody>
      </p:sp>
      <p:sp>
        <p:nvSpPr>
          <p:cNvPr id="2476" name="Google Shape;2476;g3e54846f4b4_0_2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4" name="Shape 2484"/>
        <p:cNvGrpSpPr/>
        <p:nvPr/>
      </p:nvGrpSpPr>
      <p:grpSpPr>
        <a:xfrm>
          <a:off x="0" y="0"/>
          <a:ext cx="0" cy="0"/>
          <a:chOff x="0" y="0"/>
          <a:chExt cx="0" cy="0"/>
        </a:xfrm>
      </p:grpSpPr>
      <p:sp>
        <p:nvSpPr>
          <p:cNvPr id="2485" name="Google Shape;2485;g3e54846f4b4_0_2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6" name="Google Shape;2486;g3e54846f4b4_0_2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Spring's @Scheduled drives write-back in Example 25. (1) PUT /write-back/metrics/{mid} writes the metric to a Redis hash, adds the id to a 'dirty set', which tells the flusher what still has to reach the database, and answers 202 Accepted: the value is queued, not yet durable. (2) @Scheduled(fixedDelayString = ...) runs every second, SPOPs up to FLUSH_BATCH dirty ids and upserts each one through a Spring Data repository method, a @Modifying native INSERT ... ON CONFLICT (id) DO UPDATE, so an id flushed twice stays one row. SPOP is atomic, so two replicas each get a distinct subset of ids and no lock is needed to scale out. (3) An id whose upsert fails is re-queued: its count in the metric:attempts hash goes up and it goes back on the dirty set, or, after five attempts, onto metric:failed with its value still in the cache and the failure in the log. After a failed run the flusher skips runs for two seconds, then four, then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87" name="Google Shape;2487;g3e54846f4b4_0_2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7" name="Shape 2497"/>
        <p:cNvGrpSpPr/>
        <p:nvPr/>
      </p:nvGrpSpPr>
      <p:grpSpPr>
        <a:xfrm>
          <a:off x="0" y="0"/>
          <a:ext cx="0" cy="0"/>
          <a:chOff x="0" y="0"/>
          <a:chExt cx="0" cy="0"/>
        </a:xfrm>
      </p:grpSpPr>
      <p:sp>
        <p:nvSpPr>
          <p:cNvPr id="2498" name="Google Shape;2498;g3e54846f4b4_0_2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9" name="Google Shape;2499;g3e54846f4b4_0_2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cache-miss latency cliff on popular keys. Plain cache-aside has sharp behaviour: while a key is cached, reads are fast; the moment its TTL expires, the next reader pays the slow DB-fetch path. Refresh-ahead pre-empts this: a @Scheduled task watches the cache (or maintains a Redis sorted set of 'hot' keys) and refreshes their values from the DB before the TTL fires. Users always read warm cache. Pros: no user-visible misses on hot keys. Cons: extra DB load for keys that may not be requested again.</a:t>
            </a:r>
            <a:endParaRPr/>
          </a:p>
        </p:txBody>
      </p:sp>
      <p:sp>
        <p:nvSpPr>
          <p:cNvPr id="2500" name="Google Shape;2500;g3e54846f4b4_0_2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8" name="Shape 2508"/>
        <p:cNvGrpSpPr/>
        <p:nvPr/>
      </p:nvGrpSpPr>
      <p:grpSpPr>
        <a:xfrm>
          <a:off x="0" y="0"/>
          <a:ext cx="0" cy="0"/>
          <a:chOff x="0" y="0"/>
          <a:chExt cx="0" cy="0"/>
        </a:xfrm>
      </p:grpSpPr>
      <p:sp>
        <p:nvSpPr>
          <p:cNvPr id="2509" name="Google Shape;2509;g3e54846f4b4_0_2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0" name="Google Shape;2510;g3e54846f4b4_0_2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implementation. Redis sorted set (ZADD) tracks 'hot' keys scored by last-access timestamp. findById touches the hot-set on every read. @Scheduled runs every 5s: removes keys not accessed in 5 minutes (removeRangeByScore), then for each remaining hot key checks its TTL via getExpire and refreshes it when the TTL drops under REFRESH_BEFORE_S. ShedLock ensures only one instance refreshes — otherwise N instances do the same DB reads. Pattern shines for read-heavy workloads where a small set of keys serves most traffic — 80/20 product pages, top tweets, trending articles.</a:t>
            </a:r>
            <a:endParaRPr/>
          </a:p>
        </p:txBody>
      </p:sp>
      <p:sp>
        <p:nvSpPr>
          <p:cNvPr id="2511" name="Google Shape;2511;g3e54846f4b4_0_2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1" name="Shape 2521"/>
        <p:cNvGrpSpPr/>
        <p:nvPr/>
      </p:nvGrpSpPr>
      <p:grpSpPr>
        <a:xfrm>
          <a:off x="0" y="0"/>
          <a:ext cx="0" cy="0"/>
          <a:chOff x="0" y="0"/>
          <a:chExt cx="0" cy="0"/>
        </a:xfrm>
      </p:grpSpPr>
      <p:sp>
        <p:nvSpPr>
          <p:cNvPr id="2522" name="Google Shape;2522;g3e54846f4b4_0_22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3" name="Google Shape;2523;g3e54846f4b4_0_22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things that go wrong with caching. First point is the most important. Second is the write-around lesson — Spring Boot Actuator's CacheMetrics gives you hit/miss ratios. Third is operational. Fourth is the cache stampede problem; mitigations include Redisson RLock per key, refresh-ahead, TTL jitter. Fifth is the most common stale-data bug. The bold final line: the cache is never the source of truth. If Redis dies, you must serve slower reads, not return errors. Test this by killing Redis in staging.</a:t>
            </a:r>
            <a:endParaRPr/>
          </a:p>
        </p:txBody>
      </p:sp>
      <p:sp>
        <p:nvSpPr>
          <p:cNvPr id="2524" name="Google Shape;2524;g3e54846f4b4_0_22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1" name="Shape 2531"/>
        <p:cNvGrpSpPr/>
        <p:nvPr/>
      </p:nvGrpSpPr>
      <p:grpSpPr>
        <a:xfrm>
          <a:off x="0" y="0"/>
          <a:ext cx="0" cy="0"/>
          <a:chOff x="0" y="0"/>
          <a:chExt cx="0" cy="0"/>
        </a:xfrm>
      </p:grpSpPr>
      <p:sp>
        <p:nvSpPr>
          <p:cNvPr id="2532" name="Google Shape;2532;g3e54846f4b4_0_22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3" name="Google Shape;2533;g3e54846f4b4_0_22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Decision rules. @Cacheable (read-through) is the default. @CachePut (write-through) for read-consistency-after-write. Write-around for telemetry. Write-back is the niche extreme-throughput pattern. Refresh-ahead is the hot-key pattern. Bold final line: don't pick one pattern as 'the' cache strategy. Mix patterns by workload.</a:t>
            </a:r>
            <a:endParaRPr/>
          </a:p>
        </p:txBody>
      </p:sp>
      <p:sp>
        <p:nvSpPr>
          <p:cNvPr id="2534" name="Google Shape;2534;g3e54846f4b4_0_22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g3e54846f4b4_0_2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g3e54846f4b4_0_2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544" name="Google Shape;2544;g3e54846f4b4_0_2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1" name="Shape 2551"/>
        <p:cNvGrpSpPr/>
        <p:nvPr/>
      </p:nvGrpSpPr>
      <p:grpSpPr>
        <a:xfrm>
          <a:off x="0" y="0"/>
          <a:ext cx="0" cy="0"/>
          <a:chOff x="0" y="0"/>
          <a:chExt cx="0" cy="0"/>
        </a:xfrm>
      </p:grpSpPr>
      <p:sp>
        <p:nvSpPr>
          <p:cNvPr id="2552" name="Google Shape;2552;g3e54846f4b4_0_2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3" name="Google Shape;2553;g3e54846f4b4_0_23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54" name="Google Shape;2554;g3e54846f4b4_0_23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g3e54846f4b4_0_23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g3e54846f4b4_0_23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64" name="Google Shape;2564;g3e54846f4b4_0_23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g3e54846f4b4_0_23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4" name="Google Shape;2574;g3e54846f4b4_0_23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75" name="Google Shape;2575;g3e54846f4b4_0_23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3" name="Shape 2583"/>
        <p:cNvGrpSpPr/>
        <p:nvPr/>
      </p:nvGrpSpPr>
      <p:grpSpPr>
        <a:xfrm>
          <a:off x="0" y="0"/>
          <a:ext cx="0" cy="0"/>
          <a:chOff x="0" y="0"/>
          <a:chExt cx="0" cy="0"/>
        </a:xfrm>
      </p:grpSpPr>
      <p:sp>
        <p:nvSpPr>
          <p:cNvPr id="2584" name="Google Shape;2584;g3e54846f4b4_0_2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5" name="Google Shape;2585;g3e54846f4b4_0_2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86" name="Google Shape;2586;g3e54846f4b4_0_2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g3e54846f4b4_0_23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g3e54846f4b4_0_23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97" name="Google Shape;2597;g3e54846f4b4_0_23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5" name="Shape 2605"/>
        <p:cNvGrpSpPr/>
        <p:nvPr/>
      </p:nvGrpSpPr>
      <p:grpSpPr>
        <a:xfrm>
          <a:off x="0" y="0"/>
          <a:ext cx="0" cy="0"/>
          <a:chOff x="0" y="0"/>
          <a:chExt cx="0" cy="0"/>
        </a:xfrm>
      </p:grpSpPr>
      <p:sp>
        <p:nvSpPr>
          <p:cNvPr id="2606" name="Google Shape;2606;g3e54846f4b4_0_2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7" name="Google Shape;2607;g3e54846f4b4_0_2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608" name="Google Shape;2608;g3e54846f4b4_0_2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6" name="Shape 2616"/>
        <p:cNvGrpSpPr/>
        <p:nvPr/>
      </p:nvGrpSpPr>
      <p:grpSpPr>
        <a:xfrm>
          <a:off x="0" y="0"/>
          <a:ext cx="0" cy="0"/>
          <a:chOff x="0" y="0"/>
          <a:chExt cx="0" cy="0"/>
        </a:xfrm>
      </p:grpSpPr>
      <p:sp>
        <p:nvSpPr>
          <p:cNvPr id="2617" name="Google Shape;2617;g3e54846f4b4_0_2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8" name="Google Shape;2618;g3e54846f4b4_0_2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619" name="Google Shape;2619;g3e54846f4b4_0_2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g3e54846f4b4_0_2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g3e54846f4b4_0_2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630" name="Google Shape;2630;g3e54846f4b4_0_2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g3e54846f4b4_0_23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g3e54846f4b4_0_23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What follows gives each its own diagram and per-language code so developers can implement them; the bold line flags that the platform-level pieces (Istio, shutdown, observability) sit underneath the application-level patterns.</a:t>
            </a:r>
            <a:endParaRPr/>
          </a:p>
        </p:txBody>
      </p:sp>
      <p:sp>
        <p:nvSpPr>
          <p:cNvPr id="2641" name="Google Shape;2641;g3e54846f4b4_0_23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8" name="Shape 2648"/>
        <p:cNvGrpSpPr/>
        <p:nvPr/>
      </p:nvGrpSpPr>
      <p:grpSpPr>
        <a:xfrm>
          <a:off x="0" y="0"/>
          <a:ext cx="0" cy="0"/>
          <a:chOff x="0" y="0"/>
          <a:chExt cx="0" cy="0"/>
        </a:xfrm>
      </p:grpSpPr>
      <p:sp>
        <p:nvSpPr>
          <p:cNvPr id="2649" name="Google Shape;2649;g3e54846f4b4_0_2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0" name="Google Shape;2650;g3e54846f4b4_0_23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that follows shows the language-specific mechanics.</a:t>
            </a:r>
            <a:endParaRPr/>
          </a:p>
        </p:txBody>
      </p:sp>
      <p:sp>
        <p:nvSpPr>
          <p:cNvPr id="2651" name="Google Shape;2651;g3e54846f4b4_0_23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9" name="Shape 2659"/>
        <p:cNvGrpSpPr/>
        <p:nvPr/>
      </p:nvGrpSpPr>
      <p:grpSpPr>
        <a:xfrm>
          <a:off x="0" y="0"/>
          <a:ext cx="0" cy="0"/>
          <a:chOff x="0" y="0"/>
          <a:chExt cx="0" cy="0"/>
        </a:xfrm>
      </p:grpSpPr>
      <p:sp>
        <p:nvSpPr>
          <p:cNvPr id="2660" name="Google Shape;2660;g3e54846f4b4_0_2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1" name="Google Shape;2661;g3e54846f4b4_0_2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The shared RestClient's request factory sets a 2-second connect and read timeout, so no call through it can hang. The deadline endpoint subtracts the edge's own overhead from the caller's budget, refuses at once when too little is left, and otherwise calls the backend with a client bounded by the remaining budget and the same number in the X-Deadline-Ms header, so the backend can refuse work it cannot finish.</a:t>
            </a:r>
            <a:endParaRPr/>
          </a:p>
        </p:txBody>
      </p:sp>
      <p:sp>
        <p:nvSpPr>
          <p:cNvPr id="2662" name="Google Shape;2662;g3e54846f4b4_0_2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1" name="Shape 2671"/>
        <p:cNvGrpSpPr/>
        <p:nvPr/>
      </p:nvGrpSpPr>
      <p:grpSpPr>
        <a:xfrm>
          <a:off x="0" y="0"/>
          <a:ext cx="0" cy="0"/>
          <a:chOff x="0" y="0"/>
          <a:chExt cx="0" cy="0"/>
        </a:xfrm>
      </p:grpSpPr>
      <p:sp>
        <p:nvSpPr>
          <p:cNvPr id="2672" name="Google Shape;2672;g3e54846f4b4_0_2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3" name="Google Shape;2673;g3e54846f4b4_0_2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described earlier.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that follows shows the idiomatic library for each language.</a:t>
            </a:r>
            <a:endParaRPr/>
          </a:p>
        </p:txBody>
      </p:sp>
      <p:sp>
        <p:nvSpPr>
          <p:cNvPr id="2674" name="Google Shape;2674;g3e54846f4b4_0_2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46f4b4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46f4b4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keeps the annotation on the method and the policy in application.properties: three attempts, waits starting at 100 ms and doubling up to 2 s, each randomised by up to half for jitter, and only a 5xx or an I/O failure is retried. The method counts its own invocations, which is how the example reports the number of attempts. Retry only idempotent calls, and pair the retry with a circuit breaker so a dependency that is clearly down stops receiving retries.</a:t>
            </a:r>
            <a:endParaRPr/>
          </a:p>
        </p:txBody>
      </p:sp>
      <p:sp>
        <p:nvSpPr>
          <p:cNvPr id="2685" name="Google Shape;2685;g3e54846f4b4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4" name="Shape 2694"/>
        <p:cNvGrpSpPr/>
        <p:nvPr/>
      </p:nvGrpSpPr>
      <p:grpSpPr>
        <a:xfrm>
          <a:off x="0" y="0"/>
          <a:ext cx="0" cy="0"/>
          <a:chOff x="0" y="0"/>
          <a:chExt cx="0" cy="0"/>
        </a:xfrm>
      </p:grpSpPr>
      <p:sp>
        <p:nvSpPr>
          <p:cNvPr id="2695" name="Google Shape;2695;g3e54846f4b4_0_24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6" name="Google Shape;2696;g3e54846f4b4_0_24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we show each next.</a:t>
            </a:r>
            <a:endParaRPr/>
          </a:p>
        </p:txBody>
      </p:sp>
      <p:sp>
        <p:nvSpPr>
          <p:cNvPr id="2697" name="Google Shape;2697;g3e54846f4b4_0_24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5" name="Shape 2705"/>
        <p:cNvGrpSpPr/>
        <p:nvPr/>
      </p:nvGrpSpPr>
      <p:grpSpPr>
        <a:xfrm>
          <a:off x="0" y="0"/>
          <a:ext cx="0" cy="0"/>
          <a:chOff x="0" y="0"/>
          <a:chExt cx="0" cy="0"/>
        </a:xfrm>
      </p:grpSpPr>
      <p:sp>
        <p:nvSpPr>
          <p:cNvPr id="2706" name="Google Shape;2706;g3e54846f4b4_0_24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7" name="Google Shape;2707;g3e54846f4b4_0_24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Resilience4j's @CircuitBreaker with a fallback method that receives the cause, so the response says why it fell back: circuit_open when the breaker refused the call without touching the backend, upstream_&lt;status&gt; or upstream_unreachable when the call itself failed. The breaker counts the last five calls; five failures out of five open it for ten seconds, after which two trial calls decide whether it closes. Use one named instance per dependency and never share a breaker between dependencies.</a:t>
            </a:r>
            <a:endParaRPr/>
          </a:p>
        </p:txBody>
      </p:sp>
      <p:sp>
        <p:nvSpPr>
          <p:cNvPr id="2708" name="Google Shape;2708;g3e54846f4b4_0_24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7" name="Shape 2717"/>
        <p:cNvGrpSpPr/>
        <p:nvPr/>
      </p:nvGrpSpPr>
      <p:grpSpPr>
        <a:xfrm>
          <a:off x="0" y="0"/>
          <a:ext cx="0" cy="0"/>
          <a:chOff x="0" y="0"/>
          <a:chExt cx="0" cy="0"/>
        </a:xfrm>
      </p:grpSpPr>
      <p:sp>
        <p:nvSpPr>
          <p:cNvPr id="2718" name="Google Shape;2718;g3e54846f4b4_0_24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9" name="Google Shape;2719;g3e54846f4b4_0_24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720" name="Google Shape;2720;g3e54846f4b4_0_24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7" name="Shape 2727"/>
        <p:cNvGrpSpPr/>
        <p:nvPr/>
      </p:nvGrpSpPr>
      <p:grpSpPr>
        <a:xfrm>
          <a:off x="0" y="0"/>
          <a:ext cx="0" cy="0"/>
          <a:chOff x="0" y="0"/>
          <a:chExt cx="0" cy="0"/>
        </a:xfrm>
      </p:grpSpPr>
      <p:sp>
        <p:nvSpPr>
          <p:cNvPr id="2728" name="Google Shape;2728;g3e54846f4b4_0_24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9" name="Google Shape;2729;g3e54846f4b4_0_24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730" name="Google Shape;2730;g3e54846f4b4_0_24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7" name="Shape 2737"/>
        <p:cNvGrpSpPr/>
        <p:nvPr/>
      </p:nvGrpSpPr>
      <p:grpSpPr>
        <a:xfrm>
          <a:off x="0" y="0"/>
          <a:ext cx="0" cy="0"/>
          <a:chOff x="0" y="0"/>
          <a:chExt cx="0" cy="0"/>
        </a:xfrm>
      </p:grpSpPr>
      <p:sp>
        <p:nvSpPr>
          <p:cNvPr id="2738" name="Google Shape;2738;g3e54846f4b4_0_2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9" name="Google Shape;2739;g3e54846f4b4_0_24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740" name="Google Shape;2740;g3e54846f4b4_0_24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g3e54846f4b4_0_2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g3e54846f4b4_0_2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drain. A SmartLifecycle bean (DrainLifecycle) stops before the web server on the single SIGTERM: (1) it flips ShutdownState and publishes REFUSING_TRAFFIC, so the readiness group, which includes a drain HealthIndicator, answers /readyz with 503 and the Kubernetes readiness probe sees the pod go not-ready and stops routing, while /healthz stays 200; (2) it keeps the service serving for DRAIN_DELAY_SECONDS so the load balancer's removal propagates; (3) the web server's graceful shutdown stops accepting and drains in-flight HTTP within timeout-per-shutdown-phase (20 s); (4) the context closes the pool and the JVM exits with 143 (128 + SIGTERM). Appendix H covers the Kubernetes preStop + terminationGracePeriodSeconds side.</a:t>
            </a:r>
            <a:endParaRPr/>
          </a:p>
        </p:txBody>
      </p:sp>
      <p:sp>
        <p:nvSpPr>
          <p:cNvPr id="2751" name="Google Shape;2751;g3e54846f4b4_0_2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0" name="Shape 2760"/>
        <p:cNvGrpSpPr/>
        <p:nvPr/>
      </p:nvGrpSpPr>
      <p:grpSpPr>
        <a:xfrm>
          <a:off x="0" y="0"/>
          <a:ext cx="0" cy="0"/>
          <a:chOff x="0" y="0"/>
          <a:chExt cx="0" cy="0"/>
        </a:xfrm>
      </p:grpSpPr>
      <p:sp>
        <p:nvSpPr>
          <p:cNvPr id="2761" name="Google Shape;2761;g3e54846f4b4_0_2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2" name="Google Shape;2762;g3e54846f4b4_0_2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63" name="Google Shape;2763;g3e54846f4b4_0_2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0" name="Shape 2770"/>
        <p:cNvGrpSpPr/>
        <p:nvPr/>
      </p:nvGrpSpPr>
      <p:grpSpPr>
        <a:xfrm>
          <a:off x="0" y="0"/>
          <a:ext cx="0" cy="0"/>
          <a:chOff x="0" y="0"/>
          <a:chExt cx="0" cy="0"/>
        </a:xfrm>
      </p:grpSpPr>
      <p:sp>
        <p:nvSpPr>
          <p:cNvPr id="2771" name="Google Shape;2771;g3e54846f4b4_0_2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2" name="Google Shape;2772;g3e54846f4b4_0_2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73" name="Google Shape;2773;g3e54846f4b4_0_2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1" name="Shape 2781"/>
        <p:cNvGrpSpPr/>
        <p:nvPr/>
      </p:nvGrpSpPr>
      <p:grpSpPr>
        <a:xfrm>
          <a:off x="0" y="0"/>
          <a:ext cx="0" cy="0"/>
          <a:chOff x="0" y="0"/>
          <a:chExt cx="0" cy="0"/>
        </a:xfrm>
      </p:grpSpPr>
      <p:sp>
        <p:nvSpPr>
          <p:cNvPr id="2782" name="Google Shape;2782;g3e54846f4b4_0_2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3" name="Google Shape;2783;g3e54846f4b4_0_2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84" name="Google Shape;2784;g3e54846f4b4_0_2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Spring Boot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Spring Boot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Spring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1.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9.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09.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5.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09.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6.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png"/><Relationship Id="rId5"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png"/><Relationship Id="rId5"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9.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4.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png"/><Relationship Id="rId5"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09.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97.png"/><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7.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09.png"/><Relationship Id="rId4"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2.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09.png"/><Relationship Id="rId4"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9.png"/><Relationship Id="rId4" Type="http://schemas.openxmlformats.org/officeDocument/2006/relationships/image" Target="../media/image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51.png"/><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09.png"/><Relationship Id="rId4"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86.png"/><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5.png"/><Relationship Id="rId4"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3.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9.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09.png"/><Relationship Id="rId4"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0.png"/><Relationship Id="rId4"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png"/><Relationship Id="rId5" Type="http://schemas.openxmlformats.org/officeDocument/2006/relationships/image" Target="../media/image2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png"/><Relationship Id="rId5" Type="http://schemas.openxmlformats.org/officeDocument/2006/relationships/image" Target="../media/image2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2.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30.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7.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09.png"/><Relationship Id="rId4" Type="http://schemas.openxmlformats.org/officeDocument/2006/relationships/image" Target="../media/image1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png"/><Relationship Id="rId5"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0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09.png"/><Relationship Id="rId4"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7.png"/><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53.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09.png"/><Relationship Id="rId4" Type="http://schemas.openxmlformats.org/officeDocument/2006/relationships/image" Target="../media/image1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1.png"/><Relationship Id="rId4"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6.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9.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09.png"/><Relationship Id="rId4"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72.png"/><Relationship Id="rId4"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91.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4.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09.png"/><Relationship Id="rId4" Type="http://schemas.openxmlformats.org/officeDocument/2006/relationships/image" Target="../media/image1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png"/><Relationship Id="rId5" Type="http://schemas.openxmlformats.org/officeDocument/2006/relationships/image" Target="../media/image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98.png"/><Relationship Id="rId4"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1.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86.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4" Type="http://schemas.openxmlformats.org/officeDocument/2006/relationships/image" Target="../media/image1.png"/><Relationship Id="rId5" Type="http://schemas.openxmlformats.org/officeDocument/2006/relationships/image" Target="../media/image2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09.png"/><Relationship Id="rId4" Type="http://schemas.openxmlformats.org/officeDocument/2006/relationships/image" Target="../media/image1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14.png"/><Relationship Id="rId4"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5.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0.png"/><Relationship Id="rId4"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7.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209.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109.png"/><Relationship Id="rId4" Type="http://schemas.openxmlformats.org/officeDocument/2006/relationships/image" Target="../media/image10.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19.png"/><Relationship Id="rId4"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25.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09.png"/><Relationship Id="rId4" Type="http://schemas.openxmlformats.org/officeDocument/2006/relationships/image" Target="../media/image1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231.png"/><Relationship Id="rId4"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34.png"/><Relationship Id="rId4"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4" Type="http://schemas.openxmlformats.org/officeDocument/2006/relationships/image" Target="../media/image1.png"/><Relationship Id="rId5"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109.png"/><Relationship Id="rId4" Type="http://schemas.openxmlformats.org/officeDocument/2006/relationships/image" Target="../media/image1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81.png"/><Relationship Id="rId4"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56.png"/><Relationship Id="rId4"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09.png"/><Relationship Id="rId4" Type="http://schemas.openxmlformats.org/officeDocument/2006/relationships/image" Target="../media/image1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55.png"/><Relationship Id="rId4"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4" Type="http://schemas.openxmlformats.org/officeDocument/2006/relationships/image" Target="../media/image1.png"/><Relationship Id="rId5" Type="http://schemas.openxmlformats.org/officeDocument/2006/relationships/image" Target="../media/image27.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4" Type="http://schemas.openxmlformats.org/officeDocument/2006/relationships/image" Target="../media/image1.png"/><Relationship Id="rId5" Type="http://schemas.openxmlformats.org/officeDocument/2006/relationships/image" Target="../media/image15.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68.png"/><Relationship Id="rId4"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70.png"/><Relationship Id="rId4"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78.png"/><Relationship Id="rId4"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37.png"/><Relationship Id="rId4"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4" Type="http://schemas.openxmlformats.org/officeDocument/2006/relationships/image" Target="../media/image1.png"/><Relationship Id="rId5" Type="http://schemas.openxmlformats.org/officeDocument/2006/relationships/image" Target="../media/image17.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09.png"/><Relationship Id="rId4" Type="http://schemas.openxmlformats.org/officeDocument/2006/relationships/image" Target="../media/image10.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5.png"/><Relationship Id="rId4"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97.png"/><Relationship Id="rId4"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298.png"/><Relationship Id="rId4"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01.png"/><Relationship Id="rId4"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9.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306.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19.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320.png"/><Relationship Id="rId4"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109.png"/><Relationship Id="rId4" Type="http://schemas.openxmlformats.org/officeDocument/2006/relationships/image" Target="../media/image10.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2.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5.png"/><Relationship Id="rId4"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7.png"/><Relationship Id="rId4"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30.png"/><Relationship Id="rId4"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374.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109.png"/><Relationship Id="rId4" Type="http://schemas.openxmlformats.org/officeDocument/2006/relationships/image" Target="../media/image10.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png"/><Relationship Id="rId5" Type="http://schemas.openxmlformats.org/officeDocument/2006/relationships/image" Target="../media/image2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4.png"/><Relationship Id="rId4"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2.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346.png"/><Relationship Id="rId4"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4" Type="http://schemas.openxmlformats.org/officeDocument/2006/relationships/image" Target="../media/image1.png"/><Relationship Id="rId5" Type="http://schemas.openxmlformats.org/officeDocument/2006/relationships/image" Target="../media/image30.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355.png"/><Relationship Id="rId4"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76.png"/><Relationship Id="rId4"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3.png"/><Relationship Id="rId4"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359.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3.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368.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371.png"/><Relationship Id="rId4"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image" Target="../media/image380.png"/><Relationship Id="rId3" Type="http://schemas.openxmlformats.org/officeDocument/2006/relationships/slideLayout" Target="../slideLayouts/slideLayout1.xml"/><Relationship Id="rId4"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4.pn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image" Target="../media/image39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image" Target="../media/image39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9.xml"/><Relationship Id="rId5" Type="http://schemas.openxmlformats.org/officeDocument/2006/relationships/image" Target="../media/image2.png"/></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406.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410.png"/><Relationship Id="rId3" Type="http://schemas.openxmlformats.org/officeDocument/2006/relationships/slideLayout" Target="../slideLayouts/slideLayout1.xml"/><Relationship Id="rId4" Type="http://schemas.openxmlformats.org/officeDocument/2006/relationships/notesSlide" Target="../notesSlides/notesSlide274.xml"/><Relationship Id="rId5" Type="http://schemas.openxmlformats.org/officeDocument/2006/relationships/image" Target="../media/image3.png"/></Relationships>
</file>

<file path=ppt/slides/_rels/slide275.xml.rels><?xml version='1.0' encoding='UTF-8' standalone='yes'?>
<Relationships xmlns="http://schemas.openxmlformats.org/package/2006/relationships"><Relationship Id="rId1" Type="http://schemas.openxmlformats.org/officeDocument/2006/relationships/image" Target="../media/image412.png"/><Relationship Id="rId2" Type="http://schemas.openxmlformats.org/officeDocument/2006/relationships/image" Target="../media/image413.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414.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6.png"/><Relationship Id="rId3" Type="http://schemas.openxmlformats.org/officeDocument/2006/relationships/image" Target="../media/image397.png"/><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0.xml"/><Relationship Id="rId5" Type="http://schemas.openxmlformats.org/officeDocument/2006/relationships/image" Target="../media/image2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3.xml"/><Relationship Id="rId5" Type="http://schemas.openxmlformats.org/officeDocument/2006/relationships/image" Target="../media/image29.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38.png"/><Relationship Id="rId4" Type="http://schemas.openxmlformats.org/officeDocument/2006/relationships/image" Target="../media/image1.png"/><Relationship Id="rId5" Type="http://schemas.openxmlformats.org/officeDocument/2006/relationships/notesSlide" Target="../notesSlides/notesSlide28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sb/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sb/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sb/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spring-boot-starter-parent for reproducible builds; springdoc-openapi emits the OpenAPI spec; buf / protoc for gRPC; Spring for GraphQL exports SDL from .graphqls files.</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we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sb/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sb/42-twelve-factor-map-sb.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Spring Boot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Actuator</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application.yaml + OrderController (excerpt), examples/01-cloud-native-principles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config from env (factor III): SPRING_DATASOURCE_URL, SERVICE_VERSION -&gt;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management.endpoint.health: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probes.enabled: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group: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liveness:                        # liveness: the process is 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livenessState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"server:/healthz"</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readiness:                       # readiness: a pooled connection answers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readinessState,db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"server:/readyz"   # DOWN: 503, the pod leaves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orders;     // Spring Data JPA over the orders 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String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OrderController(OrderRepository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@Value("${service.version}") String serviceVersion)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this.serviceVersion =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List&lt;OrderResponse&gt; listOrders()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orders.findAll(Sort.by("id")).stream().map(OrderResponse::of).toList();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application name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sb/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Spring Web</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                // Spring Web MVC (or WebFlux)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OrderService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OrderController(OrderService orders, EventPublisher events)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 this.events =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record OrderIn(@NotBlank String sku, @Positive int quantity) {}  // validated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@ResponseStatus(HttpStatus.CREATED)       // correct status, not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place(@Valid @RequestBody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 = orders.create(body);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events.publish("order.placed", o);    // emit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                                // cursor pagination, not offset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Page&lt;Order&gt; list(@RequestParam(required = false) String after,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@RequestParam(defaultValue = "50") int limit)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orders.page(after, 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inventory.proto — the contract, registered in Apicurio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syntax = "proto3";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 Inventory { rpc ReserveStock (ReserveRequest) returns (ReserveReply);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ReserveRequest { string sku = 1; int32 quantity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ReserveReply   { bool reserved = 1; int32 remaining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inventory-service (excerpt): Spring gRPC serves this bean on spring.grpc.server.port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@GrpcService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InventoryService extends InventoryGrpc.InventoryImplBase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reserveStock(ReserveRequest req, StreamObserver&lt;ReserveReply&gt; obs)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stock.putIfAbsent(req.getSku(), initialStock);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int remaining = stock.get(req.getSku()) - req.getQuantity();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(remaining &gt;= 0) stock.put(req.getSku(), remaining);      // reserve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obs.onNext(ReserveReply.newBuilder().setReserved(remaining &gt;= 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.setRemaining(stock.get(req.getSku())).build());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order-service: the channel comes from spring.grpc.client.channel.inventory.target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@Bean InventoryGrpc.InventoryBlockingStub inventoryStub(GrpcChannelFactory channels)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InventoryGrpc.newBlockingStub(channels.createChannel("inventory"));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sb/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sb/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sb/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Spring for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@Controller                                   // spring-boot-starter-graphql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OrderGraphQLController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OrderClient orderClient;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InventoryGrpc.InventoryBlockingStub inventory;   // Spring gRPC channel bean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OrderGraphQLController(OrderClient o, InventoryGrpc.InventoryBlockingStub 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this.orderClient = o; this.inventory = i;</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@QueryMapping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order(@Argument 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@SchemaMapping(typeName = "Order", field = "stock")   // resolved on demand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inventory.getStock(GetStockRequest.newBuilder().setSku(order.sku()).build())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.getAvailable();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@BatchMapping("stock") batches N orders into one gRPC call: no N+1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@SchemaMapping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sb/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sb/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sb/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7261017" y="1700784"/>
            <a:ext cx="4272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final fields: OrderRepository writes, KafkaTemplate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@Transactional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writes.save(new Order(body));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reads.findById(id)                              // read store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@KafkaListener(topics = "order.placed", groupId = "order-summary")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@Transactional("readDbTxManager")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reads.save(OrderSummary.from(ev));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sb/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sb/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 + Debezium CDC</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OrderService.java (excerpt): order row and outbox row, one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@Transactional                                   // single local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OrderView placeOrder(String sku, int quantity)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order = orders.save(new Order(sku, quantity, "confirmed"));     // state change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view = order.toView();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outbox.save(new OutboxEvent(order.getId(), "order.placed", Map.of(  // same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view.id(), "sku", view.sku(),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"quantity", view.quantity(), "status", view.status())));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view;        // OutboxEvent.payload: a JSONB column (@JdbcTypeCode(SqlTypes.JSON))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1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sb/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sb/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Spring 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producer — order-service (or the Debezium relay) emits the fact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OrderEvents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private final KafkaTemplate&lt;String, Order&gt;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OrderEvents(KafkaTemplate&lt;String, Order&gt; k) { this.kafka = 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publish(Order 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kafka.send("order.placed", o.id(), o);     // keyed; schema-aware serde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consumer — notification-service, Kafka-only by design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Notifier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@KafkaListener(topics =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containerFactory = "manualAckFactory")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onOrder(ConsumerRecord&lt;String, Order&gt; rec, Acknowledgment ack)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sendEmail(rec.value());                    // do the work first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ack.acknowledge();                         // ack after — at-least-once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sb/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sb/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sb/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sb/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sb/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order.placed -&gt; revenue.by-merchant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@Configuration @EnableKafkaStreams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KStream&lt;String, MerchantRevenue&gt; revenueStream(StreamsBuilder builder)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JacksonJsonSerde&lt;&gt;(OrderPlaced.class)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.ignoreTypeHeaders().noTypeInfo();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JacksonJsonSerde&lt;&gt;(Acc.class).noTypeInfo();   // revenueSerde alike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revenue =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.selectKey((key, order) -&gt; order.merchantId())     // re-key by merchant_id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.groupByKey(Grouped.with(Serdes.String(),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changelog-backed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.map((window, acc) -&gt; KeyValue.pair(window.key(), toRevenue(window, acc)));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revenue.to(REVENUE, Produced.with(Serdes.String(), revenueSerde));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revenue;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sb/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Spring Boot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sb/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sb/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sb/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sb/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sb/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sb/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sb/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the OpenTelemetry Java agent</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Java agent</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Containerfile — attach the OpenTelemetry Java agent (Spring Boot 4 needs no 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 JAVA_TOOL_OPTIONS="-javaagent:/deployments/opentelemetry-javaagent.jar"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environment: OTEL_SERVICE_NAME=order-service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OTEL_EXPORTER_OTLP_ENDPOINT=http://otel-collector:4318</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OTEL_TRACES_SAMPLER=parentbased_traceidratio, OTEL_TRACES_SAMPLER_ARG=1.0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agent instruments Spring MVC, RestClient, gRPC, JDBC and the Kafka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and puts trace_id/span_id in the logback MDC. Custom business spans use the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OpenTelemetry API annotation (io.opentelemetry.instrumentation.annotations):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InventoryServiceGrpc.InventoryServiceBlockingStub inventory;   // Spring gRPC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OrderService(InventoryServiceGrpc.InventoryServiceBlockingStub i) { inventory = i;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@WithSpan("reserve_stock")                 // custom 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ReserveReply reserve(String sku, int qty)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inventory.reserveStock(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ReserveRequest.newBuilder().setSku(sku).setQuantity(qty).build());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trace_id flows: REST -&gt; gRPC -&gt; Kafka -&gt;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agent exports OTLP: traces to Tempo, metrics to Mimir,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sb/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OpenTelemetry Baggage rides the same context propagation as the trace;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the Java agent carries the W3C baggage header over REST, gRPC and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@Component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TenantBaggageFilter extends OncePerRequestFilter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@Override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protected void doFilterInternal(HttpServletRequest req, HttpServletResponse res,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FilterChain chain) throws ServletException, IOException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try (Scope s = Baggage.current().toBuilder()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.put("tenant.id", req.getHeader("X-Tenant"))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.build()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.makeCurrent())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chain.doFilter(req, res);          // downstream calls carry 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read it downstream, in a consumer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"order.placed")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handle(OrderEvent ev)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tenant = Baggage.current().getEntryValue("tenant.id");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Span.current().setAttribute("tenant.id", tenant);   // baggage is not an attribute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baggage once at the edge; every downstream hop carries it, and a span attribute makes it queryable.</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sb/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sb/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sb/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is presented as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sb/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sb/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examples/12-security/spring-boot: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OrderController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sb/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sb/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sb/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Resilience4j bulkheads in Spring Boot</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examples/12-security/spring-boot/order-service (condensed excerpts)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one Resilience4j bulkhead per tenant from the "tenant" 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resilience4j.bulkhead.configs.tenant.max-concurrent-calls=5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resilience4j.bulkhead.configs.tenant.max-wait-duration=0     # refuse at 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BulkheadService.java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Bulkhead forTenant(String tenant)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registry.bulkhead(tenant, "tenant");   // created on first use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OrderController.java, POST /orders: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Object&gt; order = bulkhead.forTenant(body.tenant())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.executeSupplier(() -&gt; placeOrder(body, identity, subject));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ResponseEntity.status(HttpStatus.CREATED).body(order);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(BulkheadFullException e) {   // the tenant's 5 permits are taken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ResponseEntity.status(HttpStatus.TOO_MANY_REQUESTS)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.body(Map.of("detail", "tenant bulkhead full"));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sb/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@Service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ClaimPublisher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ObjectStore store;                           // any encrypted object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KafkaTemplate&lt;String, Map&lt;String, Object&gt;&gt;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ValetKeyService valet;                       // examples/12-security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 constructor injection omitted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void publish(String orderId, byte[] body)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key = "payloads/"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store.put(key, body, true);                            // encrypted at rest, ACL'd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Map&lt;String, Object&gt; claim = new LinkedHashMap&lt;&gt;(valet.mint(key, "GET"));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claim.put("order_id",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claim.put("uri", "https://objects.internal/" +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kafka.send("order.documents", orderId, claim);         // only the claim on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consumer: read the claim, fetch the body out of band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"order.documents", groupId = "documents")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onClaim(Map&lt;String, Object&gt; claim)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byte[] body = store.get((String) claim.get("uri"), (String) claim.get("token"));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handle(body);                                              // PII never touched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sb/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Spring Boot 4 reference (docs.spring.io/spring-boot), Temporal Java SDK docs (docs.temporal.io/dev-guide/java), Spring for GraphQL, Spring Kafka,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JPA (Jakarta Persistence API); Spring Data (Spring's repository abstraction,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JVM (Java Virtual Machine); JIT (Just-In-Time compilation); AOT (Ahead-Of-Time compilation: GraalVM / Spring AOT); GC (Garbage Collection); IoC (Inversion of Control); DI (Dependency Injection); DTO (Data Transfer Object); POJO (Plain Old Java Object); SpEL (Spring Expression Language).</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sb/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sb/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sb/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sb/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Spring Web</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@RestController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@RequestMapping("/orders")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OrderController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OrderV2 getV2(@PathVariable 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OrderV2.from(orders.get(id));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OrderV1 getV1(@PathVariable 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OrderV1.from(orders.get(id));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Spring's content negotiation routes on Accept; the URL never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 Boot 4 also ships a new API versioning support if you prefer header- 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path-based versioning declared centrally rather than per-handler.</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sb/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sb/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Spring for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java · Spring for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schema.graphqls — the GraphQL contract (schema-first)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type Order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 Float                                </a:t>
            </a:r>
            <a:r>
              <a:rPr b="0" i="0" lang="en-US" sz="1150" u="none" cap="none" strike="noStrike">
                <a:solidFill>
                  <a:srgbClr val="8FB98F"/>
                </a:solidFill>
                <a:latin typeface="Red Hat Mono"/>
                <a:ea typeface="Red Hat Mono"/>
                <a:cs typeface="Red Hat Mono"/>
                <a:sym typeface="Red Hat Mono"/>
              </a:rPr>
              <a:t># still served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@deprecated(reason: "Use totalMinor (integer cents) instead.")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totalMinor: Int!                            </a:t>
            </a:r>
            <a:r>
              <a:rPr b="0" i="0" lang="en-US" sz="1150" u="none" cap="none" strike="noStrike">
                <a:solidFill>
                  <a:srgbClr val="8FB98F"/>
                </a:solidFill>
                <a:latin typeface="Red Hat Mono"/>
                <a:ea typeface="Red Hat Mono"/>
                <a:cs typeface="Red Hat Mono"/>
                <a:sym typeface="Red Hat Mono"/>
              </a:rPr>
              <a:t># replacement, added additively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Java record matches the schema; both fields resolve.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Order(String id, double total, int totalMinor) {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@deprecated surfaces in introspection and in /graphiql with the reason.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Field-level usage metrics (Micrometer + Apollo's @apollo/usage-reporting,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 graphql-java-extended-validation) tell you when 'total' has zero callers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then do you remove it. No /v2 endpoint ever exists.</a:t>
            </a:r>
            <a:endParaRPr b="0" i="0" sz="11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Spring 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Spring 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spring-boot-starter-websocket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@Configuration                                  // spring-boot-starter-websocket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@EnableWebSocket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WsConfig implements WebSocketConfigurer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registerWebSocketHandlers(WebSocketHandlerRegistry 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r.addHandler(new OrderSocket(), "/ws/{userId}")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.setAllowedOriginPatterns("*");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OrderSocket extends TextWebSocketHandler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per-pod registry — not shared!  This single fact is the scaling problem.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Map&lt;String, WebSocketSession&gt; conns = new ConcurrentHashMap&lt;&gt;();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afterConnectionEstablished(WebSocketSession 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conns.put(userIdFrom(s), s);             // this pod owns this connection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protected void handleTextMessage(WebSocketSession s, TextMessage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handle(parse(msg.getPayload()));         // full-duplex, long-lived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afterConnectionClosed cleanup removes the entry from this pod's map.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the conns map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sb/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sb/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envelope.proto — version the message, not the URL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Envelope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uint32 version = 1;        // bump for incompatible payload changes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type    = 2;        // "order.updated", "ping",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bytes  payload = 3;        // the protobuf-encoded body for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uint64 seq     = 4;        // monotonic per-connection — drives resume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server: send compact binary frames instead of JSON 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OrderBinarySocket extends BinaryWebSocketHandler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protected void handleBinaryMessage(WebSocketSession s, BinaryMessage 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Envelope env = Envelope.parseFrom(m.getPayload());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dispatch(env);</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Envelope frame = Envelope.newBuilder().setVersion(2)</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.setType("order.updated").setSeq(n)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.setPayload(order.toByteString()).build();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session.sendMessage(new BinaryMessage(frame.toByteArray()));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client checks env.version; unknown major version → reconnect &amp; renegotiate</a:t>
            </a:r>
            <a:endParaRPr b="0" i="0" sz="105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sb/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(Spring exposes ping/pong via WebSocketSession.sendMessage(new PingMessage()));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sb/33-appD-state-options-sb.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(Spring Data JPA)</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SagaCoordinator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static final List&lt;String&gt; STEPS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List.of("charge_payment", "reserve_stock", "book_shipping");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SagaRepository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EntityManager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SagaCoordinator(SagaRepository r, EntityManager em)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this.repo = r; this.em =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                                  // state + command commit together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advance(String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 = em.find(Saga.class, sagaId, LockModeType.PESSIMISTIC_WRITE);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(!"RUNNING".equals(s.getStatus())) return;   // idempotent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step = STEPS.get(s.getStepIndex());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invoke(step, s.getContext());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s.getContext().put(step, result);           // accumulate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(s.incStep() == STEPS.size()) s.setStatus("COMPLETED");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(StepException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s.setStatus("COMPENSATING");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repo.save(s);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sb/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final Map&lt;String, String&gt; COMPENSATIONS = Map.of(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 = em.find(Saga.class, sagaId, LockModeType.PESSIMISTIC_WRITE);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(String step : reversed(STEPS.subList(0, s.getStepIndex())))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invoke(COMPENSATIONS.get(step), s.getContext(),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sagaId + ":" + step);          // idempotency key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s.setStatus("COMPENSATED");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repo.save(s);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sb/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keep a saga durable</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Two open-source paths, both shown in this appendix with a diagram and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hand-rolled orchestrator (Example 17): one sagas row per instance (status, step_index, JSONB context) and a saga_log, written through Spring Data JPA, one transaction per step under a row lock. No extra dependency, no extra cluster.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a durable execution engine (Temporal Server MIT, Java SDK Apache 2.0). Workflows and activities are plain Java; the Server persists every event and replays it on recovery. Most power, a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keep the hand-rolled orchestrator while the saga is short and lives in one service; reach for Temporal when it is long, shared across services, or needs timers, retries and child workflows as first-class features.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Spring Statemachine is not on the list: its repository is archived upstream and 4.0.x was its last open-source line.</a:t>
            </a:r>
            <a:endParaRPr b="0" i="0" sz="1700" u="none" cap="none" strike="noStrike">
              <a:solidFill>
                <a:schemeClr val="dk1"/>
              </a:solidFill>
              <a:latin typeface="Calibri"/>
              <a:ea typeface="Calibri"/>
              <a:cs typeface="Calibri"/>
              <a:sym typeface="Calibri"/>
            </a:endParaRPr>
          </a:p>
        </p:txBody>
      </p:sp>
      <p:sp>
        <p:nvSpPr>
          <p:cNvPr id="1393" name="Google Shape;1393;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4" name="Google Shape;1394;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9" name="Shape 1399"/>
        <p:cNvGrpSpPr/>
        <p:nvPr/>
      </p:nvGrpSpPr>
      <p:grpSpPr>
        <a:xfrm>
          <a:off x="0" y="0"/>
          <a:ext cx="0" cy="0"/>
          <a:chOff x="0" y="0"/>
          <a:chExt cx="0" cy="0"/>
        </a:xfrm>
      </p:grpSpPr>
      <p:sp>
        <p:nvSpPr>
          <p:cNvPr id="1400" name="Google Shape;1400;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a plain-Java saga that the Server makes durable</a:t>
            </a:r>
            <a:endParaRPr b="0" i="0" sz="3000" u="none" cap="none" strike="noStrike">
              <a:solidFill>
                <a:schemeClr val="dk1"/>
              </a:solidFill>
              <a:latin typeface="Calibri"/>
              <a:ea typeface="Calibri"/>
              <a:cs typeface="Calibri"/>
              <a:sym typeface="Calibri"/>
            </a:endParaRPr>
          </a:p>
        </p:txBody>
      </p:sp>
      <p:pic>
        <p:nvPicPr>
          <p:cNvPr descr="/home/claude/work/png-sb/62-appD-temporal.png" id="1402" name="Google Shape;1402;p129"/>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03" name="Google Shape;1403;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Spring Boot app)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04" name="Google Shape;1404;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5" name="Google Shape;1405;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0" name="Shape 1410"/>
        <p:cNvGrpSpPr/>
        <p:nvPr/>
      </p:nvGrpSpPr>
      <p:grpSpPr>
        <a:xfrm>
          <a:off x="0" y="0"/>
          <a:ext cx="0" cy="0"/>
          <a:chOff x="0" y="0"/>
          <a:chExt cx="0" cy="0"/>
        </a:xfrm>
      </p:grpSpPr>
      <p:sp>
        <p:nvSpPr>
          <p:cNvPr id="1411" name="Google Shape;1411;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12" name="Google Shape;1412;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saga workflow + activity, in Spring Boot</a:t>
            </a:r>
            <a:endParaRPr b="0" i="0" sz="30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130"/>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io.temporal:temporal-sdk + Spring Boot</a:t>
            </a:r>
            <a:endParaRPr b="0" i="0" sz="1000" u="none" cap="none" strike="noStrike">
              <a:solidFill>
                <a:schemeClr val="dk1"/>
              </a:solidFill>
              <a:latin typeface="Calibri"/>
              <a:ea typeface="Calibri"/>
              <a:cs typeface="Calibri"/>
              <a:sym typeface="Calibri"/>
            </a:endParaRPr>
          </a:p>
        </p:txBody>
      </p:sp>
      <p:sp>
        <p:nvSpPr>
          <p:cNvPr id="1415" name="Google Shape;1415;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1) Activity interface — each is a normal Spring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@ActivityInterface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PaymentActivity { @ActivityMethod String charge(SagaInput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InventoryActivity.reserve and ShippingActivity.book are declared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Workflow interface + impl — plain Java, deterministic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@WorkflowInterface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FulfillmentWorkflow { @WorkflowMethod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FulfillmentWorkflowImpl implements FulfillmentWorkflow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PaymentActivity   payment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InventoryActivity inventory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ShippingActivity  shipping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 public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saga = new Saga(new Saga.Options.Builder().build()); // built-in compensator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paymentId     = payment.charge(in);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payment.refund(paymentId));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reservationId = inventory.reserve(in, 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inventory.release(reservationId));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shipping.book(in, reservationId);     // outputs flow forward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(ActivityFailure 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saga.compensate();                            // unwinds in reverse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6" name="Google Shape;1416;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Spring beans; Temporal's built-in Saga utility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hand-rolled orchestrator: one row, one log, no cluster</a:t>
            </a:r>
            <a:endParaRPr b="0" i="0" sz="3000" u="none" cap="none" strike="noStrike">
              <a:solidFill>
                <a:schemeClr val="dk1"/>
              </a:solidFill>
              <a:latin typeface="Calibri"/>
              <a:ea typeface="Calibri"/>
              <a:cs typeface="Calibri"/>
              <a:sym typeface="Calibri"/>
            </a:endParaRPr>
          </a:p>
        </p:txBody>
      </p:sp>
      <p:pic>
        <p:nvPicPr>
          <p:cNvPr descr="/home/claude/work/png-sb/63-appD-statemachine.png" id="1426" name="Google Shape;1426;p131"/>
          <p:cNvPicPr preferRelativeResize="0"/>
          <p:nvPr/>
        </p:nvPicPr>
        <p:blipFill rotWithShape="1">
          <a:blip r:embed="rId5">
            <a:alphaModFix/>
          </a:blip>
          <a:stretch/>
        </p:blipFill>
        <p:spPr>
          <a:xfrm>
            <a:off x="1893731" y="1600200"/>
            <a:ext cx="840423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sagas row locked FOR UPDATE, a saga_log of every action, and a resume pass at startup: Example 17.</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hand-rolled orchestrator: one step per transaction</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SagaEngine.java excerpt (examples/17-sagas); the failed-step log row is left 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@Transactional                                  // lock, run one step, 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String advanceOnce(String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SagaEntity saga = sagas.lockById(sagaId).orElse(null);  // @Lock(PESSIMISTIC_WRITE)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 null) return "NOT_FOUND";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(!"RUNNING".equals(saga.getStatus())) return saga.getStatus();  // finished: no-op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 stepIndex = saga.getStepIndex();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(stepIndex &gt;= STEPS.size()) { saga.setStatus("COMPLETED"); return "COMPLETED";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 step = STEPS.get(stepIndex);                 // (name, compensation)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stepExecutor.execute(step.name(), saga.getContext());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sagaLog.save(new SagaLogEntity(sagaId, step.name(), "execute",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saga.setStepIndex(stepIndex + 1);                 // output joins the JSONB 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saga.setContext(contextWith(saga, step.name(),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"RUNNING";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saga.setStatus("COMPENSATING");                   // dirty checking writes it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"COMPENSATING";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SagaService.advance(): do { status = engine.advanceOnce(id); } while RUNNING (a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transaction each call), then engine.compensate(id) when the status is COMPENSATING</a:t>
            </a:r>
            <a:endParaRPr b="0" i="0" sz="9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row lock, the step's output and the new state commit together; a failed step hands off to compensate().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47" name="Shape 1447"/>
        <p:cNvGrpSpPr/>
        <p:nvPr/>
      </p:nvGrpSpPr>
      <p:grpSpPr>
        <a:xfrm>
          <a:off x="0" y="0"/>
          <a:ext cx="0" cy="0"/>
          <a:chOff x="0" y="0"/>
          <a:chExt cx="0" cy="0"/>
        </a:xfrm>
      </p:grpSpPr>
      <p:pic>
        <p:nvPicPr>
          <p:cNvPr descr="/home/claude/work/assets/rh-divider-bg.png" id="1448" name="Google Shape;1448;p13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49" name="Google Shape;1449;p13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50" name="Google Shape;1450;p13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51" name="Google Shape;1451;p13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52" name="Google Shape;1452;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7" name="Shape 1457"/>
        <p:cNvGrpSpPr/>
        <p:nvPr/>
      </p:nvGrpSpPr>
      <p:grpSpPr>
        <a:xfrm>
          <a:off x="0" y="0"/>
          <a:ext cx="0" cy="0"/>
          <a:chOff x="0" y="0"/>
          <a:chExt cx="0" cy="0"/>
        </a:xfrm>
      </p:grpSpPr>
      <p:sp>
        <p:nvSpPr>
          <p:cNvPr id="1458" name="Google Shape;1458;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sb/36-appE-error-shape.png" id="1460" name="Google Shape;1460;p13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61" name="Google Shape;1461;p1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62" name="Google Shape;1462;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3" name="Google Shape;1463;p1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8" name="Shape 1468"/>
        <p:cNvGrpSpPr/>
        <p:nvPr/>
      </p:nvGrpSpPr>
      <p:grpSpPr>
        <a:xfrm>
          <a:off x="0" y="0"/>
          <a:ext cx="0" cy="0"/>
          <a:chOff x="0" y="0"/>
          <a:chExt cx="0" cy="0"/>
        </a:xfrm>
      </p:grpSpPr>
      <p:sp>
        <p:nvSpPr>
          <p:cNvPr id="1469" name="Google Shape;1469;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sb/37-appE-rest-errors.png" id="1471" name="Google Shape;1471;p1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72" name="Google Shape;1472;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4" name="Google Shape;1474;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9" name="Shape 1479"/>
        <p:cNvGrpSpPr/>
        <p:nvPr/>
      </p:nvGrpSpPr>
      <p:grpSpPr>
        <a:xfrm>
          <a:off x="0" y="0"/>
          <a:ext cx="0" cy="0"/>
          <a:chOff x="0" y="0"/>
          <a:chExt cx="0" cy="0"/>
        </a:xfrm>
      </p:grpSpPr>
      <p:sp>
        <p:nvSpPr>
          <p:cNvPr id="1480" name="Google Shape;1480;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1" name="Google Shape;1481;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Spring 7 ProblemDetail</a:t>
            </a:r>
            <a:endParaRPr b="0" i="0" sz="30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136"/>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7 ProblemDetail</a:t>
            </a:r>
            <a:endParaRPr b="0" i="0" sz="1000" u="none" cap="none" strike="noStrike">
              <a:solidFill>
                <a:schemeClr val="dk1"/>
              </a:solidFill>
              <a:latin typeface="Calibri"/>
              <a:ea typeface="Calibri"/>
              <a:cs typeface="Calibri"/>
              <a:sym typeface="Calibri"/>
            </a:endParaRPr>
          </a:p>
        </p:txBody>
      </p:sp>
      <p:sp>
        <p:nvSpPr>
          <p:cNvPr id="1484" name="Google Shape;1484;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Framework 7's built-in ProblemDetail = RFC 9457 out of the 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@RestControllerAdvice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ApiExceptionHandler extends ResponseEntityExceptionHandler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@ExceptionHandler(StockException.class)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ProblemDetail handleStock(StockException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 pd = ProblemDetail.forStatusAndDetail(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HttpStatus.CONFLICT, e.getMessage());                        // 409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pd.setType(URI.create("https://errors.acme.io/stock"));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pd.setTitle("Insufficient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pd.setProperty("code",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Span.current().getSpanContext().getTraceId());                // correlate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pd;                              // Content-Type: application/problem+json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Typed alternative — throw an ErrorResponseException subclass from anywhere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and Spring handles the rest: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OrderNotFound extends ErrorResponseException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OrderNotFound(String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super(HttpStatus.NOT_FOUND,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ProblemDetail.forStatusAndDetail(HttpStatus.NOT_FOUND,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 id + " not found"),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Spring 7 ships ProblemDetail and ErrorResponseException as the RFC 9457 contract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86" name="Google Shape;1486;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87" name="Google Shape;1487;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2" name="Shape 1492"/>
        <p:cNvGrpSpPr/>
        <p:nvPr/>
      </p:nvGrpSpPr>
      <p:grpSpPr>
        <a:xfrm>
          <a:off x="0" y="0"/>
          <a:ext cx="0" cy="0"/>
          <a:chOff x="0" y="0"/>
          <a:chExt cx="0" cy="0"/>
        </a:xfrm>
      </p:grpSpPr>
      <p:sp>
        <p:nvSpPr>
          <p:cNvPr id="1493" name="Google Shape;1493;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4" name="Google Shape;1494;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sb/38-appE-grpc-errors.png" id="1495" name="Google Shape;1495;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6" name="Google Shape;1496;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98" name="Google Shape;1498;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3" name="Shape 1503"/>
        <p:cNvGrpSpPr/>
        <p:nvPr/>
      </p:nvGrpSpPr>
      <p:grpSpPr>
        <a:xfrm>
          <a:off x="0" y="0"/>
          <a:ext cx="0" cy="0"/>
          <a:chOff x="0" y="0"/>
          <a:chExt cx="0" cy="0"/>
        </a:xfrm>
      </p:grpSpPr>
      <p:sp>
        <p:nvSpPr>
          <p:cNvPr id="1504" name="Google Shape;1504;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5" name="Google Shape;1505;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06" name="Google Shape;1506;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138"/>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grpc-java + StatusProto</a:t>
            </a:r>
            <a:endParaRPr b="0" i="0" sz="1000" u="none" cap="none" strike="noStrike">
              <a:solidFill>
                <a:schemeClr val="dk1"/>
              </a:solidFill>
              <a:latin typeface="Calibri"/>
              <a:ea typeface="Calibri"/>
              <a:cs typeface="Calibri"/>
              <a:sym typeface="Calibri"/>
            </a:endParaRPr>
          </a:p>
        </p:txBody>
      </p:sp>
      <p:sp>
        <p:nvSpPr>
          <p:cNvPr id="1508" name="Google Shape;1508;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reserveStock(ReserveRequest 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StreamObserver&lt;ReserveReply&gt; responseObserver)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responseObserver.onError(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responseObserver.onNext(toReply(stock.reserve(req)));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10" name="Google Shape;1510;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1" name="Google Shape;1511;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6" name="Shape 1516"/>
        <p:cNvGrpSpPr/>
        <p:nvPr/>
      </p:nvGrpSpPr>
      <p:grpSpPr>
        <a:xfrm>
          <a:off x="0" y="0"/>
          <a:ext cx="0" cy="0"/>
          <a:chOff x="0" y="0"/>
          <a:chExt cx="0" cy="0"/>
        </a:xfrm>
      </p:grpSpPr>
      <p:sp>
        <p:nvSpPr>
          <p:cNvPr id="1517" name="Google Shape;1517;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8" name="Google Shape;1518;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sb/39-appE-kafka-errors.png" id="1519" name="Google Shape;1519;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0" name="Google Shape;1520;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2" name="Google Shape;1522;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7" name="Shape 1527"/>
        <p:cNvGrpSpPr/>
        <p:nvPr/>
      </p:nvGrpSpPr>
      <p:grpSpPr>
        <a:xfrm>
          <a:off x="0" y="0"/>
          <a:ext cx="0" cy="0"/>
          <a:chOff x="0" y="0"/>
          <a:chExt cx="0" cy="0"/>
        </a:xfrm>
      </p:grpSpPr>
      <p:sp>
        <p:nvSpPr>
          <p:cNvPr id="1528" name="Google Shape;1528;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9" name="Google Shape;1529;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Spring Kafka</a:t>
            </a:r>
            <a:endParaRPr b="0" i="0" sz="3000" u="none" cap="none" strike="noStrike">
              <a:solidFill>
                <a:schemeClr val="dk1"/>
              </a:solidFill>
              <a:latin typeface="Calibri"/>
              <a:ea typeface="Calibri"/>
              <a:cs typeface="Calibri"/>
              <a:sym typeface="Calibri"/>
            </a:endParaRPr>
          </a:p>
        </p:txBody>
      </p:sp>
      <p:sp>
        <p:nvSpPr>
          <p:cNvPr id="1530" name="Google Shape;1530;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14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1532" name="Google Shape;1532;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KafkaErrorConfig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DefaultErrorHandler errorHandler(KafkaTemplate&lt;?, ?&gt; template)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route to orders.DLQ on terminal failure; commit offset; never block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dlt = new DeadLetterPublishingRecoverer(template,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 ex) -&gt; new TopicPartition(rec.topic() + ".DLQ", rec.partition()));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in-place retries: 3 attempts, exponential backoff with jitter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backoff = new ExponentialBackOffWithMaxRetries(3);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backoff.setInitialInterval(200);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backoff.setMultiplier(2.0);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backoff.setMaxInterval(5_000);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handler = new DefaultErrorHandler(dlt, backoff);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handler.addNotRetryableExceptions(ValidationException.class);  // 4xx → DLQ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@KafkaListener(topics = "orders", containerFactory = "manualAckFactory")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consume(Order order)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handle(order);          // handler retries; exhausted → DLQ; offset commits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DefaultErrorHandler + DeadLetterPublishingRecoverer with backoff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0" name="Shape 1540"/>
        <p:cNvGrpSpPr/>
        <p:nvPr/>
      </p:nvGrpSpPr>
      <p:grpSpPr>
        <a:xfrm>
          <a:off x="0" y="0"/>
          <a:ext cx="0" cy="0"/>
          <a:chOff x="0" y="0"/>
          <a:chExt cx="0" cy="0"/>
        </a:xfrm>
      </p:grpSpPr>
      <p:sp>
        <p:nvSpPr>
          <p:cNvPr id="1541" name="Google Shape;1541;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2" name="Google Shape;1542;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sb/40-appE-graphql-errors.png" id="1543" name="Google Shape;1543;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44" name="Google Shape;1544;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45" name="Google Shape;1545;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6" name="Google Shape;1546;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1" name="Shape 1551"/>
        <p:cNvGrpSpPr/>
        <p:nvPr/>
      </p:nvGrpSpPr>
      <p:grpSpPr>
        <a:xfrm>
          <a:off x="0" y="0"/>
          <a:ext cx="0" cy="0"/>
          <a:chOff x="0" y="0"/>
          <a:chExt cx="0" cy="0"/>
        </a:xfrm>
      </p:grpSpPr>
      <p:sp>
        <p:nvSpPr>
          <p:cNvPr id="1552" name="Google Shape;1552;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Spring for GraphQL</a:t>
            </a:r>
            <a:endParaRPr b="0" i="0" sz="30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142"/>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1556" name="Google Shape;1556;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GraphQLExceptionResolver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extends DataFetcherExceptionResolverAdapter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GraphQLError resolveToSingleError(Throwable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DataFetchingEnvironment env)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(ex instanceof InventoryUnavailable iu)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GraphqlErrorBuilder.newError(env)</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.errorType(ErrorType.UNAVAILABLE)              // standard category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.message(iu.getMessage())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.path(env.getExecutionStepInfo().getPath())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.extensions(Map.of(code, retryable, 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null;          // delegate to the next resolver / Spring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OrderGraphQLController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@SchemaMapping(typeName = "Order", field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Integer stock(Order order) {                // one field's 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calls inventory; on Unavailable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 DataFetcherExceptionResolver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558" name="Google Shape;1558;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9" name="Google Shape;1559;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4" name="Shape 1564"/>
        <p:cNvGrpSpPr/>
        <p:nvPr/>
      </p:nvGrpSpPr>
      <p:grpSpPr>
        <a:xfrm>
          <a:off x="0" y="0"/>
          <a:ext cx="0" cy="0"/>
          <a:chOff x="0" y="0"/>
          <a:chExt cx="0" cy="0"/>
        </a:xfrm>
      </p:grpSpPr>
      <p:sp>
        <p:nvSpPr>
          <p:cNvPr id="1565" name="Google Shape;1565;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6" name="Google Shape;1566;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sb/41-appE-retry-storm.png" id="1567" name="Google Shape;1567;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8" name="Google Shape;1568;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69" name="Google Shape;1569;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0" name="Google Shape;1570;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5" name="Shape 1575"/>
        <p:cNvGrpSpPr/>
        <p:nvPr/>
      </p:nvGrpSpPr>
      <p:grpSpPr>
        <a:xfrm>
          <a:off x="0" y="0"/>
          <a:ext cx="0" cy="0"/>
          <a:chOff x="0" y="0"/>
          <a:chExt cx="0" cy="0"/>
        </a:xfrm>
      </p:grpSpPr>
      <p:sp>
        <p:nvSpPr>
          <p:cNvPr id="1576" name="Google Shape;1576;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79" name="Google Shape;1579;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0" name="Google Shape;1580;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85" name="Shape 1585"/>
        <p:cNvGrpSpPr/>
        <p:nvPr/>
      </p:nvGrpSpPr>
      <p:grpSpPr>
        <a:xfrm>
          <a:off x="0" y="0"/>
          <a:ext cx="0" cy="0"/>
          <a:chOff x="0" y="0"/>
          <a:chExt cx="0" cy="0"/>
        </a:xfrm>
      </p:grpSpPr>
      <p:pic>
        <p:nvPicPr>
          <p:cNvPr descr="/home/claude/work/assets/rh-divider-bg.png" id="1586" name="Google Shape;1586;p1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87" name="Google Shape;1587;p1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88" name="Google Shape;1588;p1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89" name="Google Shape;1589;p1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90" name="Google Shape;1590;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600" name="Google Shape;1600;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sb/45-appF-ddd-strategic.png" id="1608" name="Google Shape;1608;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09" name="Google Shape;1609;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11" name="Google Shape;1611;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sb/46-appF-context-map.png" id="1629" name="Google Shape;1629;p1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30" name="Google Shape;1630;p1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sb/47-appF-hexagonal.png" id="1650" name="Google Shape;1650;p15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152"/>
          <p:cNvSpPr/>
          <p:nvPr/>
        </p:nvSpPr>
        <p:spPr>
          <a:xfrm>
            <a:off x="8404017" y="1700784"/>
            <a:ext cx="3129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 in Spring Boot</a:t>
            </a:r>
            <a:endParaRPr b="0" i="0" sz="1000" u="none" cap="none" strike="noStrike">
              <a:solidFill>
                <a:schemeClr val="dk1"/>
              </a:solidFill>
              <a:latin typeface="Calibri"/>
              <a:ea typeface="Calibri"/>
              <a:cs typeface="Calibri"/>
              <a:sym typeface="Calibri"/>
            </a:endParaRPr>
          </a:p>
        </p:txBody>
      </p:sp>
      <p:sp>
        <p:nvSpPr>
          <p:cNvPr id="1663" name="Google Shape;1663;p15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OrderRepository { void save(Order order);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EventPublisher  { void publish(DomainEvent e);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 pure application logic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repo;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injection: no framework leak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handle(PlaceOrderCmd cmd)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events.publish(new OrderPlaced(order.id()));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adapter — a driving adapter; gRPC/GraphQL adapters look the same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PlaceOrder placeOrder;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OrderController(PlaceOrder p) { this.placeOrder = p;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public Order place(@RequestBody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placeOrder.handle(body.toCmd());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664" name="Google Shape;1664;p152"/>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Spring injects the adapters (JPA repo, Kafka publisher) by constructor. Swap or add one without touching PlaceOrder.</a:t>
            </a:r>
            <a:endParaRPr b="0" i="0" sz="1300" u="none" cap="none" strike="noStrike">
              <a:solidFill>
                <a:schemeClr val="dk1"/>
              </a:solidFill>
              <a:latin typeface="Calibri"/>
              <a:ea typeface="Calibri"/>
              <a:cs typeface="Calibri"/>
              <a:sym typeface="Calibri"/>
            </a:endParaRPr>
          </a:p>
        </p:txBody>
      </p:sp>
      <p:sp>
        <p:nvSpPr>
          <p:cNvPr id="1665" name="Google Shape;1665;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6" name="Google Shape;1666;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1" name="Shape 1671"/>
        <p:cNvGrpSpPr/>
        <p:nvPr/>
      </p:nvGrpSpPr>
      <p:grpSpPr>
        <a:xfrm>
          <a:off x="0" y="0"/>
          <a:ext cx="0" cy="0"/>
          <a:chOff x="0" y="0"/>
          <a:chExt cx="0" cy="0"/>
        </a:xfrm>
      </p:grpSpPr>
      <p:sp>
        <p:nvSpPr>
          <p:cNvPr id="1672" name="Google Shape;1672;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75" name="Google Shape;1675;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6" name="Google Shape;1676;p1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1" name="Shape 1681"/>
        <p:cNvGrpSpPr/>
        <p:nvPr/>
      </p:nvGrpSpPr>
      <p:grpSpPr>
        <a:xfrm>
          <a:off x="0" y="0"/>
          <a:ext cx="0" cy="0"/>
          <a:chOff x="0" y="0"/>
          <a:chExt cx="0" cy="0"/>
        </a:xfrm>
      </p:grpSpPr>
      <p:sp>
        <p:nvSpPr>
          <p:cNvPr id="1682" name="Google Shape;1682;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85" name="Google Shape;1685;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6" name="Google Shape;1686;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91" name="Shape 1691"/>
        <p:cNvGrpSpPr/>
        <p:nvPr/>
      </p:nvGrpSpPr>
      <p:grpSpPr>
        <a:xfrm>
          <a:off x="0" y="0"/>
          <a:ext cx="0" cy="0"/>
          <a:chOff x="0" y="0"/>
          <a:chExt cx="0" cy="0"/>
        </a:xfrm>
      </p:grpSpPr>
      <p:pic>
        <p:nvPicPr>
          <p:cNvPr descr="/home/claude/work/assets/rh-divider-bg.png" id="1692" name="Google Shape;1692;p1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93" name="Google Shape;1693;p1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94" name="Google Shape;1694;p1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95" name="Google Shape;1695;p1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96" name="Google Shape;1696;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6" name="Google Shape;1706;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sb/48-appG-dimensions.png" id="1714" name="Google Shape;1714;p15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15" name="Google Shape;1715;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7" name="Google Shape;1717;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7" name="Google Shape;1727;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sb/49-appG-strength.png" id="1735" name="Google Shape;1735;p15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36" name="Google Shape;1736;p1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37" name="Google Shape;1737;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sb/50-appG-balance.png" id="1756" name="Google Shape;1756;p161"/>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78" name="Google Shape;1778;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79" name="Google Shape;1779;p16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4" name="Shape 1784"/>
        <p:cNvGrpSpPr/>
        <p:nvPr/>
      </p:nvGrpSpPr>
      <p:grpSpPr>
        <a:xfrm>
          <a:off x="0" y="0"/>
          <a:ext cx="0" cy="0"/>
          <a:chOff x="0" y="0"/>
          <a:chExt cx="0" cy="0"/>
        </a:xfrm>
      </p:grpSpPr>
      <p:sp>
        <p:nvSpPr>
          <p:cNvPr id="1785" name="Google Shape;1785;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89" name="Google Shape;1789;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94" name="Shape 1794"/>
        <p:cNvGrpSpPr/>
        <p:nvPr/>
      </p:nvGrpSpPr>
      <p:grpSpPr>
        <a:xfrm>
          <a:off x="0" y="0"/>
          <a:ext cx="0" cy="0"/>
          <a:chOff x="0" y="0"/>
          <a:chExt cx="0" cy="0"/>
        </a:xfrm>
      </p:grpSpPr>
      <p:pic>
        <p:nvPicPr>
          <p:cNvPr descr="/home/claude/work/assets/rh-divider-bg.png" id="1795" name="Google Shape;1795;p16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96" name="Google Shape;1796;p16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97" name="Google Shape;1797;p16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98" name="Google Shape;1798;p16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99" name="Google Shape;1799;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sb/51-appH-termination.png" id="1817" name="Google Shape;1817;p16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18" name="Google Shape;1818;p1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0" name="Google Shape;1820;p1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5" name="Shape 1825"/>
        <p:cNvGrpSpPr/>
        <p:nvPr/>
      </p:nvGrpSpPr>
      <p:grpSpPr>
        <a:xfrm>
          <a:off x="0" y="0"/>
          <a:ext cx="0" cy="0"/>
          <a:chOff x="0" y="0"/>
          <a:chExt cx="0" cy="0"/>
        </a:xfrm>
      </p:grpSpPr>
      <p:sp>
        <p:nvSpPr>
          <p:cNvPr id="1826" name="Google Shape;1826;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7" name="Google Shape;1827;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0" name="Google Shape;1830;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5" name="Shape 1835"/>
        <p:cNvGrpSpPr/>
        <p:nvPr/>
      </p:nvGrpSpPr>
      <p:grpSpPr>
        <a:xfrm>
          <a:off x="0" y="0"/>
          <a:ext cx="0" cy="0"/>
          <a:chOff x="0" y="0"/>
          <a:chExt cx="0" cy="0"/>
        </a:xfrm>
      </p:grpSpPr>
      <p:sp>
        <p:nvSpPr>
          <p:cNvPr id="1836" name="Google Shape;1836;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7" name="Google Shape;1837;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sb/52-appH-workloads.png" id="1838" name="Google Shape;1838;p1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39" name="Google Shape;1839;p1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Spring Boot</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1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1851" name="Google Shape;1851;p1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DrainLifecycle.java (excerpt), examples/21-graceful-shutdown/spring-boot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server.shutdown=graceful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spring.lifecycle.timeout-per-shutdown-phase=20s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...health.group.readiness.include=readinessState,db,drain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DrainLifecycle implements SmartLifecycle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stop() {                          // SIGTERM: the highest phase stops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(!state.markShuttingDown()) return;    // one SIGTERM drives the 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Thread.sleep(drainDelayMillis);           // DRAIN_DELAY_SECONDS, default 5: serve 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then the web server's graceful phase finishes in-flight HTTP (20 s bound), the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context closes the pool, and the JVM exits (143 = 128 + SIGTERM)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 getPhase() { return DEFAULT_PHASE - 512; }   // stops before the web server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 "drain" HealthIndicator reports DOWN "shutting down": /readyz is 503,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Kafka consumers, the scheduler and WebSockets drain in a ContextClosedEvent listener.</a:t>
            </a:r>
            <a:endParaRPr b="0" i="0" sz="900" u="none" cap="none" strike="noStrike">
              <a:solidFill>
                <a:schemeClr val="dk1"/>
              </a:solidFill>
              <a:latin typeface="Calibri"/>
              <a:ea typeface="Calibri"/>
              <a:cs typeface="Calibri"/>
              <a:sym typeface="Calibri"/>
            </a:endParaRPr>
          </a:p>
        </p:txBody>
      </p:sp>
      <p:sp>
        <p:nvSpPr>
          <p:cNvPr id="1852" name="Google Shape;1852;p1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web server's graceful shutdown drains in-flight requests, bounded at 20 s per phase.</a:t>
            </a:r>
            <a:endParaRPr b="0" i="0" sz="1300" u="none" cap="none" strike="noStrike">
              <a:solidFill>
                <a:schemeClr val="dk1"/>
              </a:solidFill>
              <a:latin typeface="Calibri"/>
              <a:ea typeface="Calibri"/>
              <a:cs typeface="Calibri"/>
              <a:sym typeface="Calibri"/>
            </a:endParaRPr>
          </a:p>
        </p:txBody>
      </p:sp>
      <p:sp>
        <p:nvSpPr>
          <p:cNvPr id="1853" name="Google Shape;1853;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4" name="Google Shape;1854;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9" name="Shape 1859"/>
        <p:cNvGrpSpPr/>
        <p:nvPr/>
      </p:nvGrpSpPr>
      <p:grpSpPr>
        <a:xfrm>
          <a:off x="0" y="0"/>
          <a:ext cx="0" cy="0"/>
          <a:chOff x="0" y="0"/>
          <a:chExt cx="0" cy="0"/>
        </a:xfrm>
      </p:grpSpPr>
      <p:sp>
        <p:nvSpPr>
          <p:cNvPr id="1860" name="Google Shape;1860;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62" name="Google Shape;1862;p17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17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64" name="Google Shape;1864;p17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65" name="Google Shape;1865;p171"/>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66" name="Google Shape;1866;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7" name="Google Shape;1867;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2" name="Shape 1872"/>
        <p:cNvGrpSpPr/>
        <p:nvPr/>
      </p:nvGrpSpPr>
      <p:grpSpPr>
        <a:xfrm>
          <a:off x="0" y="0"/>
          <a:ext cx="0" cy="0"/>
          <a:chOff x="0" y="0"/>
          <a:chExt cx="0" cy="0"/>
        </a:xfrm>
      </p:grpSpPr>
      <p:sp>
        <p:nvSpPr>
          <p:cNvPr id="1873" name="Google Shape;1873;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4" name="Google Shape;1874;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75" name="Google Shape;1875;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76" name="Google Shape;1876;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7" name="Google Shape;1877;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2" name="Shape 1882"/>
        <p:cNvGrpSpPr/>
        <p:nvPr/>
      </p:nvGrpSpPr>
      <p:grpSpPr>
        <a:xfrm>
          <a:off x="0" y="0"/>
          <a:ext cx="0" cy="0"/>
          <a:chOff x="0" y="0"/>
          <a:chExt cx="0" cy="0"/>
        </a:xfrm>
      </p:grpSpPr>
      <p:sp>
        <p:nvSpPr>
          <p:cNvPr id="1883" name="Google Shape;1883;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84" name="Google Shape;1884;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85" name="Google Shape;1885;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Spring Boot 4 reference — “Web / Graceful Shutdown” and “Context lifecycle”; Spring Kafka container drain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886" name="Google Shape;1886;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7" name="Google Shape;1887;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92" name="Shape 1892"/>
        <p:cNvGrpSpPr/>
        <p:nvPr/>
      </p:nvGrpSpPr>
      <p:grpSpPr>
        <a:xfrm>
          <a:off x="0" y="0"/>
          <a:ext cx="0" cy="0"/>
          <a:chOff x="0" y="0"/>
          <a:chExt cx="0" cy="0"/>
        </a:xfrm>
      </p:grpSpPr>
      <p:pic>
        <p:nvPicPr>
          <p:cNvPr descr="/home/claude/work/assets/rh-divider-bg.png" id="1893" name="Google Shape;1893;p17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94" name="Google Shape;1894;p17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95" name="Google Shape;1895;p17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96" name="Google Shape;1896;p17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97" name="Google Shape;1897;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2" name="Shape 1902"/>
        <p:cNvGrpSpPr/>
        <p:nvPr/>
      </p:nvGrpSpPr>
      <p:grpSpPr>
        <a:xfrm>
          <a:off x="0" y="0"/>
          <a:ext cx="0" cy="0"/>
          <a:chOff x="0" y="0"/>
          <a:chExt cx="0" cy="0"/>
        </a:xfrm>
      </p:grpSpPr>
      <p:sp>
        <p:nvSpPr>
          <p:cNvPr id="1903" name="Google Shape;1903;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05" name="Google Shape;1905;p17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906" name="Google Shape;1906;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7" name="Google Shape;1907;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2" name="Shape 1912"/>
        <p:cNvGrpSpPr/>
        <p:nvPr/>
      </p:nvGrpSpPr>
      <p:grpSpPr>
        <a:xfrm>
          <a:off x="0" y="0"/>
          <a:ext cx="0" cy="0"/>
          <a:chOff x="0" y="0"/>
          <a:chExt cx="0" cy="0"/>
        </a:xfrm>
      </p:grpSpPr>
      <p:sp>
        <p:nvSpPr>
          <p:cNvPr id="1913" name="Google Shape;1913;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sb/53-appI-l4-vs-l7.png" id="1915" name="Google Shape;1915;p17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16" name="Google Shape;1916;p1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8" name="Google Shape;1918;p1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3" name="Shape 1923"/>
        <p:cNvGrpSpPr/>
        <p:nvPr/>
      </p:nvGrpSpPr>
      <p:grpSpPr>
        <a:xfrm>
          <a:off x="0" y="0"/>
          <a:ext cx="0" cy="0"/>
          <a:chOff x="0" y="0"/>
          <a:chExt cx="0" cy="0"/>
        </a:xfrm>
      </p:grpSpPr>
      <p:sp>
        <p:nvSpPr>
          <p:cNvPr id="1924" name="Google Shape;1924;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5" name="Google Shape;1925;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sb/54-appI-stack-sb.png" id="1936" name="Google Shape;1936;p178"/>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37" name="Google Shape;1937;p17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38" name="Google Shape;1938;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sb/55-appI-journey.png" id="1947" name="Google Shape;1947;p179"/>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48" name="Google Shape;1948;p1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0" name="Google Shape;1950;p1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5" name="Shape 1955"/>
        <p:cNvGrpSpPr/>
        <p:nvPr/>
      </p:nvGrpSpPr>
      <p:grpSpPr>
        <a:xfrm>
          <a:off x="0" y="0"/>
          <a:ext cx="0" cy="0"/>
          <a:chOff x="0" y="0"/>
          <a:chExt cx="0" cy="0"/>
        </a:xfrm>
      </p:grpSpPr>
      <p:sp>
        <p:nvSpPr>
          <p:cNvPr id="1956" name="Google Shape;1956;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7" name="Google Shape;1957;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58" name="Google Shape;1958;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18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70" name="Google Shape;1970;p18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72" name="Google Shape;1972;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3" name="Google Shape;1973;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8" name="Shape 1978"/>
        <p:cNvGrpSpPr/>
        <p:nvPr/>
      </p:nvGrpSpPr>
      <p:grpSpPr>
        <a:xfrm>
          <a:off x="0" y="0"/>
          <a:ext cx="0" cy="0"/>
          <a:chOff x="0" y="0"/>
          <a:chExt cx="0" cy="0"/>
        </a:xfrm>
      </p:grpSpPr>
      <p:sp>
        <p:nvSpPr>
          <p:cNvPr id="1979" name="Google Shape;1979;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81" name="Google Shape;1981;p18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1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83" name="Google Shape;1983;p18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85" name="Google Shape;1985;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6" name="Google Shape;1986;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1" name="Shape 1991"/>
        <p:cNvGrpSpPr/>
        <p:nvPr/>
      </p:nvGrpSpPr>
      <p:grpSpPr>
        <a:xfrm>
          <a:off x="0" y="0"/>
          <a:ext cx="0" cy="0"/>
          <a:chOff x="0" y="0"/>
          <a:chExt cx="0" cy="0"/>
        </a:xfrm>
      </p:grpSpPr>
      <p:sp>
        <p:nvSpPr>
          <p:cNvPr id="1992" name="Google Shape;1992;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3" name="Google Shape;1993;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94" name="Google Shape;1994;p18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183"/>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96" name="Google Shape;1996;p18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97" name="Google Shape;1997;p18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98" name="Google Shape;1998;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9" name="Google Shape;1999;p1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4" name="Shape 2004"/>
        <p:cNvGrpSpPr/>
        <p:nvPr/>
      </p:nvGrpSpPr>
      <p:grpSpPr>
        <a:xfrm>
          <a:off x="0" y="0"/>
          <a:ext cx="0" cy="0"/>
          <a:chOff x="0" y="0"/>
          <a:chExt cx="0" cy="0"/>
        </a:xfrm>
      </p:grpSpPr>
      <p:sp>
        <p:nvSpPr>
          <p:cNvPr id="2005" name="Google Shape;2005;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6" name="Google Shape;2006;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sb/56-appI-sticky.png" id="2017" name="Google Shape;2017;p18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18" name="Google Shape;2018;p18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19" name="Google Shape;2019;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0" name="Google Shape;2020;p18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5" name="Shape 2025"/>
        <p:cNvGrpSpPr/>
        <p:nvPr/>
      </p:nvGrpSpPr>
      <p:grpSpPr>
        <a:xfrm>
          <a:off x="0" y="0"/>
          <a:ext cx="0" cy="0"/>
          <a:chOff x="0" y="0"/>
          <a:chExt cx="0" cy="0"/>
        </a:xfrm>
      </p:grpSpPr>
      <p:sp>
        <p:nvSpPr>
          <p:cNvPr id="2026" name="Google Shape;2026;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28" name="Google Shape;2028;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0" name="Google Shape;2030;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5" name="Shape 2035"/>
        <p:cNvGrpSpPr/>
        <p:nvPr/>
      </p:nvGrpSpPr>
      <p:grpSpPr>
        <a:xfrm>
          <a:off x="0" y="0"/>
          <a:ext cx="0" cy="0"/>
          <a:chOff x="0" y="0"/>
          <a:chExt cx="0" cy="0"/>
        </a:xfrm>
      </p:grpSpPr>
      <p:sp>
        <p:nvSpPr>
          <p:cNvPr id="2036" name="Google Shape;2036;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7" name="Google Shape;2037;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sb/57-appI-steering.png" id="2038" name="Google Shape;2038;p18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39" name="Google Shape;2039;p18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18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51" name="Google Shape;2051;p18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4" name="Google Shape;2054;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9" name="Shape 2059"/>
        <p:cNvGrpSpPr/>
        <p:nvPr/>
      </p:nvGrpSpPr>
      <p:grpSpPr>
        <a:xfrm>
          <a:off x="0" y="0"/>
          <a:ext cx="0" cy="0"/>
          <a:chOff x="0" y="0"/>
          <a:chExt cx="0" cy="0"/>
        </a:xfrm>
      </p:grpSpPr>
      <p:sp>
        <p:nvSpPr>
          <p:cNvPr id="2060" name="Google Shape;2060;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189"/>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64" name="Google Shape;2064;p18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66" name="Google Shape;2066;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7" name="Google Shape;2067;p1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2" name="Shape 2072"/>
        <p:cNvGrpSpPr/>
        <p:nvPr/>
      </p:nvGrpSpPr>
      <p:grpSpPr>
        <a:xfrm>
          <a:off x="0" y="0"/>
          <a:ext cx="0" cy="0"/>
          <a:chOff x="0" y="0"/>
          <a:chExt cx="0" cy="0"/>
        </a:xfrm>
      </p:grpSpPr>
      <p:sp>
        <p:nvSpPr>
          <p:cNvPr id="2073" name="Google Shape;2073;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75" name="Google Shape;2075;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76" name="Google Shape;2076;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7" name="Google Shape;2077;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2" name="Shape 2082"/>
        <p:cNvGrpSpPr/>
        <p:nvPr/>
      </p:nvGrpSpPr>
      <p:grpSpPr>
        <a:xfrm>
          <a:off x="0" y="0"/>
          <a:ext cx="0" cy="0"/>
          <a:chOff x="0" y="0"/>
          <a:chExt cx="0" cy="0"/>
        </a:xfrm>
      </p:grpSpPr>
      <p:sp>
        <p:nvSpPr>
          <p:cNvPr id="2083" name="Google Shape;2083;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4" name="Google Shape;2084;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85" name="Google Shape;2085;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87" name="Google Shape;2087;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88" name="Google Shape;2088;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89" name="Google Shape;2089;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0" name="Google Shape;2090;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5" name="Shape 2095"/>
        <p:cNvGrpSpPr/>
        <p:nvPr/>
      </p:nvGrpSpPr>
      <p:grpSpPr>
        <a:xfrm>
          <a:off x="0" y="0"/>
          <a:ext cx="0" cy="0"/>
          <a:chOff x="0" y="0"/>
          <a:chExt cx="0" cy="0"/>
        </a:xfrm>
      </p:grpSpPr>
      <p:sp>
        <p:nvSpPr>
          <p:cNvPr id="2096" name="Google Shape;2096;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7" name="Google Shape;2097;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98" name="Google Shape;2098;p1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0" name="Google Shape;2100;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5" name="Shape 2105"/>
        <p:cNvGrpSpPr/>
        <p:nvPr/>
      </p:nvGrpSpPr>
      <p:grpSpPr>
        <a:xfrm>
          <a:off x="0" y="0"/>
          <a:ext cx="0" cy="0"/>
          <a:chOff x="0" y="0"/>
          <a:chExt cx="0" cy="0"/>
        </a:xfrm>
      </p:grpSpPr>
      <p:sp>
        <p:nvSpPr>
          <p:cNvPr id="2106" name="Google Shape;2106;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Spring Boot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sb/58-appI-camel-drools-sb.png" id="2108" name="Google Shape;2108;p19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109" name="Google Shape;2109;p1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Spring Boot wires them together.</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1" name="Google Shape;2111;p1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6" name="Shape 2116"/>
        <p:cNvGrpSpPr/>
        <p:nvPr/>
      </p:nvGrpSpPr>
      <p:grpSpPr>
        <a:xfrm>
          <a:off x="0" y="0"/>
          <a:ext cx="0" cy="0"/>
          <a:chOff x="0" y="0"/>
          <a:chExt cx="0" cy="0"/>
        </a:xfrm>
      </p:grpSpPr>
      <p:sp>
        <p:nvSpPr>
          <p:cNvPr id="2117" name="Google Shape;2117;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Spring Boot, calling Drools</a:t>
            </a:r>
            <a:endParaRPr b="0" i="0" sz="3000" u="none" cap="none" strike="noStrike">
              <a:solidFill>
                <a:schemeClr val="dk1"/>
              </a:solidFill>
              <a:latin typeface="Calibri"/>
              <a:ea typeface="Calibri"/>
              <a:cs typeface="Calibri"/>
              <a:sym typeface="Calibri"/>
            </a:endParaRPr>
          </a:p>
        </p:txBody>
      </p:sp>
      <p:sp>
        <p:nvSpPr>
          <p:cNvPr id="2119" name="Google Shape;2119;p19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19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Apache Camel</a:t>
            </a:r>
            <a:endParaRPr b="0" i="0" sz="1000" u="none" cap="none" strike="noStrike">
              <a:solidFill>
                <a:schemeClr val="dk1"/>
              </a:solidFill>
              <a:latin typeface="Calibri"/>
              <a:ea typeface="Calibri"/>
              <a:cs typeface="Calibri"/>
              <a:sym typeface="Calibri"/>
            </a:endParaRPr>
          </a:p>
        </p:txBody>
      </p:sp>
      <p:sp>
        <p:nvSpPr>
          <p:cNvPr id="2121" name="Google Shape;2121;p19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camel-spring-boot-starter, camel-kafka-starter, drools-spring-boot-starter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@Component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OrderRoutes(RulesEvaluator rules) { this.rules = rules;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122" name="Google Shape;2122;p19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134" name="Google Shape;2134;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135" name="Google Shape;2135;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136" name="Google Shape;2136;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7" name="Google Shape;2137;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2" name="Shape 2142"/>
        <p:cNvGrpSpPr/>
        <p:nvPr/>
      </p:nvGrpSpPr>
      <p:grpSpPr>
        <a:xfrm>
          <a:off x="0" y="0"/>
          <a:ext cx="0" cy="0"/>
          <a:chOff x="0" y="0"/>
          <a:chExt cx="0" cy="0"/>
        </a:xfrm>
      </p:grpSpPr>
      <p:sp>
        <p:nvSpPr>
          <p:cNvPr id="2143" name="Google Shape;2143;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4" name="Google Shape;2144;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sb/59-appI-latency-sb.png" id="2145" name="Google Shape;2145;p196"/>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46" name="Google Shape;2146;p19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47" name="Google Shape;2147;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8" name="Google Shape;2148;p19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3" name="Shape 2153"/>
        <p:cNvGrpSpPr/>
        <p:nvPr/>
      </p:nvGrpSpPr>
      <p:grpSpPr>
        <a:xfrm>
          <a:off x="0" y="0"/>
          <a:ext cx="0" cy="0"/>
          <a:chOff x="0" y="0"/>
          <a:chExt cx="0" cy="0"/>
        </a:xfrm>
      </p:grpSpPr>
      <p:sp>
        <p:nvSpPr>
          <p:cNvPr id="2154" name="Google Shape;2154;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57" name="Google Shape;2157;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8" name="Google Shape;2158;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3" name="Shape 2163"/>
        <p:cNvGrpSpPr/>
        <p:nvPr/>
      </p:nvGrpSpPr>
      <p:grpSpPr>
        <a:xfrm>
          <a:off x="0" y="0"/>
          <a:ext cx="0" cy="0"/>
          <a:chOff x="0" y="0"/>
          <a:chExt cx="0" cy="0"/>
        </a:xfrm>
      </p:grpSpPr>
      <p:sp>
        <p:nvSpPr>
          <p:cNvPr id="2164" name="Google Shape;2164;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sb/60-appI-east-west.png" id="2166" name="Google Shape;2166;p198"/>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67" name="Google Shape;2167;p19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68" name="Google Shape;2168;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9" name="Google Shape;2169;p19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4" name="Shape 2174"/>
        <p:cNvGrpSpPr/>
        <p:nvPr/>
      </p:nvGrpSpPr>
      <p:grpSpPr>
        <a:xfrm>
          <a:off x="0" y="0"/>
          <a:ext cx="0" cy="0"/>
          <a:chOff x="0" y="0"/>
          <a:chExt cx="0" cy="0"/>
        </a:xfrm>
      </p:grpSpPr>
      <p:sp>
        <p:nvSpPr>
          <p:cNvPr id="2175" name="Google Shape;2175;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87" name="Google Shape;2187;p20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20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89" name="Google Shape;2189;p20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90" name="Google Shape;2190;p20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91" name="Google Shape;2191;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2" name="Google Shape;2192;p2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7" name="Shape 2197"/>
        <p:cNvGrpSpPr/>
        <p:nvPr/>
      </p:nvGrpSpPr>
      <p:grpSpPr>
        <a:xfrm>
          <a:off x="0" y="0"/>
          <a:ext cx="0" cy="0"/>
          <a:chOff x="0" y="0"/>
          <a:chExt cx="0" cy="0"/>
        </a:xfrm>
      </p:grpSpPr>
      <p:sp>
        <p:nvSpPr>
          <p:cNvPr id="2198" name="Google Shape;2198;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00" name="Google Shape;2200;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01" name="Google Shape;2201;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2" name="Google Shape;2202;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7" name="Shape 2207"/>
        <p:cNvGrpSpPr/>
        <p:nvPr/>
      </p:nvGrpSpPr>
      <p:grpSpPr>
        <a:xfrm>
          <a:off x="0" y="0"/>
          <a:ext cx="0" cy="0"/>
          <a:chOff x="0" y="0"/>
          <a:chExt cx="0" cy="0"/>
        </a:xfrm>
      </p:grpSpPr>
      <p:sp>
        <p:nvSpPr>
          <p:cNvPr id="2208" name="Google Shape;2208;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9" name="Google Shape;2209;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11" name="Google Shape;2211;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2" name="Google Shape;2212;p20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7" name="Shape 2217"/>
        <p:cNvGrpSpPr/>
        <p:nvPr/>
      </p:nvGrpSpPr>
      <p:grpSpPr>
        <a:xfrm>
          <a:off x="0" y="0"/>
          <a:ext cx="0" cy="0"/>
          <a:chOff x="0" y="0"/>
          <a:chExt cx="0" cy="0"/>
        </a:xfrm>
      </p:grpSpPr>
      <p:sp>
        <p:nvSpPr>
          <p:cNvPr id="2218" name="Google Shape;2218;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Spring Boot starter guide; Drools / Kogito DMN docs; the Camel Content-Based Router EIP (choice/when/otherwise) in the official apache/camel-spring-boot-examples repo.</a:t>
            </a:r>
            <a:endParaRPr b="0" i="0" sz="1700" u="none" cap="none" strike="noStrike">
              <a:solidFill>
                <a:schemeClr val="dk1"/>
              </a:solidFill>
              <a:latin typeface="Calibri"/>
              <a:ea typeface="Calibri"/>
              <a:cs typeface="Calibri"/>
              <a:sym typeface="Calibri"/>
            </a:endParaRPr>
          </a:p>
        </p:txBody>
      </p:sp>
      <p:sp>
        <p:nvSpPr>
          <p:cNvPr id="2221" name="Google Shape;2221;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2" name="Google Shape;2222;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27" name="Shape 2227"/>
        <p:cNvGrpSpPr/>
        <p:nvPr/>
      </p:nvGrpSpPr>
      <p:grpSpPr>
        <a:xfrm>
          <a:off x="0" y="0"/>
          <a:ext cx="0" cy="0"/>
          <a:chOff x="0" y="0"/>
          <a:chExt cx="0" cy="0"/>
        </a:xfrm>
      </p:grpSpPr>
      <p:pic>
        <p:nvPicPr>
          <p:cNvPr descr="/home/claude/work/assets/rh-divider-bg.png" id="2228" name="Google Shape;2228;p20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29" name="Google Shape;2229;p20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230" name="Google Shape;2230;p20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231" name="Google Shape;2231;p20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232" name="Google Shape;2232;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239" name="Google Shape;2239;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sb/80-appK-monolith-deployment.png" id="2240" name="Google Shape;2240;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1" name="Google Shape;2241;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3" name="Google Shape;2243;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8" name="Shape 2248"/>
        <p:cNvGrpSpPr/>
        <p:nvPr/>
      </p:nvGrpSpPr>
      <p:grpSpPr>
        <a:xfrm>
          <a:off x="0" y="0"/>
          <a:ext cx="0" cy="0"/>
          <a:chOff x="0" y="0"/>
          <a:chExt cx="0" cy="0"/>
        </a:xfrm>
      </p:grpSpPr>
      <p:sp>
        <p:nvSpPr>
          <p:cNvPr id="2249" name="Google Shape;2249;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50" name="Google Shape;2250;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sb/81-appK-modular-monolith.png" id="2251" name="Google Shape;2251;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2" name="Google Shape;2252;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sb/82-appK-modular-monolith-decomposed-db.png" id="2262" name="Google Shape;2262;p20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63" name="Google Shape;2263;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64" name="Google Shape;2264;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5" name="Google Shape;2265;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0" name="Shape 2270"/>
        <p:cNvGrpSpPr/>
        <p:nvPr/>
      </p:nvGrpSpPr>
      <p:grpSpPr>
        <a:xfrm>
          <a:off x="0" y="0"/>
          <a:ext cx="0" cy="0"/>
          <a:chOff x="0" y="0"/>
          <a:chExt cx="0" cy="0"/>
        </a:xfrm>
      </p:grpSpPr>
      <p:sp>
        <p:nvSpPr>
          <p:cNvPr id="2271" name="Google Shape;2271;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sb/83-appK-strangler-identify-move-redirect.png" id="2273" name="Google Shape;2273;p20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74" name="Google Shape;2274;p20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6" name="Google Shape;2276;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1" name="Shape 2281"/>
        <p:cNvGrpSpPr/>
        <p:nvPr/>
      </p:nvGrpSpPr>
      <p:grpSpPr>
        <a:xfrm>
          <a:off x="0" y="0"/>
          <a:ext cx="0" cy="0"/>
          <a:chOff x="0" y="0"/>
          <a:chExt cx="0" cy="0"/>
        </a:xfrm>
      </p:grpSpPr>
      <p:sp>
        <p:nvSpPr>
          <p:cNvPr id="2282" name="Google Shape;2282;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83" name="Google Shape;2283;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sb/84-appK-strangler-proxy.png" id="2284" name="Google Shape;2284;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5" name="Google Shape;2285;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86" name="Google Shape;2286;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7" name="Google Shape;2287;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2" name="Shape 2292"/>
        <p:cNvGrpSpPr/>
        <p:nvPr/>
      </p:nvGrpSpPr>
      <p:grpSpPr>
        <a:xfrm>
          <a:off x="0" y="0"/>
          <a:ext cx="0" cy="0"/>
          <a:chOff x="0" y="0"/>
          <a:chExt cx="0" cy="0"/>
        </a:xfrm>
      </p:grpSpPr>
      <p:sp>
        <p:nvSpPr>
          <p:cNvPr id="2293" name="Google Shape;2293;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94" name="Google Shape;2294;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sb/85-appK-strangler-proxy-redirection.png" id="2295" name="Google Shape;2295;p21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96" name="Google Shape;2296;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97" name="Google Shape;2297;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8" name="Google Shape;2298;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3" name="Shape 2303"/>
        <p:cNvGrpSpPr/>
        <p:nvPr/>
      </p:nvGrpSpPr>
      <p:grpSpPr>
        <a:xfrm>
          <a:off x="0" y="0"/>
          <a:ext cx="0" cy="0"/>
          <a:chOff x="0" y="0"/>
          <a:chExt cx="0" cy="0"/>
        </a:xfrm>
      </p:grpSpPr>
      <p:sp>
        <p:nvSpPr>
          <p:cNvPr id="2304" name="Google Shape;2304;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05" name="Google Shape;2305;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sb/86-appK-strangler-shared-database.png" id="2306" name="Google Shape;2306;p21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307" name="Google Shape;2307;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9" name="Google Shape;2309;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4" name="Shape 2314"/>
        <p:cNvGrpSpPr/>
        <p:nvPr/>
      </p:nvGrpSpPr>
      <p:grpSpPr>
        <a:xfrm>
          <a:off x="0" y="0"/>
          <a:ext cx="0" cy="0"/>
          <a:chOff x="0" y="0"/>
          <a:chExt cx="0" cy="0"/>
        </a:xfrm>
      </p:grpSpPr>
      <p:sp>
        <p:nvSpPr>
          <p:cNvPr id="2315" name="Google Shape;2315;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317" name="Google Shape;2317;p2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212"/>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 + RestClient</a:t>
            </a:r>
            <a:endParaRPr b="0" i="0" sz="1000" u="none" cap="none" strike="noStrike">
              <a:solidFill>
                <a:schemeClr val="dk1"/>
              </a:solidFill>
              <a:latin typeface="Calibri"/>
              <a:ea typeface="Calibri"/>
              <a:cs typeface="Calibri"/>
              <a:sym typeface="Calibri"/>
            </a:endParaRPr>
          </a:p>
        </p:txBody>
      </p:sp>
      <p:sp>
        <p:nvSpPr>
          <p:cNvPr id="2319" name="Google Shape;2319;p2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RestClient — a content-aware proxy that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newSvc;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euSvc;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 constructor builds the monolith, orders and orders-eu RestClients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ResponseEntity&lt;Order&gt; route(@RequestBody Map&lt;String,Object&gt;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@RequestHeader Map&lt;String,String&gt;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body.getOrDefault("tenant",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region = (String) body.getOrDefault("region",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upstream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"acme".equals(tenant) ? newSvc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"EU".equals(region)   ? euSvc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upstream.post()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.headers(h -&gt; h.setAll(headers))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.toEntity(Order.class);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20" name="Google Shape;2320;p2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body, decide by content (tenant / region / feature flag), forward via RestClient.</a:t>
            </a:r>
            <a:endParaRPr b="0" i="0" sz="1300" u="none" cap="none" strike="noStrike">
              <a:solidFill>
                <a:schemeClr val="dk1"/>
              </a:solidFill>
              <a:latin typeface="Calibri"/>
              <a:ea typeface="Calibri"/>
              <a:cs typeface="Calibri"/>
              <a:sym typeface="Calibri"/>
            </a:endParaRPr>
          </a:p>
        </p:txBody>
      </p:sp>
      <p:sp>
        <p:nvSpPr>
          <p:cNvPr id="2321" name="Google Shape;2321;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22" name="Google Shape;2322;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7" name="Shape 2327"/>
        <p:cNvGrpSpPr/>
        <p:nvPr/>
      </p:nvGrpSpPr>
      <p:grpSpPr>
        <a:xfrm>
          <a:off x="0" y="0"/>
          <a:ext cx="0" cy="0"/>
          <a:chOff x="0" y="0"/>
          <a:chExt cx="0" cy="0"/>
        </a:xfrm>
      </p:grpSpPr>
      <p:sp>
        <p:nvSpPr>
          <p:cNvPr id="2328" name="Google Shape;2328;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sb/88-appK-decorating-collaborator.png" id="2330" name="Google Shape;2330;p2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31" name="Google Shape;2331;p2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332" name="Google Shape;2332;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33" name="Google Shape;2333;p2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8" name="Shape 2338"/>
        <p:cNvGrpSpPr/>
        <p:nvPr/>
      </p:nvGrpSpPr>
      <p:grpSpPr>
        <a:xfrm>
          <a:off x="0" y="0"/>
          <a:ext cx="0" cy="0"/>
          <a:chOff x="0" y="0"/>
          <a:chExt cx="0" cy="0"/>
        </a:xfrm>
      </p:grpSpPr>
      <p:sp>
        <p:nvSpPr>
          <p:cNvPr id="2339" name="Google Shape;2339;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40" name="Google Shape;2340;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Spring Boot</a:t>
            </a:r>
            <a:endParaRPr b="0" i="0" sz="30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214"/>
          <p:cNvSpPr/>
          <p:nvPr/>
        </p:nvSpPr>
        <p:spPr>
          <a:xfrm>
            <a:off x="6118017" y="1700784"/>
            <a:ext cx="5415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 + Spring Data Redis + Spring Kafka</a:t>
            </a:r>
            <a:endParaRPr b="0" i="0" sz="1000" u="none" cap="none" strike="noStrike">
              <a:solidFill>
                <a:schemeClr val="dk1"/>
              </a:solidFill>
              <a:latin typeface="Calibri"/>
              <a:ea typeface="Calibri"/>
              <a:cs typeface="Calibri"/>
              <a:sym typeface="Calibri"/>
            </a:endParaRPr>
          </a:p>
        </p:txBody>
      </p:sp>
      <p:sp>
        <p:nvSpPr>
          <p:cNvPr id="2343" name="Google Shape;2343;p2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OrdersDecorator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and constructor: RestClient legacy, RedisTemplate cache, KafkaTemplate kafka, TTL 60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"order:"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cached = cache.opsForValue().get(key);          // 1. cache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legacy.get().uri("/orders/{id}", 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order,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place(@RequestBody Order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legacy.post().uri("/orders")            // 1. legacy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 order);        // 2. emit 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cache.delete("order:" + order.id());                  // 3.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44" name="Google Shape;2344;p2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45" name="Google Shape;2345;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6" name="Google Shape;2346;p2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1" name="Shape 2351"/>
        <p:cNvGrpSpPr/>
        <p:nvPr/>
      </p:nvGrpSpPr>
      <p:grpSpPr>
        <a:xfrm>
          <a:off x="0" y="0"/>
          <a:ext cx="0" cy="0"/>
          <a:chOff x="0" y="0"/>
          <a:chExt cx="0" cy="0"/>
        </a:xfrm>
      </p:grpSpPr>
      <p:sp>
        <p:nvSpPr>
          <p:cNvPr id="2352" name="Google Shape;2352;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Spring Modulith giving first-class module boundaries, the cheapest decomposition is often inside one Spring Boot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Spring DataSource beans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Best suited to vendor / 3rd-party / legacy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55" name="Google Shape;2355;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6" name="Google Shape;2356;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61" name="Shape 2361"/>
        <p:cNvGrpSpPr/>
        <p:nvPr/>
      </p:nvGrpSpPr>
      <p:grpSpPr>
        <a:xfrm>
          <a:off x="0" y="0"/>
          <a:ext cx="0" cy="0"/>
          <a:chOff x="0" y="0"/>
          <a:chExt cx="0" cy="0"/>
        </a:xfrm>
      </p:grpSpPr>
      <p:pic>
        <p:nvPicPr>
          <p:cNvPr descr="/home/claude/work/assets/rh-divider-bg.png" id="2362" name="Google Shape;2362;p2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63" name="Google Shape;2363;p2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64" name="Google Shape;2364;p2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65" name="Google Shape;2365;p2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375" name="Google Shape;2375;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6" name="Google Shape;2376;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1" name="Shape 2381"/>
        <p:cNvGrpSpPr/>
        <p:nvPr/>
      </p:nvGrpSpPr>
      <p:grpSpPr>
        <a:xfrm>
          <a:off x="0" y="0"/>
          <a:ext cx="0" cy="0"/>
          <a:chOff x="0" y="0"/>
          <a:chExt cx="0" cy="0"/>
        </a:xfrm>
      </p:grpSpPr>
      <p:sp>
        <p:nvSpPr>
          <p:cNvPr id="2382" name="Google Shape;2382;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83" name="Google Shape;2383;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sb/90-appL-cache-aside.png" id="2384" name="Google Shape;2384;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5" name="Google Shape;2385;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7" name="Google Shape;2387;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2" name="Shape 2392"/>
        <p:cNvGrpSpPr/>
        <p:nvPr/>
      </p:nvGrpSpPr>
      <p:grpSpPr>
        <a:xfrm>
          <a:off x="0" y="0"/>
          <a:ext cx="0" cy="0"/>
          <a:chOff x="0" y="0"/>
          <a:chExt cx="0" cy="0"/>
        </a:xfrm>
      </p:grpSpPr>
      <p:sp>
        <p:nvSpPr>
          <p:cNvPr id="2393" name="Google Shape;2393;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94" name="Google Shape;2394;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Spring Boot with Redis</a:t>
            </a:r>
            <a:endParaRPr b="0" i="0" sz="3000" u="none" cap="none" strike="noStrike">
              <a:solidFill>
                <a:schemeClr val="dk1"/>
              </a:solidFill>
              <a:latin typeface="Calibri"/>
              <a:ea typeface="Calibri"/>
              <a:cs typeface="Calibri"/>
              <a:sym typeface="Calibri"/>
            </a:endParaRPr>
          </a:p>
        </p:txBody>
      </p:sp>
      <p:sp>
        <p:nvSpPr>
          <p:cNvPr id="2395" name="Google Shape;2395;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219"/>
          <p:cNvSpPr/>
          <p:nvPr/>
        </p:nvSpPr>
        <p:spPr>
          <a:xfrm>
            <a:off x="6880017" y="1700784"/>
            <a:ext cx="4653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Data Redis</a:t>
            </a:r>
            <a:endParaRPr b="0" i="0" sz="1000" u="none" cap="none" strike="noStrike">
              <a:solidFill>
                <a:schemeClr val="dk1"/>
              </a:solidFill>
              <a:latin typeface="Calibri"/>
              <a:ea typeface="Calibri"/>
              <a:cs typeface="Calibri"/>
              <a:sym typeface="Calibri"/>
            </a:endParaRPr>
          </a:p>
        </p:txBody>
      </p:sp>
      <p:sp>
        <p:nvSpPr>
          <p:cNvPr id="2397" name="Google Shape;2397;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Spring Data JPA + Spring Data Redis — explicit cache-aside.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ProductRepository repo and RedisTemplate cache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cached = cache.opsForValue().get(key);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update(@PathVariable String id, @RequestBody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cache.delete("product:" + 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JPA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399" name="Google Shape;2399;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0" name="Google Shape;2400;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5" name="Shape 2405"/>
        <p:cNvGrpSpPr/>
        <p:nvPr/>
      </p:nvGrpSpPr>
      <p:grpSpPr>
        <a:xfrm>
          <a:off x="0" y="0"/>
          <a:ext cx="0" cy="0"/>
          <a:chOff x="0" y="0"/>
          <a:chExt cx="0" cy="0"/>
        </a:xfrm>
      </p:grpSpPr>
      <p:sp>
        <p:nvSpPr>
          <p:cNvPr id="2406" name="Google Shape;2406;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07" name="Google Shape;2407;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sb/91-appL-read-through.png" id="2408" name="Google Shape;2408;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09" name="Google Shape;2409;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1" name="Google Shape;2411;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6" name="Shape 2416"/>
        <p:cNvGrpSpPr/>
        <p:nvPr/>
      </p:nvGrpSpPr>
      <p:grpSpPr>
        <a:xfrm>
          <a:off x="0" y="0"/>
          <a:ext cx="0" cy="0"/>
          <a:chOff x="0" y="0"/>
          <a:chExt cx="0" cy="0"/>
        </a:xfrm>
      </p:grpSpPr>
      <p:sp>
        <p:nvSpPr>
          <p:cNvPr id="2417" name="Google Shape;2417;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18" name="Google Shape;2418;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Spring Boot with Cache.get</a:t>
            </a:r>
            <a:endParaRPr b="0" i="0" sz="3000" u="none" cap="none" strike="noStrike">
              <a:solidFill>
                <a:schemeClr val="dk1"/>
              </a:solidFill>
              <a:latin typeface="Calibri"/>
              <a:ea typeface="Calibri"/>
              <a:cs typeface="Calibri"/>
              <a:sym typeface="Calibri"/>
            </a:endParaRPr>
          </a:p>
        </p:txBody>
      </p:sp>
      <p:sp>
        <p:nvSpPr>
          <p:cNvPr id="2419" name="Google Shape;2419;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221"/>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21" name="Google Shape;2421;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with Redis backing (Spring Boot 4, Jackson 3), examples/25-caching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ReadThroughCacheConfig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RedisCacheManager cacheManager(RedisConnectionFactory cf, CacheServiceProperties props)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products = RedisCacheConfiguration.defaultCacheConfig()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.entryTtl(Duration.ofSeconds(props.ttlSeconds()))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.disableCachingNullValues()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.computePrefixWith(cacheName -&gt; "rt:product:")        // keys: rt:product:&lt;id&gt;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.serializeValuesWith(SerializationPair.fromSerializer(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JacksonJsonRedisSerializer&lt;&gt;(ProductView.class)));   // plain JSON 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RedisCacheManager.builder(cf)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.withInitialCacheConfigurations(Map.of("read-through-products", products))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@GetMapping("/read-through/products/{pid}")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ResponseEntity&lt;ProductResponse&gt; readThroughGet(@PathVariable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                   // set only when the loader ran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ProductView product = readThroughCache.get(pid, () -&gt; {   // hit: cached; miss: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products.find(pid).orElseThrow(() -&gt; new UnknownProduct(pid));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ResponseEntity.ok(product.from(loaded.get() ? "db" : "cache"));   // "source"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Cache.get(key, loader) runs the loader only on a miss. Callers see one interface; a hit never touches the database.</a:t>
            </a:r>
            <a:endParaRPr b="0" i="0" sz="1300" u="none" cap="none" strike="noStrike">
              <a:solidFill>
                <a:schemeClr val="dk1"/>
              </a:solidFill>
              <a:latin typeface="Calibri"/>
              <a:ea typeface="Calibri"/>
              <a:cs typeface="Calibri"/>
              <a:sym typeface="Calibri"/>
            </a:endParaRPr>
          </a:p>
        </p:txBody>
      </p:sp>
      <p:sp>
        <p:nvSpPr>
          <p:cNvPr id="2423" name="Google Shape;242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4" name="Google Shape;2424;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9" name="Shape 2429"/>
        <p:cNvGrpSpPr/>
        <p:nvPr/>
      </p:nvGrpSpPr>
      <p:grpSpPr>
        <a:xfrm>
          <a:off x="0" y="0"/>
          <a:ext cx="0" cy="0"/>
          <a:chOff x="0" y="0"/>
          <a:chExt cx="0" cy="0"/>
        </a:xfrm>
      </p:grpSpPr>
      <p:sp>
        <p:nvSpPr>
          <p:cNvPr id="2430" name="Google Shape;243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31" name="Google Shape;243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sb/92-appL-write-through.png" id="2432" name="Google Shape;2432;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3" name="Google Shape;2433;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5" name="Google Shape;2435;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0" name="Shape 2440"/>
        <p:cNvGrpSpPr/>
        <p:nvPr/>
      </p:nvGrpSpPr>
      <p:grpSpPr>
        <a:xfrm>
          <a:off x="0" y="0"/>
          <a:ext cx="0" cy="0"/>
          <a:chOff x="0" y="0"/>
          <a:chExt cx="0" cy="0"/>
        </a:xfrm>
      </p:grpSpPr>
      <p:sp>
        <p:nvSpPr>
          <p:cNvPr id="2441" name="Google Shape;2441;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42" name="Google Shape;2442;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Spring Boot</a:t>
            </a:r>
            <a:endParaRPr b="0" i="0" sz="3000" u="none" cap="none" strike="noStrike">
              <a:solidFill>
                <a:schemeClr val="dk1"/>
              </a:solidFill>
              <a:latin typeface="Calibri"/>
              <a:ea typeface="Calibri"/>
              <a:cs typeface="Calibri"/>
              <a:sym typeface="Calibri"/>
            </a:endParaRPr>
          </a:p>
        </p:txBody>
      </p:sp>
      <p:sp>
        <p:nvSpPr>
          <p:cNvPr id="2443" name="Google Shape;2443;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223"/>
          <p:cNvSpPr/>
          <p:nvPr/>
        </p:nvSpPr>
        <p:spPr>
          <a:xfrm>
            <a:off x="6041817" y="1700784"/>
            <a:ext cx="5491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Cache + Spring Data Redis + @TransactionalEventListener</a:t>
            </a:r>
            <a:endParaRPr b="0" i="0" sz="1000" u="none" cap="none" strike="noStrike">
              <a:solidFill>
                <a:schemeClr val="dk1"/>
              </a:solidFill>
              <a:latin typeface="Calibri"/>
              <a:ea typeface="Calibri"/>
              <a:cs typeface="Calibri"/>
              <a:sym typeface="Calibri"/>
            </a:endParaRPr>
          </a:p>
        </p:txBody>
      </p:sp>
      <p:sp>
        <p:nvSpPr>
          <p:cNvPr id="2445" name="Google Shape;2445;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@CachePut is the write-through annotation.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Always runs the method body and writes the return value to the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ProductRepository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ProductService(ProductRepository repo) { this.repo = repo;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@CachePut(value = "products", key = "#id")             //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update(String id,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                                // saved +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Explicit RedisTemplate alternative — useful when you need control: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ProductServiceExplicit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repo, cache, events; @Transactional update() saves, then publishes ProductUpdatedEvent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@TransactionalEventListener(phase = TransactionPhase.AFTER_COMMIT)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cacheAfterCommit(ProductUpdatedEvent ev)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cache.opsForValue().set("product:" + ev.product().id(),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ev.product(), Duration.ofSeconds(60));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@CachePut is the one-line write-through. The explicit version with @TransactionalEventListener ties cache writes to DB commit.</a:t>
            </a:r>
            <a:endParaRPr b="0" i="0" sz="1300" u="none" cap="none" strike="noStrike">
              <a:solidFill>
                <a:schemeClr val="dk1"/>
              </a:solidFill>
              <a:latin typeface="Calibri"/>
              <a:ea typeface="Calibri"/>
              <a:cs typeface="Calibri"/>
              <a:sym typeface="Calibri"/>
            </a:endParaRPr>
          </a:p>
        </p:txBody>
      </p:sp>
      <p:sp>
        <p:nvSpPr>
          <p:cNvPr id="2447" name="Google Shape;244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48" name="Google Shape;2448;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3" name="Shape 2453"/>
        <p:cNvGrpSpPr/>
        <p:nvPr/>
      </p:nvGrpSpPr>
      <p:grpSpPr>
        <a:xfrm>
          <a:off x="0" y="0"/>
          <a:ext cx="0" cy="0"/>
          <a:chOff x="0" y="0"/>
          <a:chExt cx="0" cy="0"/>
        </a:xfrm>
      </p:grpSpPr>
      <p:sp>
        <p:nvSpPr>
          <p:cNvPr id="2454" name="Google Shape;245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55" name="Google Shape;245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sb/93-appL-write-around.png" id="2456" name="Google Shape;2456;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57" name="Google Shape;2457;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9" name="Google Shape;2459;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4" name="Shape 2464"/>
        <p:cNvGrpSpPr/>
        <p:nvPr/>
      </p:nvGrpSpPr>
      <p:grpSpPr>
        <a:xfrm>
          <a:off x="0" y="0"/>
          <a:ext cx="0" cy="0"/>
          <a:chOff x="0" y="0"/>
          <a:chExt cx="0" cy="0"/>
        </a:xfrm>
      </p:grpSpPr>
      <p:sp>
        <p:nvSpPr>
          <p:cNvPr id="2465" name="Google Shape;2465;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66" name="Google Shape;2466;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Spring Boot</a:t>
            </a:r>
            <a:endParaRPr b="0" i="0" sz="3000" u="none" cap="none" strike="noStrike">
              <a:solidFill>
                <a:schemeClr val="dk1"/>
              </a:solidFill>
              <a:latin typeface="Calibri"/>
              <a:ea typeface="Calibri"/>
              <a:cs typeface="Calibri"/>
              <a:sym typeface="Calibri"/>
            </a:endParaRPr>
          </a:p>
        </p:txBody>
      </p:sp>
      <p:sp>
        <p:nvSpPr>
          <p:cNvPr id="2467" name="Google Shape;2467;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225"/>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69" name="Google Shape;2469;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Append-heavy data: events, audit logs, telemetry. Writes hit the DB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@RestController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@RequestMapping("/events")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EventController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EventRepository repo;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EventController(EventRepository repo) { this.repo = repo;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@PostMapping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record(@RequestBody Event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repo.save(body);                              // DB only, cache untouched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@GetMapping("/{id}")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@Cacheable(value = "events", key = "#id")               // read side populates lazily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get(@PathVariable 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repo.findById(id)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.orElseThrow(() -&gt; new ResponseStatusException(NOT_FOUND));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via @Cacheable. Avoids cache thrash from one-time writes.</a:t>
            </a:r>
            <a:endParaRPr b="0" i="0" sz="1300" u="none" cap="none" strike="noStrike">
              <a:solidFill>
                <a:schemeClr val="dk1"/>
              </a:solidFill>
              <a:latin typeface="Calibri"/>
              <a:ea typeface="Calibri"/>
              <a:cs typeface="Calibri"/>
              <a:sym typeface="Calibri"/>
            </a:endParaRPr>
          </a:p>
        </p:txBody>
      </p:sp>
      <p:sp>
        <p:nvSpPr>
          <p:cNvPr id="2471" name="Google Shape;2471;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2" name="Google Shape;2472;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7" name="Shape 2477"/>
        <p:cNvGrpSpPr/>
        <p:nvPr/>
      </p:nvGrpSpPr>
      <p:grpSpPr>
        <a:xfrm>
          <a:off x="0" y="0"/>
          <a:ext cx="0" cy="0"/>
          <a:chOff x="0" y="0"/>
          <a:chExt cx="0" cy="0"/>
        </a:xfrm>
      </p:grpSpPr>
      <p:sp>
        <p:nvSpPr>
          <p:cNvPr id="2478" name="Google Shape;2478;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79" name="Google Shape;2479;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sb/94-appL-write-back.png" id="2480" name="Google Shape;2480;p22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81" name="Google Shape;2481;p2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3" name="Google Shape;2483;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8" name="Shape 2488"/>
        <p:cNvGrpSpPr/>
        <p:nvPr/>
      </p:nvGrpSpPr>
      <p:grpSpPr>
        <a:xfrm>
          <a:off x="0" y="0"/>
          <a:ext cx="0" cy="0"/>
          <a:chOff x="0" y="0"/>
          <a:chExt cx="0" cy="0"/>
        </a:xfrm>
      </p:grpSpPr>
      <p:sp>
        <p:nvSpPr>
          <p:cNvPr id="2489" name="Google Shape;2489;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90" name="Google Shape;2490;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Spring Boot</a:t>
            </a:r>
            <a:endParaRPr b="0" i="0" sz="3000" u="none" cap="none" strike="noStrike">
              <a:solidFill>
                <a:schemeClr val="dk1"/>
              </a:solidFill>
              <a:latin typeface="Calibri"/>
              <a:ea typeface="Calibri"/>
              <a:cs typeface="Calibri"/>
              <a:sym typeface="Calibri"/>
            </a:endParaRPr>
          </a:p>
        </p:txBody>
      </p:sp>
      <p:sp>
        <p:nvSpPr>
          <p:cNvPr id="2491" name="Google Shape;2491;p2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227"/>
          <p:cNvSpPr/>
          <p:nvPr/>
        </p:nvSpPr>
        <p:spPr>
          <a:xfrm>
            <a:off x="5965617" y="1700784"/>
            <a:ext cx="5567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Spring Data Redis + JPA</a:t>
            </a:r>
            <a:endParaRPr b="0" i="0" sz="1000" u="none" cap="none" strike="noStrike">
              <a:solidFill>
                <a:schemeClr val="dk1"/>
              </a:solidFill>
              <a:latin typeface="Calibri"/>
              <a:ea typeface="Calibri"/>
              <a:cs typeface="Calibri"/>
              <a:sym typeface="Calibri"/>
            </a:endParaRPr>
          </a:p>
        </p:txBody>
      </p:sp>
      <p:sp>
        <p:nvSpPr>
          <p:cNvPr id="2493" name="Google Shape;2493;p2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@PutMapping("/write-back/metrics/{mid}")   // CacheController (excerpt)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ResponseEntity&lt;Map&lt;String, Object&gt;&gt; writeBackWrite(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@PathVariable String mid, @RequestBody 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ResponseEntity.accepted().body(Map.of("ok", true, "pattern", "write-back",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"action", "cached-for-flush"));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examples/25-caching/spring-boot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@Scheduled(fixedDelayString = "${cache-service.flush-period-ms:1000}")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metrics.upsert(mid, json);             // MetricRepository: @Modifying native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    // INSERT ... ON CONFLICT (id) DO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logged: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Math.min(flushPeriodMs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95" name="Google Shape;2495;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6" name="Google Shape;2496;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1" name="Shape 2501"/>
        <p:cNvGrpSpPr/>
        <p:nvPr/>
      </p:nvGrpSpPr>
      <p:grpSpPr>
        <a:xfrm>
          <a:off x="0" y="0"/>
          <a:ext cx="0" cy="0"/>
          <a:chOff x="0" y="0"/>
          <a:chExt cx="0" cy="0"/>
        </a:xfrm>
      </p:grpSpPr>
      <p:sp>
        <p:nvSpPr>
          <p:cNvPr id="2502" name="Google Shape;2502;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03" name="Google Shape;2503;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sb/95-appL-refresh-ahead.png" id="2504" name="Google Shape;2504;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05" name="Google Shape;2505;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506" name="Google Shape;2506;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7" name="Google Shape;2507;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2" name="Shape 2512"/>
        <p:cNvGrpSpPr/>
        <p:nvPr/>
      </p:nvGrpSpPr>
      <p:grpSpPr>
        <a:xfrm>
          <a:off x="0" y="0"/>
          <a:ext cx="0" cy="0"/>
          <a:chOff x="0" y="0"/>
          <a:chExt cx="0" cy="0"/>
        </a:xfrm>
      </p:grpSpPr>
      <p:sp>
        <p:nvSpPr>
          <p:cNvPr id="2513" name="Google Shape;2513;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Spring Boot</a:t>
            </a:r>
            <a:endParaRPr b="0" i="0" sz="3000" u="none" cap="none" strike="noStrike">
              <a:solidFill>
                <a:schemeClr val="dk1"/>
              </a:solidFill>
              <a:latin typeface="Calibri"/>
              <a:ea typeface="Calibri"/>
              <a:cs typeface="Calibri"/>
              <a:sym typeface="Calibri"/>
            </a:endParaRPr>
          </a:p>
        </p:txBody>
      </p:sp>
      <p:sp>
        <p:nvSpPr>
          <p:cNvPr id="2515" name="Google Shape;2515;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229"/>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ShedLock + Spring Data Redis</a:t>
            </a:r>
            <a:endParaRPr b="0" i="0" sz="1000" u="none" cap="none" strike="noStrike">
              <a:solidFill>
                <a:schemeClr val="dk1"/>
              </a:solidFill>
              <a:latin typeface="Calibri"/>
              <a:ea typeface="Calibri"/>
              <a:cs typeface="Calibri"/>
              <a:sym typeface="Calibri"/>
            </a:endParaRPr>
          </a:p>
        </p:txBody>
      </p:sp>
      <p:sp>
        <p:nvSpPr>
          <p:cNvPr id="2517" name="Google Shape;2517;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REFRESH_BEFORE_S 10; repo, cache and hot (RedisTemplate)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findById(String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hot.opsForZSet().add("product:hot", id, System.currentTimeMillis());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then cache-aside on product:{id} with TTL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@Scheduled(fixedDelay = 5000)                      // every 5 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@SchedulerLock(name = "refresh-hot")              // ShedLock: only one node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refreshHot()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cutoff = System.currentTimeMillis() - 5 * 60_000L;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hot.opsForZSet().removeRangeByScore("product:hot",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hotIds = hot.opsForZSet().range("product:hot",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(hotIds == null)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id : hotIds)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ttl = cache.getExpire(key, TimeUnit.SECONDS);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(ttl != null &amp;&amp; ttl &gt; 0 &amp;&amp; ttl &lt; REFRESH_BEFORE_S)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repo.findById(id).ifPresent(p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refresh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18" name="Google Shape;2518;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519" name="Google Shape;2519;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0" name="Google Shape;2520;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5" name="Shape 2525"/>
        <p:cNvGrpSpPr/>
        <p:nvPr/>
      </p:nvGrpSpPr>
      <p:grpSpPr>
        <a:xfrm>
          <a:off x="0" y="0"/>
          <a:ext cx="0" cy="0"/>
          <a:chOff x="0" y="0"/>
          <a:chExt cx="0" cy="0"/>
        </a:xfrm>
      </p:grpSpPr>
      <p:sp>
        <p:nvSpPr>
          <p:cNvPr id="2526" name="Google Shape;2526;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527" name="Google Shape;2527;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528" name="Google Shape;2528;p23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 — Micrometer + Spring Actuator's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entryTtl on RedisCacheConfiguration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Spring Pods all miss at once, they all hit the DB. Mitigate with a Redisson distributed lock per key,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Use @CacheEvict on writes, or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JPA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529" name="Google Shape;2529;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0" name="Google Shape;2530;p2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5" name="Shape 2535"/>
        <p:cNvGrpSpPr/>
        <p:nvPr/>
      </p:nvGrpSpPr>
      <p:grpSpPr>
        <a:xfrm>
          <a:off x="0" y="0"/>
          <a:ext cx="0" cy="0"/>
          <a:chOff x="0" y="0"/>
          <a:chExt cx="0" cy="0"/>
        </a:xfrm>
      </p:grpSpPr>
      <p:sp>
        <p:nvSpPr>
          <p:cNvPr id="2536" name="Google Shape;2536;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537" name="Google Shape;2537;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538" name="Google Shape;2538;p23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(@Cacheable) — use when the read path is repetitive across the codebase and you want declarative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(@CachePut)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Spring Boot systems use @Cacheable for 95% of cases, with refresh-ahead on identified hot keys and @CachePut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539" name="Google Shape;2539;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45" name="Shape 2545"/>
        <p:cNvGrpSpPr/>
        <p:nvPr/>
      </p:nvGrpSpPr>
      <p:grpSpPr>
        <a:xfrm>
          <a:off x="0" y="0"/>
          <a:ext cx="0" cy="0"/>
          <a:chOff x="0" y="0"/>
          <a:chExt cx="0" cy="0"/>
        </a:xfrm>
      </p:grpSpPr>
      <p:pic>
        <p:nvPicPr>
          <p:cNvPr descr="/home/claude/work/assets/rh-divider-bg.png" id="2546" name="Google Shape;2546;p23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47" name="Google Shape;2547;p23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48" name="Google Shape;2548;p23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49" name="Google Shape;2549;p23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50" name="Google Shape;255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5" name="Shape 2555"/>
        <p:cNvGrpSpPr/>
        <p:nvPr/>
      </p:nvGrpSpPr>
      <p:grpSpPr>
        <a:xfrm>
          <a:off x="0" y="0"/>
          <a:ext cx="0" cy="0"/>
          <a:chOff x="0" y="0"/>
          <a:chExt cx="0" cy="0"/>
        </a:xfrm>
      </p:grpSpPr>
      <p:sp>
        <p:nvSpPr>
          <p:cNvPr id="2556" name="Google Shape;255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57" name="Google Shape;255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59" name="Google Shape;2559;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60" name="Google Shape;2560;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5" name="Shape 2565"/>
        <p:cNvGrpSpPr/>
        <p:nvPr/>
      </p:nvGrpSpPr>
      <p:grpSpPr>
        <a:xfrm>
          <a:off x="0" y="0"/>
          <a:ext cx="0" cy="0"/>
          <a:chOff x="0" y="0"/>
          <a:chExt cx="0" cy="0"/>
        </a:xfrm>
      </p:grpSpPr>
      <p:sp>
        <p:nvSpPr>
          <p:cNvPr id="2566" name="Google Shape;2566;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67" name="Google Shape;2567;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sb/110-failure-taxonomy.png" id="2568" name="Google Shape;2568;p23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69" name="Google Shape;2569;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70" name="Google Shape;2570;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1" name="Google Shape;2571;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6" name="Shape 2576"/>
        <p:cNvGrpSpPr/>
        <p:nvPr/>
      </p:nvGrpSpPr>
      <p:grpSpPr>
        <a:xfrm>
          <a:off x="0" y="0"/>
          <a:ext cx="0" cy="0"/>
          <a:chOff x="0" y="0"/>
          <a:chExt cx="0" cy="0"/>
        </a:xfrm>
      </p:grpSpPr>
      <p:sp>
        <p:nvSpPr>
          <p:cNvPr id="2577" name="Google Shape;2577;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78" name="Google Shape;2578;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sb/111-failure-network-partition.png" id="2579" name="Google Shape;2579;p2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0" name="Google Shape;2580;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81" name="Google Shape;2581;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2" name="Google Shape;2582;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7" name="Shape 2587"/>
        <p:cNvGrpSpPr/>
        <p:nvPr/>
      </p:nvGrpSpPr>
      <p:grpSpPr>
        <a:xfrm>
          <a:off x="0" y="0"/>
          <a:ext cx="0" cy="0"/>
          <a:chOff x="0" y="0"/>
          <a:chExt cx="0" cy="0"/>
        </a:xfrm>
      </p:grpSpPr>
      <p:sp>
        <p:nvSpPr>
          <p:cNvPr id="2588" name="Google Shape;2588;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89" name="Google Shape;2589;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sb/112-failure-split-brain.png" id="2590" name="Google Shape;2590;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1" name="Google Shape;2591;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92" name="Google Shape;2592;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3" name="Google Shape;2593;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8" name="Shape 2598"/>
        <p:cNvGrpSpPr/>
        <p:nvPr/>
      </p:nvGrpSpPr>
      <p:grpSpPr>
        <a:xfrm>
          <a:off x="0" y="0"/>
          <a:ext cx="0" cy="0"/>
          <a:chOff x="0" y="0"/>
          <a:chExt cx="0" cy="0"/>
        </a:xfrm>
      </p:grpSpPr>
      <p:sp>
        <p:nvSpPr>
          <p:cNvPr id="2599" name="Google Shape;2599;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sb/113-failure-partial.png" id="2601" name="Google Shape;2601;p2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02" name="Google Shape;2602;p2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603" name="Google Shape;2603;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4" name="Google Shape;2604;p2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9" name="Shape 2609"/>
        <p:cNvGrpSpPr/>
        <p:nvPr/>
      </p:nvGrpSpPr>
      <p:grpSpPr>
        <a:xfrm>
          <a:off x="0" y="0"/>
          <a:ext cx="0" cy="0"/>
          <a:chOff x="0" y="0"/>
          <a:chExt cx="0" cy="0"/>
        </a:xfrm>
      </p:grpSpPr>
      <p:sp>
        <p:nvSpPr>
          <p:cNvPr id="2610" name="Google Shape;2610;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sb/114-failure-gray.png" id="2612" name="Google Shape;2612;p23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613" name="Google Shape;2613;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614" name="Google Shape;2614;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5" name="Google Shape;2615;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0" name="Shape 2620"/>
        <p:cNvGrpSpPr/>
        <p:nvPr/>
      </p:nvGrpSpPr>
      <p:grpSpPr>
        <a:xfrm>
          <a:off x="0" y="0"/>
          <a:ext cx="0" cy="0"/>
          <a:chOff x="0" y="0"/>
          <a:chExt cx="0" cy="0"/>
        </a:xfrm>
      </p:grpSpPr>
      <p:sp>
        <p:nvSpPr>
          <p:cNvPr id="2621" name="Google Shape;2621;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22" name="Google Shape;2622;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sb/115-failure-amplification.png" id="2623" name="Google Shape;2623;p2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624" name="Google Shape;2624;p2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6" name="Google Shape;2626;p2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sb/116-failure-cascading.png" id="2634" name="Google Shape;2634;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5" name="Google Shape;2635;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7" name="Google Shape;2637;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is covered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646" name="Google Shape;2646;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7" name="Google Shape;2647;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2" name="Shape 2652"/>
        <p:cNvGrpSpPr/>
        <p:nvPr/>
      </p:nvGrpSpPr>
      <p:grpSpPr>
        <a:xfrm>
          <a:off x="0" y="0"/>
          <a:ext cx="0" cy="0"/>
          <a:chOff x="0" y="0"/>
          <a:chExt cx="0" cy="0"/>
        </a:xfrm>
      </p:grpSpPr>
      <p:sp>
        <p:nvSpPr>
          <p:cNvPr id="2653" name="Google Shape;2653;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54" name="Google Shape;2654;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sb/119-failure-timeout-deadline.png" id="2655" name="Google Shape;2655;p24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56" name="Google Shape;2656;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8" name="Google Shape;2658;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3" name="Shape 2663"/>
        <p:cNvGrpSpPr/>
        <p:nvPr/>
      </p:nvGrpSpPr>
      <p:grpSpPr>
        <a:xfrm>
          <a:off x="0" y="0"/>
          <a:ext cx="0" cy="0"/>
          <a:chOff x="0" y="0"/>
          <a:chExt cx="0" cy="0"/>
        </a:xfrm>
      </p:grpSpPr>
      <p:sp>
        <p:nvSpPr>
          <p:cNvPr id="2664" name="Google Shape;2664;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65" name="Google Shape;2665;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243"/>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a:t>
            </a:r>
            <a:endParaRPr b="0" i="0" sz="1000" u="none" cap="none" strike="noStrike">
              <a:solidFill>
                <a:schemeClr val="dk1"/>
              </a:solidFill>
              <a:latin typeface="Calibri"/>
              <a:ea typeface="Calibri"/>
              <a:cs typeface="Calibri"/>
              <a:sym typeface="Calibri"/>
            </a:endParaRPr>
          </a:p>
        </p:txBody>
      </p:sp>
      <p:sp>
        <p:nvSpPr>
          <p:cNvPr id="2668" name="Google Shape;2668;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examples/26-failure-modes/spring-boot/edge-service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BackendClient: every call through the shared RestClient gives up after 2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factory = new SimpleClientHttpRequestFactory();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factory.setConnectTimeout(Duration.ofSeconds(2));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factory.setReadTimeout(Duration.ofSeconds(2));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this.rest = builder.baseUrl(backendUrl).requestFactory(factory).build();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EdgeController /with-deadline: pass on what is left of the caller's budget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int remaining = budgetMs - 50;                   // edge overhead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(remaining &lt; 50) {                            // too little to finish: fail now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result.put("reason", "insufficient budget at edge");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budgeted = new SimpleClientHttpRequestFactory();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budgeted.setReadTimeout(Duration.ofMillis(remaining));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response = RestClient.builder().requestFactory(budgeted).build().get()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.uri(backendUrl + "/process")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.header("X-Deadline-Ms", String.valueOf(remaining))   // propagate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.retrieve()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.toEntity(Map.class);</a:t>
            </a:r>
            <a:endParaRPr b="0" i="0" sz="95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0" name="Google Shape;2670;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5" name="Shape 2675"/>
        <p:cNvGrpSpPr/>
        <p:nvPr/>
      </p:nvGrpSpPr>
      <p:grpSpPr>
        <a:xfrm>
          <a:off x="0" y="0"/>
          <a:ext cx="0" cy="0"/>
          <a:chOff x="0" y="0"/>
          <a:chExt cx="0" cy="0"/>
        </a:xfrm>
      </p:grpSpPr>
      <p:sp>
        <p:nvSpPr>
          <p:cNvPr id="2676" name="Google Shape;2676;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77" name="Google Shape;2677;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sb/118-failure-retry-backoff.png" id="2678" name="Google Shape;2678;p2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79" name="Google Shape;2679;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24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91" name="Google Shape;2691;p24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examples/26-failure-modes/spring-boot/edge-service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BackendClient: the annotation needs a Spring proxy, so it sits on this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@Retry(name = "backend")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ResponseEntity&lt;Map&gt; processWithRetry(AtomicInteger attempts)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attempts.incrementAndGet();                  // reported by /with-retry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process();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the policy lives in configuration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resilience4j.retry.instances.backend.max-attempts=3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resilience4j.retry.instances.backend.wait-duration=100ms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resilience4j.retry.instances.backend.enable-exponential-backoff=true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resilience4j.retry.instances.backend.exponential-backoff-multiplier=2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resilience4j.retry.instances.backend.exponential-max-wait-duration=2s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resilience4j.retry.instances.backend.enable-randomized-wait=true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resilience4j.retry.instances.backend.randomized-wait-factor=0.5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resilience4j.retry.instances.backend.retry-exceptions=\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org.springframework.web.client.HttpServerErrorException,\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org.springframework.web.client.ResourceAccessException</a:t>
            </a:r>
            <a:endParaRPr b="0" i="0" sz="1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3" name="Google Shape;2693;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8" name="Shape 2698"/>
        <p:cNvGrpSpPr/>
        <p:nvPr/>
      </p:nvGrpSpPr>
      <p:grpSpPr>
        <a:xfrm>
          <a:off x="0" y="0"/>
          <a:ext cx="0" cy="0"/>
          <a:chOff x="0" y="0"/>
          <a:chExt cx="0" cy="0"/>
        </a:xfrm>
      </p:grpSpPr>
      <p:sp>
        <p:nvSpPr>
          <p:cNvPr id="2699" name="Google Shape;2699;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00" name="Google Shape;2700;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sb/117-failure-circuit-breaker.png" id="2701" name="Google Shape;2701;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2" name="Google Shape;2702;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703" name="Google Shape;2703;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4" name="Google Shape;2704;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9" name="Shape 2709"/>
        <p:cNvGrpSpPr/>
        <p:nvPr/>
      </p:nvGrpSpPr>
      <p:grpSpPr>
        <a:xfrm>
          <a:off x="0" y="0"/>
          <a:ext cx="0" cy="0"/>
          <a:chOff x="0" y="0"/>
          <a:chExt cx="0" cy="0"/>
        </a:xfrm>
      </p:grpSpPr>
      <p:sp>
        <p:nvSpPr>
          <p:cNvPr id="2710" name="Google Shape;2710;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11" name="Google Shape;2711;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24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714" name="Google Shape;2714;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examples/26-failure-modes/spring-boot/edge-service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@CircuitBreaker(name = "backend", fallbackMethod = "fallback")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Map&lt;String, Object&gt; processWithBreaker()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Map.of("source", "live", "body", process().getBody(),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"breaker", breakerState());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Map&lt;String, Object&gt; fallback(Throwable cause) {   // open breaker or failed call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reason = switch (cause)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CallNotPermittedException ignored -&gt; "circuit_open";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HttpServerErrorException e -&gt; "upstream_" + e.getStatusCode().value();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default -&gt; "upstream_unreachable";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Map.of("source", "fallback", "reason", reason, "breaker", breakerState());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5 of 5 calls failed -&gt; open for 10 s, then 2 trial calls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resilience4j.circuitbreaker.instances.backend.sliding-window-type=COUNT_BASED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resilience4j.circuitbreaker.instances.backend.sliding-window-size=5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resilience4j.circuitbreaker.instances.backend.failure-rate-threshold=100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resilience4j.circuitbreaker.instances.backend.wait-duration-in-open-state=10s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...permitted-number-of-calls-in-half-open-state=2</a:t>
            </a:r>
            <a:endParaRPr b="0" i="0" sz="950" u="none" cap="none" strike="noStrike">
              <a:solidFill>
                <a:schemeClr val="dk1"/>
              </a:solidFill>
              <a:latin typeface="Calibri"/>
              <a:ea typeface="Calibri"/>
              <a:cs typeface="Calibri"/>
              <a:sym typeface="Calibri"/>
            </a:endParaRPr>
          </a:p>
        </p:txBody>
      </p:sp>
      <p:sp>
        <p:nvSpPr>
          <p:cNvPr id="2715" name="Google Shape;2715;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6" name="Google Shape;2716;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1" name="Shape 2721"/>
        <p:cNvGrpSpPr/>
        <p:nvPr/>
      </p:nvGrpSpPr>
      <p:grpSpPr>
        <a:xfrm>
          <a:off x="0" y="0"/>
          <a:ext cx="0" cy="0"/>
          <a:chOff x="0" y="0"/>
          <a:chExt cx="0" cy="0"/>
        </a:xfrm>
      </p:grpSpPr>
      <p:sp>
        <p:nvSpPr>
          <p:cNvPr id="2722" name="Google Shape;2722;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724" name="Google Shape;2724;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Resilience4j Bulkhead (semaphore or thread-pool flavour, via BulkheadRegistry), paired with @TimeLimiter.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6" name="Google Shape;2726;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1" name="Shape 2731"/>
        <p:cNvGrpSpPr/>
        <p:nvPr/>
      </p:nvGrpSpPr>
      <p:grpSpPr>
        <a:xfrm>
          <a:off x="0" y="0"/>
          <a:ext cx="0" cy="0"/>
          <a:chOff x="0" y="0"/>
          <a:chExt cx="0" cy="0"/>
        </a:xfrm>
      </p:grpSpPr>
      <p:sp>
        <p:nvSpPr>
          <p:cNvPr id="2732" name="Google Shape;2732;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733" name="Google Shape;2733;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6" name="Google Shape;2736;p2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1" name="Shape 2741"/>
        <p:cNvGrpSpPr/>
        <p:nvPr/>
      </p:nvGrpSpPr>
      <p:grpSpPr>
        <a:xfrm>
          <a:off x="0" y="0"/>
          <a:ext cx="0" cy="0"/>
          <a:chOff x="0" y="0"/>
          <a:chExt cx="0" cy="0"/>
        </a:xfrm>
      </p:grpSpPr>
      <p:sp>
        <p:nvSpPr>
          <p:cNvPr id="2742" name="Google Shape;2742;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sb/120-failure-istio-resilience.png" id="2744" name="Google Shape;2744;p25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45" name="Google Shape;2745;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7" name="Google Shape;2747;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2" name="Shape 2752"/>
        <p:cNvGrpSpPr/>
        <p:nvPr/>
      </p:nvGrpSpPr>
      <p:grpSpPr>
        <a:xfrm>
          <a:off x="0" y="0"/>
          <a:ext cx="0" cy="0"/>
          <a:chOff x="0" y="0"/>
          <a:chExt cx="0" cy="0"/>
        </a:xfrm>
      </p:grpSpPr>
      <p:sp>
        <p:nvSpPr>
          <p:cNvPr id="2753" name="Google Shape;2753;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54" name="Google Shape;2754;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55" name="Google Shape;2755;p25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251"/>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2757" name="Google Shape;2757;p25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DrainLifecycle.java (excerpt), examples/21-graceful-shutdown/spring-boot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server.shutdown=graceful, timeout-per-shutdown-phase=20s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DrainLifecycle implements SmartLifecycle {      // stops before the web 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void stop()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(!state.markShuttingDown()) return;        // 1. readiness flips: /readyz is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Thread.sleep(drainDelayMillis);               // 2. the LB stops routing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graceful shutdown drains in-flight HTTP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int getPhase() { return DEFAULT_PHASE - 512; }  // 4. the context closes the pool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@Component("drain")                                  // part of the readiness 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DrainHealthIndicator implements HealthIndicator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Health health()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state.isShuttingDown()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Health.down().withDetail("reason", "shutting down").build()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Health.up().build();                    // /healthz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58" name="Google Shape;2758;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59" name="Google Shape;2759;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4" name="Shape 2764"/>
        <p:cNvGrpSpPr/>
        <p:nvPr/>
      </p:nvGrpSpPr>
      <p:grpSpPr>
        <a:xfrm>
          <a:off x="0" y="0"/>
          <a:ext cx="0" cy="0"/>
          <a:chOff x="0" y="0"/>
          <a:chExt cx="0" cy="0"/>
        </a:xfrm>
      </p:grpSpPr>
      <p:sp>
        <p:nvSpPr>
          <p:cNvPr id="2765" name="Google Shape;2765;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66" name="Google Shape;2766;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67" name="Google Shape;2767;p2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68" name="Google Shape;2768;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69" name="Google Shape;2769;p2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4" name="Shape 2774"/>
        <p:cNvGrpSpPr/>
        <p:nvPr/>
      </p:nvGrpSpPr>
      <p:grpSpPr>
        <a:xfrm>
          <a:off x="0" y="0"/>
          <a:ext cx="0" cy="0"/>
          <a:chOff x="0" y="0"/>
          <a:chExt cx="0" cy="0"/>
        </a:xfrm>
      </p:grpSpPr>
      <p:sp>
        <p:nvSpPr>
          <p:cNvPr id="2775" name="Google Shape;2775;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76" name="Google Shape;2776;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sb/121-failure-matrix.png" id="2777" name="Google Shape;2777;p2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78" name="Google Shape;2778;p2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79" name="Google Shape;2779;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0" name="Google Shape;2780;p2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5" name="Shape 2785"/>
        <p:cNvGrpSpPr/>
        <p:nvPr/>
      </p:nvGrpSpPr>
      <p:grpSpPr>
        <a:xfrm>
          <a:off x="0" y="0"/>
          <a:ext cx="0" cy="0"/>
          <a:chOff x="0" y="0"/>
          <a:chExt cx="0" cy="0"/>
        </a:xfrm>
      </p:grpSpPr>
      <p:sp>
        <p:nvSpPr>
          <p:cNvPr id="2786" name="Google Shape;2786;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87" name="Google Shape;2787;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88" name="Google Shape;2788;p2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89" name="Google Shape;2789;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0" name="Google Shape;2790;p2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FeatureFlags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 Client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api = OpenFeatureAPI.getInstance();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api.setProviderAndWait(new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FlagdOptions.builder().host("flagd").port(8013).build()));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api.getClient();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@PostMapping("/checkout")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Receipt checkout(@RequestBody Cart cart, @RequestHeader("X-User") 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new MutableContext(user)            // targeting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.add("plan", cart.plan()).add("region", cart.region());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Spring Boot — start the service under test, then run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spring-boot:run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k8s/overlays/spring-boot/kustomization.yaml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localhost/cndp-05/spring-boot-order-service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spring-boot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spring-boot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77"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4"/>
            <a:ext cx="11055077" cy="1005838"/>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ndp-site.png"/>
          <p:cNvPicPr>
            <a:picLocks noChangeAspect="1"/>
          </p:cNvPicPr>
          <p:nvPr/>
        </p:nvPicPr>
        <p:blipFill>
          <a:blip r:embed="rId2"/>
          <a:stretch>
            <a:fillRect/>
          </a:stretch>
        </p:blipFill>
        <p:spPr>
          <a:xfrm>
            <a:off x="2103116" y="1627629"/>
            <a:ext cx="2834635" cy="2834635"/>
          </a:xfrm>
          <a:prstGeom prst="rect">
            <a:avLst/>
          </a:prstGeom>
        </p:spPr>
      </p:pic>
      <p:sp>
        <p:nvSpPr>
          <p:cNvPr id="5" name="TextBox 4"/>
          <p:cNvSpPr txBox="1"/>
          <p:nvPr/>
        </p:nvSpPr>
        <p:spPr>
          <a:xfrm>
            <a:off x="1417317"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7"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cloud-native design patterns, with runnable examples</a:t>
            </a:r>
          </a:p>
        </p:txBody>
      </p:sp>
      <p:sp>
        <p:nvSpPr>
          <p:cNvPr id="7" name="TextBox 6"/>
          <p:cNvSpPr txBox="1"/>
          <p:nvPr/>
        </p:nvSpPr>
        <p:spPr>
          <a:xfrm>
            <a:off x="1325877" y="5596118"/>
            <a:ext cx="4389112"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179" y="1627629"/>
            <a:ext cx="2834635" cy="2834635"/>
          </a:xfrm>
          <a:prstGeom prst="rect">
            <a:avLst/>
          </a:prstGeom>
        </p:spPr>
      </p:pic>
      <p:sp>
        <p:nvSpPr>
          <p:cNvPr id="9" name="TextBox 8"/>
          <p:cNvSpPr txBox="1"/>
          <p:nvPr/>
        </p:nvSpPr>
        <p:spPr>
          <a:xfrm>
            <a:off x="6565381"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41"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41" y="5596118"/>
            <a:ext cx="4389112"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13"/>
            <a:ext cx="914398"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286</a:t>
            </a:r>
          </a:p>
        </p:txBody>
      </p:sp>
      <p:pic>
        <p:nvPicPr>
          <p:cNvPr id="13" name="Picture 12" descr="image.png"/>
          <p:cNvPicPr>
            <a:picLocks noChangeAspect="1"/>
          </p:cNvPicPr>
          <p:nvPr/>
        </p:nvPicPr>
        <p:blipFill>
          <a:blip r:embed="rId4"/>
          <a:stretch>
            <a:fillRect/>
          </a:stretch>
        </p:blipFill>
        <p:spPr>
          <a:xfrm>
            <a:off x="10561302" y="6355069"/>
            <a:ext cx="1033270" cy="246887"/>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