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53"/>
    <p:sldId id="505" r:id="rId254"/>
    <p:sldId id="506" r:id="rId255"/>
    <p:sldId id="507" r:id="rId256"/>
    <p:sldId id="508" r:id="rId269"/>
    <p:sldId id="509" r:id="rId270"/>
    <p:sldId id="510" r:id="rId271"/>
    <p:sldId id="511" r:id="rId272"/>
    <p:sldId id="512" r:id="rId273"/>
    <p:sldId id="513" r:id="rId274"/>
    <p:sldId id="514" r:id="rId275"/>
    <p:sldId id="515" r:id="rId276"/>
    <p:sldId id="516" r:id="rId277"/>
    <p:sldId id="517" r:id="rId278"/>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 id="537" r:id="rId298"/>
    <p:sldId id="538" r:id="rId299"/>
    <p:sldId id="539" r:id="rId300"/>
    <p:sldId id="540" r:id="rId301"/>
  </p:sldIdLst>
  <p:sldSz cy="6858000" cx="12191675"/>
  <p:notesSz cx="6858000" cy="12191675"/>
  <p:embeddedFontLst>
    <p:embeddedFont>
      <p:font typeface="Overpass SemiBold"/>
      <p:regular r:id="rId257"/>
      <p:bold r:id="rId258"/>
      <p:italic r:id="rId259"/>
      <p:boldItalic r:id="rId260"/>
    </p:embeddedFont>
    <p:embeddedFont>
      <p:font typeface="Red Hat Text"/>
      <p:regular r:id="rId261"/>
      <p:bold r:id="rId262"/>
      <p:italic r:id="rId263"/>
      <p:boldItalic r:id="rId264"/>
    </p:embeddedFont>
    <p:embeddedFont>
      <p:font typeface="Red Hat Mono"/>
      <p:regular r:id="rId265"/>
      <p:bold r:id="rId266"/>
      <p:italic r:id="rId267"/>
      <p:boldItalic r:id="rId26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slide" Target="slides/slide249.xml"/><Relationship Id="rId254" Type="http://schemas.openxmlformats.org/officeDocument/2006/relationships/slide" Target="slides/slide250.xml"/><Relationship Id="rId255" Type="http://schemas.openxmlformats.org/officeDocument/2006/relationships/slide" Target="slides/slide251.xml"/><Relationship Id="rId256" Type="http://schemas.openxmlformats.org/officeDocument/2006/relationships/slide" Target="slides/slide252.xml"/><Relationship Id="rId257" Type="http://schemas.openxmlformats.org/officeDocument/2006/relationships/font" Target="fonts/OverpassSemiBold-regular.fntdata"/><Relationship Id="rId258" Type="http://schemas.openxmlformats.org/officeDocument/2006/relationships/font" Target="fonts/OverpassSemiBold-bold.fntdata"/><Relationship Id="rId259" Type="http://schemas.openxmlformats.org/officeDocument/2006/relationships/font" Target="fonts/OverpassSemiBold-italic.fntdata"/><Relationship Id="rId260" Type="http://schemas.openxmlformats.org/officeDocument/2006/relationships/font" Target="fonts/OverpassSemiBold-boldItalic.fntdata"/><Relationship Id="rId261" Type="http://schemas.openxmlformats.org/officeDocument/2006/relationships/font" Target="fonts/RedHatText-regular.fntdata"/><Relationship Id="rId262" Type="http://schemas.openxmlformats.org/officeDocument/2006/relationships/font" Target="fonts/RedHatText-bold.fntdata"/><Relationship Id="rId263" Type="http://schemas.openxmlformats.org/officeDocument/2006/relationships/font" Target="fonts/RedHatText-italic.fntdata"/><Relationship Id="rId264" Type="http://schemas.openxmlformats.org/officeDocument/2006/relationships/font" Target="fonts/RedHatText-boldItalic.fntdata"/><Relationship Id="rId265" Type="http://schemas.openxmlformats.org/officeDocument/2006/relationships/font" Target="fonts/RedHatMono-regular.fntdata"/><Relationship Id="rId266" Type="http://schemas.openxmlformats.org/officeDocument/2006/relationships/font" Target="fonts/RedHatMono-bold.fntdata"/><Relationship Id="rId267" Type="http://schemas.openxmlformats.org/officeDocument/2006/relationships/font" Target="fonts/RedHatMono-italic.fntdata"/><Relationship Id="rId268" Type="http://schemas.openxmlformats.org/officeDocument/2006/relationships/font" Target="fonts/RedHatMono-boldItalic.fntdata"/><Relationship Id="rId269" Type="http://schemas.openxmlformats.org/officeDocument/2006/relationships/slide" Target="slides/slide253.xml"/><Relationship Id="rId270" Type="http://schemas.openxmlformats.org/officeDocument/2006/relationships/slide" Target="slides/slide254.xml"/><Relationship Id="rId271" Type="http://schemas.openxmlformats.org/officeDocument/2006/relationships/slide" Target="slides/slide255.xml"/><Relationship Id="rId272" Type="http://schemas.openxmlformats.org/officeDocument/2006/relationships/slide" Target="slides/slide256.xml"/><Relationship Id="rId273" Type="http://schemas.openxmlformats.org/officeDocument/2006/relationships/slide" Target="slides/slide257.xml"/><Relationship Id="rId274" Type="http://schemas.openxmlformats.org/officeDocument/2006/relationships/slide" Target="slides/slide258.xml"/><Relationship Id="rId275" Type="http://schemas.openxmlformats.org/officeDocument/2006/relationships/slide" Target="slides/slide259.xml"/><Relationship Id="rId276" Type="http://schemas.openxmlformats.org/officeDocument/2006/relationships/slide" Target="slides/slide260.xml"/><Relationship Id="rId277" Type="http://schemas.openxmlformats.org/officeDocument/2006/relationships/slide" Target="slides/slide261.xml"/><Relationship Id="rId278" Type="http://schemas.openxmlformats.org/officeDocument/2006/relationships/slide" Target="slides/slide262.xml"/><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 Id="rId298" Type="http://schemas.openxmlformats.org/officeDocument/2006/relationships/slide" Target="slides/slide282.xml"/><Relationship Id="rId299" Type="http://schemas.openxmlformats.org/officeDocument/2006/relationships/slide" Target="slides/slide283.xml"/><Relationship Id="rId300" Type="http://schemas.openxmlformats.org/officeDocument/2006/relationships/slide" Target="slides/slide284.xml"/><Relationship Id="rId301" Type="http://schemas.openxmlformats.org/officeDocument/2006/relationships/slide" Target="slides/slide2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g3e50de7c6a4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g3e50de7c6a4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t>Welcome and framing. This is a working architect's tour of designing cloud-native APIs on Spring Boot 4.1.1. We build one realistic system (five services and a gateway) and re-examine it section by section; the appendices go deep on protocols, versioning, WebSockets, sagas, errors, DDD, coupling, shutdown, L7 routing, migration, caching, failure modes, feature flags and API testing, and run Example 05 on minikube. The whole deck is a reference the audience can keep.</a:t>
            </a:r>
            <a:endParaRPr/>
          </a:p>
          <a:p>
            <a:pPr indent="0" lvl="0" marL="0" rtl="0" algn="l">
              <a:spcBef>
                <a:spcPts val="0"/>
              </a:spcBef>
              <a:spcAft>
                <a:spcPts val="0"/>
              </a:spcAft>
              <a:buClr>
                <a:schemeClr val="dk1"/>
              </a:buClr>
              <a:buFont typeface="Arial"/>
              <a:buNone/>
            </a:pPr>
            <a:r>
              <a:rPr lang="en-US"/>
              <a:t>The running stack: Java 25 with Spring Boot 4.1.1 on Spring Framework 7.0.9 (Spring Web MVC, gRPC on grpc-java, Spring for GraphQL, Spring for Apache Kafka with Kafka Streams, Spring WebSocket, Jackson 3), on Kubernetes with Kafka, Istio and KEDA, traced by the OpenTelemetry Java agent. The platform around the code (Strimzi, Apicurio, OpenMetadata, the LGTM stack) is the same whatever the language; Spring Boot is how these services are written.</a:t>
            </a:r>
            <a:endParaRPr/>
          </a:p>
        </p:txBody>
      </p:sp>
      <p:sp>
        <p:nvSpPr>
          <p:cNvPr id="14" name="Google Shape;14;g3e50de7c6a4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g3e54846f4b4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g3e54846f4b4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spcBef>
                <a:spcPts val="0"/>
              </a:spcBef>
              <a:spcAft>
                <a:spcPts val="0"/>
              </a:spcAft>
              <a:buNone/>
            </a:pPr>
            <a:r>
              <a:rPr lang="en-US"/>
              <a:t>The appendices are reference material for the questions that come up: protocols, versioning, WebSockets, sagas, errors, DDD, coupling, shutdown, L7 routing, monolith-to-microservices decomposition, caching, failure modes, feature flags and API testing. Appendix R runs Example 05 on minikube with the same verify.sh as compose. A glossary of acronyms closes the deck.</a:t>
            </a:r>
            <a:endParaRPr/>
          </a:p>
          <a:p>
            <a:pPr indent="0" lvl="0" marL="0" rtl="0" algn="l">
              <a:spcBef>
                <a:spcPts val="0"/>
              </a:spcBef>
              <a:spcAft>
                <a:spcPts val="0"/>
              </a:spcAft>
              <a:buNone/>
            </a:pPr>
            <a:r>
              <a:rPr lang="en-US"/>
              <a:t>Tell the audience which sections you will cover given the session length. The overview that follows reframes the agenda as the narrative arc: what we build and in what order.</a:t>
            </a:r>
            <a:endParaRPr/>
          </a:p>
        </p:txBody>
      </p:sp>
      <p:sp>
        <p:nvSpPr>
          <p:cNvPr id="25" name="Google Shape;25;g3e54846f4b4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g3e54846f4b4_0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g3e54846f4b4_0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g3e54846f4b4_0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g3e54846f4b4_0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g3e54846f4b4_0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g3e54846f4b4_0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e54846f4b4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g3e54846f4b4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visual companion to the patterns-literacy framing.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 it's the warning at the heart of using AI tooling well.</a:t>
            </a:r>
            <a:endParaRPr/>
          </a:p>
        </p:txBody>
      </p:sp>
      <p:sp>
        <p:nvSpPr>
          <p:cNvPr id="56" name="Google Shape;56;g3e54846f4b4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e54846f4b4_0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g3e54846f4b4_0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g3e54846f4b4_0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54846f4b4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g3e54846f4b4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a:t>
            </a:r>
            <a:endParaRPr/>
          </a:p>
        </p:txBody>
      </p:sp>
      <p:sp>
        <p:nvSpPr>
          <p:cNvPr id="77" name="Google Shape;77;g3e54846f4b4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e54846f4b4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g3e54846f4b4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a:t>
            </a:r>
            <a:endParaRPr/>
          </a:p>
        </p:txBody>
      </p:sp>
      <p:sp>
        <p:nvSpPr>
          <p:cNvPr id="87" name="Google Shape;87;g3e54846f4b4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e54846f4b4_0_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g3e54846f4b4_0_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98" name="Google Shape;98;g3e54846f4b4_0_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e54846f4b4_0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g3e54846f4b4_0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 In the Spring Boot world the contract artifacts come naturally: springdoc-openapi emits the REST spec from your @RestController methods, the protobuf-maven-plugin compiles the .proto, and Spring for GraphQL loads the .graphqls schema (or generates SDL from your @SchemaMapping methods if you go code-first) — all checked into the registry.</a:t>
            </a:r>
            <a:endParaRPr/>
          </a:p>
        </p:txBody>
      </p:sp>
      <p:sp>
        <p:nvSpPr>
          <p:cNvPr id="108" name="Google Shape;108;g3e54846f4b4_0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e54846f4b4_0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g3e54846f4b4_0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18" name="Google Shape;118;g3e54846f4b4_0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e54846f4b4_0_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g3e54846f4b4_0_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lot of people nod along to ‘twelve-factor’ without being able to name the twelve, so here they are at a glance, one line each. Don't read them aloud —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mapping of each factor onto our architecture.</a:t>
            </a:r>
            <a:endParaRPr/>
          </a:p>
        </p:txBody>
      </p:sp>
      <p:sp>
        <p:nvSpPr>
          <p:cNvPr id="128" name="Google Shape;128;g3e54846f4b4_0_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e54846f4b4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e54846f4b4_0_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39" name="Google Shape;139;g3e54846f4b4_0_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e54846f4b4_0_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g3e54846f4b4_0_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code: config comes from the environment through Spring's property resolution (factor III): SPRING_DATASOURCE_URL and its credentials configure the DataSource and SERVICE_VERSION feeds service.version, never a baked-in file; Spring profiles override per environment. The application name (spring.application.name) shows up in Micrometer metrics and traces. The two probes are a plain @RestController in Example 01: /healthz is liveness (am I alive? if not, restart me) and never checks a dependency; /readyz is readiness (can I serve?): it runs SELECT 1 on a pooled connection and, when that fails, answers 503 with status down, which takes the pod out of rotation without killing it. The probe reads the status code, not the body: Kubernetes treats any answer from 200 to 399 as ready. Spring Boot Actuator offers the same pair as /actuator/health/liveness and /actuator/health/readiness with HealthIndicator beans; the example writes them by hand so every language serves the same paths and bodies. Getting liveness vs readiness wrong is a top cause of cascading restarts, so stress the distinction. Maven with spring-boot-starter-parent pins every dependency reproducibly. Constructor injection is the idiomatic Spring style: the bean stays immutable and is unit-testable without a container.</a:t>
            </a:r>
            <a:endParaRPr/>
          </a:p>
        </p:txBody>
      </p:sp>
      <p:sp>
        <p:nvSpPr>
          <p:cNvPr id="150" name="Google Shape;150;g3e54846f4b4_0_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e54846f4b4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g3e54846f4b4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two. The thesis: there is no single right protocol — there is a right protocol per interaction. Resist the urge to standardize on one wire for everything. What follows gives you a decision rule and then shows each protocol in code against the running system.</a:t>
            </a:r>
            <a:endParaRPr/>
          </a:p>
        </p:txBody>
      </p:sp>
      <p:sp>
        <p:nvSpPr>
          <p:cNvPr id="163" name="Google Shape;163;g3e54846f4b4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54846f4b4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e54846f4b4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is the map for the whole section.</a:t>
            </a:r>
            <a:endParaRPr/>
          </a:p>
        </p:txBody>
      </p:sp>
      <p:sp>
        <p:nvSpPr>
          <p:cNvPr id="173" name="Google Shape;173;g3e54846f4b4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e54846f4b4_0_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g3e54846f4b4_0_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edge surface. Point out four things teams routinely get wrong: (1) resource-shaped URLs (nouns, not verbs); (2) request contracts validated declaratively, a Java record with Bean Validation 3.1 annotations (@NotBlank, @Positive, @Valid), where Spring's @Valid triggers the validator so bad input never reaches your logic; (3) correct status codes: HttpStatus.CREATED on create, not 200; (4) cursor pagination, not offset, because offset breaks under concurrent writes and gets slow at depth. Constructor injection is the idiomatic Spring style (no @Autowired needed, fields can be final). For non-blocking I/O, swap @RestController for WebFlux's reactive style with Mono&lt;Order&gt; and Flux&lt;Order&gt;: same controller, reactive runtime. springdoc-openapi generates the OpenAPI spec from the controllers, and that spec is what we register and gate.</a:t>
            </a:r>
            <a:endParaRPr/>
          </a:p>
        </p:txBody>
      </p:sp>
      <p:sp>
        <p:nvSpPr>
          <p:cNvPr id="184" name="Google Shape;184;g3e54846f4b4_0_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4846f4b4_0_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g3e54846f4b4_0_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for the internal paths. The .proto is the contract, and it lives in the registry like OpenAPI. The protobuf-maven-plugin runs protoc at build time; the service extends the generated InventoryImplBase and fills in the one method, never touching the wire format.</a:t>
            </a:r>
            <a:endParaRPr/>
          </a:p>
          <a:p>
            <a:pPr indent="0" lvl="0" marL="0" rtl="0" algn="l">
              <a:spcBef>
                <a:spcPts val="0"/>
              </a:spcBef>
              <a:spcAft>
                <a:spcPts val="0"/>
              </a:spcAft>
              <a:buNone/>
            </a:pPr>
            <a:r>
              <a:rPr lang="en-US"/>
              <a:t>The example starts a plain grpc-java server from a CommandLineRunner inside the Spring Boot application, so no gRPC starter sits between the code and the library. The field numbers (=1, =2) are the wire contract; Appendix B explains why they can never be reused.</a:t>
            </a:r>
            <a:endParaRPr/>
          </a:p>
          <a:p>
            <a:pPr indent="0" lvl="0" marL="0" rtl="0" algn="l">
              <a:spcBef>
                <a:spcPts val="0"/>
              </a:spcBef>
              <a:spcAft>
                <a:spcPts val="0"/>
              </a:spcAft>
              <a:buNone/>
            </a:pPr>
            <a:r>
              <a:rPr lang="en-US"/>
              <a:t>gRPC is binary and multiplexed over HTTP/2, so it is fast and supports streaming: the right default for chatty service-to-service calls where you control both ends. Load-test it with ghz.</a:t>
            </a:r>
            <a:endParaRPr/>
          </a:p>
        </p:txBody>
      </p:sp>
      <p:sp>
        <p:nvSpPr>
          <p:cNvPr id="197" name="Google Shape;197;g3e54846f4b4_0_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e54846f4b4_0_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g3e54846f4b4_0_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10" name="Google Shape;210;g3e54846f4b4_0_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e54846f4b4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g3e54846f4b4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We then show the actual config.</a:t>
            </a:r>
            <a:endParaRPr/>
          </a:p>
        </p:txBody>
      </p:sp>
      <p:sp>
        <p:nvSpPr>
          <p:cNvPr id="221" name="Google Shape;221;g3e54846f4b4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e54846f4b4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g3e54846f4b4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32" name="Google Shape;232;g3e54846f4b4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e54846f4b4_0_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g3e54846f4b4_0_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45" name="Google Shape;245;g3e54846f4b4_0_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e54846f4b4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g3e54846f4b4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We then show the resolver code.</a:t>
            </a:r>
            <a:endParaRPr/>
          </a:p>
        </p:txBody>
      </p:sp>
      <p:sp>
        <p:nvSpPr>
          <p:cNvPr id="255" name="Google Shape;255;g3e54846f4b4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e54846f4b4_0_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g3e54846f4b4_0_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resolver makes federation concrete. The top-level order query calls order-service over REST via a typed @QueryMapping; the stock method, annotated @SchemaMapping with typeName=Order and field=stock, adds a stock field to the Order type that resolves on demand by calling inventory-service over gRPC. Each field resolves against its owning service — the gateway is just the composition layer. Mention the N+1 risk: naive per-field resolution can explode into many back-end calls, so production gateways batch (Spring for GraphQL's @BatchMapping does exactly this, batching N orders into one upstream call). Spring for GraphQL is built on graphql-java and ships as a first-class Spring Boot starter; the schema lives in a .graphqls file under resources and is exported to the registry automatically by the build.</a:t>
            </a:r>
            <a:endParaRPr/>
          </a:p>
        </p:txBody>
      </p:sp>
      <p:sp>
        <p:nvSpPr>
          <p:cNvPr id="266" name="Google Shape;266;g3e54846f4b4_0_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e54846f4b4_0_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g3e54846f4b4_0_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rebuilds the monolith with network latency between the pieces.</a:t>
            </a:r>
            <a:endParaRPr/>
          </a:p>
        </p:txBody>
      </p:sp>
      <p:sp>
        <p:nvSpPr>
          <p:cNvPr id="279" name="Google Shape;279;g3e54846f4b4_0_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e54846f4b4_0_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g3e54846f4b4_0_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four, and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290" name="Google Shape;290;g3e54846f4b4_0_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e54846f4b4_0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g3e54846f4b4_0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00" name="Google Shape;300;g3e54846f4b4_0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e54846f4b4_0_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g3e54846f4b4_0_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the Event-Driven section draws both distinctions.</a:t>
            </a:r>
            <a:endParaRPr/>
          </a:p>
        </p:txBody>
      </p:sp>
      <p:sp>
        <p:nvSpPr>
          <p:cNvPr id="311" name="Google Shape;311;g3e54846f4b4_0_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e54846f4b4_0_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 name="Google Shape;321;g3e54846f4b4_0_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Spring shape. Two @RestController classes: OrderWriteController handles writes, OrderReadController handles reads. Each can have its own DataSource bean wired through @Qualifier (or two separate Spring contexts in a modulith). KafkaTemplate publishes to Kafka after the DB write — in production you'd use the outbox and Debezium combination shown in the outbox write instead of direct publishing. The projection is a @Service with a @KafkaListener that consumes the order.created topic with its own consumer group, then upserts into the read-side OrderSummaryRepository. The read-side table is denormalised: customer_name, line_count, total_cents, status — whatever the UI query needs without a JOIN. Different scaling (read replicas for the read side), different team ownership possible.</a:t>
            </a:r>
            <a:endParaRPr/>
          </a:p>
        </p:txBody>
      </p:sp>
      <p:sp>
        <p:nvSpPr>
          <p:cNvPr id="322" name="Google Shape;322;g3e54846f4b4_0_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e54846f4b4_0_2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g3e54846f4b4_0_2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34" name="Google Shape;334;g3e54846f4b4_0_2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3e54846f4b4_0_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g3e54846f4b4_0_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We then show the actual transaction.</a:t>
            </a:r>
            <a:endParaRPr/>
          </a:p>
        </p:txBody>
      </p:sp>
      <p:sp>
        <p:nvSpPr>
          <p:cNvPr id="345" name="Google Shape;345;g3e54846f4b4_0_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54846f4b4_0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g3e54846f4b4_0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whole trick is the @Transactional method: the insert of the order row and the insert of the outbox row happen in one local transaction, through Spring's JdbcClient. There is no Kafka call inside the request path: if the broker is down, the order still commits and the event ships later when Debezium tails the write-ahead log and relays the outbox row in commit order. This decouples request latency and availability from Kafka's.</a:t>
            </a:r>
            <a:endParaRPr/>
          </a:p>
          <a:p>
            <a:pPr indent="0" lvl="0" marL="0" rtl="0" algn="l">
              <a:spcBef>
                <a:spcPts val="0"/>
              </a:spcBef>
              <a:spcAft>
                <a:spcPts val="0"/>
              </a:spcAft>
              <a:buNone/>
            </a:pPr>
            <a:r>
              <a:rPr lang="en-US"/>
              <a:t>There is no Spring-specific outbox starter: the outbox is a small table (aggregate id, event type, JSON payload, created_at), the payload is serialized with Jackson 3's JsonMapper, and a standard Debezium Postgres connector handles the CDC. The Debezium Outbox Event Router single-message transform unwraps the row into the event envelope on the connector side. The same commit-together discipline reappears in the saga appendix.</a:t>
            </a:r>
            <a:endParaRPr/>
          </a:p>
        </p:txBody>
      </p:sp>
      <p:sp>
        <p:nvSpPr>
          <p:cNvPr id="356" name="Google Shape;356;g3e54846f4b4_0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e54846f4b4_0_3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g3e54846f4b4_0_3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69" name="Google Shape;369;g3e54846f4b4_0_3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e54846f4b4_0_3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g3e54846f4b4_0_3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380" name="Google Shape;380;g3e54846f4b4_0_3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3e54846f4b4_0_3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g3e54846f4b4_0_3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390" name="Google Shape;390;g3e54846f4b4_0_3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e54846f4b4_0_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g3e54846f4b4_0_3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 Kafka is the canonical Spring Boot starter for Apache Kafka, and Spring Boot 4 keeps it as the default. The producer holds a KafkaTemplate, which is auto-configured from spring.kafka.* properties; the send keys the message by order id (so all events for one order land on the same partition and stay ordered). The consumer is annotated @KafkaListener and the manualAckFactory is a ConcurrentKafkaListenerContainerFactory configured with AckMode.MANUAL. Two things to drill home: we ack only once sendEmail has succeeded; ack first and then crash, and the work is lost. Because we ack after, a crash mid-handler means redelivery, so delivery is at-least-once and your handlers must be idempotent (dedupe by message key or an idempotency key). Exactly-once is mostly at-least-once plus idempotency. The serde is wired to Apicurio's Avro / Protobuf SerDes, so the registry enforces the schema. Reactor Kafka is discontinued, so the examples use the imperative @KafkaListener.</a:t>
            </a:r>
            <a:endParaRPr/>
          </a:p>
        </p:txBody>
      </p:sp>
      <p:sp>
        <p:nvSpPr>
          <p:cNvPr id="401" name="Google Shape;401;g3e54846f4b4_0_3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54846f4b4_0_3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g3e54846f4b4_0_3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14" name="Google Shape;414;g3e54846f4b4_0_3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3e54846f4b4_0_3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g3e54846f4b4_0_3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25" name="Google Shape;425;g3e54846f4b4_0_3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e54846f4b4_0_3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g3e54846f4b4_0_3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36" name="Google Shape;436;g3e54846f4b4_0_3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e54846f4b4_0_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g3e54846f4b4_0_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47" name="Google Shape;447;g3e54846f4b4_0_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3e54846f4b4_0_3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g3e54846f4b4_0_3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58" name="Google Shape;458;g3e54846f4b4_0_3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3e54846f4b4_0_4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g3e54846f4b4_0_4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68" name="Google Shape;468;g3e54846f4b4_0_4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e54846f4b4_0_4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g3e54846f4b4_0_4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Streams is the JVM-native stream processor; on Spring Boot you get it through spring-kafka with @EnableKafkaStreams, which auto-configures a StreamsBuilderFactoryBean from spring.kafka.streams.* properties and injects the StreamsBuilder. The topology is a regular @Bean.</a:t>
            </a:r>
            <a:endParaRPr/>
          </a:p>
          <a:p>
            <a:pPr indent="0" lvl="0" marL="0" rtl="0" algn="l">
              <a:spcBef>
                <a:spcPts val="0"/>
              </a:spcBef>
              <a:spcAft>
                <a:spcPts val="0"/>
              </a:spcAft>
              <a:buNone/>
            </a:pPr>
            <a:r>
              <a:rPr lang="en-US"/>
              <a:t>The example re-keys each order.placed event by merchant, groups by key and aggregates into a tumbling window (window.seconds, 10 seconds by default). The accumulator, a count and a BigDecimal total, is serialized with Spring Kafka 4's JacksonJsonSerde on Jackson 3. The Materialized state store is local state backed by a Kafka changelog topic, so if the pod dies the state rebuilds by replaying the changelog: fault-tolerant local state with no external database in the hot path.</a:t>
            </a:r>
            <a:endParaRPr/>
          </a:p>
          <a:p>
            <a:pPr indent="0" lvl="0" marL="0" rtl="0" algn="l">
              <a:spcBef>
                <a:spcPts val="0"/>
              </a:spcBef>
              <a:spcAft>
                <a:spcPts val="0"/>
              </a:spcAft>
              <a:buNone/>
            </a:pPr>
            <a:r>
              <a:rPr lang="en-US"/>
              <a:t>Each update to a (merchant, window) row is mapped to a JSON record with the window start, merchant_id, order_count and the revenue rounded HALF_UP, and written to revenue.by-merchant, a stream other services consume. A total that is not a number is skipped instead of killing the stream thread. If you would rather express this as routing than as a topology, Spring Integration is the alternative; Flink is the heavyweight option.</a:t>
            </a:r>
            <a:endParaRPr/>
          </a:p>
        </p:txBody>
      </p:sp>
      <p:sp>
        <p:nvSpPr>
          <p:cNvPr id="479" name="Google Shape;479;g3e54846f4b4_0_4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e54846f4b4_0_4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g3e54846f4b4_0_4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We then show both configs.</a:t>
            </a:r>
            <a:endParaRPr/>
          </a:p>
        </p:txBody>
      </p:sp>
      <p:sp>
        <p:nvSpPr>
          <p:cNvPr id="492" name="Google Shape;492;g3e54846f4b4_0_4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e54846f4b4_0_4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g3e54846f4b4_0_4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03" name="Google Shape;503;g3e54846f4b4_0_4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e54846f4b4_0_4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g3e54846f4b4_0_4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 For orchestration, Appendix D sets two approaches against the saga from the data section: the hand-rolled, database-backed orchestrator that Example 17 runs, and Temporal (Java SDK + Spring Boot) for durable execution when the saga outgrows it.</a:t>
            </a:r>
            <a:endParaRPr/>
          </a:p>
        </p:txBody>
      </p:sp>
      <p:sp>
        <p:nvSpPr>
          <p:cNvPr id="516" name="Google Shape;516;g3e54846f4b4_0_4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g3e54846f4b4_0_4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g3e54846f4b4_0_4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 maximally decoupled, but the end-to-end flow is emergent and hard to see. Neither is universally right; we then give the selection criteria. This connects straight to the saga discussion and Appendix D.</a:t>
            </a:r>
            <a:endParaRPr/>
          </a:p>
        </p:txBody>
      </p:sp>
      <p:sp>
        <p:nvSpPr>
          <p:cNvPr id="526" name="Google Shape;526;g3e54846f4b4_0_4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e54846f4b4_0_4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g3e54846f4b4_0_4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37" name="Google Shape;537;g3e54846f4b4_0_4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e54846f4b4_0_4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g3e54846f4b4_0_4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 In-app, Spring's @Scheduled (with ShedLock for cluster-aware locking) covers recurring work without leaving the JVM; Kubernetes Jobs and CronJobs own the heavier or isolated batch runs; and KEDA's Cron scaler is the declarative way to wake a worker on a schedule.</a:t>
            </a:r>
            <a:endParaRPr/>
          </a:p>
        </p:txBody>
      </p:sp>
      <p:sp>
        <p:nvSpPr>
          <p:cNvPr id="552" name="Google Shape;552;g3e54846f4b4_0_4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g3e54846f4b4_0_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g3e54846f4b4_0_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63" name="Google Shape;563;g3e54846f4b4_0_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e54846f4b4_0_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g3e54846f4b4_0_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73" name="Google Shape;573;g3e54846f4b4_0_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e54846f4b4_0_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g3e54846f4b4_0_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584" name="Google Shape;584;g3e54846f4b4_0_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g3e54846f4b4_0_5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g3e54846f4b4_0_5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594" name="Google Shape;594;g3e54846f4b4_0_5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3e54846f4b4_0_5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3e54846f4b4_0_5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We then show the CI gate that turns this into an automatic guardrail.</a:t>
            </a:r>
            <a:endParaRPr/>
          </a:p>
        </p:txBody>
      </p:sp>
      <p:sp>
        <p:nvSpPr>
          <p:cNvPr id="604" name="Google Shape;604;g3e54846f4b4_0_5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e54846f4b4_0_5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g3e54846f4b4_0_5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guardrail that makes the whole contract story real, done the Maven way. The apicurio-registry-maven-plugin's register goal with dryRun set checks the new schema against the artifact's compatibility rule in the registry without storing it, and fails the build (and the merge) if it is incompatible. The older test-update goal still exists in 3.3.3 but is deprecated in favour of dryRun. The point to make: the contract is enforced before code ships, not discovered broken in production by a downstream team. The rule (e.g. BACKWARD — new consumers can read old data) is set once per artifact and enforced automatically forever; a separate register goal publishes on the main branch after merge. Tie it back: this is design-first from section 1, now mechanized in the build.</a:t>
            </a:r>
            <a:endParaRPr/>
          </a:p>
        </p:txBody>
      </p:sp>
      <p:sp>
        <p:nvSpPr>
          <p:cNvPr id="615" name="Google Shape;615;g3e54846f4b4_0_5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e54846f4b4_0_5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g3e54846f4b4_0_5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28" name="Google Shape;628;g3e54846f4b4_0_5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3e54846f4b4_0_5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7" name="Google Shape;637;g3e54846f4b4_0_5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We then list what consumers get from it.</a:t>
            </a:r>
            <a:endParaRPr/>
          </a:p>
        </p:txBody>
      </p:sp>
      <p:sp>
        <p:nvSpPr>
          <p:cNvPr id="638" name="Google Shape;638;g3e54846f4b4_0_5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g3e54846f4b4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g3e54846f4b4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49" name="Google Shape;649;g3e54846f4b4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3e54846f4b4_0_5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3e54846f4b4_0_5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59" name="Google Shape;659;g3e54846f4b4_0_5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e54846f4b4_0_5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3e54846f4b4_0_5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We then show the instrumentation, then the trace.</a:t>
            </a:r>
            <a:endParaRPr/>
          </a:p>
        </p:txBody>
      </p:sp>
      <p:sp>
        <p:nvSpPr>
          <p:cNvPr id="669" name="Google Shape;669;g3e54846f4b4_0_5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e54846f4b4_0_5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g3e54846f4b4_0_5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Expand the 'three pillars' framing into the five signals modern observability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680" name="Google Shape;680;g3e54846f4b4_0_5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e54846f4b4_0_6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0" name="Google Shape;690;g3e54846f4b4_0_6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691" name="Google Shape;691;g3e54846f4b4_0_6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g3e54846f4b4_0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g3e54846f4b4_0_6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Python: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endParaRPr/>
          </a:p>
        </p:txBody>
      </p:sp>
      <p:sp>
        <p:nvSpPr>
          <p:cNvPr id="701" name="Google Shape;701;g3e54846f4b4_0_6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e54846f4b4_0_6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g3e54846f4b4_0_6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payoff line is how little code this takes. The examples attach the OpenTelemetry Java agent 2.32.0 with JAVA_TOOL_OPTIONS in the Containerfile; Spring Boot 4 needs no tracing starter. The Containerfile downloads the agent jar from Maven Central and checks it against a pinned SHA-256.</a:t>
            </a:r>
            <a:endParaRPr/>
          </a:p>
          <a:p>
            <a:pPr indent="0" lvl="0" marL="0" rtl="0" algn="l">
              <a:spcBef>
                <a:spcPts val="0"/>
              </a:spcBef>
              <a:spcAft>
                <a:spcPts val="0"/>
              </a:spcAft>
              <a:buNone/>
            </a:pPr>
            <a:r>
              <a:rPr lang="en-US"/>
              <a:t>Every Spring MVC endpoint, RestClient call, gRPC invocation, JDBC query and Kafka producer and consumer is instrumented: spans are created and W3C trace context is propagated with zero code, and the agent writes trace_id and span_id into the logback MDC. Configuration is environment only: the service name, the OTLP endpoint and the sampler.</a:t>
            </a:r>
            <a:endParaRPr/>
          </a:p>
          <a:p>
            <a:pPr indent="0" lvl="0" marL="0" rtl="0" algn="l">
              <a:spcBef>
                <a:spcPts val="0"/>
              </a:spcBef>
              <a:spcAft>
                <a:spcPts val="0"/>
              </a:spcAft>
              <a:buNone/>
            </a:pPr>
            <a:r>
              <a:rPr lang="en-US"/>
              <a:t>You hand-write spans only for business operations worth measuring, and even that is declarative: @WithSpan from the OpenTelemetry instrumentation annotations. The trace_id flows REST to gRPC to Kafka to the consumer with no manual plumbing, because the agent injects and extracts context at each hop. Instrument once, correlate everything.</a:t>
            </a:r>
            <a:endParaRPr/>
          </a:p>
        </p:txBody>
      </p:sp>
      <p:sp>
        <p:nvSpPr>
          <p:cNvPr id="711" name="Google Shape;711;g3e54846f4b4_0_6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1" name="Shape 721"/>
        <p:cNvGrpSpPr/>
        <p:nvPr/>
      </p:nvGrpSpPr>
      <p:grpSpPr>
        <a:xfrm>
          <a:off x="0" y="0"/>
          <a:ext cx="0" cy="0"/>
          <a:chOff x="0" y="0"/>
          <a:chExt cx="0" cy="0"/>
        </a:xfrm>
      </p:grpSpPr>
      <p:sp>
        <p:nvSpPr>
          <p:cNvPr id="722" name="Google Shape;722;g3e54846f4b4_0_6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3" name="Google Shape;723;g3e54846f4b4_0_6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24" name="Google Shape;724;g3e54846f4b4_0_6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3e54846f4b4_0_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4" name="Google Shape;734;g3e54846f4b4_0_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Baggage in practice. OpenTelemetry Baggage rides the same context propagation as the trace: the Java agent's default propagators are tracecontext and baggage, so the W3C baggage header travels on every REST, gRPC and Kafka hop with no extra code.</a:t>
            </a:r>
            <a:endParaRPr/>
          </a:p>
          <a:p>
            <a:pPr indent="0" lvl="0" marL="0" rtl="0" algn="l">
              <a:spcBef>
                <a:spcPts val="0"/>
              </a:spcBef>
              <a:spcAft>
                <a:spcPts val="0"/>
              </a:spcAft>
              <a:buNone/>
            </a:pPr>
            <a:r>
              <a:rPr lang="en-US"/>
              <a:t>The OncePerRequestFilter puts tenant.id into the current baggage at the edge, and the try-with-resources scope restores the previous context when the request ends. A @KafkaListener downstream reads it with Baggage.current().getEntryValue(...). Baggage is not recorded on spans automatically, so the consumer copies it onto its span as an attribute, which is what makes traces filterable by tenant.</a:t>
            </a:r>
            <a:endParaRPr/>
          </a:p>
          <a:p>
            <a:pPr indent="0" lvl="0" marL="0" rtl="0" algn="l">
              <a:spcBef>
                <a:spcPts val="0"/>
              </a:spcBef>
              <a:spcAft>
                <a:spcPts val="0"/>
              </a:spcAft>
              <a:buNone/>
            </a:pPr>
            <a:r>
              <a:rPr lang="en-US"/>
              <a:t>Caution: baggage goes on the wire to every hop, including third parties you call. No secrets, no PII.</a:t>
            </a:r>
            <a:endParaRPr/>
          </a:p>
        </p:txBody>
      </p:sp>
      <p:sp>
        <p:nvSpPr>
          <p:cNvPr id="735" name="Google Shape;735;g3e54846f4b4_0_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5" name="Shape 745"/>
        <p:cNvGrpSpPr/>
        <p:nvPr/>
      </p:nvGrpSpPr>
      <p:grpSpPr>
        <a:xfrm>
          <a:off x="0" y="0"/>
          <a:ext cx="0" cy="0"/>
          <a:chOff x="0" y="0"/>
          <a:chExt cx="0" cy="0"/>
        </a:xfrm>
      </p:grpSpPr>
      <p:sp>
        <p:nvSpPr>
          <p:cNvPr id="746" name="Google Shape;746;g3e54846f4b4_0_6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7" name="Google Shape;747;g3e54846f4b4_0_6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48" name="Google Shape;748;g3e54846f4b4_0_6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g3e54846f4b4_0_6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8" name="Google Shape;758;g3e54846f4b4_0_6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59" name="Google Shape;759;g3e54846f4b4_0_6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g3e54846f4b4_0_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g3e54846f4b4_0_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traces, metrics and logs are sampled differently — you never sample a metric counter, and logs typically follow their own retention or are sampled to match their parent trace.</a:t>
            </a:r>
            <a:endParaRPr/>
          </a:p>
        </p:txBody>
      </p:sp>
      <p:sp>
        <p:nvSpPr>
          <p:cNvPr id="770" name="Google Shape;770;g3e54846f4b4_0_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g3e54846f4b4_0_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g3e54846f4b4_0_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The GraphQL UI (GraphiQL, which Spring for GraphQL serves at /graphiql in dev)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780" name="Google Shape;780;g3e54846f4b4_0_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g3e54846f4b4_0_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9" name="Google Shape;789;g3e54846f4b4_0_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790" name="Google Shape;790;g3e54846f4b4_0_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g3e54846f4b4_0_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9" name="Google Shape;799;g3e54846f4b4_0_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We then cover what each layer's controls are.</a:t>
            </a:r>
            <a:endParaRPr/>
          </a:p>
        </p:txBody>
      </p:sp>
      <p:sp>
        <p:nvSpPr>
          <p:cNvPr id="800" name="Google Shape;800;g3e54846f4b4_0_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g3e54846f4b4_0_7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g3e54846f4b4_0_7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We then open the pattern catalog — seven patterns that show up across these four layers.</a:t>
            </a:r>
            <a:endParaRPr/>
          </a:p>
        </p:txBody>
      </p:sp>
      <p:sp>
        <p:nvSpPr>
          <p:cNvPr id="811" name="Google Shape;811;g3e54846f4b4_0_7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g3e54846f4b4_0_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g3e54846f4b4_0_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what follows alternates between pattern-and-implementation pairs.</a:t>
            </a:r>
            <a:endParaRPr/>
          </a:p>
        </p:txBody>
      </p:sp>
      <p:sp>
        <p:nvSpPr>
          <p:cNvPr id="821" name="Google Shape;821;g3e54846f4b4_0_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g3e54846f4b4_0_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0" name="Google Shape;830;g3e54846f4b4_0_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31" name="Google Shape;831;g3e54846f4b4_0_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e54846f4b4_0_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g3e54846f4b4_0_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42" name="Google Shape;842;g3e54846f4b4_0_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g3e54846f4b4_0_7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g3e54846f4b4_0_7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We then show the code.</a:t>
            </a:r>
            <a:endParaRPr/>
          </a:p>
        </p:txBody>
      </p:sp>
      <p:sp>
        <p:nvSpPr>
          <p:cNvPr id="852" name="Google Shape;852;g3e54846f4b4_0_7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3e54846f4b4_0_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g3e54846f4b4_0_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handler mints a ticket that authorises one operation (GET or PUT) on one resource for 300 seconds; after that it is worthless. In Example 12 the ticket is an HMAC-SHA256 signature over resource:operation:expires, keyed with VALET_SECRET (javax.crypto.Mac with HmacSHA256). POST /valet-key returns the resource, the operation, the expiry and the token.</a:t>
            </a:r>
            <a:endParaRPr/>
          </a:p>
          <a:p>
            <a:pPr indent="0" lvl="0" marL="0" rtl="0" algn="l">
              <a:spcBef>
                <a:spcPts val="0"/>
              </a:spcBef>
              <a:spcAft>
                <a:spcPts val="0"/>
              </a:spcAft>
              <a:buNone/>
            </a:pPr>
            <a:r>
              <a:rPr lang="en-US"/>
              <a:t>The verifier (GET /verify-valet in the example, the storage gateway in a real system) rejects an expired ticket first, recomputes the signature and compares the two with MessageDigest.isEqual, a constant-time comparison. A changed resource, operation or expiry gives a different signature, so any tampering is a 403.</a:t>
            </a:r>
            <a:endParaRPr/>
          </a:p>
          <a:p>
            <a:pPr indent="0" lvl="0" marL="0" rtl="0" algn="l">
              <a:spcBef>
                <a:spcPts val="0"/>
              </a:spcBef>
              <a:spcAft>
                <a:spcPts val="0"/>
              </a:spcAft>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63" name="Google Shape;863;g3e54846f4b4_0_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g3e54846f4b4_0_7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4" name="Google Shape;874;g3e54846f4b4_0_7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is the application of those mechanics to a specific security need.</a:t>
            </a:r>
            <a:endParaRPr/>
          </a:p>
        </p:txBody>
      </p:sp>
      <p:sp>
        <p:nvSpPr>
          <p:cNvPr id="875" name="Google Shape;875;g3e54846f4b4_0_7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2" name="Shape 882"/>
        <p:cNvGrpSpPr/>
        <p:nvPr/>
      </p:nvGrpSpPr>
      <p:grpSpPr>
        <a:xfrm>
          <a:off x="0" y="0"/>
          <a:ext cx="0" cy="0"/>
          <a:chOff x="0" y="0"/>
          <a:chExt cx="0" cy="0"/>
        </a:xfrm>
      </p:grpSpPr>
      <p:sp>
        <p:nvSpPr>
          <p:cNvPr id="883" name="Google Shape;883;g3e54846f4b4_0_7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4" name="Google Shape;884;g3e54846f4b4_0_7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there is no trusted network. Every request, from any source, to any service, on every hop —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885" name="Google Shape;885;g3e54846f4b4_0_7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g3e54846f4b4_0_7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g3e54846f4b4_0_7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Concrete implementations to ground the model. The edge IAP is what your users hit — they authenticate against your IdP (Keycloak, or Dex federating an existing directory),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896" name="Google Shape;896;g3e54846f4b4_0_7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g3e54846f4b4_0_8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g3e54846f4b4_0_8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06" name="Google Shape;906;g3e54846f4b4_0_8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g3e54846f4b4_0_8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g3e54846f4b4_0_8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17" name="Google Shape;917;g3e54846f4b4_0_8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g3e54846f4b4_0_8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g3e54846f4b4_0_8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29" name="Google Shape;929;g3e54846f4b4_0_8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g3e54846f4b4_0_8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g3e54846f4b4_0_8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Resilience4j (the resilience4j-spring-boot4 starter) is the Spring Boot answer to fault tolerance; Hystrix is in maintenance. @Bulkhead declares a named bulkhead; the configuration (maxConcurrentCalls, maxWaitDuration) lives in application.yml under resilience4j.bulkhead.instances.orders. @TimeLimiter pairs with it for fail-fast on slow calls. fallbackMethod runs when the bulkhead rejects: return a sentinel value, a cached response, or fail with a 503. For per-tenant bulkheads, the BulkheadRegistry creates named instances dynamically; metrics are exposed via Micrometer with bulkhead.name labels. As with Quarkus, Istio's DestinationRule gives you mesh-level bulkheading on top of these.</a:t>
            </a:r>
            <a:endParaRPr/>
          </a:p>
        </p:txBody>
      </p:sp>
      <p:sp>
        <p:nvSpPr>
          <p:cNvPr id="940" name="Google Shape;940;g3e54846f4b4_0_8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3e54846f4b4_0_8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1" name="Google Shape;951;g3e54846f4b4_0_8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52" name="Google Shape;952;g3e54846f4b4_0_8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e54846f4b4_0_8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2" name="Google Shape;962;g3e54846f4b4_0_8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halves. The producer writes the payload to an encrypted object store under payloads/&lt;order id&gt;, mints a GET-only ticket for that key with Example 12's ValetKeyService.mint (300 seconds), and publishes only a small claim (order id, URI and the ticket) to order.documents with KafkaTemplate. The PII is never on Kafka's wire.</a:t>
            </a:r>
            <a:endParaRPr/>
          </a:p>
          <a:p>
            <a:pPr indent="0" lvl="0" marL="0" rtl="0" algn="l">
              <a:spcBef>
                <a:spcPts val="0"/>
              </a:spcBef>
              <a:spcAft>
                <a:spcPts val="0"/>
              </a:spcAft>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spcBef>
                <a:spcPts val="0"/>
              </a:spcBef>
              <a:spcAft>
                <a:spcPts val="0"/>
              </a:spcAft>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63" name="Google Shape;963;g3e54846f4b4_0_8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g3e54846f4b4_0_8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g3e54846f4b4_0_8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75" name="Google Shape;975;g3e54846f4b4_0_8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g3e54846f4b4_0_8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g3e54846f4b4_0_8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985" name="Google Shape;985;g3e54846f4b4_0_8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3e54846f4b4_0_8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4" name="Google Shape;994;g3e54846f4b4_0_8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995" name="Google Shape;995;g3e54846f4b4_0_8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2" name="Shape 1002"/>
        <p:cNvGrpSpPr/>
        <p:nvPr/>
      </p:nvGrpSpPr>
      <p:grpSpPr>
        <a:xfrm>
          <a:off x="0" y="0"/>
          <a:ext cx="0" cy="0"/>
          <a:chOff x="0" y="0"/>
          <a:chExt cx="0" cy="0"/>
        </a:xfrm>
      </p:grpSpPr>
      <p:sp>
        <p:nvSpPr>
          <p:cNvPr id="1003" name="Google Shape;1003;g3e54846f4b4_0_8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4" name="Google Shape;1004;g3e54846f4b4_0_8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We then turn these into positive heuristics.</a:t>
            </a:r>
            <a:endParaRPr/>
          </a:p>
        </p:txBody>
      </p:sp>
      <p:sp>
        <p:nvSpPr>
          <p:cNvPr id="1005" name="Google Shape;1005;g3e54846f4b4_0_8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3e54846f4b4_0_9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g3e54846f4b4_0_9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the five tests to apply in design and code review. (1) If two services must deploy together, they are one service: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16" name="Google Shape;1016;g3e54846f4b4_0_9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g3e54846f4b4_0_9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g3e54846f4b4_0_9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26" name="Google Shape;1026;g3e54846f4b4_0_9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e54846f4b4_0_9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e54846f4b4_0_9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architecture books are language-agnostic — they apply whether you build on Spring, Quarkus, or anything else. The Spring Boot reference docs, Temporal Java SDK guides, and Debezium docs are the practical references for the runtime specifics shown in the code. The slides and these references are enough to build the system, not only to discuss it.</a:t>
            </a:r>
            <a:endParaRPr/>
          </a:p>
        </p:txBody>
      </p:sp>
      <p:sp>
        <p:nvSpPr>
          <p:cNvPr id="1036" name="Google Shape;1036;g3e54846f4b4_0_9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3e54846f4b4_0_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5" name="Google Shape;1045;g3e54846f4b4_0_9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46" name="Google Shape;1046;g3e54846f4b4_0_9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3e54846f4b4_0_9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4" name="Google Shape;1054;g3e54846f4b4_0_9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Call out the ACL ambiguity: in the DDD/data sections ACL means Anti-Corruption Layer; in the security section it means Access Control List.</a:t>
            </a:r>
            <a:endParaRPr/>
          </a:p>
        </p:txBody>
      </p:sp>
      <p:sp>
        <p:nvSpPr>
          <p:cNvPr id="1055" name="Google Shape;1055;g3e54846f4b4_0_9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2" name="Shape 1062"/>
        <p:cNvGrpSpPr/>
        <p:nvPr/>
      </p:nvGrpSpPr>
      <p:grpSpPr>
        <a:xfrm>
          <a:off x="0" y="0"/>
          <a:ext cx="0" cy="0"/>
          <a:chOff x="0" y="0"/>
          <a:chExt cx="0" cy="0"/>
        </a:xfrm>
      </p:grpSpPr>
      <p:sp>
        <p:nvSpPr>
          <p:cNvPr id="1063" name="Google Shape;1063;g3e54846f4b4_0_9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4" name="Google Shape;1064;g3e54846f4b4_0_9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65" name="Google Shape;1065;g3e54846f4b4_0_9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2" name="Shape 1072"/>
        <p:cNvGrpSpPr/>
        <p:nvPr/>
      </p:nvGrpSpPr>
      <p:grpSpPr>
        <a:xfrm>
          <a:off x="0" y="0"/>
          <a:ext cx="0" cy="0"/>
          <a:chOff x="0" y="0"/>
          <a:chExt cx="0" cy="0"/>
        </a:xfrm>
      </p:grpSpPr>
      <p:sp>
        <p:nvSpPr>
          <p:cNvPr id="1073" name="Google Shape;1073;g3e54846f4b4_0_9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4" name="Google Shape;1074;g3e54846f4b4_0_9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A. This is the deep dive behind the 'pick the protocol' slide from section 2.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75" name="Google Shape;1075;g3e54846f4b4_0_9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2" name="Shape 1082"/>
        <p:cNvGrpSpPr/>
        <p:nvPr/>
      </p:nvGrpSpPr>
      <p:grpSpPr>
        <a:xfrm>
          <a:off x="0" y="0"/>
          <a:ext cx="0" cy="0"/>
          <a:chOff x="0" y="0"/>
          <a:chExt cx="0" cy="0"/>
        </a:xfrm>
      </p:grpSpPr>
      <p:sp>
        <p:nvSpPr>
          <p:cNvPr id="1083" name="Google Shape;1083;g3e54846f4b4_0_9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4" name="Google Shape;1084;g3e54846f4b4_0_9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085" name="Google Shape;1085;g3e54846f4b4_0_9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g3e54846f4b4_0_9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g3e54846f4b4_0_9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096" name="Google Shape;1096;g3e54846f4b4_0_9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g3e54846f4b4_0_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g3e54846f4b4_0_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What travels on the wire,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07" name="Google Shape;1107;g3e54846f4b4_0_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e54846f4b4_0_9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e54846f4b4_0_9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18" name="Google Shape;1118;g3e54846f4b4_0_9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g3e54846f4b4_0_10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g3e54846f4b4_0_10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28" name="Google Shape;1128;g3e54846f4b4_0_10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5" name="Shape 1135"/>
        <p:cNvGrpSpPr/>
        <p:nvPr/>
      </p:nvGrpSpPr>
      <p:grpSpPr>
        <a:xfrm>
          <a:off x="0" y="0"/>
          <a:ext cx="0" cy="0"/>
          <a:chOff x="0" y="0"/>
          <a:chExt cx="0" cy="0"/>
        </a:xfrm>
      </p:grpSpPr>
      <p:sp>
        <p:nvSpPr>
          <p:cNvPr id="1136" name="Google Shape;1136;g3e54846f4b4_0_10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7" name="Google Shape;1137;g3e54846f4b4_0_10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38" name="Google Shape;1138;g3e54846f4b4_0_10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3e54846f4b4_0_1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7" name="Google Shape;1147;g3e54846f4b4_0_1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code follows.</a:t>
            </a:r>
            <a:endParaRPr/>
          </a:p>
        </p:txBody>
      </p:sp>
      <p:sp>
        <p:nvSpPr>
          <p:cNvPr id="1148" name="Google Shape;1148;g3e54846f4b4_0_1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g3e54846f4b4_0_1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g3e54846f4b4_0_1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makes 'RESTful versioning' concrete in Spring Web. There's one URL for the order resource — it never changes. Two handler methods share the path but declare different produces media types; Spring's content negotiation picks the handler matching the client's Accept header and sets the Content-Type. New clients ask for the v2 media type and get the currency field; old clients send the default and get v1, completely unaffected. Contrast with /v2/orders, where you've now got two URLs for the same underlying thing. The OrderV1/OrderV2 records are explicit representation DTOs — exactly the pattern that keeps your wire contract decoupled from your entity. Mention that Spring Boot 4 adds first-class API versioning support if you prefer to declare versions centrally (annotation- or filter-based) instead of per-handler.</a:t>
            </a:r>
            <a:endParaRPr/>
          </a:p>
        </p:txBody>
      </p:sp>
      <p:sp>
        <p:nvSpPr>
          <p:cNvPr id="1159" name="Google Shape;1159;g3e54846f4b4_0_1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g3e54846f4b4_0_10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1" name="Google Shape;1171;g3e54846f4b4_0_10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72" name="Google Shape;1172;g3e54846f4b4_0_10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3e54846f4b4_0_10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2" name="Google Shape;1182;g3e54846f4b4_0_10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183" name="Google Shape;1183;g3e54846f4b4_0_10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e54846f4b4_0_10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e54846f4b4_0_10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196" name="Google Shape;1196;g3e54846f4b4_0_10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g3e54846f4b4_0_10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6" name="Google Shape;1206;g3e54846f4b4_0_10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mechanics in Spring for GraphQL. Spring for GraphQL is schema-first: the .graphqls file is the contract. We add totalMinor additively and mark the old total field with GraphQL's native @deprecated directive, carrying a human reason. The Java record on the data side contains both fields and Spring binds them when the field is queried (custom resolvers are needed only when a field comes from a different source). The field keeps working and nothing breaks, but the deprecation shows up in introspection, in the GraphiQL UI Spring serves at /graphiql, and in any IDE plugin that reads the schema. The crucial operational piece is the comment: you instrument field-level usage (Micrometer's Observation API hooks DataFetchingEnvironment so you can record per-field counters), and you only remove total when its usage drops to zero. That's the whole GraphQL philosophy — evolution governed by data, with the breaking removal deferred until provably safe. Each protocol answers the same problem differently.</a:t>
            </a:r>
            <a:endParaRPr/>
          </a:p>
        </p:txBody>
      </p:sp>
      <p:sp>
        <p:nvSpPr>
          <p:cNvPr id="1207" name="Google Shape;1207;g3e54846f4b4_0_10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7" name="Shape 1217"/>
        <p:cNvGrpSpPr/>
        <p:nvPr/>
      </p:nvGrpSpPr>
      <p:grpSpPr>
        <a:xfrm>
          <a:off x="0" y="0"/>
          <a:ext cx="0" cy="0"/>
          <a:chOff x="0" y="0"/>
          <a:chExt cx="0" cy="0"/>
        </a:xfrm>
      </p:grpSpPr>
      <p:sp>
        <p:nvSpPr>
          <p:cNvPr id="1218" name="Google Shape;1218;g3e54846f4b4_0_10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9" name="Google Shape;1219;g3e54846f4b4_0_10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20" name="Google Shape;1220;g3e54846f4b4_0_10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g3e54846f4b4_0_10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g3e54846f4b4_0_10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C covers the protocol left out of the main interaction-styles discussion, because it behaves so differently on Kubernetes. WebSockets are long-lived, stateful and pinned to a pod — the opposite of the stateless request model the platform assumes. We'll build one with Spring's WebSocket support (spring-boot-starter-websocket), see why it fights scaling, fix it with a backplane, make it fast and versioned with protobuf, and make it survivable with reconnection.</a:t>
            </a:r>
            <a:endParaRPr/>
          </a:p>
        </p:txBody>
      </p:sp>
      <p:sp>
        <p:nvSpPr>
          <p:cNvPr id="1230" name="Google Shape;1230;g3e54846f4b4_0_10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e54846f4b4_0_1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9" name="Google Shape;1239;g3e54846f4b4_0_1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 WebSocket makes the endpoint declarative: register one handler at a path in a small @Configuration class, then extend TextWebSocketHandler (or BinaryWebSocketHandler) and override the lifecycle methods you care about — afterConnectionEstablished, handleTextMessage, afterConnectionClosed. Constructor injection brings in any beans you need. But point hard at the conns map — the registry of who's connected lives in this pod's memory. That one design fact drives everything in this appendix: the connection and the knowledge of who's connected live on exactly one pod. Everything stateless about HTTP (any replica can serve any request) is now false. We then show what that does to scaling. (If you want a higher-level pub/sub style with topics and per-user destinations, Spring also ships STOMP-over-WebSocket via @EnableWebSocketMessageBroker; the trade-offs in this appendix still apply.)</a:t>
            </a:r>
            <a:endParaRPr/>
          </a:p>
        </p:txBody>
      </p:sp>
      <p:sp>
        <p:nvSpPr>
          <p:cNvPr id="1240" name="Google Shape;1240;g3e54846f4b4_0_1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0" name="Shape 1250"/>
        <p:cNvGrpSpPr/>
        <p:nvPr/>
      </p:nvGrpSpPr>
      <p:grpSpPr>
        <a:xfrm>
          <a:off x="0" y="0"/>
          <a:ext cx="0" cy="0"/>
          <a:chOff x="0" y="0"/>
          <a:chExt cx="0" cy="0"/>
        </a:xfrm>
      </p:grpSpPr>
      <p:sp>
        <p:nvSpPr>
          <p:cNvPr id="1251" name="Google Shape;1251;g3e54846f4b4_0_1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2" name="Google Shape;1252;g3e54846f4b4_0_1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53" name="Google Shape;1253;g3e54846f4b4_0_1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3e54846f4b4_0_1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3" name="Google Shape;1263;g3e54846f4b4_0_1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Every one of these is solved or eased by a pub/sub backplane.</a:t>
            </a:r>
            <a:endParaRPr/>
          </a:p>
        </p:txBody>
      </p:sp>
      <p:sp>
        <p:nvSpPr>
          <p:cNvPr id="1264" name="Google Shape;1264;g3e54846f4b4_0_1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g3e54846f4b4_0_1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g3e54846f4b4_0_1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that makes WebSockets horizontally scalable. Each pod still owns only its own sockets, which is fine, but every pod subscribes and publishes to a shared backplane: Redis pub/sub for low latency, or a Kafka topic if you want durability and replay. When a publisher wants to push order.updated to user X, it publishes to the backplane without knowing which pod holds X; the backplane fans the message to all pods, and the one pod that holds X's socket delivers it. Now scale-up and zero-downtime rollouts work again, because no pod is the single home of a conversation — connections can land anywhere and still receive everything. Redis is the common default; Kafka if you already run it and want the durability.</a:t>
            </a:r>
            <a:endParaRPr/>
          </a:p>
        </p:txBody>
      </p:sp>
      <p:sp>
        <p:nvSpPr>
          <p:cNvPr id="1274" name="Google Shape;1274;g3e54846f4b4_0_1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g3e54846f4b4_0_1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g3e54846f4b4_0_1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wins in one slide. Performance: protobuf binary frames via Spring's BinaryWebSocketHandler and session.sendMessage(new BinaryMessage(...)) are markedly smaller and cheaper to parse than JSON text — meaningful when pushing high-frequency updates to many sockets. The server parses the raw ByteBuffer directly into the generated Envelope type. Versioning: because WebSocket messages have no URL to hang a version on, you version the envelope. A version field lets the client detect an incompatible payload format and renegotiate; the type field dispatches to the right protobuf message; and a monotonic seq number per connection is what makes reconnection and replay possible, which the failure-handling material relies on. So the envelope solves both 'make it fast' and 'how do I version a socket message' at once.</a:t>
            </a:r>
            <a:endParaRPr/>
          </a:p>
        </p:txBody>
      </p:sp>
      <p:sp>
        <p:nvSpPr>
          <p:cNvPr id="1285" name="Google Shape;1285;g3e54846f4b4_0_1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5" name="Shape 1295"/>
        <p:cNvGrpSpPr/>
        <p:nvPr/>
      </p:nvGrpSpPr>
      <p:grpSpPr>
        <a:xfrm>
          <a:off x="0" y="0"/>
          <a:ext cx="0" cy="0"/>
          <a:chOff x="0" y="0"/>
          <a:chExt cx="0" cy="0"/>
        </a:xfrm>
      </p:grpSpPr>
      <p:sp>
        <p:nvSpPr>
          <p:cNvPr id="1296" name="Google Shape;1296;g3e54846f4b4_0_1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7" name="Google Shape;1297;g3e54846f4b4_0_1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298" name="Google Shape;1298;g3e54846f4b4_0_1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6" name="Shape 1306"/>
        <p:cNvGrpSpPr/>
        <p:nvPr/>
      </p:nvGrpSpPr>
      <p:grpSpPr>
        <a:xfrm>
          <a:off x="0" y="0"/>
          <a:ext cx="0" cy="0"/>
          <a:chOff x="0" y="0"/>
          <a:chExt cx="0" cy="0"/>
        </a:xfrm>
      </p:grpSpPr>
      <p:sp>
        <p:nvSpPr>
          <p:cNvPr id="1307" name="Google Shape;1307;g3e54846f4b4_0_1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8" name="Google Shape;1308;g3e54846f4b4_0_1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09" name="Google Shape;1309;g3e54846f4b4_0_1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g3e54846f4b4_0_1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g3e54846f4b4_0_1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19" name="Google Shape;1319;g3e54846f4b4_0_1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3e54846f4b4_0_1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8" name="Google Shape;1328;g3e54846f4b4_0_1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problem: the orchestrator must survive a crash mid-flow, so in-memory state is a non-starter — a pod restart would strand every in-flight saga with no idea what to compensate. Three real options. A DB-backed state machine: one row per saga instance holding its status and a context blob; you own the transitions — simplest, and great for most cases. Event-sourced: append each step as an event and rebuild state by replay — full audit history, fits naturally with the Kafka log. A workflow engine like Temporal: durable execution with retries and timers built in — most power, least code, but a new dependency to run. Example 17 runs the first option, and this appendix sets its code beside Temporal. The cross-cutting rule on screen: the state transition and the outbound command must commit together (the outbox pattern again), or you get lost or duplicated steps.</a:t>
            </a:r>
            <a:endParaRPr/>
          </a:p>
        </p:txBody>
      </p:sp>
      <p:sp>
        <p:nvSpPr>
          <p:cNvPr id="1329" name="Google Shape;1329;g3e54846f4b4_0_1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e54846f4b4_0_1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e54846f4b4_0_1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DB-backed option made concrete with Spring Data JPA, and the default choice when the team wants to own the transitions. Key ideas: one Saga entity row, loaded via EntityManager with a PESSIMISTIC_WRITE lock so two workers can't advance the same saga concurrently. The status guard makes advance() idempotent — calling it on a finished saga is a no-op, which matters because retries and redeliveries will call it again. Each successful step accumulates its result into the context map (the data-dependency pattern depends on it) and bumps the step index; @Transactional makes the save durable after every step, atomic with the work record. Recovery needs no special path: a Spring @Scheduled sweeper (with ShedLock so only one node runs it) loads RUNNING sagas and calls advance() again. Temporal, in this appendix, solves the same problem at a different point on the build-vs-buy spectrum; Example 17 runs the hand-rolled version with JdbcClient.</a:t>
            </a:r>
            <a:endParaRPr/>
          </a:p>
        </p:txBody>
      </p:sp>
      <p:sp>
        <p:nvSpPr>
          <p:cNvPr id="1340" name="Google Shape;1340;g3e54846f4b4_0_1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0" name="Shape 1350"/>
        <p:cNvGrpSpPr/>
        <p:nvPr/>
      </p:nvGrpSpPr>
      <p:grpSpPr>
        <a:xfrm>
          <a:off x="0" y="0"/>
          <a:ext cx="0" cy="0"/>
          <a:chOff x="0" y="0"/>
          <a:chExt cx="0" cy="0"/>
        </a:xfrm>
      </p:grpSpPr>
      <p:sp>
        <p:nvSpPr>
          <p:cNvPr id="1351" name="Google Shape;1351;g3e54846f4b4_0_1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2" name="Google Shape;1352;g3e54846f4b4_0_1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53" name="Google Shape;1353;g3e54846f4b4_0_1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1" name="Shape 1361"/>
        <p:cNvGrpSpPr/>
        <p:nvPr/>
      </p:nvGrpSpPr>
      <p:grpSpPr>
        <a:xfrm>
          <a:off x="0" y="0"/>
          <a:ext cx="0" cy="0"/>
          <a:chOff x="0" y="0"/>
          <a:chExt cx="0" cy="0"/>
        </a:xfrm>
      </p:grpSpPr>
      <p:sp>
        <p:nvSpPr>
          <p:cNvPr id="1362" name="Google Shape;1362;g3e54846f4b4_0_1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3" name="Google Shape;1363;g3e54846f4b4_0_1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compensation logic. A simple Map gives each forward step its inverse. We iterate the completed steps (subList up to stepIndex) in reverse, newest first, and invoke each compensation. The idempotency key built from sagaId plus step is the line that prevents the nightmare scenario: a retry double-refunding a customer. The compensating service dedupes on that key. In production you'd track per-step compensation status too, so if compensation itself crashes halfway you resume from the right place — but the idempotency key makes even naive re-runs safe. This is why compensations are designed up front, as part of each step, not bolted on after. If you use Temporal instead, its Saga utility (Workflow.newSaga(...).addCompensation(...)) drives the unwind for you with the same guarantees; the Temporal slides in this appendix show it.</a:t>
            </a:r>
            <a:endParaRPr/>
          </a:p>
        </p:txBody>
      </p:sp>
      <p:sp>
        <p:nvSpPr>
          <p:cNvPr id="1364" name="Google Shape;1364;g3e54846f4b4_0_1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4" name="Shape 1374"/>
        <p:cNvGrpSpPr/>
        <p:nvPr/>
      </p:nvGrpSpPr>
      <p:grpSpPr>
        <a:xfrm>
          <a:off x="0" y="0"/>
          <a:ext cx="0" cy="0"/>
          <a:chOff x="0" y="0"/>
          <a:chExt cx="0" cy="0"/>
        </a:xfrm>
      </p:grpSpPr>
      <p:sp>
        <p:nvSpPr>
          <p:cNvPr id="1375" name="Google Shape;1375;g3e54846f4b4_0_1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6" name="Google Shape;1376;g3e54846f4b4_0_1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case is a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's.getContext().put(step, result)' line is exactly this. Temporal does the same through its workflow input/output passing, and Example 17 stores each step's result in the saga's JSONB context under the step name.</a:t>
            </a:r>
            <a:endParaRPr/>
          </a:p>
        </p:txBody>
      </p:sp>
      <p:sp>
        <p:nvSpPr>
          <p:cNvPr id="1377" name="Google Shape;1377;g3e54846f4b4_0_1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5" name="Shape 1385"/>
        <p:cNvGrpSpPr/>
        <p:nvPr/>
      </p:nvGrpSpPr>
      <p:grpSpPr>
        <a:xfrm>
          <a:off x="0" y="0"/>
          <a:ext cx="0" cy="0"/>
          <a:chOff x="0" y="0"/>
          <a:chExt cx="0" cy="0"/>
        </a:xfrm>
      </p:grpSpPr>
      <p:sp>
        <p:nvSpPr>
          <p:cNvPr id="1386" name="Google Shape;1386;g3e54846f4b4_0_1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7" name="Google Shape;1387;g3e54846f4b4_0_1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choice as owning the transitions against buying durable execution. Both are open source and both survive a pod crash mid-flow.</a:t>
            </a:r>
            <a:endParaRPr/>
          </a:p>
          <a:p>
            <a:pPr indent="0" lvl="0" marL="0" rtl="0" algn="l">
              <a:spcBef>
                <a:spcPts val="0"/>
              </a:spcBef>
              <a:spcAft>
                <a:spcPts val="0"/>
              </a:spcAft>
              <a:buNone/>
            </a:pPr>
            <a:r>
              <a:rPr lang="en-US"/>
              <a:t>The hand-rolled orchestrator is what Example 17 runs: a sagas table with one row per saga holding status, step_index and a JSONB context, and a saga_log table that records every execute, failed and compensate action. Each step runs in its own transaction that locks the row, runs the step and commits the new context and step index together. On startup the service resumes every saga still marked RUNNING. Nothing new to operate.</a:t>
            </a:r>
            <a:endParaRPr/>
          </a:p>
          <a:p>
            <a:pPr indent="0" lvl="0" marL="0" rtl="0" algn="l">
              <a:spcBef>
                <a:spcPts val="0"/>
              </a:spcBef>
              <a:spcAft>
                <a:spcPts val="0"/>
              </a:spcAft>
              <a:buNone/>
            </a:pPr>
            <a:r>
              <a:rPr lang="en-US"/>
              <a:t>Temporal: founded by the original Cadence team, MIT-licensed Server and Apache-2.0 Java SDK, actively maintained. It adds durable execution, deterministic replay, automatic retries with backoff, timers, a Saga compensation utility, child workflows, and a CLI and UI to inspect runs. The cost is operating a Temporal cluster, which runs on your own Kubernetes with no SaaS required.</a:t>
            </a:r>
            <a:endParaRPr/>
          </a:p>
          <a:p>
            <a:pPr indent="0" lvl="0" marL="0" rtl="0" algn="l">
              <a:spcBef>
                <a:spcPts val="0"/>
              </a:spcBef>
              <a:spcAft>
                <a:spcPts val="0"/>
              </a:spcAft>
              <a:buNone/>
            </a:pPr>
            <a:r>
              <a:rPr lang="en-US"/>
              <a:t>Spring Statemachine is archived upstream: github.com/spring-projects/spring-statemachine is a read-only archive whose README says the project is no longer maintained (last release 4.0.2, June 2026), and the spring.io announcement of 21 April 2025 made 4.0.x the last open-source line, with later releases for commercial Tanzu Spring customers only. That conflicts with the open-source-only rule, so the deck does not offer it.</a:t>
            </a:r>
            <a:endParaRPr/>
          </a:p>
          <a:p>
            <a:pPr indent="0" lvl="0" marL="0" rtl="0" algn="l">
              <a:spcBef>
                <a:spcPts val="0"/>
              </a:spcBef>
              <a:spcAft>
                <a:spcPts val="0"/>
              </a:spcAft>
              <a:buNone/>
            </a:pPr>
            <a:r>
              <a:rPr lang="en-US"/>
              <a:t>The decision rule to leave with the audience: the question is how much engine this saga needs.</a:t>
            </a:r>
            <a:endParaRPr/>
          </a:p>
        </p:txBody>
      </p:sp>
      <p:sp>
        <p:nvSpPr>
          <p:cNvPr id="1388" name="Google Shape;1388;g3e54846f4b4_0_1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5" name="Shape 1395"/>
        <p:cNvGrpSpPr/>
        <p:nvPr/>
      </p:nvGrpSpPr>
      <p:grpSpPr>
        <a:xfrm>
          <a:off x="0" y="0"/>
          <a:ext cx="0" cy="0"/>
          <a:chOff x="0" y="0"/>
          <a:chExt cx="0" cy="0"/>
        </a:xfrm>
      </p:grpSpPr>
      <p:sp>
        <p:nvSpPr>
          <p:cNvPr id="1396" name="Google Shape;1396;g3e54846f4b4_0_12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7" name="Google Shape;1397;g3e54846f4b4_0_12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picture. Three boxes. On the left, your client, a REST handler in a Spring Boot app, calls WorkflowClient.start(...) to kick off a workflow. In the middle, the Temporal Server: a cluster of Frontend, Matching and History services backed by Postgres (or MySQL / Cassandra) that persists every workflow event (every activity invocation, every result, every timer firing), so the workflow can be reconstructed from scratch by replay. On the right, the Worker: another Spring Boot app where you implement the workflow as a regular Java class (FulfillmentWorkflowImpl with @WorkflowMethod) and the activities as regular Spring beans. The worker polls a task queue, gets the next workflow task, executes the next deterministic step. Crash the worker mid-flow and Temporal reissues the task to another worker, which replays history and resumes exactly where you were — no lost steps, no double-charges. That's durable execution. The bottom captions hammer the open-source posture: Temporal Server is MIT, the Java SDK is Apache 2.0, both running on your Kubernetes if you want, no SaaS lock-in.</a:t>
            </a:r>
            <a:endParaRPr/>
          </a:p>
        </p:txBody>
      </p:sp>
      <p:sp>
        <p:nvSpPr>
          <p:cNvPr id="1398" name="Google Shape;1398;g3e54846f4b4_0_12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6" name="Shape 1406"/>
        <p:cNvGrpSpPr/>
        <p:nvPr/>
      </p:nvGrpSpPr>
      <p:grpSpPr>
        <a:xfrm>
          <a:off x="0" y="0"/>
          <a:ext cx="0" cy="0"/>
          <a:chOff x="0" y="0"/>
          <a:chExt cx="0" cy="0"/>
        </a:xfrm>
      </p:grpSpPr>
      <p:sp>
        <p:nvSpPr>
          <p:cNvPr id="1407" name="Google Shape;1407;g3e54846f4b4_0_12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8" name="Google Shape;1408;g3e54846f4b4_0_12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whole story on one slide. ActivityInterfaces are plain Spring beans annotated @ActivityInterface, registered with the worker at startup. The Workflow interface is annotated @WorkflowInterface with one @WorkflowMethod entry point; the impl is plain Java that looks synchronous but every activity call goes through Temporal's task queue and is durably scheduled, retried (configurable retry policy on the stub), and timed-out on the Server. The output of each activity (paymentId, reservationId) is captured in a workflow-local variable and in Temporal's event history; if the worker dies between charge and reserve, a replacement worker replays history, recovers paymentId, and continues at reserve without re-running charge. Note the Saga utility from the Temporal SDK: addCompensation registers an undo for each completed step, and saga.compensate() runs them in reverse on failure — the same compensation discipline from earlier, but built into the SDK. Bootstrapping in Spring Boot: define a WorkflowServiceStubs bean (pointing at your Temporal Server), a WorkflowClient bean, and a WorkerFactory that starts a Worker, registering activity beans and workflow implementation types. The temporal-spring-boot-autoconfigure project does most of that wiring for you.</a:t>
            </a:r>
            <a:endParaRPr/>
          </a:p>
        </p:txBody>
      </p:sp>
      <p:sp>
        <p:nvSpPr>
          <p:cNvPr id="1409" name="Google Shape;1409;g3e54846f4b4_0_12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9" name="Shape 1419"/>
        <p:cNvGrpSpPr/>
        <p:nvPr/>
      </p:nvGrpSpPr>
      <p:grpSpPr>
        <a:xfrm>
          <a:off x="0" y="0"/>
          <a:ext cx="0" cy="0"/>
          <a:chOff x="0" y="0"/>
          <a:chExt cx="0" cy="0"/>
        </a:xfrm>
      </p:grpSpPr>
      <p:sp>
        <p:nvSpPr>
          <p:cNvPr id="1420" name="Google Shape;1420;g3e54846f4b4_0_1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1" name="Google Shape;1421;g3e54846f4b4_0_1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picture: the saga-orchestrator service of Example 17. POST /sagas creates a sagas row (status RUNNING, step_index 0, the order in a JSONB context) and runs the steps in order: charge_payment, reserve_stock, book_shipping. Postgres holds two tables: sagas, one row per saga, and saga_log, one row per execute, failed or compensate action.</a:t>
            </a:r>
            <a:endParaRPr/>
          </a:p>
          <a:p>
            <a:pPr indent="0" lvl="0" marL="0" rtl="0" algn="l">
              <a:spcBef>
                <a:spcPts val="0"/>
              </a:spcBef>
              <a:spcAft>
                <a:spcPts val="0"/>
              </a:spcAft>
              <a:buNone/>
            </a:pPr>
            <a:r>
              <a:rPr lang="en-US"/>
              <a:t>Each step runs in its own transaction. The orchestrator locks the row with SELECT ... FOR UPDATE, returns at once unless the status is RUNNING (a repeated call is a no-op), runs the step, writes its output into the context and the log, and moves step_index forward, all in one commit. When the index passes the last step the status becomes COMPLETED.</a:t>
            </a:r>
            <a:endParaRPr/>
          </a:p>
          <a:p>
            <a:pPr indent="0" lvl="0" marL="0" rtl="0" algn="l">
              <a:spcBef>
                <a:spcPts val="0"/>
              </a:spcBef>
              <a:spcAft>
                <a:spcPts val="0"/>
              </a:spcAft>
              <a:buNone/>
            </a:pPr>
            <a:r>
              <a:rPr lang="en-US"/>
              <a:t>When a step throws, the same transaction logs the failure and sets COMPENSATING; the compensation pass then walks the completed steps in reverse (release_stock, then refund_payment) and ends in COMPENSATED. The dashed path in the picture is that unwind.</a:t>
            </a:r>
            <a:endParaRPr/>
          </a:p>
          <a:p>
            <a:pPr indent="0" lvl="0" marL="0" rtl="0" algn="l">
              <a:spcBef>
                <a:spcPts val="0"/>
              </a:spcBef>
              <a:spcAft>
                <a:spcPts val="0"/>
              </a:spcAft>
              <a:buNone/>
            </a:pPr>
            <a:r>
              <a:rPr lang="en-US"/>
              <a:t>Recovery is a StartupRunner: on boot it advances every saga still marked RUNNING. Everything runs in-process in the Spring Boot app, on the Postgres you already operate.</a:t>
            </a:r>
            <a:endParaRPr/>
          </a:p>
        </p:txBody>
      </p:sp>
      <p:sp>
        <p:nvSpPr>
          <p:cNvPr id="1422" name="Google Shape;1422;g3e54846f4b4_0_1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0" name="Shape 1430"/>
        <p:cNvGrpSpPr/>
        <p:nvPr/>
      </p:nvGrpSpPr>
      <p:grpSpPr>
        <a:xfrm>
          <a:off x="0" y="0"/>
          <a:ext cx="0" cy="0"/>
          <a:chOff x="0" y="0"/>
          <a:chExt cx="0" cy="0"/>
        </a:xfrm>
      </p:grpSpPr>
      <p:sp>
        <p:nvSpPr>
          <p:cNvPr id="1431" name="Google Shape;1431;g3e54846f4b4_0_12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2" name="Google Shape;1432;g3e54846f4b4_0_12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excerpt is advance() from SagaService in Example 17, condensed where it talks to Postgres: lockRow, saveProgress, logStep and markStatus stand for its JdbcClient calls, and the failed-step log row is left out.</a:t>
            </a:r>
            <a:endParaRPr/>
          </a:p>
          <a:p>
            <a:pPr indent="0" lvl="0" marL="0" rtl="0" algn="l">
              <a:spcBef>
                <a:spcPts val="0"/>
              </a:spcBef>
              <a:spcAft>
                <a:spcPts val="0"/>
              </a:spcAft>
              <a:buNone/>
            </a:pPr>
            <a:r>
              <a:rPr lang="en-US"/>
              <a:t>STEPS is a list of SagaStep records pairing each forward step with its compensation (charge_payment with refund_payment, reserve_stock with release_stock, book_shipping with cancel_shipping), so the unwind order is data. advance() opens a TransactionTemplate, locks the saga row with SELECT ... FOR UPDATE and returns at once unless the status is RUNNING, so a redelivered request or a second worker finds a finished saga and does nothing.</a:t>
            </a:r>
            <a:endParaRPr/>
          </a:p>
          <a:p>
            <a:pPr indent="0" lvl="0" marL="0" rtl="0" algn="l">
              <a:spcBef>
                <a:spcPts val="0"/>
              </a:spcBef>
              <a:spcAft>
                <a:spcPts val="0"/>
              </a:spcAft>
              <a:buNone/>
            </a:pPr>
            <a:r>
              <a:rPr lang="en-US"/>
              <a:t>Inside the transaction the step runs, its result goes into the JSONB context under the step's name (this is how book_shipping can read what reserve_stock produced), the log row is written, and step_index moves forward. The lock, the log and the new state commit together, the same rule as the outbox.</a:t>
            </a:r>
            <a:endParaRPr/>
          </a:p>
          <a:p>
            <a:pPr indent="0" lvl="0" marL="0" rtl="0" algn="l">
              <a:spcBef>
                <a:spcPts val="0"/>
              </a:spcBef>
              <a:spcAft>
                <a:spcPts val="0"/>
              </a:spcAft>
              <a:buNone/>
            </a:pPr>
            <a:r>
              <a:rPr lang="en-US"/>
              <a:t>After the commit, advance() calls itself for the next step in a new transaction. A crash rolls back at most the step in flight, which runs again on resume, so every step must be idempotent. A thrown exception marks the saga COMPENSATING, and compensate() runs the completed steps' compensations in reverse before setting COMPENSATED.</a:t>
            </a:r>
            <a:endParaRPr/>
          </a:p>
          <a:p>
            <a:pPr indent="0" lvl="0" marL="0" rtl="0" algn="l">
              <a:spcBef>
                <a:spcPts val="0"/>
              </a:spcBef>
              <a:spcAft>
                <a:spcPts val="0"/>
              </a:spcAft>
              <a:buNone/>
            </a:pPr>
            <a:r>
              <a:rPr lang="en-US"/>
              <a:t>Compared with Temporal: no extra server, but no built-in retries, timers or replay; the retry and resume logic is yours. The step executor in the example simulates the three services.</a:t>
            </a:r>
            <a:endParaRPr/>
          </a:p>
        </p:txBody>
      </p:sp>
      <p:sp>
        <p:nvSpPr>
          <p:cNvPr id="1433" name="Google Shape;1433;g3e54846f4b4_0_12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3" name="Shape 1443"/>
        <p:cNvGrpSpPr/>
        <p:nvPr/>
      </p:nvGrpSpPr>
      <p:grpSpPr>
        <a:xfrm>
          <a:off x="0" y="0"/>
          <a:ext cx="0" cy="0"/>
          <a:chOff x="0" y="0"/>
          <a:chExt cx="0" cy="0"/>
        </a:xfrm>
      </p:grpSpPr>
      <p:sp>
        <p:nvSpPr>
          <p:cNvPr id="1444" name="Google Shape;1444;g3e54846f4b4_0_1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5" name="Google Shape;1445;g3e54846f4b4_0_12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46" name="Google Shape;1446;g3e54846f4b4_0_12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3" name="Shape 1453"/>
        <p:cNvGrpSpPr/>
        <p:nvPr/>
      </p:nvGrpSpPr>
      <p:grpSpPr>
        <a:xfrm>
          <a:off x="0" y="0"/>
          <a:ext cx="0" cy="0"/>
          <a:chOff x="0" y="0"/>
          <a:chExt cx="0" cy="0"/>
        </a:xfrm>
      </p:grpSpPr>
      <p:sp>
        <p:nvSpPr>
          <p:cNvPr id="1454" name="Google Shape;1454;g3e54846f4b4_0_1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5" name="Google Shape;1455;g3e54846f4b4_0_1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56" name="Google Shape;1456;g3e54846f4b4_0_1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g3e54846f4b4_0_13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g3e54846f4b4_0_13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467" name="Google Shape;1467;g3e54846f4b4_0_13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5" name="Shape 1475"/>
        <p:cNvGrpSpPr/>
        <p:nvPr/>
      </p:nvGrpSpPr>
      <p:grpSpPr>
        <a:xfrm>
          <a:off x="0" y="0"/>
          <a:ext cx="0" cy="0"/>
          <a:chOff x="0" y="0"/>
          <a:chExt cx="0" cy="0"/>
        </a:xfrm>
      </p:grpSpPr>
      <p:sp>
        <p:nvSpPr>
          <p:cNvPr id="1476" name="Google Shape;1476;g3e54846f4b4_0_13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7" name="Google Shape;1477;g3e54846f4b4_0_13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 Framework 6 introduced ProblemDetail and ErrorResponseException; Spring 7 (Boot 4) leans on them as the default. Two complementary patterns. (1) A @RestControllerAdvice that extends ResponseEntityExceptionHandler is the central mapping point — domain code throws typed exceptions, one @ExceptionHandler per family builds a ProblemDetail, and Spring sets the Content-Type to application/problem+json automatically. Use setType for the URI, setTitle for the human label, setProperty for the extensions (machine code, traceId, anything else). (2) For checked, well-known errors, subclass ErrorResponseException and just throw — Spring's built-in handler picks it up. What the body leaves out: any stack trace, exception class name or SQL; those leak internals and are an attack surface. You can also opt in to Spring Boot's default ProblemDetailsExceptionHandler with spring.mvc.problemdetails=true if you want all framework exceptions returned as ProblemDetail too.</a:t>
            </a:r>
            <a:endParaRPr/>
          </a:p>
        </p:txBody>
      </p:sp>
      <p:sp>
        <p:nvSpPr>
          <p:cNvPr id="1478" name="Google Shape;1478;g3e54846f4b4_0_13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8" name="Shape 1488"/>
        <p:cNvGrpSpPr/>
        <p:nvPr/>
      </p:nvGrpSpPr>
      <p:grpSpPr>
        <a:xfrm>
          <a:off x="0" y="0"/>
          <a:ext cx="0" cy="0"/>
          <a:chOff x="0" y="0"/>
          <a:chExt cx="0" cy="0"/>
        </a:xfrm>
      </p:grpSpPr>
      <p:sp>
        <p:nvSpPr>
          <p:cNvPr id="1489" name="Google Shape;1489;g3e54846f4b4_0_13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0" name="Google Shape;1490;g3e54846f4b4_0_13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491" name="Google Shape;1491;g3e54846f4b4_0_13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9" name="Shape 1499"/>
        <p:cNvGrpSpPr/>
        <p:nvPr/>
      </p:nvGrpSpPr>
      <p:grpSpPr>
        <a:xfrm>
          <a:off x="0" y="0"/>
          <a:ext cx="0" cy="0"/>
          <a:chOff x="0" y="0"/>
          <a:chExt cx="0" cy="0"/>
        </a:xfrm>
      </p:grpSpPr>
      <p:sp>
        <p:nvSpPr>
          <p:cNvPr id="1500" name="Google Shape;1500;g3e54846f4b4_0_13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1" name="Google Shape;1501;g3e54846f4b4_0_13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grpc-java's standard rich-error model via StatusProto — the same API surface whether you're on Spring Boot or any other JVM stack. The canonical code UNAVAILABLE tells the client and the mesh this is transient and retryable; the google.rpc.Status carries structured details — ErrorInfo with a machine reason and domain, and RetryInfo telling the client exactly how long to wait. StatusProto.toStatusRuntimeException packs it into the trailers, and responseObserver.onError signals the failure. The key discipline: don't overload a generic INTERNAL code for everything — the code is how automated clients and Istio decide whether and when to retry, so getting it right is what prevents both lost work and retry storms.</a:t>
            </a:r>
            <a:endParaRPr/>
          </a:p>
        </p:txBody>
      </p:sp>
      <p:sp>
        <p:nvSpPr>
          <p:cNvPr id="1502" name="Google Shape;1502;g3e54846f4b4_0_13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2" name="Shape 1512"/>
        <p:cNvGrpSpPr/>
        <p:nvPr/>
      </p:nvGrpSpPr>
      <p:grpSpPr>
        <a:xfrm>
          <a:off x="0" y="0"/>
          <a:ext cx="0" cy="0"/>
          <a:chOff x="0" y="0"/>
          <a:chExt cx="0" cy="0"/>
        </a:xfrm>
      </p:grpSpPr>
      <p:sp>
        <p:nvSpPr>
          <p:cNvPr id="1513" name="Google Shape;1513;g3e54846f4b4_0_13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4" name="Google Shape;1514;g3e54846f4b4_0_13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With Spring Kafka this is configuration (DefaultErrorHandler + DeadLetterPublishingRecoverer, or RetryTopicConfigurationBuilder for delayed-retry topics), not hand-rolled plumbing.</a:t>
            </a:r>
            <a:endParaRPr/>
          </a:p>
        </p:txBody>
      </p:sp>
      <p:sp>
        <p:nvSpPr>
          <p:cNvPr id="1515" name="Google Shape;1515;g3e54846f4b4_0_13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3" name="Shape 1523"/>
        <p:cNvGrpSpPr/>
        <p:nvPr/>
      </p:nvGrpSpPr>
      <p:grpSpPr>
        <a:xfrm>
          <a:off x="0" y="0"/>
          <a:ext cx="0" cy="0"/>
          <a:chOff x="0" y="0"/>
          <a:chExt cx="0" cy="0"/>
        </a:xfrm>
      </p:grpSpPr>
      <p:sp>
        <p:nvSpPr>
          <p:cNvPr id="1524" name="Google Shape;1524;g3e54846f4b4_0_13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5" name="Google Shape;1525;g3e54846f4b4_0_13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 Kafka wires this up declaratively. DefaultErrorHandler is the SeekToCurrentErrorHandler successor that gives bounded in-place retries with ExponentialBackOffWithMaxRetries (200ms initial, 2x multiplier, capped at 5s, 3 attempts). When retries are exhausted the DeadLetterPublishingRecoverer writes the record to a sibling DLQ topic and commits the offset, so the consumer keeps making progress — a poison record never causes head-of-line blocking. The non-retryable list short-circuits validation errors straight to DLQ (no point retrying a 4xx). For multi-topic retry-with-delay flows, RetryTopicConfigurationBuilder lets you declare 5s/30s/5m retry topics fluently (analogous to SmallRye's delayed-retry-topic). Make handle() idempotent — at-least-once delivery means retried records may have partially applied. The error handler is registered on your ConcurrentKafkaListenerContainerFactory so all @KafkaListener methods inherit it.</a:t>
            </a:r>
            <a:endParaRPr/>
          </a:p>
        </p:txBody>
      </p:sp>
      <p:sp>
        <p:nvSpPr>
          <p:cNvPr id="1526" name="Google Shape;1526;g3e54846f4b4_0_13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6" name="Shape 1536"/>
        <p:cNvGrpSpPr/>
        <p:nvPr/>
      </p:nvGrpSpPr>
      <p:grpSpPr>
        <a:xfrm>
          <a:off x="0" y="0"/>
          <a:ext cx="0" cy="0"/>
          <a:chOff x="0" y="0"/>
          <a:chExt cx="0" cy="0"/>
        </a:xfrm>
      </p:grpSpPr>
      <p:sp>
        <p:nvSpPr>
          <p:cNvPr id="1537" name="Google Shape;1537;g3e54846f4b4_0_13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8" name="Google Shape;1538;g3e54846f4b4_0_13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539" name="Google Shape;1539;g3e54846f4b4_0_13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7" name="Shape 1547"/>
        <p:cNvGrpSpPr/>
        <p:nvPr/>
      </p:nvGrpSpPr>
      <p:grpSpPr>
        <a:xfrm>
          <a:off x="0" y="0"/>
          <a:ext cx="0" cy="0"/>
          <a:chOff x="0" y="0"/>
          <a:chExt cx="0" cy="0"/>
        </a:xfrm>
      </p:grpSpPr>
      <p:sp>
        <p:nvSpPr>
          <p:cNvPr id="1548" name="Google Shape;1548;g3e54846f4b4_0_13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9" name="Google Shape;1549;g3e54846f4b4_0_13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Throwing from a single field's resolver is exactly right: Spring for GraphQL's exception-resolution chain catches it, sets that field to null, and appends an entry to errors[] with the message and path — while every other field resolves and returns normally. The DataFetcherExceptionResolver (or its convenience adapter DataFetcherExceptionResolverAdapter) is the central mapping point — one @Component, one method per exception family, return a GraphQLError built via GraphqlErrorBuilder, and the framework places it in the response correctly. ErrorType gives you the standard categories (NOT_FOUND, UNAUTHORIZED, FORBIDDEN, BAD_REQUEST, INTERNAL_ERROR, UNAVAILABLE) that map sensibly across clients; extensions carries the machine code, retryable flag, and traceId — the same five facts as everywhere else. Resist letting the exception bubble to the top and fail the whole operation — that's the blanket-failure anti-pattern. The client sees the order and total, sees stock is null, reads extensions.code, and decides whether to retry just stock.</a:t>
            </a:r>
            <a:endParaRPr/>
          </a:p>
        </p:txBody>
      </p:sp>
      <p:sp>
        <p:nvSpPr>
          <p:cNvPr id="1550" name="Google Shape;1550;g3e54846f4b4_0_13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0" name="Shape 1560"/>
        <p:cNvGrpSpPr/>
        <p:nvPr/>
      </p:nvGrpSpPr>
      <p:grpSpPr>
        <a:xfrm>
          <a:off x="0" y="0"/>
          <a:ext cx="0" cy="0"/>
          <a:chOff x="0" y="0"/>
          <a:chExt cx="0" cy="0"/>
        </a:xfrm>
      </p:grpSpPr>
      <p:sp>
        <p:nvSpPr>
          <p:cNvPr id="1561" name="Google Shape;1561;g3e54846f4b4_0_13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2" name="Google Shape;1562;g3e54846f4b4_0_13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In Spring Boot 4, the built-in retry API in spring-core (with @Retryable / RetryTemplate, supporting backoff and jitter) plus Resilience4j for circuit breakers and bulkheads, plus the Istio config from section 2, give you these at both the code and mesh layers.</a:t>
            </a:r>
            <a:endParaRPr/>
          </a:p>
        </p:txBody>
      </p:sp>
      <p:sp>
        <p:nvSpPr>
          <p:cNvPr id="1563" name="Google Shape;1563;g3e54846f4b4_0_13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1" name="Shape 1571"/>
        <p:cNvGrpSpPr/>
        <p:nvPr/>
      </p:nvGrpSpPr>
      <p:grpSpPr>
        <a:xfrm>
          <a:off x="0" y="0"/>
          <a:ext cx="0" cy="0"/>
          <a:chOff x="0" y="0"/>
          <a:chExt cx="0" cy="0"/>
        </a:xfrm>
      </p:grpSpPr>
      <p:sp>
        <p:nvSpPr>
          <p:cNvPr id="1572" name="Google Shape;1572;g3e54846f4b4_0_14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3" name="Google Shape;1573;g3e54846f4b4_0_14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(Spring Boot 4's built-in retry API gives you @Retryable with exponential backoff + jitter, and Resilience4j adds @CircuitBreaker and @TimeLimiter declaratively), protected by a retry budget, and every handler idempotent so a redelivered or retried request is safe. Get these right and your failure paths become as boring as your happy paths.</a:t>
            </a:r>
            <a:endParaRPr/>
          </a:p>
        </p:txBody>
      </p:sp>
      <p:sp>
        <p:nvSpPr>
          <p:cNvPr id="1574" name="Google Shape;1574;g3e54846f4b4_0_14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1" name="Shape 1581"/>
        <p:cNvGrpSpPr/>
        <p:nvPr/>
      </p:nvGrpSpPr>
      <p:grpSpPr>
        <a:xfrm>
          <a:off x="0" y="0"/>
          <a:ext cx="0" cy="0"/>
          <a:chOff x="0" y="0"/>
          <a:chExt cx="0" cy="0"/>
        </a:xfrm>
      </p:grpSpPr>
      <p:sp>
        <p:nvSpPr>
          <p:cNvPr id="1582" name="Google Shape;1582;g3e54846f4b4_0_14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3" name="Google Shape;1583;g3e54846f4b4_0_14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584" name="Google Shape;1584;g3e54846f4b4_0_14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1" name="Shape 1591"/>
        <p:cNvGrpSpPr/>
        <p:nvPr/>
      </p:nvGrpSpPr>
      <p:grpSpPr>
        <a:xfrm>
          <a:off x="0" y="0"/>
          <a:ext cx="0" cy="0"/>
          <a:chOff x="0" y="0"/>
          <a:chExt cx="0" cy="0"/>
        </a:xfrm>
      </p:grpSpPr>
      <p:sp>
        <p:nvSpPr>
          <p:cNvPr id="1592" name="Google Shape;1592;g3e54846f4b4_0_14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3" name="Google Shape;1593;g3e54846f4b4_0_14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594" name="Google Shape;1594;g3e54846f4b4_0_14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1" name="Shape 1601"/>
        <p:cNvGrpSpPr/>
        <p:nvPr/>
      </p:nvGrpSpPr>
      <p:grpSpPr>
        <a:xfrm>
          <a:off x="0" y="0"/>
          <a:ext cx="0" cy="0"/>
          <a:chOff x="0" y="0"/>
          <a:chExt cx="0" cy="0"/>
        </a:xfrm>
      </p:grpSpPr>
      <p:sp>
        <p:nvSpPr>
          <p:cNvPr id="1602" name="Google Shape;1602;g3e54846f4b4_0_14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3" name="Google Shape;1603;g3e54846f4b4_0_14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604" name="Google Shape;1604;g3e54846f4b4_0_14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2" name="Shape 1612"/>
        <p:cNvGrpSpPr/>
        <p:nvPr/>
      </p:nvGrpSpPr>
      <p:grpSpPr>
        <a:xfrm>
          <a:off x="0" y="0"/>
          <a:ext cx="0" cy="0"/>
          <a:chOff x="0" y="0"/>
          <a:chExt cx="0" cy="0"/>
        </a:xfrm>
      </p:grpSpPr>
      <p:sp>
        <p:nvSpPr>
          <p:cNvPr id="1613" name="Google Shape;1613;g3e54846f4b4_0_14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4" name="Google Shape;1614;g3e54846f4b4_0_14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615" name="Google Shape;1615;g3e54846f4b4_0_14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2" name="Shape 1622"/>
        <p:cNvGrpSpPr/>
        <p:nvPr/>
      </p:nvGrpSpPr>
      <p:grpSpPr>
        <a:xfrm>
          <a:off x="0" y="0"/>
          <a:ext cx="0" cy="0"/>
          <a:chOff x="0" y="0"/>
          <a:chExt cx="0" cy="0"/>
        </a:xfrm>
      </p:grpSpPr>
      <p:sp>
        <p:nvSpPr>
          <p:cNvPr id="1623" name="Google Shape;1623;g3e54846f4b4_0_14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4" name="Google Shape;1624;g3e54846f4b4_0_14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explicitly.</a:t>
            </a:r>
            <a:endParaRPr/>
          </a:p>
        </p:txBody>
      </p:sp>
      <p:sp>
        <p:nvSpPr>
          <p:cNvPr id="1625" name="Google Shape;1625;g3e54846f4b4_0_14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3" name="Shape 1633"/>
        <p:cNvGrpSpPr/>
        <p:nvPr/>
      </p:nvGrpSpPr>
      <p:grpSpPr>
        <a:xfrm>
          <a:off x="0" y="0"/>
          <a:ext cx="0" cy="0"/>
          <a:chOff x="0" y="0"/>
          <a:chExt cx="0" cy="0"/>
        </a:xfrm>
      </p:grpSpPr>
      <p:sp>
        <p:nvSpPr>
          <p:cNvPr id="1634" name="Google Shape;1634;g3e54846f4b4_0_14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5" name="Google Shape;1635;g3e54846f4b4_0_14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where DDD vocabulary connects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636" name="Google Shape;1636;g3e54846f4b4_0_14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3" name="Shape 1643"/>
        <p:cNvGrpSpPr/>
        <p:nvPr/>
      </p:nvGrpSpPr>
      <p:grpSpPr>
        <a:xfrm>
          <a:off x="0" y="0"/>
          <a:ext cx="0" cy="0"/>
          <a:chOff x="0" y="0"/>
          <a:chExt cx="0" cy="0"/>
        </a:xfrm>
      </p:grpSpPr>
      <p:sp>
        <p:nvSpPr>
          <p:cNvPr id="1644" name="Google Shape;1644;g3e54846f4b4_0_14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5" name="Google Shape;1645;g3e54846f4b4_0_14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46" name="Google Shape;1646;g3e54846f4b4_0_14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4" name="Shape 1654"/>
        <p:cNvGrpSpPr/>
        <p:nvPr/>
      </p:nvGrpSpPr>
      <p:grpSpPr>
        <a:xfrm>
          <a:off x="0" y="0"/>
          <a:ext cx="0" cy="0"/>
          <a:chOff x="0" y="0"/>
          <a:chExt cx="0" cy="0"/>
        </a:xfrm>
      </p:grpSpPr>
      <p:sp>
        <p:nvSpPr>
          <p:cNvPr id="1655" name="Google Shape;1655;g3e54846f4b4_0_14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6" name="Google Shape;1656;g3e54846f4b4_0_14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three blocks. Ports: the domain declares plain Java interfaces (a repository and an event publisher) and depends on nothing else (no Spring imports anywhere in the domain package). The application service PlaceOrder is pure logic: it creates the aggregate, saves via the port, publishes a domain event via the port, and never references Spring Web, JPA or Kafka types directly. Constructor injection is the key Spring-friendly choice: fields can be final, the bean is immutable and unit-testable with mocks, and there's no @Autowired anywhere in the domain core (Spring's only mark is @Service, which a @Configuration can replace if you want zero framework annotations in the domain). The REST controller is a thin driving adapter — turn the HTTP body into a command and call the use case; a gRPC or GraphQL adapter is the same shape. The outbound ports are implemented by adapters (a Spring Data JPA OrderRepository, a Spring Kafka EventPublisher) and Spring injects them at startup. That's dependency inversion serving the boundary: protocols are replaceable, the domain stays stable.</a:t>
            </a:r>
            <a:endParaRPr/>
          </a:p>
        </p:txBody>
      </p:sp>
      <p:sp>
        <p:nvSpPr>
          <p:cNvPr id="1657" name="Google Shape;1657;g3e54846f4b4_0_14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7" name="Shape 1667"/>
        <p:cNvGrpSpPr/>
        <p:nvPr/>
      </p:nvGrpSpPr>
      <p:grpSpPr>
        <a:xfrm>
          <a:off x="0" y="0"/>
          <a:ext cx="0" cy="0"/>
          <a:chOff x="0" y="0"/>
          <a:chExt cx="0" cy="0"/>
        </a:xfrm>
      </p:grpSpPr>
      <p:sp>
        <p:nvSpPr>
          <p:cNvPr id="1668" name="Google Shape;1668;g3e54846f4b4_0_14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9" name="Google Shape;1669;g3e54846f4b4_0_14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Tactical DDD, and it ties three earlier sections together. The aggregate is the consistency boundary: invariants hold within it and one transaction commits it,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(one per transaction, reference others by id, connect via events) is precisely why cross-aggregate consistency needs a saga (Appendix D). This is where DDD stops being abstract and visibly underpins the data, event and saga designs.</a:t>
            </a:r>
            <a:endParaRPr/>
          </a:p>
        </p:txBody>
      </p:sp>
      <p:sp>
        <p:nvSpPr>
          <p:cNvPr id="1670" name="Google Shape;1670;g3e54846f4b4_0_14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7" name="Shape 1677"/>
        <p:cNvGrpSpPr/>
        <p:nvPr/>
      </p:nvGrpSpPr>
      <p:grpSpPr>
        <a:xfrm>
          <a:off x="0" y="0"/>
          <a:ext cx="0" cy="0"/>
          <a:chOff x="0" y="0"/>
          <a:chExt cx="0" cy="0"/>
        </a:xfrm>
      </p:grpSpPr>
      <p:sp>
        <p:nvSpPr>
          <p:cNvPr id="1678" name="Google Shape;1678;g3e54846f4b4_0_15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9" name="Google Shape;1679;g3e54846f4b4_0_15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680" name="Google Shape;1680;g3e54846f4b4_0_15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7" name="Shape 1687"/>
        <p:cNvGrpSpPr/>
        <p:nvPr/>
      </p:nvGrpSpPr>
      <p:grpSpPr>
        <a:xfrm>
          <a:off x="0" y="0"/>
          <a:ext cx="0" cy="0"/>
          <a:chOff x="0" y="0"/>
          <a:chExt cx="0" cy="0"/>
        </a:xfrm>
      </p:grpSpPr>
      <p:sp>
        <p:nvSpPr>
          <p:cNvPr id="1688" name="Google Shape;1688;g3e54846f4b4_0_1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9" name="Google Shape;1689;g3e54846f4b4_0_15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690" name="Google Shape;1690;g3e54846f4b4_0_15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g3e54846f4b4_0_15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g3e54846f4b4_0_15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700" name="Google Shape;1700;g3e54846f4b4_0_15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7" name="Shape 1707"/>
        <p:cNvGrpSpPr/>
        <p:nvPr/>
      </p:nvGrpSpPr>
      <p:grpSpPr>
        <a:xfrm>
          <a:off x="0" y="0"/>
          <a:ext cx="0" cy="0"/>
          <a:chOff x="0" y="0"/>
          <a:chExt cx="0" cy="0"/>
        </a:xfrm>
      </p:grpSpPr>
      <p:sp>
        <p:nvSpPr>
          <p:cNvPr id="1708" name="Google Shape;1708;g3e54846f4b4_0_1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9" name="Google Shape;1709;g3e54846f4b4_0_15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in one picture. Integration strength is how much knowledge two parts share —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710" name="Google Shape;1710;g3e54846f4b4_0_15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8" name="Shape 1718"/>
        <p:cNvGrpSpPr/>
        <p:nvPr/>
      </p:nvGrpSpPr>
      <p:grpSpPr>
        <a:xfrm>
          <a:off x="0" y="0"/>
          <a:ext cx="0" cy="0"/>
          <a:chOff x="0" y="0"/>
          <a:chExt cx="0" cy="0"/>
        </a:xfrm>
      </p:grpSpPr>
      <p:sp>
        <p:nvSpPr>
          <p:cNvPr id="1719" name="Google Shape;1719;g3e54846f4b4_0_15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0" name="Google Shape;1720;g3e54846f4b4_0_15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Unpack each dimension with a concrete handle. Strength is a ladder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721" name="Google Shape;1721;g3e54846f4b4_0_15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8" name="Shape 1728"/>
        <p:cNvGrpSpPr/>
        <p:nvPr/>
      </p:nvGrpSpPr>
      <p:grpSpPr>
        <a:xfrm>
          <a:off x="0" y="0"/>
          <a:ext cx="0" cy="0"/>
          <a:chOff x="0" y="0"/>
          <a:chExt cx="0" cy="0"/>
        </a:xfrm>
      </p:grpSpPr>
      <p:sp>
        <p:nvSpPr>
          <p:cNvPr id="1729" name="Google Shape;1729;g3e54846f4b4_0_15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0" name="Google Shape;1730;g3e54846f4b4_0_15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731" name="Google Shape;1731;g3e54846f4b4_0_15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9" name="Shape 1739"/>
        <p:cNvGrpSpPr/>
        <p:nvPr/>
      </p:nvGrpSpPr>
      <p:grpSpPr>
        <a:xfrm>
          <a:off x="0" y="0"/>
          <a:ext cx="0" cy="0"/>
          <a:chOff x="0" y="0"/>
          <a:chExt cx="0" cy="0"/>
        </a:xfrm>
      </p:grpSpPr>
      <p:sp>
        <p:nvSpPr>
          <p:cNvPr id="1740" name="Google Shape;1740;g3e54846f4b4_0_15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1" name="Google Shape;1741;g3e54846f4b4_0_15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742" name="Google Shape;1742;g3e54846f4b4_0_15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9" name="Shape 1749"/>
        <p:cNvGrpSpPr/>
        <p:nvPr/>
      </p:nvGrpSpPr>
      <p:grpSpPr>
        <a:xfrm>
          <a:off x="0" y="0"/>
          <a:ext cx="0" cy="0"/>
          <a:chOff x="0" y="0"/>
          <a:chExt cx="0" cy="0"/>
        </a:xfrm>
      </p:grpSpPr>
      <p:sp>
        <p:nvSpPr>
          <p:cNvPr id="1750" name="Google Shape;1750;g3e54846f4b4_0_15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1" name="Google Shape;1751;g3e54846f4b4_0_15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52" name="Google Shape;1752;g3e54846f4b4_0_15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0" name="Shape 1760"/>
        <p:cNvGrpSpPr/>
        <p:nvPr/>
      </p:nvGrpSpPr>
      <p:grpSpPr>
        <a:xfrm>
          <a:off x="0" y="0"/>
          <a:ext cx="0" cy="0"/>
          <a:chOff x="0" y="0"/>
          <a:chExt cx="0" cy="0"/>
        </a:xfrm>
      </p:grpSpPr>
      <p:sp>
        <p:nvSpPr>
          <p:cNvPr id="1761" name="Google Shape;1761;g3e54846f4b4_0_15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2" name="Google Shape;1762;g3e54846f4b4_0_15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Deepen distance and volatility. Distance is why the same logical change can be a one-line edit or a multi-team, multi-deploy project — it multiplies cost. Volatility decides whether a less-than-ideal coupling matters: a textbook-ugly coupling on frozen code is a non-problem; a textbook-fine coupling on hot, ever-changing core code can still hurt. The DDD connection (from Appendix F) is the practical tool: subdomain type predicts volatility, so you route your strongest couplings away from core and toward stable, generic areas. The bold formula is Khononov's balance condition — worth writing on a whiteboard in a design review.</a:t>
            </a:r>
            <a:endParaRPr/>
          </a:p>
        </p:txBody>
      </p:sp>
      <p:sp>
        <p:nvSpPr>
          <p:cNvPr id="1763" name="Google Shape;1763;g3e54846f4b4_0_15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0" name="Shape 1770"/>
        <p:cNvGrpSpPr/>
        <p:nvPr/>
      </p:nvGrpSpPr>
      <p:grpSpPr>
        <a:xfrm>
          <a:off x="0" y="0"/>
          <a:ext cx="0" cy="0"/>
          <a:chOff x="0" y="0"/>
          <a:chExt cx="0" cy="0"/>
        </a:xfrm>
      </p:grpSpPr>
      <p:sp>
        <p:nvSpPr>
          <p:cNvPr id="1771" name="Google Shape;1771;g3e54846f4b4_0_1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2" name="Google Shape;1772;g3e54846f4b4_0_15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773" name="Google Shape;1773;g3e54846f4b4_0_15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0" name="Shape 1780"/>
        <p:cNvGrpSpPr/>
        <p:nvPr/>
      </p:nvGrpSpPr>
      <p:grpSpPr>
        <a:xfrm>
          <a:off x="0" y="0"/>
          <a:ext cx="0" cy="0"/>
          <a:chOff x="0" y="0"/>
          <a:chExt cx="0" cy="0"/>
        </a:xfrm>
      </p:grpSpPr>
      <p:sp>
        <p:nvSpPr>
          <p:cNvPr id="1781" name="Google Shape;1781;g3e54846f4b4_0_15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2" name="Google Shape;1782;g3e54846f4b4_0_15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in Appendix F and Balancing Coupling in Software Design for this model, as the two references that underpin both of these appendices.</a:t>
            </a:r>
            <a:endParaRPr/>
          </a:p>
        </p:txBody>
      </p:sp>
      <p:sp>
        <p:nvSpPr>
          <p:cNvPr id="1783" name="Google Shape;1783;g3e54846f4b4_0_15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0" name="Shape 1790"/>
        <p:cNvGrpSpPr/>
        <p:nvPr/>
      </p:nvGrpSpPr>
      <p:grpSpPr>
        <a:xfrm>
          <a:off x="0" y="0"/>
          <a:ext cx="0" cy="0"/>
          <a:chOff x="0" y="0"/>
          <a:chExt cx="0" cy="0"/>
        </a:xfrm>
      </p:grpSpPr>
      <p:sp>
        <p:nvSpPr>
          <p:cNvPr id="1791" name="Google Shape;1791;g3e54846f4b4_0_16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2" name="Google Shape;1792;g3e54846f4b4_0_16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793" name="Google Shape;1793;g3e54846f4b4_0_16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0" name="Shape 1800"/>
        <p:cNvGrpSpPr/>
        <p:nvPr/>
      </p:nvGrpSpPr>
      <p:grpSpPr>
        <a:xfrm>
          <a:off x="0" y="0"/>
          <a:ext cx="0" cy="0"/>
          <a:chOff x="0" y="0"/>
          <a:chExt cx="0" cy="0"/>
        </a:xfrm>
      </p:grpSpPr>
      <p:sp>
        <p:nvSpPr>
          <p:cNvPr id="1801" name="Google Shape;1801;g3e54846f4b4_0_16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2" name="Google Shape;1802;g3e54846f4b4_0_16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This appendix walks that sequence, then shows the code on both sides of it.</a:t>
            </a:r>
            <a:endParaRPr/>
          </a:p>
        </p:txBody>
      </p:sp>
      <p:sp>
        <p:nvSpPr>
          <p:cNvPr id="1803" name="Google Shape;1803;g3e54846f4b4_0_16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0" name="Shape 1810"/>
        <p:cNvGrpSpPr/>
        <p:nvPr/>
      </p:nvGrpSpPr>
      <p:grpSpPr>
        <a:xfrm>
          <a:off x="0" y="0"/>
          <a:ext cx="0" cy="0"/>
          <a:chOff x="0" y="0"/>
          <a:chExt cx="0" cy="0"/>
        </a:xfrm>
      </p:grpSpPr>
      <p:sp>
        <p:nvSpPr>
          <p:cNvPr id="1811" name="Google Shape;1811;g3e54846f4b4_0_16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2" name="Google Shape;1812;g3e54846f4b4_0_16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813" name="Google Shape;1813;g3e54846f4b4_0_16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1" name="Shape 1821"/>
        <p:cNvGrpSpPr/>
        <p:nvPr/>
      </p:nvGrpSpPr>
      <p:grpSpPr>
        <a:xfrm>
          <a:off x="0" y="0"/>
          <a:ext cx="0" cy="0"/>
          <a:chOff x="0" y="0"/>
          <a:chExt cx="0" cy="0"/>
        </a:xfrm>
      </p:grpSpPr>
      <p:sp>
        <p:nvSpPr>
          <p:cNvPr id="1822" name="Google Shape;1822;g3e54846f4b4_0_16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3" name="Google Shape;1823;g3e54846f4b4_0_16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824" name="Google Shape;1824;g3e54846f4b4_0_16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1" name="Shape 1831"/>
        <p:cNvGrpSpPr/>
        <p:nvPr/>
      </p:nvGrpSpPr>
      <p:grpSpPr>
        <a:xfrm>
          <a:off x="0" y="0"/>
          <a:ext cx="0" cy="0"/>
          <a:chOff x="0" y="0"/>
          <a:chExt cx="0" cy="0"/>
        </a:xfrm>
      </p:grpSpPr>
      <p:sp>
        <p:nvSpPr>
          <p:cNvPr id="1832" name="Google Shape;1832;g3e54846f4b4_0_16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3" name="Google Shape;1833;g3e54846f4b4_0_16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834" name="Google Shape;1834;g3e54846f4b4_0_16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2" name="Shape 1842"/>
        <p:cNvGrpSpPr/>
        <p:nvPr/>
      </p:nvGrpSpPr>
      <p:grpSpPr>
        <a:xfrm>
          <a:off x="0" y="0"/>
          <a:ext cx="0" cy="0"/>
          <a:chOff x="0" y="0"/>
          <a:chExt cx="0" cy="0"/>
        </a:xfrm>
      </p:grpSpPr>
      <p:sp>
        <p:nvSpPr>
          <p:cNvPr id="1843" name="Google Shape;1843;g3e54846f4b4_0_16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4" name="Google Shape;1844;g3e54846f4b4_0_16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Example 21 takes the signal itself, so the whole sequence is visible. A sun.misc.Signal handler registered before Spring starts replaces the JVM's default SIGTERM handler, which would run the shutdown hooks at once. One SIGTERM, the only signal Kubernetes sends before SIGKILL, drives everything: the handler flips ShutdownState, so the hand-written /readyz answers 503 and the Service stops routing, and a drain thread keeps the service serving for DRAIN_DELAY_SECONDS (5 s; it plays the part of a preStop sleep) while the endpoint removal propagates. It then calls System.exit(0), which runs Spring's shutdown hook: with server.shutdown=graceful the embedded Tomcat, Jetty or Reactor Netty stops accepting new connections and finishes in-flight HTTP, bounded by spring.lifecycle.timeout-per-shutdown-phase (20 s here; the default is 30 s), then the context closes the pool and the process exits 0, inside the 30-second grace period. Use @EventListener(ContextClosedEvent.class), @PreDestroy or SmartLifecycle to drain what Spring does not drain for you: Kafka consumers (consumer.wakeup() then commit on close), the scheduler (stop accepting new triggers), WebSockets (send a close frame so clients reconnect elsewhere). With Actuator, publishing ReadinessState.REFUSING_TRAFFIC flips /actuator/health/readiness the same way; the example keeps its own /readyz, as Example 01 does. Pair it with the Kubernetes settings: readiness, preStop and the grace period.</a:t>
            </a:r>
            <a:endParaRPr/>
          </a:p>
        </p:txBody>
      </p:sp>
      <p:sp>
        <p:nvSpPr>
          <p:cNvPr id="1845" name="Google Shape;1845;g3e54846f4b4_0_16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5" name="Shape 1855"/>
        <p:cNvGrpSpPr/>
        <p:nvPr/>
      </p:nvGrpSpPr>
      <p:grpSpPr>
        <a:xfrm>
          <a:off x="0" y="0"/>
          <a:ext cx="0" cy="0"/>
          <a:chOff x="0" y="0"/>
          <a:chExt cx="0" cy="0"/>
        </a:xfrm>
      </p:grpSpPr>
      <p:sp>
        <p:nvSpPr>
          <p:cNvPr id="1856" name="Google Shape;1856;g3e54846f4b4_0_16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7" name="Google Shape;1857;g3e54846f4b4_0_16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spcBef>
                <a:spcPts val="0"/>
              </a:spcBef>
              <a:spcAft>
                <a:spcPts val="0"/>
              </a:spcAft>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spcBef>
                <a:spcPts val="0"/>
              </a:spcBef>
              <a:spcAft>
                <a:spcPts val="0"/>
              </a:spcAft>
              <a:buNone/>
            </a:pPr>
            <a:r>
              <a:rPr lang="en-US"/>
              <a:t>The preStop sleep looks crude, but it is the practical fix for the asynchronous-deregistration race: align it with the probe timing rather than picking an arbitrary number.</a:t>
            </a:r>
            <a:endParaRPr/>
          </a:p>
        </p:txBody>
      </p:sp>
      <p:sp>
        <p:nvSpPr>
          <p:cNvPr id="1858" name="Google Shape;1858;g3e54846f4b4_0_16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8" name="Shape 1868"/>
        <p:cNvGrpSpPr/>
        <p:nvPr/>
      </p:nvGrpSpPr>
      <p:grpSpPr>
        <a:xfrm>
          <a:off x="0" y="0"/>
          <a:ext cx="0" cy="0"/>
          <a:chOff x="0" y="0"/>
          <a:chExt cx="0" cy="0"/>
        </a:xfrm>
      </p:grpSpPr>
      <p:sp>
        <p:nvSpPr>
          <p:cNvPr id="1869" name="Google Shape;1869;g3e54846f4b4_0_1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0" name="Google Shape;1870;g3e54846f4b4_0_1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871" name="Google Shape;1871;g3e54846f4b4_0_1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8" name="Shape 1878"/>
        <p:cNvGrpSpPr/>
        <p:nvPr/>
      </p:nvGrpSpPr>
      <p:grpSpPr>
        <a:xfrm>
          <a:off x="0" y="0"/>
          <a:ext cx="0" cy="0"/>
          <a:chOff x="0" y="0"/>
          <a:chExt cx="0" cy="0"/>
        </a:xfrm>
      </p:grpSpPr>
      <p:sp>
        <p:nvSpPr>
          <p:cNvPr id="1879" name="Google Shape;1879;g3e54846f4b4_0_1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0" name="Google Shape;1880;g3e54846f4b4_0_1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exactly how Spring Boot's reference docs recommend you validate your shutdown configuration.</a:t>
            </a:r>
            <a:endParaRPr/>
          </a:p>
        </p:txBody>
      </p:sp>
      <p:sp>
        <p:nvSpPr>
          <p:cNvPr id="1881" name="Google Shape;1881;g3e54846f4b4_0_1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8" name="Shape 1888"/>
        <p:cNvGrpSpPr/>
        <p:nvPr/>
      </p:nvGrpSpPr>
      <p:grpSpPr>
        <a:xfrm>
          <a:off x="0" y="0"/>
          <a:ext cx="0" cy="0"/>
          <a:chOff x="0" y="0"/>
          <a:chExt cx="0" cy="0"/>
        </a:xfrm>
      </p:grpSpPr>
      <p:sp>
        <p:nvSpPr>
          <p:cNvPr id="1889" name="Google Shape;1889;g3e54846f4b4_0_1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0" name="Google Shape;1890;g3e54846f4b4_0_1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Spring Boot + Apache Camel + Drools, then circle back to east/west, where most routing decisions happen.</a:t>
            </a:r>
            <a:endParaRPr/>
          </a:p>
        </p:txBody>
      </p:sp>
      <p:sp>
        <p:nvSpPr>
          <p:cNvPr id="1891" name="Google Shape;1891;g3e54846f4b4_0_1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8" name="Shape 1898"/>
        <p:cNvGrpSpPr/>
        <p:nvPr/>
      </p:nvGrpSpPr>
      <p:grpSpPr>
        <a:xfrm>
          <a:off x="0" y="0"/>
          <a:ext cx="0" cy="0"/>
          <a:chOff x="0" y="0"/>
          <a:chExt cx="0" cy="0"/>
        </a:xfrm>
      </p:grpSpPr>
      <p:sp>
        <p:nvSpPr>
          <p:cNvPr id="1899" name="Google Shape;1899;g3e54846f4b4_0_1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0" name="Google Shape;1900;g3e54846f4b4_0_1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901" name="Google Shape;1901;g3e54846f4b4_0_1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8" name="Shape 1908"/>
        <p:cNvGrpSpPr/>
        <p:nvPr/>
      </p:nvGrpSpPr>
      <p:grpSpPr>
        <a:xfrm>
          <a:off x="0" y="0"/>
          <a:ext cx="0" cy="0"/>
          <a:chOff x="0" y="0"/>
          <a:chExt cx="0" cy="0"/>
        </a:xfrm>
      </p:grpSpPr>
      <p:sp>
        <p:nvSpPr>
          <p:cNvPr id="1909" name="Google Shape;1909;g3e54846f4b4_0_17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0" name="Google Shape;1910;g3e54846f4b4_0_17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every later example will use to make routing decisions. The TLS SNI line in both columns matters: L4 LBs can route by SNI without terminating TLS (cheap, opaque), while L7 LBs typically terminate TLS so they can see everything else (richer, slightly slower).</a:t>
            </a:r>
            <a:endParaRPr/>
          </a:p>
        </p:txBody>
      </p:sp>
      <p:sp>
        <p:nvSpPr>
          <p:cNvPr id="1911" name="Google Shape;1911;g3e54846f4b4_0_17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9" name="Shape 1919"/>
        <p:cNvGrpSpPr/>
        <p:nvPr/>
      </p:nvGrpSpPr>
      <p:grpSpPr>
        <a:xfrm>
          <a:off x="0" y="0"/>
          <a:ext cx="0" cy="0"/>
          <a:chOff x="0" y="0"/>
          <a:chExt cx="0" cy="0"/>
        </a:xfrm>
      </p:grpSpPr>
      <p:sp>
        <p:nvSpPr>
          <p:cNvPr id="1920" name="Google Shape;1920;g3e54846f4b4_0_1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21" name="Google Shape;1921;g3e54846f4b4_0_1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what Appendix E said about avoiding retry storms: the mesh implements many of them by default, but you still need bounded retries and budgets to prevent amplification.</a:t>
            </a:r>
            <a:endParaRPr/>
          </a:p>
        </p:txBody>
      </p:sp>
      <p:sp>
        <p:nvSpPr>
          <p:cNvPr id="1922" name="Google Shape;1922;g3e54846f4b4_0_1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g3e54846f4b4_0_1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g3e54846f4b4_0_1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backbone diagram for the whole appendix. North/south traffic (clients into the system) enters through the edge/ingress layer (HAProxy, Nginx, Envoy, Traefik), where TLS terminates and coarse host/path routing happens, then through the API gateway (Kong, Istio gateway, Spring Cloud Gateway),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(Spring Boot + Apache Camel + Drools + Kogito DMN). Each layer is the right place for a different type of decision; every topic in this appendix maps to one of them.</a:t>
            </a:r>
            <a:endParaRPr/>
          </a:p>
        </p:txBody>
      </p:sp>
      <p:sp>
        <p:nvSpPr>
          <p:cNvPr id="1932" name="Google Shape;1932;g3e54846f4b4_0_1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0" name="Shape 1940"/>
        <p:cNvGrpSpPr/>
        <p:nvPr/>
      </p:nvGrpSpPr>
      <p:grpSpPr>
        <a:xfrm>
          <a:off x="0" y="0"/>
          <a:ext cx="0" cy="0"/>
          <a:chOff x="0" y="0"/>
          <a:chExt cx="0" cy="0"/>
        </a:xfrm>
      </p:grpSpPr>
      <p:sp>
        <p:nvSpPr>
          <p:cNvPr id="1941" name="Google Shape;1941;g3e54846f4b4_0_1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2" name="Google Shape;1942;g3e54846f4b4_0_1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from section 11, viewed through the L7 lens.</a:t>
            </a:r>
            <a:endParaRPr/>
          </a:p>
        </p:txBody>
      </p:sp>
      <p:sp>
        <p:nvSpPr>
          <p:cNvPr id="1943" name="Google Shape;1943;g3e54846f4b4_0_1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1" name="Shape 1951"/>
        <p:cNvGrpSpPr/>
        <p:nvPr/>
      </p:nvGrpSpPr>
      <p:grpSpPr>
        <a:xfrm>
          <a:off x="0" y="0"/>
          <a:ext cx="0" cy="0"/>
          <a:chOff x="0" y="0"/>
          <a:chExt cx="0" cy="0"/>
        </a:xfrm>
      </p:grpSpPr>
      <p:sp>
        <p:nvSpPr>
          <p:cNvPr id="1952" name="Google Shape;1952;g3e54846f4b4_0_17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3" name="Google Shape;1953;g3e54846f4b4_0_17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(VirtualService, DestinationRule). Kong, Traefik and Spring Cloud Gateway are API gateways with plugin ecosystems and a more product-aware feature set.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54" name="Google Shape;1954;g3e54846f4b4_0_17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1" name="Shape 1961"/>
        <p:cNvGrpSpPr/>
        <p:nvPr/>
      </p:nvGrpSpPr>
      <p:grpSpPr>
        <a:xfrm>
          <a:off x="0" y="0"/>
          <a:ext cx="0" cy="0"/>
          <a:chOff x="0" y="0"/>
          <a:chExt cx="0" cy="0"/>
        </a:xfrm>
      </p:grpSpPr>
      <p:sp>
        <p:nvSpPr>
          <p:cNvPr id="1962" name="Google Shape;1962;g3e54846f4b4_0_1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3" name="Google Shape;1963;g3e54846f4b4_0_1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1964" name="Google Shape;1964;g3e54846f4b4_0_1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4" name="Shape 1974"/>
        <p:cNvGrpSpPr/>
        <p:nvPr/>
      </p:nvGrpSpPr>
      <p:grpSpPr>
        <a:xfrm>
          <a:off x="0" y="0"/>
          <a:ext cx="0" cy="0"/>
          <a:chOff x="0" y="0"/>
          <a:chExt cx="0" cy="0"/>
        </a:xfrm>
      </p:grpSpPr>
      <p:sp>
        <p:nvSpPr>
          <p:cNvPr id="1975" name="Google Shape;1975;g3e54846f4b4_0_17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6" name="Google Shape;1976;g3e54846f4b4_0_17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 the L7 router can inject correlation headers so downstream traces can be stitched together. Nginx as an ingress controller in Kubernetes (the ingress-nginx project) is one of the most-deployed L7 routers in the world.</a:t>
            </a:r>
            <a:endParaRPr/>
          </a:p>
        </p:txBody>
      </p:sp>
      <p:sp>
        <p:nvSpPr>
          <p:cNvPr id="1977" name="Google Shape;1977;g3e54846f4b4_0_17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7" name="Shape 1987"/>
        <p:cNvGrpSpPr/>
        <p:nvPr/>
      </p:nvGrpSpPr>
      <p:grpSpPr>
        <a:xfrm>
          <a:off x="0" y="0"/>
          <a:ext cx="0" cy="0"/>
          <a:chOff x="0" y="0"/>
          <a:chExt cx="0" cy="0"/>
        </a:xfrm>
      </p:grpSpPr>
      <p:sp>
        <p:nvSpPr>
          <p:cNvPr id="1988" name="Google Shape;1988;g3e54846f4b4_0_17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9" name="Google Shape;1989;g3e54846f4b4_0_17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1990" name="Google Shape;1990;g3e54846f4b4_0_17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0" name="Shape 2000"/>
        <p:cNvGrpSpPr/>
        <p:nvPr/>
      </p:nvGrpSpPr>
      <p:grpSpPr>
        <a:xfrm>
          <a:off x="0" y="0"/>
          <a:ext cx="0" cy="0"/>
          <a:chOff x="0" y="0"/>
          <a:chExt cx="0" cy="0"/>
        </a:xfrm>
      </p:grpSpPr>
      <p:sp>
        <p:nvSpPr>
          <p:cNvPr id="2001" name="Google Shape;2001;g3e54846f4b4_0_17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2" name="Google Shape;2002;g3e54846f4b4_0_17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L7 latency budget makes sense — a TLS handshake is milliseconds, and you want to amortise it via session resumption, TLS 1.3 and HTTP/2 multiplexing.</a:t>
            </a:r>
            <a:endParaRPr/>
          </a:p>
        </p:txBody>
      </p:sp>
      <p:sp>
        <p:nvSpPr>
          <p:cNvPr id="2003" name="Google Shape;2003;g3e54846f4b4_0_17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g3e54846f4b4_0_18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g3e54846f4b4_0_18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2013" name="Google Shape;2013;g3e54846f4b4_0_18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1" name="Shape 2021"/>
        <p:cNvGrpSpPr/>
        <p:nvPr/>
      </p:nvGrpSpPr>
      <p:grpSpPr>
        <a:xfrm>
          <a:off x="0" y="0"/>
          <a:ext cx="0" cy="0"/>
          <a:chOff x="0" y="0"/>
          <a:chExt cx="0" cy="0"/>
        </a:xfrm>
      </p:grpSpPr>
      <p:sp>
        <p:nvSpPr>
          <p:cNvPr id="2022" name="Google Shape;2022;g3e54846f4b4_0_18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3" name="Google Shape;2023;g3e54846f4b4_0_18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2024" name="Google Shape;2024;g3e54846f4b4_0_18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1" name="Shape 2031"/>
        <p:cNvGrpSpPr/>
        <p:nvPr/>
      </p:nvGrpSpPr>
      <p:grpSpPr>
        <a:xfrm>
          <a:off x="0" y="0"/>
          <a:ext cx="0" cy="0"/>
          <a:chOff x="0" y="0"/>
          <a:chExt cx="0" cy="0"/>
        </a:xfrm>
      </p:grpSpPr>
      <p:sp>
        <p:nvSpPr>
          <p:cNvPr id="2032" name="Google Shape;2032;g3e54846f4b4_0_18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3" name="Google Shape;2033;g3e54846f4b4_0_18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2034" name="Google Shape;2034;g3e54846f4b4_0_18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2" name="Shape 2042"/>
        <p:cNvGrpSpPr/>
        <p:nvPr/>
      </p:nvGrpSpPr>
      <p:grpSpPr>
        <a:xfrm>
          <a:off x="0" y="0"/>
          <a:ext cx="0" cy="0"/>
          <a:chOff x="0" y="0"/>
          <a:chExt cx="0" cy="0"/>
        </a:xfrm>
      </p:grpSpPr>
      <p:sp>
        <p:nvSpPr>
          <p:cNvPr id="2043" name="Google Shape;2043;g3e54846f4b4_0_18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4" name="Google Shape;2044;g3e54846f4b4_0_18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45" name="Google Shape;2045;g3e54846f4b4_0_18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5" name="Shape 2055"/>
        <p:cNvGrpSpPr/>
        <p:nvPr/>
      </p:nvGrpSpPr>
      <p:grpSpPr>
        <a:xfrm>
          <a:off x="0" y="0"/>
          <a:ext cx="0" cy="0"/>
          <a:chOff x="0" y="0"/>
          <a:chExt cx="0" cy="0"/>
        </a:xfrm>
      </p:grpSpPr>
      <p:sp>
        <p:nvSpPr>
          <p:cNvPr id="2056" name="Google Shape;2056;g3e54846f4b4_0_18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7" name="Google Shape;2057;g3e54846f4b4_0_18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058" name="Google Shape;2058;g3e54846f4b4_0_18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8" name="Shape 2068"/>
        <p:cNvGrpSpPr/>
        <p:nvPr/>
      </p:nvGrpSpPr>
      <p:grpSpPr>
        <a:xfrm>
          <a:off x="0" y="0"/>
          <a:ext cx="0" cy="0"/>
          <a:chOff x="0" y="0"/>
          <a:chExt cx="0" cy="0"/>
        </a:xfrm>
      </p:grpSpPr>
      <p:sp>
        <p:nvSpPr>
          <p:cNvPr id="2069" name="Google Shape;2069;g3e54846f4b4_0_18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0" name="Google Shape;2070;g3e54846f4b4_0_18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071" name="Google Shape;2071;g3e54846f4b4_0_18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8" name="Shape 2078"/>
        <p:cNvGrpSpPr/>
        <p:nvPr/>
      </p:nvGrpSpPr>
      <p:grpSpPr>
        <a:xfrm>
          <a:off x="0" y="0"/>
          <a:ext cx="0" cy="0"/>
          <a:chOff x="0" y="0"/>
          <a:chExt cx="0" cy="0"/>
        </a:xfrm>
      </p:grpSpPr>
      <p:sp>
        <p:nvSpPr>
          <p:cNvPr id="2079" name="Google Shape;2079;g3e54846f4b4_0_18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0" name="Google Shape;2080;g3e54846f4b4_0_18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Payload modification as configuration, not code. The URL rewrite cleans up the path before forwarding: public /api/v1/orders becomes internal /orders.</a:t>
            </a:r>
            <a:endParaRPr/>
          </a:p>
          <a:p>
            <a:pPr indent="0" lvl="0" marL="0" rtl="0" algn="l">
              <a:spcBef>
                <a:spcPts val="0"/>
              </a:spcBef>
              <a:spcAft>
                <a:spcPts val="0"/>
              </a:spcAft>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spcBef>
                <a:spcPts val="0"/>
              </a:spcBef>
              <a:spcAft>
                <a:spcPts val="0"/>
              </a:spcAft>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081" name="Google Shape;2081;g3e54846f4b4_0_18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1" name="Shape 2091"/>
        <p:cNvGrpSpPr/>
        <p:nvPr/>
      </p:nvGrpSpPr>
      <p:grpSpPr>
        <a:xfrm>
          <a:off x="0" y="0"/>
          <a:ext cx="0" cy="0"/>
          <a:chOff x="0" y="0"/>
          <a:chExt cx="0" cy="0"/>
        </a:xfrm>
      </p:grpSpPr>
      <p:sp>
        <p:nvSpPr>
          <p:cNvPr id="2092" name="Google Shape;2092;g3e54846f4b4_0_18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3" name="Google Shape;2093;g3e54846f4b4_0_18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Pivot from network-layer routing to in-app routing. The threshold is roughly: if the decision can be expressed in a few YAML lines and depends only on the envelope, do it at the mesh. If it depends on the payload, requires a decision table that domain experts edit, or involves complex conditions, push it into the app. The classic example (and the one the code models) is HL7 healthcare messages: route by patient class, encounter type, message subtype — dozens of intersecting conditions a non-developer needs to maintain. That belongs in a rule engine, not a VirtualService. Stress that this isn't an alternative to the mesh; it sits behind the mesh, complementing it.</a:t>
            </a:r>
            <a:endParaRPr/>
          </a:p>
        </p:txBody>
      </p:sp>
      <p:sp>
        <p:nvSpPr>
          <p:cNvPr id="2094" name="Google Shape;2094;g3e54846f4b4_0_18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1" name="Shape 2101"/>
        <p:cNvGrpSpPr/>
        <p:nvPr/>
      </p:nvGrpSpPr>
      <p:grpSpPr>
        <a:xfrm>
          <a:off x="0" y="0"/>
          <a:ext cx="0" cy="0"/>
          <a:chOff x="0" y="0"/>
          <a:chExt cx="0" cy="0"/>
        </a:xfrm>
      </p:grpSpPr>
      <p:sp>
        <p:nvSpPr>
          <p:cNvPr id="2102" name="Google Shape;2102;g3e54846f4b4_0_18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3" name="Google Shape;2103;g3e54846f4b4_0_18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canonical Java pattern, identical in Spring Boot to any other JVM stack — Apache Camel's DSL is framework-neutral. Inputs arrive over REST, gRPC or Kafka. They land in an Apache Camel route, which is a fluent DSL for Enterprise Integration Patterns: from(...) declares the source, .enrich() gathers any context needed for the decision, .process(rulesEvaluator) calls into Drools (rules) or Kogito DMN (decision tables), which sets a 'whereTo' header on the message. Then .routingSlip(header("whereTo")) dynamically dispatches to one or more destinations based on that header. The Drools rule unit is a separate, version-controlled artefact — .drl rules or DMN decision tables that domain experts can edit independently of the Camel route. The result: the routing logic is data, not code; reroutes don't need redeploys; and the heavy network plumbing stays in the mesh.</a:t>
            </a:r>
            <a:endParaRPr/>
          </a:p>
        </p:txBody>
      </p:sp>
      <p:sp>
        <p:nvSpPr>
          <p:cNvPr id="2104" name="Google Shape;2104;g3e54846f4b4_0_18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2" name="Shape 2112"/>
        <p:cNvGrpSpPr/>
        <p:nvPr/>
      </p:nvGrpSpPr>
      <p:grpSpPr>
        <a:xfrm>
          <a:off x="0" y="0"/>
          <a:ext cx="0" cy="0"/>
          <a:chOff x="0" y="0"/>
          <a:chExt cx="0" cy="0"/>
        </a:xfrm>
      </p:grpSpPr>
      <p:sp>
        <p:nvSpPr>
          <p:cNvPr id="2113" name="Google Shape;2113;g3e54846f4b4_0_19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4" name="Google Shape;2114;g3e54846f4b4_0_19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structure used in the official Camel + Drools content-based-routing examples. The Camel DSL is identical across JVM frameworks, so a Quarkus implementation and a Spring Boot one differ only in dependency choice and DI style. camel-spring-boot-starter auto-configures the CamelContext and registers any @Component RouteBuilder beans: no manual XML, no Java config. Constructor injection brings in the rules evaluator. from() picks up Kafka messages via camel-kafka-starter. enrich() makes an HTTP call to a customer service to gather additional context and aggregates it onto the exchange. process(rules::evaluate) hands the enriched message to the rule engine, which fires .drl rules against the facts and sets a 'whereTo' header listing one or more destination URIs. routingSlip then dispatches the message to each of those destinations in sequence. The whole pattern is 15 lines of fluent Java; the actual routing logic lives in the .drl rules, owned by domain experts and editable without a Spring Boot rebuild.</a:t>
            </a:r>
            <a:endParaRPr/>
          </a:p>
        </p:txBody>
      </p:sp>
      <p:sp>
        <p:nvSpPr>
          <p:cNvPr id="2115" name="Google Shape;2115;g3e54846f4b4_0_19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g3e54846f4b4_0_19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g3e54846f4b4_0_19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Drools rules are 'when ... then ...' statements. The 'when' is a pattern match against facts in the working memory (here, OrderFact). The 'then' is the action — in our case, setting the whereTo header that the Camel routingSlip will consume. Two real rules and a default with low salience (so it fires last if nothing else matched). The point isn't the syntax; it's that this file is owned by domain experts (the people who decide what 'VIP' or 'high-value' means) and can be redeployed without a developer touching Camel or Spring Boot code. When the rules get complex, Drools/Kogito has a DMN (Decision Model and Notation) flavour with decision tables in a spreadsheet form that non-developers find easier still.</a:t>
            </a:r>
            <a:endParaRPr/>
          </a:p>
        </p:txBody>
      </p:sp>
      <p:sp>
        <p:nvSpPr>
          <p:cNvPr id="2128" name="Google Shape;2128;g3e54846f4b4_0_19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8" name="Shape 2138"/>
        <p:cNvGrpSpPr/>
        <p:nvPr/>
      </p:nvGrpSpPr>
      <p:grpSpPr>
        <a:xfrm>
          <a:off x="0" y="0"/>
          <a:ext cx="0" cy="0"/>
          <a:chOff x="0" y="0"/>
          <a:chExt cx="0" cy="0"/>
        </a:xfrm>
      </p:grpSpPr>
      <p:sp>
        <p:nvSpPr>
          <p:cNvPr id="2139" name="Google Shape;2139;g3e54846f4b4_0_19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0" name="Google Shape;2140;g3e54846f4b4_0_19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from Appendix E applies here too — timeouts must account for the total L7 budget plus the service's own work, or retries will pile up.</a:t>
            </a:r>
            <a:endParaRPr/>
          </a:p>
        </p:txBody>
      </p:sp>
      <p:sp>
        <p:nvSpPr>
          <p:cNvPr id="2141" name="Google Shape;2141;g3e54846f4b4_0_19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9" name="Shape 2149"/>
        <p:cNvGrpSpPr/>
        <p:nvPr/>
      </p:nvGrpSpPr>
      <p:grpSpPr>
        <a:xfrm>
          <a:off x="0" y="0"/>
          <a:ext cx="0" cy="0"/>
          <a:chOff x="0" y="0"/>
          <a:chExt cx="0" cy="0"/>
        </a:xfrm>
      </p:grpSpPr>
      <p:sp>
        <p:nvSpPr>
          <p:cNvPr id="2150" name="Google Shape;2150;g3e54846f4b4_0_19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1" name="Google Shape;2151;g3e54846f4b4_0_19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session-affinity trade-off.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52" name="Google Shape;2152;g3e54846f4b4_0_19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9" name="Shape 2159"/>
        <p:cNvGrpSpPr/>
        <p:nvPr/>
      </p:nvGrpSpPr>
      <p:grpSpPr>
        <a:xfrm>
          <a:off x="0" y="0"/>
          <a:ext cx="0" cy="0"/>
          <a:chOff x="0" y="0"/>
          <a:chExt cx="0" cy="0"/>
        </a:xfrm>
      </p:grpSpPr>
      <p:sp>
        <p:nvSpPr>
          <p:cNvPr id="2160" name="Google Shape;2160;g3e54846f4b4_0_19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1" name="Google Shape;2161;g3e54846f4b4_0_19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162" name="Google Shape;2162;g3e54846f4b4_0_19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0" name="Shape 2170"/>
        <p:cNvGrpSpPr/>
        <p:nvPr/>
      </p:nvGrpSpPr>
      <p:grpSpPr>
        <a:xfrm>
          <a:off x="0" y="0"/>
          <a:ext cx="0" cy="0"/>
          <a:chOff x="0" y="0"/>
          <a:chExt cx="0" cy="0"/>
        </a:xfrm>
      </p:grpSpPr>
      <p:sp>
        <p:nvSpPr>
          <p:cNvPr id="2171" name="Google Shape;2171;g3e54846f4b4_0_19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2" name="Google Shape;2172;g3e54846f4b4_0_19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173" name="Google Shape;2173;g3e54846f4b4_0_19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0" name="Shape 2180"/>
        <p:cNvGrpSpPr/>
        <p:nvPr/>
      </p:nvGrpSpPr>
      <p:grpSpPr>
        <a:xfrm>
          <a:off x="0" y="0"/>
          <a:ext cx="0" cy="0"/>
          <a:chOff x="0" y="0"/>
          <a:chExt cx="0" cy="0"/>
        </a:xfrm>
      </p:grpSpPr>
      <p:sp>
        <p:nvSpPr>
          <p:cNvPr id="2181" name="Google Shape;2181;g3e54846f4b4_0_19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2" name="Google Shape;2182;g3e54846f4b4_0_19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183" name="Google Shape;2183;g3e54846f4b4_0_19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3" name="Shape 2193"/>
        <p:cNvGrpSpPr/>
        <p:nvPr/>
      </p:nvGrpSpPr>
      <p:grpSpPr>
        <a:xfrm>
          <a:off x="0" y="0"/>
          <a:ext cx="0" cy="0"/>
          <a:chOff x="0" y="0"/>
          <a:chExt cx="0" cy="0"/>
        </a:xfrm>
      </p:grpSpPr>
      <p:sp>
        <p:nvSpPr>
          <p:cNvPr id="2194" name="Google Shape;2194;g3e54846f4b4_0_19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5" name="Google Shape;2195;g3e54846f4b4_0_19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has a few sharp edges of its own.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196" name="Google Shape;2196;g3e54846f4b4_0_19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3" name="Shape 2203"/>
        <p:cNvGrpSpPr/>
        <p:nvPr/>
      </p:nvGrpSpPr>
      <p:grpSpPr>
        <a:xfrm>
          <a:off x="0" y="0"/>
          <a:ext cx="0" cy="0"/>
          <a:chOff x="0" y="0"/>
          <a:chExt cx="0" cy="0"/>
        </a:xfrm>
      </p:grpSpPr>
      <p:sp>
        <p:nvSpPr>
          <p:cNvPr id="2204" name="Google Shape;2204;g3e54846f4b4_0_1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5" name="Google Shape;2205;g3e54846f4b4_0_1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206" name="Google Shape;2206;g3e54846f4b4_0_1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3" name="Shape 2213"/>
        <p:cNvGrpSpPr/>
        <p:nvPr/>
      </p:nvGrpSpPr>
      <p:grpSpPr>
        <a:xfrm>
          <a:off x="0" y="0"/>
          <a:ext cx="0" cy="0"/>
          <a:chOff x="0" y="0"/>
          <a:chExt cx="0" cy="0"/>
        </a:xfrm>
      </p:grpSpPr>
      <p:sp>
        <p:nvSpPr>
          <p:cNvPr id="2214" name="Google Shape;2214;g3e54846f4b4_0_19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5" name="Google Shape;2215;g3e54846f4b4_0_19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official docs for each piece and the Camel/KIE content-based routing example (the canonical demo for the Camel + Apache Drools pattern shown — wired here with camel-spring-boot-starter).</a:t>
            </a:r>
            <a:endParaRPr/>
          </a:p>
        </p:txBody>
      </p:sp>
      <p:sp>
        <p:nvSpPr>
          <p:cNvPr id="2216" name="Google Shape;2216;g3e54846f4b4_0_19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3" name="Shape 2223"/>
        <p:cNvGrpSpPr/>
        <p:nvPr/>
      </p:nvGrpSpPr>
      <p:grpSpPr>
        <a:xfrm>
          <a:off x="0" y="0"/>
          <a:ext cx="0" cy="0"/>
          <a:chOff x="0" y="0"/>
          <a:chExt cx="0" cy="0"/>
        </a:xfrm>
      </p:grpSpPr>
      <p:sp>
        <p:nvSpPr>
          <p:cNvPr id="2224" name="Google Shape;2224;g3e54846f4b4_0_20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5" name="Google Shape;2225;g3e54846f4b4_0_20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for progressive extraction, content-based routing for fine-grained cutover, and the decorating collaborator for wrapping legacy code you can't touch. Code in this appendix uses Spring Web + RestClient + Spring Kafka + Spring Data Redis, but the patterns are language-neutral.</a:t>
            </a:r>
            <a:endParaRPr/>
          </a:p>
        </p:txBody>
      </p:sp>
      <p:sp>
        <p:nvSpPr>
          <p:cNvPr id="2226" name="Google Shape;2226;g3e54846f4b4_0_20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3" name="Shape 2233"/>
        <p:cNvGrpSpPr/>
        <p:nvPr/>
      </p:nvGrpSpPr>
      <p:grpSpPr>
        <a:xfrm>
          <a:off x="0" y="0"/>
          <a:ext cx="0" cy="0"/>
          <a:chOff x="0" y="0"/>
          <a:chExt cx="0" cy="0"/>
        </a:xfrm>
      </p:grpSpPr>
      <p:sp>
        <p:nvSpPr>
          <p:cNvPr id="2234" name="Google Shape;2234;g3e54846f4b4_0_20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5" name="Google Shape;2235;g3e54846f4b4_0_20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Define the term before fixing it. A monolith is not a code-organisation problem — it's a deployment-organisation property. Even a well-organised Spring Boot codebase with clear @Service layers, @RestController boundaries, and 1000 unit tests is a monolith if it ships as one fat JAR on one heartbeat. The defining property: change anywhere, redeploy everything; a bug in Reporting can take down Payments; one scaling unit for workloads that scale differently. But the second italic line is what to leave audience with: monoliths are not always wrong. For new products, small teams, or anything that fits in one team's head, they're often the simplest and fastest path to value. Premature decomposition is its own anti-pattern.</a:t>
            </a:r>
            <a:endParaRPr/>
          </a:p>
        </p:txBody>
      </p:sp>
      <p:sp>
        <p:nvSpPr>
          <p:cNvPr id="2236" name="Google Shape;2236;g3e54846f4b4_0_20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4" name="Shape 2244"/>
        <p:cNvGrpSpPr/>
        <p:nvPr/>
      </p:nvGrpSpPr>
      <p:grpSpPr>
        <a:xfrm>
          <a:off x="0" y="0"/>
          <a:ext cx="0" cy="0"/>
          <a:chOff x="0" y="0"/>
          <a:chExt cx="0" cy="0"/>
        </a:xfrm>
      </p:grpSpPr>
      <p:sp>
        <p:nvSpPr>
          <p:cNvPr id="2245" name="Google Shape;2245;g3e54846f4b4_0_2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6" name="Google Shape;2246;g3e54846f4b4_0_2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intermediate pattern that's often the right destination, not a stepping stone. Modules within one Spring Boot process have clear public APIs and private internals that other modules cannot reach. Enforcement is the key bit: Spring Modulith (org.springframework.modulith:spring-modulith-starter-core, GA since the Spring Boot 3 line and supported on Spring Boot 4.1.1) gives you first-class module boundaries with @ApplicationModule, package-private internals, and ApplicationModuleListener for cross-module events. ArchUnit in CI is the testing-time enforcement. Modules can share a database, but each owns a schema and no cross-schema joins are allowed. Spring Modulith specifically anticipates this — each @ApplicationModule documents itself as a candidate service.</a:t>
            </a:r>
            <a:endParaRPr/>
          </a:p>
        </p:txBody>
      </p:sp>
      <p:sp>
        <p:nvSpPr>
          <p:cNvPr id="2247" name="Google Shape;2247;g3e54846f4b4_0_2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5" name="Shape 2255"/>
        <p:cNvGrpSpPr/>
        <p:nvPr/>
      </p:nvGrpSpPr>
      <p:grpSpPr>
        <a:xfrm>
          <a:off x="0" y="0"/>
          <a:ext cx="0" cy="0"/>
          <a:chOff x="0" y="0"/>
          <a:chExt cx="0" cy="0"/>
        </a:xfrm>
      </p:grpSpPr>
      <p:sp>
        <p:nvSpPr>
          <p:cNvPr id="2256" name="Google Shape;2256;g3e54846f4b4_0_2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7" name="Google Shape;2257;g3e54846f4b4_0_2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Splitting the database is the hard part of decomposition. The insight of this pattern: do that work while you're still one Spring Boot process. Each module gets its own DataSource bean, its own JpaRepository, its own Liquibase or Flyway migration history. Spring Boot makes this clean — multiple @ConfigurationProperties-bound DataSource beans, with @Primary marking the default, and module-scoped @EnableJpaRepositories pointing at the right one. Cross-module data is now async or event-driven (typically via ApplicationModuleListener for in-process events, or KafkaTemplate for cross-service). Once this is done, promoting a module to a separate service is a refactor of the deployment topology, not a data-migration project.</a:t>
            </a:r>
            <a:endParaRPr/>
          </a:p>
        </p:txBody>
      </p:sp>
      <p:sp>
        <p:nvSpPr>
          <p:cNvPr id="2258" name="Google Shape;2258;g3e54846f4b4_0_2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6" name="Shape 2266"/>
        <p:cNvGrpSpPr/>
        <p:nvPr/>
      </p:nvGrpSpPr>
      <p:grpSpPr>
        <a:xfrm>
          <a:off x="0" y="0"/>
          <a:ext cx="0" cy="0"/>
          <a:chOff x="0" y="0"/>
          <a:chExt cx="0" cy="0"/>
        </a:xfrm>
      </p:grpSpPr>
      <p:sp>
        <p:nvSpPr>
          <p:cNvPr id="2267" name="Google Shape;2267;g3e54846f4b4_0_20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8" name="Google Shape;2268;g3e54846f4b4_0_20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Martin Fowler strangler-fig pattern. The three steps you repeat. Identify: pick a bounded asset — 'order creation' or 'order status query' specifically. The smaller the better. Move: build the new Spring Boot service alongside the monolith, replicate the behaviour, test it in parallel without production traffic (often by shadowing reads through the new service and comparing outputs). REDIRECT: switch callers to the new service. Each cycle is independently reversible — if the new service is wrong, redirect back.</a:t>
            </a:r>
            <a:endParaRPr/>
          </a:p>
        </p:txBody>
      </p:sp>
      <p:sp>
        <p:nvSpPr>
          <p:cNvPr id="2269" name="Google Shape;2269;g3e54846f4b4_0_20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7" name="Shape 2277"/>
        <p:cNvGrpSpPr/>
        <p:nvPr/>
      </p:nvGrpSpPr>
      <p:grpSpPr>
        <a:xfrm>
          <a:off x="0" y="0"/>
          <a:ext cx="0" cy="0"/>
          <a:chOff x="0" y="0"/>
          <a:chExt cx="0" cy="0"/>
        </a:xfrm>
      </p:grpSpPr>
      <p:sp>
        <p:nvSpPr>
          <p:cNvPr id="2278" name="Google Shape;2278;g3e54846f4b4_0_20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9" name="Google Shape;2279;g3e54846f4b4_0_20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pre-condition for incremental migration: clients hit the proxy, the proxy forwards to the monolith. Day zero, behaviour is unchanged. But you now have the lever — the proxy is where you'll later route 1% of /orders/* traffic to the extracted Spring Boot service, then 5%, then 100%. Without this step, every cutover is a coordinated client release. With it, every cutover is a proxy config change. For Spring Boot deployments this is typically nginx, Envoy, or Istio gateway as a Kubernetes Service ahead of your application Pods — or Spring Cloud Gateway as an in-app gateway if you prefer code-level routing control.</a:t>
            </a:r>
            <a:endParaRPr/>
          </a:p>
        </p:txBody>
      </p:sp>
      <p:sp>
        <p:nvSpPr>
          <p:cNvPr id="2280" name="Google Shape;2280;g3e54846f4b4_0_20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8" name="Shape 2288"/>
        <p:cNvGrpSpPr/>
        <p:nvPr/>
      </p:nvGrpSpPr>
      <p:grpSpPr>
        <a:xfrm>
          <a:off x="0" y="0"/>
          <a:ext cx="0" cy="0"/>
          <a:chOff x="0" y="0"/>
          <a:chExt cx="0" cy="0"/>
        </a:xfrm>
      </p:grpSpPr>
      <p:sp>
        <p:nvSpPr>
          <p:cNvPr id="2289" name="Google Shape;2289;g3e54846f4b4_0_20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0" name="Google Shape;2290;g3e54846f4b4_0_20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proxy routes by path, by header (X-Tenant: acme), by percentage (1% canary), or by feature flag. The new Spring Boot service handles its slice; the monolith handles everything else. Clients still see one URL. Roll forward by widening; roll back by narrowing. The new service can fail completely and the monolith picks up — bounded blast radius is the whole point. Instrument both paths in Micrometer so you can verify the new service produces the same outcomes as the monolith before widening.</a:t>
            </a:r>
            <a:endParaRPr/>
          </a:p>
        </p:txBody>
      </p:sp>
      <p:sp>
        <p:nvSpPr>
          <p:cNvPr id="2291" name="Google Shape;2291;g3e54846f4b4_0_20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9" name="Shape 2299"/>
        <p:cNvGrpSpPr/>
        <p:nvPr/>
      </p:nvGrpSpPr>
      <p:grpSpPr>
        <a:xfrm>
          <a:off x="0" y="0"/>
          <a:ext cx="0" cy="0"/>
          <a:chOff x="0" y="0"/>
          <a:chExt cx="0" cy="0"/>
        </a:xfrm>
      </p:grpSpPr>
      <p:sp>
        <p:nvSpPr>
          <p:cNvPr id="2300" name="Google Shape;2300;g3e54846f4b4_0_20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1" name="Google Shape;2301;g3e54846f4b4_0_20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Sometimes the data split is too risky to do at the same time as the process split. The new Spring Boot service and the monolith share a database for a while. Both apps read and write the same tables; the new service owns the API but not the data. Useful for extracting reads first, or as a stepping stone. It is not a destination: every Liquibase / Flyway change now needs both apps to agree. The next step is to give the new service its own store: CDC out of the monolith's DB via Debezium, or dual-writing during a sync window, or event-sourcing via Spring Modulith ApplicationModuleListener feeding the new service's DB.</a:t>
            </a:r>
            <a:endParaRPr/>
          </a:p>
        </p:txBody>
      </p:sp>
      <p:sp>
        <p:nvSpPr>
          <p:cNvPr id="2302" name="Google Shape;2302;g3e54846f4b4_0_20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0" name="Shape 2310"/>
        <p:cNvGrpSpPr/>
        <p:nvPr/>
      </p:nvGrpSpPr>
      <p:grpSpPr>
        <a:xfrm>
          <a:off x="0" y="0"/>
          <a:ext cx="0" cy="0"/>
          <a:chOff x="0" y="0"/>
          <a:chExt cx="0" cy="0"/>
        </a:xfrm>
      </p:grpSpPr>
      <p:sp>
        <p:nvSpPr>
          <p:cNvPr id="2311" name="Google Shape;2311;g3e54846f4b4_0_20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2" name="Google Shape;2312;g3e54846f4b4_0_20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Spring shape. Proxy is a Spring REST controller that reads the body and decides which downstream to call via RestClient. Constructor injection brings in a RestClient.Builder; we build three typed clients, one per backend. Decision is by payload content: tenant, region, feature flag — not URL pattern. The pattern goes further than path-based proxying: you can roll out the new service to one tenant at a time, observe real-traffic behaviour, then widen. For Spring deployments running behind a real proxy (nginx, Envoy, Istio, Spring Cloud Gateway), express the same logic in Lua / WASM filters or RoutePredicateFactories at the gateway. The CPU cost of body parsing is the only real downside.</a:t>
            </a:r>
            <a:endParaRPr/>
          </a:p>
        </p:txBody>
      </p:sp>
      <p:sp>
        <p:nvSpPr>
          <p:cNvPr id="2313" name="Google Shape;2313;g3e54846f4b4_0_20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3" name="Shape 2323"/>
        <p:cNvGrpSpPr/>
        <p:nvPr/>
      </p:nvGrpSpPr>
      <p:grpSpPr>
        <a:xfrm>
          <a:off x="0" y="0"/>
          <a:ext cx="0" cy="0"/>
          <a:chOff x="0" y="0"/>
          <a:chExt cx="0" cy="0"/>
        </a:xfrm>
      </p:grpSpPr>
      <p:sp>
        <p:nvSpPr>
          <p:cNvPr id="2324" name="Google Shape;2324;g3e54846f4b4_0_20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5" name="Google Shape;2325;g3e54846f4b4_0_20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 from the proxy patterns: the decorator owns behaviour, not just routing. The new Spring Boot service sits in front of the legacy API and adds cross-cutting capability: Redis caching, Kafka event emission, audit logging, validation, enrichment, rate-limiting, metrics via Micrometer. Legacy service unaware. Clients now talk to the decorator's API, which delegates for the underlying work but contributes everything else. Particularly useful when the legacy system is a 3rd-party product, a vendor system, or fragile code that touching is forbidden. Common implementation: Spring Boot + RestClient + Spring Data Redis + KafkaTemplate.</a:t>
            </a:r>
            <a:endParaRPr/>
          </a:p>
        </p:txBody>
      </p:sp>
      <p:sp>
        <p:nvSpPr>
          <p:cNvPr id="2326" name="Google Shape;2326;g3e54846f4b4_0_20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4" name="Shape 2334"/>
        <p:cNvGrpSpPr/>
        <p:nvPr/>
      </p:nvGrpSpPr>
      <p:grpSpPr>
        <a:xfrm>
          <a:off x="0" y="0"/>
          <a:ext cx="0" cy="0"/>
          <a:chOff x="0" y="0"/>
          <a:chExt cx="0" cy="0"/>
        </a:xfrm>
      </p:grpSpPr>
      <p:sp>
        <p:nvSpPr>
          <p:cNvPr id="2335" name="Google Shape;2335;g3e54846f4b4_0_2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6" name="Google Shape;2336;g3e54846f4b4_0_21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Spring decorator is a clean @RestController. Three injected collaborators: RestClient pointed at the legacy service, RedisTemplate&lt;String, Order&gt; for the cache, KafkaTemplate&lt;String, Order&gt; for the event stream. The GET path uses cache-aside semantics. The POST path delegates to legacy (still source of truth), emits a Kafka event so downstream systems can subscribe to the new event stream, invalidates the cache. Legacy service has no idea it's been wrapped. Over time you can move more behaviour into the decorator: validation, idempotency keys, dedup. When you're ready to retire the legacy service, you implement the storage inside the decorator (or in a clean new service it calls) and stop forwarding — the API stays the same for clients.</a:t>
            </a:r>
            <a:endParaRPr/>
          </a:p>
        </p:txBody>
      </p:sp>
      <p:sp>
        <p:nvSpPr>
          <p:cNvPr id="2337" name="Google Shape;2337;g3e54846f4b4_0_21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7" name="Shape 2347"/>
        <p:cNvGrpSpPr/>
        <p:nvPr/>
      </p:nvGrpSpPr>
      <p:grpSpPr>
        <a:xfrm>
          <a:off x="0" y="0"/>
          <a:ext cx="0" cy="0"/>
          <a:chOff x="0" y="0"/>
          <a:chExt cx="0" cy="0"/>
        </a:xfrm>
      </p:grpSpPr>
      <p:sp>
        <p:nvSpPr>
          <p:cNvPr id="2348" name="Google Shape;2348;g3e54846f4b4_0_2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9" name="Google Shape;2349;g3e54846f4b4_0_21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with the decision rules. First point is the most important and most often skipped — with Spring Modulith especially, a modular monolith is frequently a fine destination. Second point is the most underrated: the database split is where projects get stuck for years; do it early, while still one Spring Boot process. Third point: no proxy, no incremental migration. Fourth point is the schedule discipline. The bold final line is the architectural take-home: design for reversibility, so every step is a config change you can undo without coordinating a release.</a:t>
            </a:r>
            <a:endParaRPr/>
          </a:p>
        </p:txBody>
      </p:sp>
      <p:sp>
        <p:nvSpPr>
          <p:cNvPr id="2350" name="Google Shape;2350;g3e54846f4b4_0_21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7" name="Shape 2357"/>
        <p:cNvGrpSpPr/>
        <p:nvPr/>
      </p:nvGrpSpPr>
      <p:grpSpPr>
        <a:xfrm>
          <a:off x="0" y="0"/>
          <a:ext cx="0" cy="0"/>
          <a:chOff x="0" y="0"/>
          <a:chExt cx="0" cy="0"/>
        </a:xfrm>
      </p:grpSpPr>
      <p:sp>
        <p:nvSpPr>
          <p:cNvPr id="2358" name="Google Shape;2358;g3e54846f4b4_0_2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9" name="Google Shape;2359;g3e54846f4b4_0_21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L is the caching reference. Five reasons to cache and six patterns to do it well. The patterns differ in who reads/writes the cache, when, and who owns the consistency story. We use Redis as the canonical cache because it's the default open-source choice on Kubernetes; same patterns apply to in-memory caches or any KV store. Code uses Spring Data Redis (RedisTemplate) for explicit patterns and Spring Cache abstraction (@Cacheable) where idiomatic.</a:t>
            </a:r>
            <a:endParaRPr/>
          </a:p>
        </p:txBody>
      </p:sp>
      <p:sp>
        <p:nvSpPr>
          <p:cNvPr id="2360" name="Google Shape;2360;g3e54846f4b4_0_21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7" name="Shape 2367"/>
        <p:cNvGrpSpPr/>
        <p:nvPr/>
      </p:nvGrpSpPr>
      <p:grpSpPr>
        <a:xfrm>
          <a:off x="0" y="0"/>
          <a:ext cx="0" cy="0"/>
          <a:chOff x="0" y="0"/>
          <a:chExt cx="0" cy="0"/>
        </a:xfrm>
      </p:grpSpPr>
      <p:sp>
        <p:nvSpPr>
          <p:cNvPr id="2368" name="Google Shape;2368;g3e54846f4b4_0_2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9" name="Google Shape;2369;g3e54846f4b4_0_2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concrete reasons that justify the caching investment. Application performance is the user-facing win. Backend load matters more in steady state. Throughput follows from both. Predictable performance flattens p99. Database cost often pays for the caching infrastructure. The sub-bullet is what trips teams up: every cache adds complexity; pick the pattern that matches the consistency you need.</a:t>
            </a:r>
            <a:endParaRPr/>
          </a:p>
        </p:txBody>
      </p:sp>
      <p:sp>
        <p:nvSpPr>
          <p:cNvPr id="2370" name="Google Shape;2370;g3e54846f4b4_0_2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7" name="Shape 2377"/>
        <p:cNvGrpSpPr/>
        <p:nvPr/>
      </p:nvGrpSpPr>
      <p:grpSpPr>
        <a:xfrm>
          <a:off x="0" y="0"/>
          <a:ext cx="0" cy="0"/>
          <a:chOff x="0" y="0"/>
          <a:chExt cx="0" cy="0"/>
        </a:xfrm>
      </p:grpSpPr>
      <p:sp>
        <p:nvSpPr>
          <p:cNvPr id="2378" name="Google Shape;2378;g3e54846f4b4_0_2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9" name="Google Shape;2379;g3e54846f4b4_0_21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everyone starts with. The Spring Boot application is in charge: try the cache first via RedisTemplate, on a miss query JPA, populate the cache on the way back, return. Every other pattern differs in who does the work. Pros: explicit, debuggable, no magic. Cons: every read has the if/else; cache miss costs two round trips; cache logic is repeated across services if you don't extract it (which is what @Cacheable read-through does for you, next pattern). TTL is the consistency knob.</a:t>
            </a:r>
            <a:endParaRPr/>
          </a:p>
        </p:txBody>
      </p:sp>
      <p:sp>
        <p:nvSpPr>
          <p:cNvPr id="2380" name="Google Shape;2380;g3e54846f4b4_0_21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8" name="Shape 2388"/>
        <p:cNvGrpSpPr/>
        <p:nvPr/>
      </p:nvGrpSpPr>
      <p:grpSpPr>
        <a:xfrm>
          <a:off x="0" y="0"/>
          <a:ext cx="0" cy="0"/>
          <a:chOff x="0" y="0"/>
          <a:chExt cx="0" cy="0"/>
        </a:xfrm>
      </p:grpSpPr>
      <p:sp>
        <p:nvSpPr>
          <p:cNvPr id="2389" name="Google Shape;2389;g3e54846f4b4_0_2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0" name="Google Shape;2390;g3e54846f4b4_0_21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Minimal cache-aside in Spring Boot. RedisTemplate&lt;String, Product&gt; is the typed Spring Data Redis client. The @Transactional on update() so the DB write is transactional; cache invalidation is outside the transaction. Key convention: 'product:{id}'. Invalidate-on-write step: if you don't invalidate, stale reads for the full TTL. Choose: invalidate (this code) or set the new value directly (write-through). For Redis failures, wrap the cache.opsForValue().get() in try/catch (or use a Resilience4j CircuitBreaker around RedisTemplate) so an outage falls back to JPA.</a:t>
            </a:r>
            <a:endParaRPr/>
          </a:p>
        </p:txBody>
      </p:sp>
      <p:sp>
        <p:nvSpPr>
          <p:cNvPr id="2391" name="Google Shape;2391;g3e54846f4b4_0_21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1" name="Shape 2401"/>
        <p:cNvGrpSpPr/>
        <p:nvPr/>
      </p:nvGrpSpPr>
      <p:grpSpPr>
        <a:xfrm>
          <a:off x="0" y="0"/>
          <a:ext cx="0" cy="0"/>
          <a:chOff x="0" y="0"/>
          <a:chExt cx="0" cy="0"/>
        </a:xfrm>
      </p:grpSpPr>
      <p:sp>
        <p:nvSpPr>
          <p:cNvPr id="2402" name="Google Shape;2402;g3e54846f4b4_0_2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3" name="Google Shape;2403;g3e54846f4b4_0_21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variation where the cache abstraction, not the application, calls the database on a miss. The Spring app calls productService.findById(id) and gets the value back. For Spring, the cleanest expression is the Spring Cache abstraction with @Cacheable. Pros: cleaner application code, declarative TTL. Cons: less control over what triggers a DB hit. Use when read paths are repetitive and you want declarative caching.</a:t>
            </a:r>
            <a:endParaRPr/>
          </a:p>
        </p:txBody>
      </p:sp>
      <p:sp>
        <p:nvSpPr>
          <p:cNvPr id="2404" name="Google Shape;2404;g3e54846f4b4_0_21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2" name="Shape 2412"/>
        <p:cNvGrpSpPr/>
        <p:nvPr/>
      </p:nvGrpSpPr>
      <p:grpSpPr>
        <a:xfrm>
          <a:off x="0" y="0"/>
          <a:ext cx="0" cy="0"/>
          <a:chOff x="0" y="0"/>
          <a:chExt cx="0" cy="0"/>
        </a:xfrm>
      </p:grpSpPr>
      <p:sp>
        <p:nvSpPr>
          <p:cNvPr id="2413" name="Google Shape;2413;g3e54846f4b4_0_2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4" name="Google Shape;2414;g3e54846f4b4_0_21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Idiomatic Spring read-through. @EnableCaching activates the Cache abstraction. RedisCacheManager configures Redis as backing store with a 60s default TTL and Jackson 3 JSON values (RedisSerializer.json()). @Cacheable transforms findById() into 'try cache, run method body on miss, store result'. @CacheEvict on update() removes the entry after a successful write. The @Cacheable approach requires the service layer (Spring AOP proxies don't catch self-calls), which is also good architecture. Trade vs explicit cache-aside: explicit if/else replaced by declarative annotations. SpEL: key = "#order.id + ':' + #user", condition = "#qty &gt; 100": flexible but harder to debug.</a:t>
            </a:r>
            <a:endParaRPr/>
          </a:p>
        </p:txBody>
      </p:sp>
      <p:sp>
        <p:nvSpPr>
          <p:cNvPr id="2415" name="Google Shape;2415;g3e54846f4b4_0_21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5" name="Shape 2425"/>
        <p:cNvGrpSpPr/>
        <p:nvPr/>
      </p:nvGrpSpPr>
      <p:grpSpPr>
        <a:xfrm>
          <a:off x="0" y="0"/>
          <a:ext cx="0" cy="0"/>
          <a:chOff x="0" y="0"/>
          <a:chExt cx="0" cy="0"/>
        </a:xfrm>
      </p:grpSpPr>
      <p:sp>
        <p:nvSpPr>
          <p:cNvPr id="2426" name="Google Shape;2426;g3e54846f4b4_0_2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7" name="Google Shape;2427;g3e54846f4b4_0_2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stale reads are not acceptable, write-through forces every write to update both stores. The Spring app calls repo.save(...) and cache.opsForValue().set(...) and both must succeed. Pros: a read immediately after a write sees the new value. Cons: write latency is the sum of both stores. Spring's @CachePut annotation is the idiomatic shortcut — always invokes the method and writes the return value to the cache.</a:t>
            </a:r>
            <a:endParaRPr/>
          </a:p>
        </p:txBody>
      </p:sp>
      <p:sp>
        <p:nvSpPr>
          <p:cNvPr id="2428" name="Google Shape;2428;g3e54846f4b4_0_2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6" name="Shape 2436"/>
        <p:cNvGrpSpPr/>
        <p:nvPr/>
      </p:nvGrpSpPr>
      <p:grpSpPr>
        <a:xfrm>
          <a:off x="0" y="0"/>
          <a:ext cx="0" cy="0"/>
          <a:chOff x="0" y="0"/>
          <a:chExt cx="0" cy="0"/>
        </a:xfrm>
      </p:grpSpPr>
      <p:sp>
        <p:nvSpPr>
          <p:cNvPr id="2437" name="Google Shape;2437;g3e54846f4b4_0_2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8" name="Google Shape;2438;g3e54846f4b4_0_2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write-through flavours. First uses @CachePut — the most concise Spring idiom. The second shows the more careful @TransactionalEventListener approach: publish an event inside the transaction, @TransactionalEventListener with phase=AFTER_COMMIT writes the cache only after the DB transaction commits. Critical when the DB transaction might roll back. Either way, DB write goes first because DB is the source of truth. Short TTL self-heals any cache/DB divergence.</a:t>
            </a:r>
            <a:endParaRPr/>
          </a:p>
        </p:txBody>
      </p:sp>
      <p:sp>
        <p:nvSpPr>
          <p:cNvPr id="2439" name="Google Shape;2439;g3e54846f4b4_0_2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9" name="Shape 2449"/>
        <p:cNvGrpSpPr/>
        <p:nvPr/>
      </p:nvGrpSpPr>
      <p:grpSpPr>
        <a:xfrm>
          <a:off x="0" y="0"/>
          <a:ext cx="0" cy="0"/>
          <a:chOff x="0" y="0"/>
          <a:chExt cx="0" cy="0"/>
        </a:xfrm>
      </p:grpSpPr>
      <p:sp>
        <p:nvSpPr>
          <p:cNvPr id="2450" name="Google Shape;2450;g3e54846f4b4_0_2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1" name="Google Shape;2451;g3e54846f4b4_0_2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data is written far more often than it's read (audit logs, event records, telemetry), caching every write is wasteful. Write-around: write the DB, leave the cache alone. The next reader pays the cache-miss cost and populates the cache. Pros: no cache pollution by write-only data. Cons: the first read after every write is slow. Pair with cache-aside or @Cacheable on the read side. Common use: any 'append-only' or 'mostly-written' workload.</a:t>
            </a:r>
            <a:endParaRPr/>
          </a:p>
        </p:txBody>
      </p:sp>
      <p:sp>
        <p:nvSpPr>
          <p:cNvPr id="2452" name="Google Shape;2452;g3e54846f4b4_0_2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0" name="Shape 2460"/>
        <p:cNvGrpSpPr/>
        <p:nvPr/>
      </p:nvGrpSpPr>
      <p:grpSpPr>
        <a:xfrm>
          <a:off x="0" y="0"/>
          <a:ext cx="0" cy="0"/>
          <a:chOff x="0" y="0"/>
          <a:chExt cx="0" cy="0"/>
        </a:xfrm>
      </p:grpSpPr>
      <p:sp>
        <p:nvSpPr>
          <p:cNvPr id="2461" name="Google Shape;2461;g3e54846f4b4_0_2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2" name="Google Shape;2462;g3e54846f4b4_0_2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write path and a @Cacheable read. The write just calls repo.save(): the cache is not touched. The read side is @Cacheable, which populates lazily on the first read of each id.</a:t>
            </a:r>
            <a:endParaRPr/>
          </a:p>
          <a:p>
            <a:pPr indent="0" lvl="0" marL="0" rtl="0" algn="l">
              <a:spcBef>
                <a:spcPts val="0"/>
              </a:spcBef>
              <a:spcAft>
                <a:spcPts val="0"/>
              </a:spcAft>
              <a:buNone/>
            </a:pPr>
            <a:r>
              <a:rPr lang="en-US"/>
              <a:t>The pattern pays off when most written records are rarely or never read again: security event logs, telemetry, audit entries. If a stale cached copy could exist for a rewritten id, delete that key after the save. Compare with a product catalog, where every read is a probable cache hit; there @CachePut write-through makes more sense.</a:t>
            </a:r>
            <a:endParaRPr/>
          </a:p>
        </p:txBody>
      </p:sp>
      <p:sp>
        <p:nvSpPr>
          <p:cNvPr id="2463" name="Google Shape;2463;g3e54846f4b4_0_2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3" name="Shape 2473"/>
        <p:cNvGrpSpPr/>
        <p:nvPr/>
      </p:nvGrpSpPr>
      <p:grpSpPr>
        <a:xfrm>
          <a:off x="0" y="0"/>
          <a:ext cx="0" cy="0"/>
          <a:chOff x="0" y="0"/>
          <a:chExt cx="0" cy="0"/>
        </a:xfrm>
      </p:grpSpPr>
      <p:sp>
        <p:nvSpPr>
          <p:cNvPr id="2474" name="Google Shape;2474;g3e54846f4b4_0_2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5" name="Google Shape;2475;g3e54846f4b4_0_2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fastest-write pattern, with the most caveats. The Spring app writes to the cache, returns an immediate ack — the cache is the source of truth for that window. A @Scheduled background task drains the cache to the DB. Pros: write latency equals cache latency — microseconds. Cons: a cache crash before the flusher catches up loses unflushed writes; Redis must be configured for persistence (AOF or RDB). Use only when extreme write throughput is the constraint, eventual durability is acceptable and you've thought about what 'lost the last 5 seconds of writes' means.</a:t>
            </a:r>
            <a:endParaRPr/>
          </a:p>
        </p:txBody>
      </p:sp>
      <p:sp>
        <p:nvSpPr>
          <p:cNvPr id="2476" name="Google Shape;2476;g3e54846f4b4_0_2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4" name="Shape 2484"/>
        <p:cNvGrpSpPr/>
        <p:nvPr/>
      </p:nvGrpSpPr>
      <p:grpSpPr>
        <a:xfrm>
          <a:off x="0" y="0"/>
          <a:ext cx="0" cy="0"/>
          <a:chOff x="0" y="0"/>
          <a:chExt cx="0" cy="0"/>
        </a:xfrm>
      </p:grpSpPr>
      <p:sp>
        <p:nvSpPr>
          <p:cNvPr id="2485" name="Google Shape;2485;g3e54846f4b4_0_2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6" name="Google Shape;2486;g3e54846f4b4_0_2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Spring's @Scheduled drives write-back in Example 25. (1) PUT /write-back/metrics/{mid} writes the metric to a Redis hash, adds the id to a 'dirty set', which tells the flusher what still has to reach the database, and answers 202 Accepted: the value is queued, not yet durable. (2) @Scheduled(fixedDelayString = ...) runs every second, SPOPs up to FLUSH_BATCH dirty ids and upserts each one through JdbcClient with INSERT ... ON CONFLICT (id) DO UPDATE, so an id flushed twice stays one row. SPOP is atomic, so two replicas each get a distinct subset of ids and no lock is needed to scale out. (3) An id whose upsert fails is re-queued: its count in the metric:attempts hash goes up and it goes back on the dirty set, or, after five attempts, onto metric:failed with its value still in the cache and the failure in the log. After a failed run the flusher skips runs for two seconds, then four, then eight. Caveats: this is only safe with Redis persistence (AOF, appendonly yes); without it a Redis crash loses unflushed writes. For data that must not be lost, use write-through. For high-throughput telemetry where losing the last second is acceptable, write-back is what lets the service scale.</a:t>
            </a:r>
            <a:endParaRPr/>
          </a:p>
        </p:txBody>
      </p:sp>
      <p:sp>
        <p:nvSpPr>
          <p:cNvPr id="2487" name="Google Shape;2487;g3e54846f4b4_0_2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7" name="Shape 2497"/>
        <p:cNvGrpSpPr/>
        <p:nvPr/>
      </p:nvGrpSpPr>
      <p:grpSpPr>
        <a:xfrm>
          <a:off x="0" y="0"/>
          <a:ext cx="0" cy="0"/>
          <a:chOff x="0" y="0"/>
          <a:chExt cx="0" cy="0"/>
        </a:xfrm>
      </p:grpSpPr>
      <p:sp>
        <p:nvSpPr>
          <p:cNvPr id="2498" name="Google Shape;2498;g3e54846f4b4_0_2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9" name="Google Shape;2499;g3e54846f4b4_0_2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for eliminating the cache-miss latency cliff on popular keys. Plain cache-aside has sharp behaviour: while a key is cached, reads are fast; the moment its TTL expires, the next reader pays the slow DB-fetch path. Refresh-ahead pre-empts this: a @Scheduled task watches the cache (or maintains a Redis sorted set of 'hot' keys) and refreshes their values from the DB before the TTL fires. Users always read warm cache. Pros: no user-visible misses on hot keys. Cons: extra DB load for keys that may not be requested again.</a:t>
            </a:r>
            <a:endParaRPr/>
          </a:p>
        </p:txBody>
      </p:sp>
      <p:sp>
        <p:nvSpPr>
          <p:cNvPr id="2500" name="Google Shape;2500;g3e54846f4b4_0_2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8" name="Shape 2508"/>
        <p:cNvGrpSpPr/>
        <p:nvPr/>
      </p:nvGrpSpPr>
      <p:grpSpPr>
        <a:xfrm>
          <a:off x="0" y="0"/>
          <a:ext cx="0" cy="0"/>
          <a:chOff x="0" y="0"/>
          <a:chExt cx="0" cy="0"/>
        </a:xfrm>
      </p:grpSpPr>
      <p:sp>
        <p:nvSpPr>
          <p:cNvPr id="2509" name="Google Shape;2509;g3e54846f4b4_0_22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0" name="Google Shape;2510;g3e54846f4b4_0_22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Spring implementation. Redis sorted set (ZADD) tracks 'hot' keys scored by last-access timestamp. findById touches the hot-set on every read. @Scheduled runs every 5s: removes keys not accessed in 5 minutes (removeRangeByScore), then for each remaining hot key checks its TTL via getExpire and refreshes it when the TTL drops under REFRESH_BEFORE_S. ShedLock ensures only one instance refreshes — otherwise N instances do the same DB reads. Pattern shines for read-heavy workloads where a small set of keys serves most traffic — 80/20 product pages, top tweets, trending articles.</a:t>
            </a:r>
            <a:endParaRPr/>
          </a:p>
        </p:txBody>
      </p:sp>
      <p:sp>
        <p:nvSpPr>
          <p:cNvPr id="2511" name="Google Shape;2511;g3e54846f4b4_0_22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1" name="Shape 2521"/>
        <p:cNvGrpSpPr/>
        <p:nvPr/>
      </p:nvGrpSpPr>
      <p:grpSpPr>
        <a:xfrm>
          <a:off x="0" y="0"/>
          <a:ext cx="0" cy="0"/>
          <a:chOff x="0" y="0"/>
          <a:chExt cx="0" cy="0"/>
        </a:xfrm>
      </p:grpSpPr>
      <p:sp>
        <p:nvSpPr>
          <p:cNvPr id="2522" name="Google Shape;2522;g3e54846f4b4_0_22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3" name="Google Shape;2523;g3e54846f4b4_0_22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things that go wrong with caching. First point is the most important. Second is the write-around lesson — Spring Boot Actuator's CacheMetrics gives you hit/miss ratios. Third is operational. Fourth is the cache stampede problem; mitigations include Redisson RLock per key, refresh-ahead, TTL jitter. Fifth is the most common stale-data bug. The bold final line: the cache is never the source of truth. If Redis dies, you must serve slower reads, not return errors. Test this by killing Redis in staging.</a:t>
            </a:r>
            <a:endParaRPr/>
          </a:p>
        </p:txBody>
      </p:sp>
      <p:sp>
        <p:nvSpPr>
          <p:cNvPr id="2524" name="Google Shape;2524;g3e54846f4b4_0_22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1" name="Shape 2531"/>
        <p:cNvGrpSpPr/>
        <p:nvPr/>
      </p:nvGrpSpPr>
      <p:grpSpPr>
        <a:xfrm>
          <a:off x="0" y="0"/>
          <a:ext cx="0" cy="0"/>
          <a:chOff x="0" y="0"/>
          <a:chExt cx="0" cy="0"/>
        </a:xfrm>
      </p:grpSpPr>
      <p:sp>
        <p:nvSpPr>
          <p:cNvPr id="2532" name="Google Shape;2532;g3e54846f4b4_0_22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33" name="Google Shape;2533;g3e54846f4b4_0_22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Decision rules. @Cacheable (read-through) is the default. @CachePut (write-through) for read-consistency-after-write. Write-around for telemetry. Write-back is the niche extreme-throughput pattern. Refresh-ahead is the hot-key pattern. Bold final line: don't pick one pattern as 'the' cache strategy. Mix patterns by workload.</a:t>
            </a:r>
            <a:endParaRPr/>
          </a:p>
        </p:txBody>
      </p:sp>
      <p:sp>
        <p:nvSpPr>
          <p:cNvPr id="2534" name="Google Shape;2534;g3e54846f4b4_0_22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1" name="Shape 2541"/>
        <p:cNvGrpSpPr/>
        <p:nvPr/>
      </p:nvGrpSpPr>
      <p:grpSpPr>
        <a:xfrm>
          <a:off x="0" y="0"/>
          <a:ext cx="0" cy="0"/>
          <a:chOff x="0" y="0"/>
          <a:chExt cx="0" cy="0"/>
        </a:xfrm>
      </p:grpSpPr>
      <p:sp>
        <p:nvSpPr>
          <p:cNvPr id="2542" name="Google Shape;2542;g3e54846f4b4_0_2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3" name="Google Shape;2543;g3e54846f4b4_0_2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544" name="Google Shape;2544;g3e54846f4b4_0_2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1" name="Shape 2551"/>
        <p:cNvGrpSpPr/>
        <p:nvPr/>
      </p:nvGrpSpPr>
      <p:grpSpPr>
        <a:xfrm>
          <a:off x="0" y="0"/>
          <a:ext cx="0" cy="0"/>
          <a:chOff x="0" y="0"/>
          <a:chExt cx="0" cy="0"/>
        </a:xfrm>
      </p:grpSpPr>
      <p:sp>
        <p:nvSpPr>
          <p:cNvPr id="2552" name="Google Shape;2552;g3e54846f4b4_0_23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3" name="Google Shape;2553;g3e54846f4b4_0_23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554" name="Google Shape;2554;g3e54846f4b4_0_23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1" name="Shape 2561"/>
        <p:cNvGrpSpPr/>
        <p:nvPr/>
      </p:nvGrpSpPr>
      <p:grpSpPr>
        <a:xfrm>
          <a:off x="0" y="0"/>
          <a:ext cx="0" cy="0"/>
          <a:chOff x="0" y="0"/>
          <a:chExt cx="0" cy="0"/>
        </a:xfrm>
      </p:grpSpPr>
      <p:sp>
        <p:nvSpPr>
          <p:cNvPr id="2562" name="Google Shape;2562;g3e54846f4b4_0_23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3" name="Google Shape;2563;g3e54846f4b4_0_23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564" name="Google Shape;2564;g3e54846f4b4_0_23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2" name="Shape 2572"/>
        <p:cNvGrpSpPr/>
        <p:nvPr/>
      </p:nvGrpSpPr>
      <p:grpSpPr>
        <a:xfrm>
          <a:off x="0" y="0"/>
          <a:ext cx="0" cy="0"/>
          <a:chOff x="0" y="0"/>
          <a:chExt cx="0" cy="0"/>
        </a:xfrm>
      </p:grpSpPr>
      <p:sp>
        <p:nvSpPr>
          <p:cNvPr id="2573" name="Google Shape;2573;g3e54846f4b4_0_23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4" name="Google Shape;2574;g3e54846f4b4_0_23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575" name="Google Shape;2575;g3e54846f4b4_0_23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3" name="Shape 2583"/>
        <p:cNvGrpSpPr/>
        <p:nvPr/>
      </p:nvGrpSpPr>
      <p:grpSpPr>
        <a:xfrm>
          <a:off x="0" y="0"/>
          <a:ext cx="0" cy="0"/>
          <a:chOff x="0" y="0"/>
          <a:chExt cx="0" cy="0"/>
        </a:xfrm>
      </p:grpSpPr>
      <p:sp>
        <p:nvSpPr>
          <p:cNvPr id="2584" name="Google Shape;2584;g3e54846f4b4_0_23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5" name="Google Shape;2585;g3e54846f4b4_0_23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586" name="Google Shape;2586;g3e54846f4b4_0_23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4" name="Shape 2594"/>
        <p:cNvGrpSpPr/>
        <p:nvPr/>
      </p:nvGrpSpPr>
      <p:grpSpPr>
        <a:xfrm>
          <a:off x="0" y="0"/>
          <a:ext cx="0" cy="0"/>
          <a:chOff x="0" y="0"/>
          <a:chExt cx="0" cy="0"/>
        </a:xfrm>
      </p:grpSpPr>
      <p:sp>
        <p:nvSpPr>
          <p:cNvPr id="2595" name="Google Shape;2595;g3e54846f4b4_0_23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6" name="Google Shape;2596;g3e54846f4b4_0_23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597" name="Google Shape;2597;g3e54846f4b4_0_23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5" name="Shape 2605"/>
        <p:cNvGrpSpPr/>
        <p:nvPr/>
      </p:nvGrpSpPr>
      <p:grpSpPr>
        <a:xfrm>
          <a:off x="0" y="0"/>
          <a:ext cx="0" cy="0"/>
          <a:chOff x="0" y="0"/>
          <a:chExt cx="0" cy="0"/>
        </a:xfrm>
      </p:grpSpPr>
      <p:sp>
        <p:nvSpPr>
          <p:cNvPr id="2606" name="Google Shape;2606;g3e54846f4b4_0_23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7" name="Google Shape;2607;g3e54846f4b4_0_23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section 11.</a:t>
            </a:r>
            <a:endParaRPr/>
          </a:p>
        </p:txBody>
      </p:sp>
      <p:sp>
        <p:nvSpPr>
          <p:cNvPr id="2608" name="Google Shape;2608;g3e54846f4b4_0_23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6" name="Shape 2616"/>
        <p:cNvGrpSpPr/>
        <p:nvPr/>
      </p:nvGrpSpPr>
      <p:grpSpPr>
        <a:xfrm>
          <a:off x="0" y="0"/>
          <a:ext cx="0" cy="0"/>
          <a:chOff x="0" y="0"/>
          <a:chExt cx="0" cy="0"/>
        </a:xfrm>
      </p:grpSpPr>
      <p:sp>
        <p:nvSpPr>
          <p:cNvPr id="2617" name="Google Shape;2617;g3e54846f4b4_0_23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8" name="Google Shape;2618;g3e54846f4b4_0_23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619" name="Google Shape;2619;g3e54846f4b4_0_23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7" name="Shape 2627"/>
        <p:cNvGrpSpPr/>
        <p:nvPr/>
      </p:nvGrpSpPr>
      <p:grpSpPr>
        <a:xfrm>
          <a:off x="0" y="0"/>
          <a:ext cx="0" cy="0"/>
          <a:chOff x="0" y="0"/>
          <a:chExt cx="0" cy="0"/>
        </a:xfrm>
      </p:grpSpPr>
      <p:sp>
        <p:nvSpPr>
          <p:cNvPr id="2628" name="Google Shape;2628;g3e54846f4b4_0_23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9" name="Google Shape;2629;g3e54846f4b4_0_23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630" name="Google Shape;2630;g3e54846f4b4_0_23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8" name="Shape 2638"/>
        <p:cNvGrpSpPr/>
        <p:nvPr/>
      </p:nvGrpSpPr>
      <p:grpSpPr>
        <a:xfrm>
          <a:off x="0" y="0"/>
          <a:ext cx="0" cy="0"/>
          <a:chOff x="0" y="0"/>
          <a:chExt cx="0" cy="0"/>
        </a:xfrm>
      </p:grpSpPr>
      <p:sp>
        <p:nvSpPr>
          <p:cNvPr id="2639" name="Google Shape;2639;g3e54846f4b4_0_23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0" name="Google Shape;2640;g3e54846f4b4_0_23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What follows gives each its own diagram and per-language code so developers can implement them; the bold line flags that the platform-level pieces (Istio, shutdown, observability) sit underneath the application-level patterns.</a:t>
            </a:r>
            <a:endParaRPr/>
          </a:p>
        </p:txBody>
      </p:sp>
      <p:sp>
        <p:nvSpPr>
          <p:cNvPr id="2641" name="Google Shape;2641;g3e54846f4b4_0_23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8" name="Shape 2648"/>
        <p:cNvGrpSpPr/>
        <p:nvPr/>
      </p:nvGrpSpPr>
      <p:grpSpPr>
        <a:xfrm>
          <a:off x="0" y="0"/>
          <a:ext cx="0" cy="0"/>
          <a:chOff x="0" y="0"/>
          <a:chExt cx="0" cy="0"/>
        </a:xfrm>
      </p:grpSpPr>
      <p:sp>
        <p:nvSpPr>
          <p:cNvPr id="2649" name="Google Shape;2649;g3e54846f4b4_0_23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0" name="Google Shape;2650;g3e54846f4b4_0_23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that follows shows the language-specific mechanics.</a:t>
            </a:r>
            <a:endParaRPr/>
          </a:p>
        </p:txBody>
      </p:sp>
      <p:sp>
        <p:nvSpPr>
          <p:cNvPr id="2651" name="Google Shape;2651;g3e54846f4b4_0_23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9" name="Shape 2659"/>
        <p:cNvGrpSpPr/>
        <p:nvPr/>
      </p:nvGrpSpPr>
      <p:grpSpPr>
        <a:xfrm>
          <a:off x="0" y="0"/>
          <a:ext cx="0" cy="0"/>
          <a:chOff x="0" y="0"/>
          <a:chExt cx="0" cy="0"/>
        </a:xfrm>
      </p:grpSpPr>
      <p:sp>
        <p:nvSpPr>
          <p:cNvPr id="2660" name="Google Shape;2660;g3e54846f4b4_0_23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1" name="Google Shape;2661;g3e54846f4b4_0_23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layers: Resilience4j @TimeLimiter caps the total wall-clock time of the async call, and the RestClient's own connect/read timeouts (set on its ClientHttpRequestFactorySettings) bound the underlying socket. Both matter: the TimeLimiter governs the logical operation, the factory timeouts govern the transport. The handler honours an inbound deadline and propagates the remaining budget in a header for the next hop to respect.</a:t>
            </a:r>
            <a:endParaRPr/>
          </a:p>
        </p:txBody>
      </p:sp>
      <p:sp>
        <p:nvSpPr>
          <p:cNvPr id="2662" name="Google Shape;2662;g3e54846f4b4_0_23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1" name="Shape 2671"/>
        <p:cNvGrpSpPr/>
        <p:nvPr/>
      </p:nvGrpSpPr>
      <p:grpSpPr>
        <a:xfrm>
          <a:off x="0" y="0"/>
          <a:ext cx="0" cy="0"/>
          <a:chOff x="0" y="0"/>
          <a:chExt cx="0" cy="0"/>
        </a:xfrm>
      </p:grpSpPr>
      <p:sp>
        <p:nvSpPr>
          <p:cNvPr id="2672" name="Google Shape;2672;g3e54846f4b4_0_24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3" name="Google Shape;2673;g3e54846f4b4_0_24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Retry is the most abused resilience pattern because the naive version (retry immediately, a fixed number of times, at every layer) is precisely how you build the amplification storm described earlier.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that follows shows the idiomatic library for each language.</a:t>
            </a:r>
            <a:endParaRPr/>
          </a:p>
        </p:txBody>
      </p:sp>
      <p:sp>
        <p:nvSpPr>
          <p:cNvPr id="2674" name="Google Shape;2674;g3e54846f4b4_0_24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2" name="Shape 2682"/>
        <p:cNvGrpSpPr/>
        <p:nvPr/>
      </p:nvGrpSpPr>
      <p:grpSpPr>
        <a:xfrm>
          <a:off x="0" y="0"/>
          <a:ext cx="0" cy="0"/>
          <a:chOff x="0" y="0"/>
          <a:chExt cx="0" cy="0"/>
        </a:xfrm>
      </p:grpSpPr>
      <p:sp>
        <p:nvSpPr>
          <p:cNvPr id="2683" name="Google Shape;2683;g3e54846f4b4_0_24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4" name="Google Shape;2684;g3e54846f4b4_0_24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Resilience4j separates the annotations (on the method) from the tuning (in application.yml). The yml encodes exponential backoff, the multiplier, randomized wait (jitter — the comment stresses not omitting it), the attempt cap, and the exception allow-list so only transient failures are retried. @CircuitBreaker on the same method gives the canonical retry+breaker pairing. Resilience4j evaluates the breaker outermost, so a tripped breaker short-circuits the retries.</a:t>
            </a:r>
            <a:endParaRPr/>
          </a:p>
        </p:txBody>
      </p:sp>
      <p:sp>
        <p:nvSpPr>
          <p:cNvPr id="2685" name="Google Shape;2685;g3e54846f4b4_0_24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4" name="Shape 2694"/>
        <p:cNvGrpSpPr/>
        <p:nvPr/>
      </p:nvGrpSpPr>
      <p:grpSpPr>
        <a:xfrm>
          <a:off x="0" y="0"/>
          <a:ext cx="0" cy="0"/>
          <a:chOff x="0" y="0"/>
          <a:chExt cx="0" cy="0"/>
        </a:xfrm>
      </p:grpSpPr>
      <p:sp>
        <p:nvSpPr>
          <p:cNvPr id="2695" name="Google Shape;2695;g3e54846f4b4_0_24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6" name="Google Shape;2696;g3e54846f4b4_0_24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we show each next.</a:t>
            </a:r>
            <a:endParaRPr/>
          </a:p>
        </p:txBody>
      </p:sp>
      <p:sp>
        <p:nvSpPr>
          <p:cNvPr id="2697" name="Google Shape;2697;g3e54846f4b4_0_24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5" name="Shape 2705"/>
        <p:cNvGrpSpPr/>
        <p:nvPr/>
      </p:nvGrpSpPr>
      <p:grpSpPr>
        <a:xfrm>
          <a:off x="0" y="0"/>
          <a:ext cx="0" cy="0"/>
          <a:chOff x="0" y="0"/>
          <a:chExt cx="0" cy="0"/>
        </a:xfrm>
      </p:grpSpPr>
      <p:sp>
        <p:nvSpPr>
          <p:cNvPr id="2706" name="Google Shape;2706;g3e54846f4b4_0_24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7" name="Google Shape;2707;g3e54846f4b4_0_24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Resilience4j @CircuitBreaker with a fallbackMethod (note the extra Throwable parameter on the fallback signature). Tuning lives in application.yml: sliding window size, failure-rate threshold to open, how long to stay open, and half-open trial count. The fallback enqueues to an outbox and returns pending — graceful degradation. Per-dependency instance ('payment'); define separate instances for separate dependencies, never share one.</a:t>
            </a:r>
            <a:endParaRPr/>
          </a:p>
        </p:txBody>
      </p:sp>
      <p:sp>
        <p:nvSpPr>
          <p:cNvPr id="2708" name="Google Shape;2708;g3e54846f4b4_0_24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7" name="Shape 2717"/>
        <p:cNvGrpSpPr/>
        <p:nvPr/>
      </p:nvGrpSpPr>
      <p:grpSpPr>
        <a:xfrm>
          <a:off x="0" y="0"/>
          <a:ext cx="0" cy="0"/>
          <a:chOff x="0" y="0"/>
          <a:chExt cx="0" cy="0"/>
        </a:xfrm>
      </p:grpSpPr>
      <p:sp>
        <p:nvSpPr>
          <p:cNvPr id="2718" name="Google Shape;2718;g3e54846f4b4_0_24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9" name="Google Shape;2719;g3e54846f4b4_0_24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720" name="Google Shape;2720;g3e54846f4b4_0_24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7" name="Shape 2727"/>
        <p:cNvGrpSpPr/>
        <p:nvPr/>
      </p:nvGrpSpPr>
      <p:grpSpPr>
        <a:xfrm>
          <a:off x="0" y="0"/>
          <a:ext cx="0" cy="0"/>
          <a:chOff x="0" y="0"/>
          <a:chExt cx="0" cy="0"/>
        </a:xfrm>
      </p:grpSpPr>
      <p:sp>
        <p:nvSpPr>
          <p:cNvPr id="2728" name="Google Shape;2728;g3e54846f4b4_0_24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9" name="Google Shape;2729;g3e54846f4b4_0_24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730" name="Google Shape;2730;g3e54846f4b4_0_24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7" name="Shape 2737"/>
        <p:cNvGrpSpPr/>
        <p:nvPr/>
      </p:nvGrpSpPr>
      <p:grpSpPr>
        <a:xfrm>
          <a:off x="0" y="0"/>
          <a:ext cx="0" cy="0"/>
          <a:chOff x="0" y="0"/>
          <a:chExt cx="0" cy="0"/>
        </a:xfrm>
      </p:grpSpPr>
      <p:sp>
        <p:nvSpPr>
          <p:cNvPr id="2738" name="Google Shape;2738;g3e54846f4b4_0_24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9" name="Google Shape;2739;g3e54846f4b4_0_24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740" name="Google Shape;2740;g3e54846f4b4_0_24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8" name="Shape 2748"/>
        <p:cNvGrpSpPr/>
        <p:nvPr/>
      </p:nvGrpSpPr>
      <p:grpSpPr>
        <a:xfrm>
          <a:off x="0" y="0"/>
          <a:ext cx="0" cy="0"/>
          <a:chOff x="0" y="0"/>
          <a:chExt cx="0" cy="0"/>
        </a:xfrm>
      </p:grpSpPr>
      <p:sp>
        <p:nvSpPr>
          <p:cNvPr id="2749" name="Google Shape;2749;g3e54846f4b4_0_24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0" name="Google Shape;2750;g3e54846f4b4_0_24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Example 21 takes SIGTERM itself. A sun.misc.Signal handler registered before Spring starts flips ShutdownState on the single SIGTERM: (1) the hand-written /readyz answers 503, so the Kubernetes readiness probe sees the pod go not-ready and stops routing, while /healthz stays 200; (2) a drain thread keeps the service serving for DRAIN_DELAY_SECONDS so the load balancer's removal propagates; (3) System.exit(0) runs Spring's graceful shutdown, which stops accepting and drains in-flight HTTP within timeout-per-shutdown-phase (20 s); (4) the context closes the pool and the process exits 0. Appendix H covers the Kubernetes preStop + terminationGracePeriodSeconds side.</a:t>
            </a:r>
            <a:endParaRPr/>
          </a:p>
        </p:txBody>
      </p:sp>
      <p:sp>
        <p:nvSpPr>
          <p:cNvPr id="2751" name="Google Shape;2751;g3e54846f4b4_0_24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0" name="Shape 2760"/>
        <p:cNvGrpSpPr/>
        <p:nvPr/>
      </p:nvGrpSpPr>
      <p:grpSpPr>
        <a:xfrm>
          <a:off x="0" y="0"/>
          <a:ext cx="0" cy="0"/>
          <a:chOff x="0" y="0"/>
          <a:chExt cx="0" cy="0"/>
        </a:xfrm>
      </p:grpSpPr>
      <p:sp>
        <p:nvSpPr>
          <p:cNvPr id="2761" name="Google Shape;2761;g3e54846f4b4_0_2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2" name="Google Shape;2762;g3e54846f4b4_0_2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Tie the appendix back to section 11.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from section 11 applied to incident response.</a:t>
            </a:r>
            <a:endParaRPr/>
          </a:p>
        </p:txBody>
      </p:sp>
      <p:sp>
        <p:nvSpPr>
          <p:cNvPr id="2763" name="Google Shape;2763;g3e54846f4b4_0_2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0" name="Shape 2770"/>
        <p:cNvGrpSpPr/>
        <p:nvPr/>
      </p:nvGrpSpPr>
      <p:grpSpPr>
        <a:xfrm>
          <a:off x="0" y="0"/>
          <a:ext cx="0" cy="0"/>
          <a:chOff x="0" y="0"/>
          <a:chExt cx="0" cy="0"/>
        </a:xfrm>
      </p:grpSpPr>
      <p:sp>
        <p:nvSpPr>
          <p:cNvPr id="2771" name="Google Shape;2771;g3e54846f4b4_0_2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2" name="Google Shape;2772;g3e54846f4b4_0_2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773" name="Google Shape;2773;g3e54846f4b4_0_2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1" name="Shape 2781"/>
        <p:cNvGrpSpPr/>
        <p:nvPr/>
      </p:nvGrpSpPr>
      <p:grpSpPr>
        <a:xfrm>
          <a:off x="0" y="0"/>
          <a:ext cx="0" cy="0"/>
          <a:chOff x="0" y="0"/>
          <a:chExt cx="0" cy="0"/>
        </a:xfrm>
      </p:grpSpPr>
      <p:sp>
        <p:nvSpPr>
          <p:cNvPr id="2782" name="Google Shape;2782;g3e54846f4b4_0_2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3" name="Google Shape;2783;g3e54846f4b4_0_2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784" name="Google Shape;2784;g3e54846f4b4_0_2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Spring Boot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Spring Boot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01.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4.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2.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09.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09.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4" Type="http://schemas.openxmlformats.org/officeDocument/2006/relationships/image" Target="../media/image1.png"/><Relationship Id="rId5"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5.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4" Type="http://schemas.openxmlformats.org/officeDocument/2006/relationships/image" Target="../media/image1.png"/><Relationship Id="rId5"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09.png"/><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4" Type="http://schemas.openxmlformats.org/officeDocument/2006/relationships/image" Target="../media/image1.png"/><Relationship Id="rId5"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3.png"/><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09.png"/><Relationship Id="rId4"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5.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4" Type="http://schemas.openxmlformats.org/officeDocument/2006/relationships/image" Target="../media/image1.png"/><Relationship Id="rId5"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png"/><Relationship Id="rId5"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1.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55.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09.png"/><Relationship Id="rId4" Type="http://schemas.openxmlformats.org/officeDocument/2006/relationships/image" Target="../media/image1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47.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46.png"/><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4" Type="http://schemas.openxmlformats.org/officeDocument/2006/relationships/image" Target="../media/image1.png"/><Relationship Id="rId5"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4" Type="http://schemas.openxmlformats.org/officeDocument/2006/relationships/image" Target="../media/image1.png"/><Relationship Id="rId5" Type="http://schemas.openxmlformats.org/officeDocument/2006/relationships/image" Target="../media/image3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58.png"/><Relationship Id="rId4"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09.png"/><Relationship Id="rId4" Type="http://schemas.openxmlformats.org/officeDocument/2006/relationships/image" Target="../media/image1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54.png"/><Relationship Id="rId4"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4" Type="http://schemas.openxmlformats.org/officeDocument/2006/relationships/image" Target="../media/image1.png"/><Relationship Id="rId5" Type="http://schemas.openxmlformats.org/officeDocument/2006/relationships/image" Target="../media/image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09.png"/><Relationship Id="rId4" Type="http://schemas.openxmlformats.org/officeDocument/2006/relationships/image" Target="../media/image1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97.png"/><Relationship Id="rId4"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77.png"/><Relationship Id="rId4"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09.png"/><Relationship Id="rId4" Type="http://schemas.openxmlformats.org/officeDocument/2006/relationships/image" Target="../media/image1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92.png"/><Relationship Id="rId4"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09.png"/><Relationship Id="rId4" Type="http://schemas.openxmlformats.org/officeDocument/2006/relationships/image" Target="../media/image1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75.png"/><Relationship Id="rId4"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09.png"/><Relationship Id="rId4" Type="http://schemas.openxmlformats.org/officeDocument/2006/relationships/image" Target="../media/image1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151.png"/><Relationship Id="rId4"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09.png"/><Relationship Id="rId4" Type="http://schemas.openxmlformats.org/officeDocument/2006/relationships/image" Target="../media/image1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86.png"/><Relationship Id="rId4"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85.png"/><Relationship Id="rId4"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91.png"/><Relationship Id="rId4"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03.png"/><Relationship Id="rId4"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99.png"/><Relationship Id="rId4"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09.png"/><Relationship Id="rId4" Type="http://schemas.openxmlformats.org/officeDocument/2006/relationships/image" Target="../media/image1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06.png"/><Relationship Id="rId4"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10.png"/><Relationship Id="rId4"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4" Type="http://schemas.openxmlformats.org/officeDocument/2006/relationships/image" Target="../media/image1.png"/><Relationship Id="rId5" Type="http://schemas.openxmlformats.org/officeDocument/2006/relationships/image" Target="../media/image2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4" Type="http://schemas.openxmlformats.org/officeDocument/2006/relationships/image" Target="../media/image1.png"/><Relationship Id="rId5" Type="http://schemas.openxmlformats.org/officeDocument/2006/relationships/image" Target="../media/image26.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22.png"/><Relationship Id="rId4"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130.png"/><Relationship Id="rId4"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27.png"/><Relationship Id="rId4"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09.png"/><Relationship Id="rId4" Type="http://schemas.openxmlformats.org/officeDocument/2006/relationships/image" Target="../media/image1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4" Type="http://schemas.openxmlformats.org/officeDocument/2006/relationships/image" Target="../media/image1.png"/><Relationship Id="rId5" Type="http://schemas.openxmlformats.org/officeDocument/2006/relationships/image" Target="../media/image1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09.png"/><Relationship Id="rId4" Type="http://schemas.openxmlformats.org/officeDocument/2006/relationships/image" Target="../media/image10.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09.png"/><Relationship Id="rId4" Type="http://schemas.openxmlformats.org/officeDocument/2006/relationships/image" Target="../media/image10.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64.png"/><Relationship Id="rId4"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167.png"/><Relationship Id="rId4"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153.png"/><Relationship Id="rId4"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09.png"/><Relationship Id="rId4" Type="http://schemas.openxmlformats.org/officeDocument/2006/relationships/image" Target="../media/image10.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61.png"/><Relationship Id="rId4"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176.png"/><Relationship Id="rId4"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189.png"/><Relationship Id="rId4"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09.png"/><Relationship Id="rId4" Type="http://schemas.openxmlformats.org/officeDocument/2006/relationships/image" Target="../media/image10.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72.png"/><Relationship Id="rId4"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191.png"/><Relationship Id="rId4"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174.png"/><Relationship Id="rId4"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09.png"/><Relationship Id="rId4" Type="http://schemas.openxmlformats.org/officeDocument/2006/relationships/image" Target="../media/image10.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4" Type="http://schemas.openxmlformats.org/officeDocument/2006/relationships/image" Target="../media/image1.png"/><Relationship Id="rId5" Type="http://schemas.openxmlformats.org/officeDocument/2006/relationships/image" Target="../media/image2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98.png"/><Relationship Id="rId4"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201.png"/><Relationship Id="rId4"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86.png"/><Relationship Id="rId4"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4" Type="http://schemas.openxmlformats.org/officeDocument/2006/relationships/image" Target="../media/image1.png"/><Relationship Id="rId5" Type="http://schemas.openxmlformats.org/officeDocument/2006/relationships/image" Target="../media/image23.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109.png"/><Relationship Id="rId4" Type="http://schemas.openxmlformats.org/officeDocument/2006/relationships/image" Target="../media/image10.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214.png"/><Relationship Id="rId4"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195.png"/><Relationship Id="rId4"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00.png"/><Relationship Id="rId4"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07.png"/><Relationship Id="rId4"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209.png"/><Relationship Id="rId4"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11.png"/><Relationship Id="rId4"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109.png"/><Relationship Id="rId4" Type="http://schemas.openxmlformats.org/officeDocument/2006/relationships/image" Target="../media/image10.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18.png"/><Relationship Id="rId4"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219.png"/><Relationship Id="rId4"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225.png"/><Relationship Id="rId4"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109.png"/><Relationship Id="rId4" Type="http://schemas.openxmlformats.org/officeDocument/2006/relationships/image" Target="../media/image10.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3" Type="http://schemas.openxmlformats.org/officeDocument/2006/relationships/image" Target="../media/image231.png"/><Relationship Id="rId4"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234.png"/><Relationship Id="rId4"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4" Type="http://schemas.openxmlformats.org/officeDocument/2006/relationships/image" Target="../media/image1.png"/><Relationship Id="rId5" Type="http://schemas.openxmlformats.org/officeDocument/2006/relationships/image" Target="../media/image36.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109.png"/><Relationship Id="rId4" Type="http://schemas.openxmlformats.org/officeDocument/2006/relationships/image" Target="../media/image10.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281.png"/><Relationship Id="rId4"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256.png"/><Relationship Id="rId4"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09.png"/><Relationship Id="rId4" Type="http://schemas.openxmlformats.org/officeDocument/2006/relationships/image" Target="../media/image10.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255.png"/><Relationship Id="rId4"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4" Type="http://schemas.openxmlformats.org/officeDocument/2006/relationships/image" Target="../media/image1.png"/><Relationship Id="rId5" Type="http://schemas.openxmlformats.org/officeDocument/2006/relationships/image" Target="../media/image27.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4" Type="http://schemas.openxmlformats.org/officeDocument/2006/relationships/image" Target="../media/image1.png"/><Relationship Id="rId5" Type="http://schemas.openxmlformats.org/officeDocument/2006/relationships/image" Target="../media/image15.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268.png"/><Relationship Id="rId4"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270.png"/><Relationship Id="rId4"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278.png"/><Relationship Id="rId4"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37.png"/><Relationship Id="rId4"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4" Type="http://schemas.openxmlformats.org/officeDocument/2006/relationships/image" Target="../media/image1.png"/><Relationship Id="rId5" Type="http://schemas.openxmlformats.org/officeDocument/2006/relationships/image" Target="../media/image17.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09.png"/><Relationship Id="rId4" Type="http://schemas.openxmlformats.org/officeDocument/2006/relationships/image" Target="../media/image10.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305.png"/><Relationship Id="rId4"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297.png"/><Relationship Id="rId4"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298.png"/><Relationship Id="rId4"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301.png"/><Relationship Id="rId4"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309.png"/><Relationship Id="rId4"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306.png"/><Relationship Id="rId4"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4" Type="http://schemas.openxmlformats.org/officeDocument/2006/relationships/image" Target="../media/image1.png"/><Relationship Id="rId5" Type="http://schemas.openxmlformats.org/officeDocument/2006/relationships/image" Target="../media/image19.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320.png"/><Relationship Id="rId4"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109.png"/><Relationship Id="rId4" Type="http://schemas.openxmlformats.org/officeDocument/2006/relationships/image" Target="../media/image10.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328.png"/><Relationship Id="rId4"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322.png"/><Relationship Id="rId4"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325.png"/><Relationship Id="rId4"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327.png"/><Relationship Id="rId4"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330.png"/><Relationship Id="rId4"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374.png"/><Relationship Id="rId4"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109.png"/><Relationship Id="rId4" Type="http://schemas.openxmlformats.org/officeDocument/2006/relationships/image" Target="../media/image10.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4" Type="http://schemas.openxmlformats.org/officeDocument/2006/relationships/image" Target="../media/image1.png"/><Relationship Id="rId5" Type="http://schemas.openxmlformats.org/officeDocument/2006/relationships/image" Target="../media/image20.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44.png"/><Relationship Id="rId4"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342.png"/><Relationship Id="rId4"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346.png"/><Relationship Id="rId4"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4" Type="http://schemas.openxmlformats.org/officeDocument/2006/relationships/image" Target="../media/image1.png"/><Relationship Id="rId5" Type="http://schemas.openxmlformats.org/officeDocument/2006/relationships/image" Target="../media/image30.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355.png"/><Relationship Id="rId4"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376.png"/><Relationship Id="rId4"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53.png"/><Relationship Id="rId4"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359.png"/><Relationship Id="rId4"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363.png"/><Relationship Id="rId4"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368.png"/><Relationship Id="rId4"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 Id="rId3" Type="http://schemas.openxmlformats.org/officeDocument/2006/relationships/image" Target="../media/image371.png"/><Relationship Id="rId4"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image" Target="../media/image377.png"/><Relationship Id="rId2" Type="http://schemas.openxmlformats.org/officeDocument/2006/relationships/image" Target="../media/image378.png"/><Relationship Id="rId3" Type="http://schemas.openxmlformats.org/officeDocument/2006/relationships/slideLayout" Target="../slideLayouts/slideLayout1.xml"/><Relationship Id="rId4"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379.png"/><Relationship Id="rId2" Type="http://schemas.openxmlformats.org/officeDocument/2006/relationships/image" Target="../media/image380.png"/><Relationship Id="rId3" Type="http://schemas.openxmlformats.org/officeDocument/2006/relationships/slideLayout" Target="../slideLayouts/slideLayout1.xml"/><Relationship Id="rId4"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383.png"/><Relationship Id="rId2" Type="http://schemas.openxmlformats.org/officeDocument/2006/relationships/image" Target="../media/image384.png"/><Relationship Id="rId3" Type="http://schemas.openxmlformats.org/officeDocument/2006/relationships/slideLayout" Target="../slideLayouts/slideLayout1.xml"/><Relationship Id="rId4"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385.png"/><Relationship Id="rId2" Type="http://schemas.openxmlformats.org/officeDocument/2006/relationships/slideLayout" Target="../slideLayouts/slideLayout1.xml"/><Relationship Id="rId3"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386.png"/><Relationship Id="rId2" Type="http://schemas.openxmlformats.org/officeDocument/2006/relationships/slideLayout" Target="../slideLayouts/slideLayout1.xml"/><Relationship Id="rId3"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387.png"/><Relationship Id="rId2" Type="http://schemas.openxmlformats.org/officeDocument/2006/relationships/image" Target="../media/image388.png"/><Relationship Id="rId3" Type="http://schemas.openxmlformats.org/officeDocument/2006/relationships/slideLayout" Target="../slideLayouts/slideLayout1.xml"/><Relationship Id="rId4"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389.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90.png"/><Relationship Id="rId2" Type="http://schemas.openxmlformats.org/officeDocument/2006/relationships/image" Target="../media/image391.png"/><Relationship Id="rId3" Type="http://schemas.openxmlformats.org/officeDocument/2006/relationships/slideLayout" Target="../slideLayouts/slideLayout1.xml"/><Relationship Id="rId4"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392.png"/><Relationship Id="rId2" Type="http://schemas.openxmlformats.org/officeDocument/2006/relationships/image" Target="../media/image393.png"/><Relationship Id="rId3" Type="http://schemas.openxmlformats.org/officeDocument/2006/relationships/slideLayout" Target="../slideLayouts/slideLayout1.xml"/><Relationship Id="rId4"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394.png"/><Relationship Id="rId2" Type="http://schemas.openxmlformats.org/officeDocument/2006/relationships/slideLayout" Target="../slideLayouts/slideLayout1.xml"/><Relationship Id="rId3"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395.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396.png"/><Relationship Id="rId2" Type="http://schemas.openxmlformats.org/officeDocument/2006/relationships/image" Target="../media/image397.png"/><Relationship Id="rId3" Type="http://schemas.openxmlformats.org/officeDocument/2006/relationships/slideLayout" Target="../slideLayouts/slideLayout1.xml"/><Relationship Id="rId4"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image" Target="../media/image398.png"/><Relationship Id="rId2" Type="http://schemas.openxmlformats.org/officeDocument/2006/relationships/image" Target="../media/image399.png"/><Relationship Id="rId3" Type="http://schemas.openxmlformats.org/officeDocument/2006/relationships/slideLayout" Target="../slideLayouts/slideLayout1.xml"/><Relationship Id="rId4"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400.png"/><Relationship Id="rId2" Type="http://schemas.openxmlformats.org/officeDocument/2006/relationships/image" Target="../media/image401.png"/><Relationship Id="rId3" Type="http://schemas.openxmlformats.org/officeDocument/2006/relationships/slideLayout" Target="../slideLayouts/slideLayout1.xml"/><Relationship Id="rId4"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402.png"/><Relationship Id="rId2" Type="http://schemas.openxmlformats.org/officeDocument/2006/relationships/slideLayout" Target="../slideLayouts/slideLayout1.xml"/><Relationship Id="rId3"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403.png"/><Relationship Id="rId3" Type="http://schemas.openxmlformats.org/officeDocument/2006/relationships/slideLayout" Target="../slideLayouts/slideLayout1.xml"/><Relationship Id="rId4" Type="http://schemas.openxmlformats.org/officeDocument/2006/relationships/notesSlide" Target="../notesSlides/notesSlide269.xml"/><Relationship Id="rId5" Type="http://schemas.openxmlformats.org/officeDocument/2006/relationships/image" Target="../media/image2.png"/></Relationships>
</file>

<file path=ppt/slides/_rels/slide270.xml.rels><?xml version='1.0' encoding='UTF-8' standalone='yes'?>
<Relationships xmlns="http://schemas.openxmlformats.org/package/2006/relationships"><Relationship Id="rId1" Type="http://schemas.openxmlformats.org/officeDocument/2006/relationships/image" Target="../media/image405.png"/><Relationship Id="rId2" Type="http://schemas.openxmlformats.org/officeDocument/2006/relationships/slideLayout" Target="../slideLayouts/slideLayout1.xml"/><Relationship Id="rId3"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image" Target="../media/image406.png"/><Relationship Id="rId2" Type="http://schemas.openxmlformats.org/officeDocument/2006/relationships/slideLayout" Target="../slideLayouts/slideLayout1.xml"/><Relationship Id="rId3"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407.png"/><Relationship Id="rId2" Type="http://schemas.openxmlformats.org/officeDocument/2006/relationships/image" Target="../media/image408.png"/><Relationship Id="rId3" Type="http://schemas.openxmlformats.org/officeDocument/2006/relationships/slideLayout" Target="../slideLayouts/slideLayout1.xml"/><Relationship Id="rId4"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image" Target="../media/image409.png"/><Relationship Id="rId2" Type="http://schemas.openxmlformats.org/officeDocument/2006/relationships/slideLayout" Target="../slideLayouts/slideLayout1.xml"/><Relationship Id="rId3"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image" Target="../media/image410.png"/><Relationship Id="rId3" Type="http://schemas.openxmlformats.org/officeDocument/2006/relationships/slideLayout" Target="../slideLayouts/slideLayout1.xml"/><Relationship Id="rId4" Type="http://schemas.openxmlformats.org/officeDocument/2006/relationships/notesSlide" Target="../notesSlides/notesSlide274.xml"/><Relationship Id="rId5" Type="http://schemas.openxmlformats.org/officeDocument/2006/relationships/image" Target="../media/image3.png"/></Relationships>
</file>

<file path=ppt/slides/_rels/slide275.xml.rels><?xml version='1.0' encoding='UTF-8' standalone='yes'?>
<Relationships xmlns="http://schemas.openxmlformats.org/package/2006/relationships"><Relationship Id="rId1" Type="http://schemas.openxmlformats.org/officeDocument/2006/relationships/image" Target="../media/image412.png"/><Relationship Id="rId2" Type="http://schemas.openxmlformats.org/officeDocument/2006/relationships/image" Target="../media/image413.png"/><Relationship Id="rId3" Type="http://schemas.openxmlformats.org/officeDocument/2006/relationships/slideLayout" Target="../slideLayouts/slideLayout1.xml"/><Relationship Id="rId4"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image" Target="../media/image414.png"/><Relationship Id="rId2" Type="http://schemas.openxmlformats.org/officeDocument/2006/relationships/slideLayout" Target="../slideLayouts/slideLayout1.xml"/><Relationship Id="rId3"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6.png"/><Relationship Id="rId3" Type="http://schemas.openxmlformats.org/officeDocument/2006/relationships/image" Target="../media/image397.png"/><Relationship Id="rId4"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4.png"/><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4.png"/><Relationship Id="rId3"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0.png"/><Relationship Id="rId4" Type="http://schemas.openxmlformats.org/officeDocument/2006/relationships/notesSlide" Target="../notesSlides/notesSlide280.xml"/><Relationship Id="rId5" Type="http://schemas.openxmlformats.org/officeDocument/2006/relationships/image" Target="../media/image28.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4.png"/><Relationship Id="rId3"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5.png"/><Relationship Id="rId3"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0.png"/><Relationship Id="rId4" Type="http://schemas.openxmlformats.org/officeDocument/2006/relationships/notesSlide" Target="../notesSlides/notesSlide283.xml"/><Relationship Id="rId5" Type="http://schemas.openxmlformats.org/officeDocument/2006/relationships/image" Target="../media/image29.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5.png"/><Relationship Id="rId3"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4.png"/><Relationship Id="rId3" Type="http://schemas.openxmlformats.org/officeDocument/2006/relationships/notesSlide" Target="../notesSlides/notesSlide28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4" cy="6858001"/>
          </a:xfrm>
          <a:prstGeom prst="rect">
            <a:avLst/>
          </a:prstGeom>
          <a:noFill/>
          <a:ln>
            <a:noFill/>
          </a:ln>
        </p:spPr>
      </p:pic>
      <p:sp>
        <p:nvSpPr>
          <p:cNvPr id="17" name="Google Shape;17;p3"/>
          <p:cNvSpPr/>
          <p:nvPr/>
        </p:nvSpPr>
        <p:spPr>
          <a:xfrm>
            <a:off x="5486400" y="1810512"/>
            <a:ext cx="6309300" cy="310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200" cy="169170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600" cy="8229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pic>
        <p:nvPicPr>
          <p:cNvPr descr="/home/claude/work/assets/rh-logo.png" id="20" name="Google Shape;20;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
        <p:nvSpPr>
          <p:cNvPr id="21" name="Google Shape;21;p3"/>
          <p:cNvSpPr/>
          <p:nvPr/>
        </p:nvSpPr>
        <p:spPr>
          <a:xfrm>
            <a:off x="5558082" y="5103435"/>
            <a:ext cx="6400500" cy="365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151515"/>
              </a:buClr>
              <a:buSzPts val="1300"/>
              <a:buFont typeface="Red Hat Text"/>
              <a:buNone/>
            </a:pPr>
            <a:r>
              <a:rPr b="1" lang="en-US" sz="1300">
                <a:solidFill>
                  <a:srgbClr val="151515"/>
                </a:solidFill>
                <a:latin typeface="Red Hat Text"/>
                <a:ea typeface="Red Hat Text"/>
                <a:cs typeface="Red Hat Text"/>
                <a:sym typeface="Red Hat Text"/>
              </a:rPr>
              <a:t>Robert Sedor</a:t>
            </a:r>
            <a:endParaRPr sz="1300">
              <a:solidFill>
                <a:srgbClr val="000000"/>
              </a:solidFill>
              <a:latin typeface="Calibri"/>
              <a:ea typeface="Calibri"/>
              <a:cs typeface="Calibri"/>
              <a:sym typeface="Calibri"/>
            </a:endParaRPr>
          </a:p>
          <a:p>
            <a:pPr indent="0" lvl="0" marL="0" rtl="0" algn="l">
              <a:spcBef>
                <a:spcPts val="0"/>
              </a:spcBef>
              <a:spcAft>
                <a:spcPts val="0"/>
              </a:spcAft>
              <a:buClr>
                <a:srgbClr val="5A5A5A"/>
              </a:buClr>
              <a:buSzPts val="1150"/>
              <a:buFont typeface="Red Hat Text"/>
              <a:buNone/>
            </a:pPr>
            <a:r>
              <a:rPr lang="en-US" sz="1150">
                <a:solidFill>
                  <a:srgbClr val="5A5A5A"/>
                </a:solidFill>
                <a:latin typeface="Red Hat Text"/>
                <a:ea typeface="Red Hat Text"/>
                <a:cs typeface="Red Hat Text"/>
                <a:sym typeface="Red Hat Text"/>
              </a:rPr>
              <a:t>Chief Architect, Application Development</a:t>
            </a:r>
            <a:endParaRPr b="1" sz="1500">
              <a:solidFill>
                <a:srgbClr val="151515"/>
              </a:solidFill>
              <a:latin typeface="Red Hat Text"/>
              <a:ea typeface="Red Hat Text"/>
              <a:cs typeface="Red Hat Text"/>
              <a:sym typeface="Red Hat Tex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R · Example 05 on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sb/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sb/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sb/01-cloud-native-pillars.png" id="91" name="Google Shape;91;p10"/>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02" name="Google Shape;102;p1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03" name="Google Shape;103;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4" name="Google Shape;104;p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1" name="Google Shape;111;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Maven with spring-boot-starter-parent for reproducible builds; springdoc-openapi emits the OpenAPI spec; buf / protoc for gRPC; Spring for GraphQL exports SDL from .graphqls files.</a:t>
            </a:r>
            <a:endParaRPr b="0" i="0" sz="17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4" name="Google Shape;114;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1" name="Google Shape;121;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we list the twelve factors and map each to where it lives in our architecture.</a:t>
            </a:r>
            <a:endParaRPr b="0" i="0" sz="17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4" name="Google Shape;124;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1" name="Google Shape;131;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sb/44-twelve-factor-list.png" id="132" name="Google Shape;132;p14"/>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33" name="Google Shape;133;p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sb/42-twelve-factor-map-sb.png" id="143" name="Google Shape;143;p15"/>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Spring Boot service, ready for the platform</a:t>
            </a:r>
            <a:endParaRPr b="0" i="0" sz="3000" u="none" cap="none" strike="noStrike">
              <a:solidFill>
                <a:schemeClr val="dk1"/>
              </a:solidFill>
              <a:latin typeface="Calibri"/>
              <a:ea typeface="Calibri"/>
              <a:cs typeface="Calibri"/>
              <a:sym typeface="Calibri"/>
            </a:endParaRPr>
          </a:p>
        </p:txBody>
      </p:sp>
      <p:sp>
        <p:nvSpPr>
          <p:cNvPr id="154" name="Google Shape;154;p1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6"/>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a:t>
            </a:r>
            <a:endParaRPr b="0" i="0" sz="1000" u="none" cap="none" strike="noStrike">
              <a:solidFill>
                <a:schemeClr val="dk1"/>
              </a:solidFill>
              <a:latin typeface="Calibri"/>
              <a:ea typeface="Calibri"/>
              <a:cs typeface="Calibri"/>
              <a:sym typeface="Calibri"/>
            </a:endParaRPr>
          </a:p>
        </p:txBody>
      </p:sp>
      <p:sp>
        <p:nvSpPr>
          <p:cNvPr id="156" name="Google Shape;156;p1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HealthController.java (excerpt), examples/01-cloud-native-principles/spring-boot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config from env (factor III): SPRING_DATASOURCE_URL, SERVICE_VERSION -&gt; service.version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HealthController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DataSource dataSource;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@Value("${service.version}")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String serviceVersion;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HealthController(DataSource dataSource) { this.dataSource = dataSource;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@GetMapping("/healthz")                           // liveness: the process is up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Map&lt;String, String&gt; healthz() { return Map.of("status", "ok");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@GetMapping("/readyz")                            // readiness: SELECT 1 on the pool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ResponseEntity&lt;Map&lt;String, Object&gt;&gt; readyz()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(var conn = dataSource.getConnection())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conn.createStatement().executeQuery("SELECT 1").close();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(Exception e) {                       // down: 503, the pod leaves the 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ResponseEntity.status(HttpStatus.SERVICE_UNAVAILABLE)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.body(Map.of("status", "down", "checks", Map.of("database", "unreachable")));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ResponseEntity.ok(Map.of("status", "ready",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"checks", Map.of("database", "ok")));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7" name="Google Shape;157;p1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an explicit application name are the price of admission for a Kubernetes Deployment.</a:t>
            </a:r>
            <a:endParaRPr b="0" i="0" sz="1300" u="none" cap="none" strike="noStrike">
              <a:solidFill>
                <a:schemeClr val="dk1"/>
              </a:solidFill>
              <a:latin typeface="Calibri"/>
              <a:ea typeface="Calibri"/>
              <a:cs typeface="Calibri"/>
              <a:sym typeface="Calibri"/>
            </a:endParaRPr>
          </a:p>
        </p:txBody>
      </p:sp>
      <p:sp>
        <p:nvSpPr>
          <p:cNvPr id="158" name="Google Shape;158;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9" name="Google Shape;159;p1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 name="Shape 164"/>
        <p:cNvGrpSpPr/>
        <p:nvPr/>
      </p:nvGrpSpPr>
      <p:grpSpPr>
        <a:xfrm>
          <a:off x="0" y="0"/>
          <a:ext cx="0" cy="0"/>
          <a:chOff x="0" y="0"/>
          <a:chExt cx="0" cy="0"/>
        </a:xfrm>
      </p:grpSpPr>
      <p:pic>
        <p:nvPicPr>
          <p:cNvPr descr="/home/claude/work/assets/rh-divider-bg.png" id="165" name="Google Shape;165;p1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6" name="Google Shape;166;p1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67" name="Google Shape;167;p1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68" name="Google Shape;168;p1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69" name="Google Shape;169;p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76" name="Google Shape;176;p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sb/03-comm-protocol-matrix.png" id="177" name="Google Shape;177;p18"/>
          <p:cNvPicPr preferRelativeResize="0"/>
          <p:nvPr/>
        </p:nvPicPr>
        <p:blipFill rotWithShape="1">
          <a:blip r:embed="rId5">
            <a:alphaModFix/>
          </a:blip>
          <a:stretch/>
        </p:blipFill>
        <p:spPr>
          <a:xfrm>
            <a:off x="1327421" y="2112646"/>
            <a:ext cx="9536855" cy="3501388"/>
          </a:xfrm>
          <a:prstGeom prst="rect">
            <a:avLst/>
          </a:prstGeom>
          <a:noFill/>
          <a:ln>
            <a:noFill/>
          </a:ln>
        </p:spPr>
      </p:pic>
      <p:sp>
        <p:nvSpPr>
          <p:cNvPr id="178" name="Google Shape;178;p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79" name="Google Shape;179;p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Spring Web</a:t>
            </a:r>
            <a:endParaRPr b="0" i="0" sz="3000" u="none" cap="none" strike="noStrike">
              <a:solidFill>
                <a:schemeClr val="dk1"/>
              </a:solidFill>
              <a:latin typeface="Calibri"/>
              <a:ea typeface="Calibri"/>
              <a:cs typeface="Calibri"/>
              <a:sym typeface="Calibri"/>
            </a:endParaRPr>
          </a:p>
        </p:txBody>
      </p:sp>
      <p:sp>
        <p:nvSpPr>
          <p:cNvPr id="188" name="Google Shape;188;p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9"/>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Web</a:t>
            </a:r>
            <a:endParaRPr b="0" i="0" sz="1000" u="none" cap="none" strike="noStrike">
              <a:solidFill>
                <a:schemeClr val="dk1"/>
              </a:solidFill>
              <a:latin typeface="Calibri"/>
              <a:ea typeface="Calibri"/>
              <a:cs typeface="Calibri"/>
              <a:sym typeface="Calibri"/>
            </a:endParaRPr>
          </a:p>
        </p:txBody>
      </p:sp>
      <p:sp>
        <p:nvSpPr>
          <p:cNvPr id="190" name="Google Shape;190;p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OrderController {                // Spring Web MVC (or WebFlux)</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OrderService 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EventPublisher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OrderController(OrderService orders, EventPublisher events)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this.orders = orders; this.events =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record OrderIn(@NotBlank String sku, @Positive int quantity) {}  // validated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@ResponseStatus(HttpStatus.CREATED)       // correct status, not 200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place(@Valid @RequestBody OrderIn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 = orders.create(body);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events.publish("order.placed", o);    // emit the fact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                                // cursor pagination, not offset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Page&lt;Order&gt; list(@RequestParam(required = false) String after,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@RequestParam(defaultValue = "50") int limit)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orders.page(after, limit);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91" name="Google Shape;191;p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Bean-Validation contracts, correct status codes, cursor pagination — the edge surface other teams depend on.</a:t>
            </a:r>
            <a:endParaRPr b="0" i="0" sz="1300" u="none" cap="none" strike="noStrike">
              <a:solidFill>
                <a:schemeClr val="dk1"/>
              </a:solidFill>
              <a:latin typeface="Calibri"/>
              <a:ea typeface="Calibri"/>
              <a:cs typeface="Calibri"/>
              <a:sym typeface="Calibri"/>
            </a:endParaRPr>
          </a:p>
        </p:txBody>
      </p:sp>
      <p:sp>
        <p:nvSpPr>
          <p:cNvPr id="192" name="Google Shape;192;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3" name="Google Shape;193;p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00" name="Google Shape;200;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01" name="Google Shape;201;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0"/>
          <p:cNvSpPr/>
          <p:nvPr/>
        </p:nvSpPr>
        <p:spPr>
          <a:xfrm>
            <a:off x="8023017" y="1700784"/>
            <a:ext cx="3510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java · Spring Boot 4 + grpc-java</a:t>
            </a:r>
            <a:endParaRPr b="0" i="0" sz="1000" u="none" cap="none" strike="noStrike">
              <a:solidFill>
                <a:schemeClr val="dk1"/>
              </a:solidFill>
              <a:latin typeface="Calibri"/>
              <a:ea typeface="Calibri"/>
              <a:cs typeface="Calibri"/>
              <a:sym typeface="Calibri"/>
            </a:endParaRPr>
          </a:p>
        </p:txBody>
      </p:sp>
      <p:sp>
        <p:nvSpPr>
          <p:cNvPr id="203" name="Google Shape;203;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inventory.proto — the contract, registered in Apicurio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syntax = "proto3";</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service Inventory { rpc ReserveStock (ReserveRequest) returns (ReserveReply);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message ReserveRequest { string sku = 1; int32 quantity = 2;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message ReserveReply   { bool reserved = 1; int32 remaining = 2;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inventory-service (excerpt): grpc-java server; protobuf-maven-plugin generates the stubs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@SpringBootApplication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InventoryServiceApplication extends InventoryGrpc.InventoryImplBase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implements CommandLineRunner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@Override public void run(String... args) throws Exception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server = ServerBuilder.forPort(grpcPort).addService(this).build().start();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server.awaitTermination();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@Override public void reserveStock(ReserveRequest req, StreamObserver&lt;ReserveReply&gt; obs)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int remaining = stock.get(req.getSku()) - req.getQuantity();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(remaining &gt;= 0) stock.put(req.getSku(), remaining);      // reserve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obs.onNext(ReserveReply.newBuilder().setReserved(remaining &gt;= 0)</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.setRemaining(remaining &gt;= 0 ? remaining : stock.get(req.getSku())).build());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obs.onCompleted();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204" name="Google Shape;204;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right default for chatty internal paths. Test with ghz.</a:t>
            </a:r>
            <a:endParaRPr b="0" i="0" sz="1300" u="none" cap="none" strike="noStrike">
              <a:solidFill>
                <a:schemeClr val="dk1"/>
              </a:solidFill>
              <a:latin typeface="Calibri"/>
              <a:ea typeface="Calibri"/>
              <a:cs typeface="Calibri"/>
              <a:sym typeface="Calibri"/>
            </a:endParaRPr>
          </a:p>
        </p:txBody>
      </p:sp>
      <p:sp>
        <p:nvSpPr>
          <p:cNvPr id="205" name="Google Shape;205;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6" name="Google Shape;206;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3" name="Google Shape;213;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sb/04-comm-sync-async.png" id="214" name="Google Shape;214;p2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5" name="Google Shape;215;p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sb/05-comm-service-mesh.png" id="225" name="Google Shape;225;p22"/>
          <p:cNvPicPr preferRelativeResize="0"/>
          <p:nvPr/>
        </p:nvPicPr>
        <p:blipFill rotWithShape="1">
          <a:blip r:embed="rId5">
            <a:alphaModFix/>
          </a:blip>
          <a:stretch/>
        </p:blipFill>
        <p:spPr>
          <a:xfrm>
            <a:off x="1327421" y="2245481"/>
            <a:ext cx="9536855" cy="3235718"/>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36" name="Google Shape;236;p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38" name="Google Shape;238;p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39" name="Google Shape;239;p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40" name="Google Shape;240;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41" name="Google Shape;241;p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 name="Shape 246"/>
        <p:cNvGrpSpPr/>
        <p:nvPr/>
      </p:nvGrpSpPr>
      <p:grpSpPr>
        <a:xfrm>
          <a:off x="0" y="0"/>
          <a:ext cx="0" cy="0"/>
          <a:chOff x="0" y="0"/>
          <a:chExt cx="0" cy="0"/>
        </a:xfrm>
      </p:grpSpPr>
      <p:pic>
        <p:nvPicPr>
          <p:cNvPr descr="/home/claude/work/assets/rh-divider-bg.png" id="247" name="Google Shape;247;p2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8" name="Google Shape;248;p2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49" name="Google Shape;249;p2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50" name="Google Shape;250;p2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51" name="Google Shape;251;p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58" name="Google Shape;258;p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sb/06-composition-federation.png" id="259" name="Google Shape;259;p25"/>
          <p:cNvPicPr preferRelativeResize="0"/>
          <p:nvPr/>
        </p:nvPicPr>
        <p:blipFill rotWithShape="1">
          <a:blip r:embed="rId5">
            <a:alphaModFix/>
          </a:blip>
          <a:stretch/>
        </p:blipFill>
        <p:spPr>
          <a:xfrm>
            <a:off x="1322510" y="2029015"/>
            <a:ext cx="9546675" cy="3668650"/>
          </a:xfrm>
          <a:prstGeom prst="rect">
            <a:avLst/>
          </a:prstGeom>
          <a:noFill/>
          <a:ln>
            <a:noFill/>
          </a:ln>
        </p:spPr>
      </p:pic>
      <p:sp>
        <p:nvSpPr>
          <p:cNvPr id="260" name="Google Shape;260;p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61" name="Google Shape;261;p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Spring for GraphQL</a:t>
            </a:r>
            <a:endParaRPr b="0" i="0" sz="3000" u="none" cap="none" strike="noStrike">
              <a:solidFill>
                <a:schemeClr val="dk1"/>
              </a:solidFill>
              <a:latin typeface="Calibri"/>
              <a:ea typeface="Calibri"/>
              <a:cs typeface="Calibri"/>
              <a:sym typeface="Calibri"/>
            </a:endParaRPr>
          </a:p>
        </p:txBody>
      </p:sp>
      <p:sp>
        <p:nvSpPr>
          <p:cNvPr id="270" name="Google Shape;270;p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6"/>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for GraphQL</a:t>
            </a:r>
            <a:endParaRPr b="0" i="0" sz="1000" u="none" cap="none" strike="noStrike">
              <a:solidFill>
                <a:schemeClr val="dk1"/>
              </a:solidFill>
              <a:latin typeface="Calibri"/>
              <a:ea typeface="Calibri"/>
              <a:cs typeface="Calibri"/>
              <a:sym typeface="Calibri"/>
            </a:endParaRPr>
          </a:p>
        </p:txBody>
      </p:sp>
      <p:sp>
        <p:nvSpPr>
          <p:cNvPr id="272" name="Google Shape;272;p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@Controller                                   // spring-boot-starter-graphql</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OrderGraphQLController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private final OrderClient orderClient;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private final InventoryGrpcClient inventory;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OrderGraphQLController(OrderClient o, InventoryGrpcClient i)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this.orderClient = o; this.inventory = i;</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@QueryMapping                              // REST call to order-service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Order order(@Argument String id)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orderClient.get(id);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@SchemaMapping(typeName = "Order", field = "stock")   // resolved on demand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Integer stock(Order order) {                   // via gRPC</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inventory.remaining(order.sku());</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 @BatchMapping("stock") batches N orders into one gRPC call: no N+1</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273" name="Google Shape;273;p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@SchemaMapping attaches a field fetched from elsewhere.</a:t>
            </a:r>
            <a:endParaRPr b="0" i="0" sz="1300" u="none" cap="none" strike="noStrike">
              <a:solidFill>
                <a:schemeClr val="dk1"/>
              </a:solidFill>
              <a:latin typeface="Calibri"/>
              <a:ea typeface="Calibri"/>
              <a:cs typeface="Calibri"/>
              <a:sym typeface="Calibri"/>
            </a:endParaRPr>
          </a:p>
        </p:txBody>
      </p:sp>
      <p:sp>
        <p:nvSpPr>
          <p:cNvPr id="274" name="Google Shape;274;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5" name="Google Shape;275;p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 name="Shape 280"/>
        <p:cNvGrpSpPr/>
        <p:nvPr/>
      </p:nvGrpSpPr>
      <p:grpSpPr>
        <a:xfrm>
          <a:off x="0" y="0"/>
          <a:ext cx="0" cy="0"/>
          <a:chOff x="0" y="0"/>
          <a:chExt cx="0" cy="0"/>
        </a:xfrm>
      </p:grpSpPr>
      <p:sp>
        <p:nvSpPr>
          <p:cNvPr id="281" name="Google Shape;281;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2" name="Google Shape;282;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sb/07-composition-patterns.png" id="283" name="Google Shape;283;p2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4" name="Google Shape;284;p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91" name="Shape 291"/>
        <p:cNvGrpSpPr/>
        <p:nvPr/>
      </p:nvGrpSpPr>
      <p:grpSpPr>
        <a:xfrm>
          <a:off x="0" y="0"/>
          <a:ext cx="0" cy="0"/>
          <a:chOff x="0" y="0"/>
          <a:chExt cx="0" cy="0"/>
        </a:xfrm>
      </p:grpSpPr>
      <p:pic>
        <p:nvPicPr>
          <p:cNvPr descr="/home/claude/work/assets/rh-divider-bg.png" id="292" name="Google Shape;292;p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93" name="Google Shape;293;p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294" name="Google Shape;294;p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295" name="Google Shape;295;p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296" name="Google Shape;296;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03" name="Google Shape;303;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sb/08-data-per-service-db.png" id="304" name="Google Shape;304;p2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05" name="Google Shape;305;p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14" name="Google Shape;314;p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sb/08b-data-cqrs.png" id="315" name="Google Shape;315;p30"/>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16" name="Google Shape;316;p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17" name="Google Shape;317;p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18" name="Google Shape;318;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sp>
        <p:nvSpPr>
          <p:cNvPr id="324" name="Google Shape;324;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5" name="Google Shape;325;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26" name="Google Shape;326;p3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31"/>
          <p:cNvSpPr/>
          <p:nvPr/>
        </p:nvSpPr>
        <p:spPr>
          <a:xfrm>
            <a:off x="7261017" y="1700784"/>
            <a:ext cx="4272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Data JPA + Spring Kafka</a:t>
            </a:r>
            <a:endParaRPr b="0" i="0" sz="1000" u="none" cap="none" strike="noStrike">
              <a:solidFill>
                <a:schemeClr val="dk1"/>
              </a:solidFill>
              <a:latin typeface="Calibri"/>
              <a:ea typeface="Calibri"/>
              <a:cs typeface="Calibri"/>
              <a:sym typeface="Calibri"/>
            </a:endParaRPr>
          </a:p>
        </p:txBody>
      </p:sp>
      <p:sp>
        <p:nvSpPr>
          <p:cNvPr id="328" name="Google Shape;328;p3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 @RequestMapping("/orders")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OrderWriteController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final fields: OrderRepository writes, KafkaTemplate kafka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 @Transactional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create(@RequestBody OrderIn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writes.save(new Order(body));            // write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kafka.send("order.placed", 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OrderCreatedEvent(order));                     // → projection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 @RequestMapping("/orders")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OrderReadController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OrderSummaryRepository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@GetMapping("/{id}/summary")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OrderSummary summary(@PathVariable String 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reads.findById(id)                              // read store only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.orElseThrow(() -&gt; new ResponseStatusException(NOT_FOUND));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OrderSummaryProjection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OrderSummaryRepository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@KafkaListener(topics = "order.placed", groupId = "order-summary")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@Transactional("readDbTxManager")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on(OrderCreatedEvent ev) { reads.save(OrderSummary.from(ev));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329" name="Google Shape;329;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30" name="Google Shape;330;p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7" name="Google Shape;337;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sb/08c-data-log-tailing.png" id="338" name="Google Shape;338;p32"/>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39" name="Google Shape;339;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40" name="Google Shape;340;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41" name="Google Shape;341;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8" name="Google Shape;348;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sb/09-data-outbox-cdc.png" id="349" name="Google Shape;349;p33"/>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50" name="Google Shape;350;p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51" name="Google Shape;351;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2" name="Google Shape;352;p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9" name="Google Shape;359;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60" name="Google Shape;360;p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34"/>
          <p:cNvSpPr/>
          <p:nvPr/>
        </p:nvSpPr>
        <p:spPr>
          <a:xfrm>
            <a:off x="7642017" y="1700784"/>
            <a:ext cx="3891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JdbcClient + Debezium CDC</a:t>
            </a:r>
            <a:endParaRPr b="0" i="0" sz="1000" u="none" cap="none" strike="noStrike">
              <a:solidFill>
                <a:schemeClr val="dk1"/>
              </a:solidFill>
              <a:latin typeface="Calibri"/>
              <a:ea typeface="Calibri"/>
              <a:cs typeface="Calibri"/>
              <a:sym typeface="Calibri"/>
            </a:endParaRPr>
          </a:p>
        </p:txBody>
      </p:sp>
      <p:sp>
        <p:nvSpPr>
          <p:cNvPr id="362" name="Google Shape;362;p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order-service OrderController.java (excerpt): order row and outbox row, one transaction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@PostMapping("/orders")</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@ResponseStatus(HttpStatus.CREATED)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@Transactional                                   // single local transaction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Map&lt;String, Object&gt; createOrder(@RequestBody Map&lt;String, Object&gt; body)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String orderId = UUID.randomUUID().toString();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 sku, quantity and status come from the body (elided)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jdbc.sql("INSERT INTO orders (id, sku, quantity, status) VALUES (?, ?, ?,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.param(orderId).param(sku).param(quantity).param(status)</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.update();                               // state change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String payloadJson = objectMapper.writeValueAsString(payload);   // Jackson 3</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jdbc.sql("INSERT INTO outbox (aggregate_id, event_type, payload) VALUES (?, ?, ?::jsonb)")</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.param(orderId).param("order.placed").param(payloadJson)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.update();                               // same transaction: outbox row</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Map.of("id", orderId, "sku", sku, "quantity", quantity, "status", status);</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No Kafka call on the request path: Debezium tails the WAL and publishes order.placed.</a:t>
            </a:r>
            <a:endParaRPr b="0" i="0" sz="1150" u="none" cap="none" strike="noStrike">
              <a:solidFill>
                <a:schemeClr val="dk1"/>
              </a:solidFill>
              <a:latin typeface="Calibri"/>
              <a:ea typeface="Calibri"/>
              <a:cs typeface="Calibri"/>
              <a:sym typeface="Calibri"/>
            </a:endParaRPr>
          </a:p>
        </p:txBody>
      </p:sp>
      <p:sp>
        <p:nvSpPr>
          <p:cNvPr id="363" name="Google Shape;363;p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database commit is the source of truth. The outbox + CDC turns it into a guaranteed, ordered event.</a:t>
            </a:r>
            <a:endParaRPr b="0" i="0" sz="1300" u="none" cap="none" strike="noStrike">
              <a:solidFill>
                <a:schemeClr val="dk1"/>
              </a:solidFill>
              <a:latin typeface="Calibri"/>
              <a:ea typeface="Calibri"/>
              <a:cs typeface="Calibri"/>
              <a:sym typeface="Calibri"/>
            </a:endParaRPr>
          </a:p>
        </p:txBody>
      </p:sp>
      <p:sp>
        <p:nvSpPr>
          <p:cNvPr id="364" name="Google Shape;364;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5" name="Google Shape;365;p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sb/10-data-saga.png" id="373" name="Google Shape;373;p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74" name="Google Shape;374;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75" name="Google Shape;375;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6" name="Google Shape;376;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81" name="Shape 381"/>
        <p:cNvGrpSpPr/>
        <p:nvPr/>
      </p:nvGrpSpPr>
      <p:grpSpPr>
        <a:xfrm>
          <a:off x="0" y="0"/>
          <a:ext cx="0" cy="0"/>
          <a:chOff x="0" y="0"/>
          <a:chExt cx="0" cy="0"/>
        </a:xfrm>
      </p:grpSpPr>
      <p:pic>
        <p:nvPicPr>
          <p:cNvPr descr="/home/claude/work/assets/rh-divider-bg.png" id="382" name="Google Shape;382;p3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83" name="Google Shape;383;p3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384" name="Google Shape;384;p3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385" name="Google Shape;385;p3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386" name="Google Shape;386;p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sb/11-event-topology.png" id="394" name="Google Shape;394;p3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04" name="Google Shape;404;p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Spring Kafka</a:t>
            </a:r>
            <a:endParaRPr b="0" i="0" sz="3000" u="none" cap="none" strike="noStrike">
              <a:solidFill>
                <a:schemeClr val="dk1"/>
              </a:solidFill>
              <a:latin typeface="Calibri"/>
              <a:ea typeface="Calibri"/>
              <a:cs typeface="Calibri"/>
              <a:sym typeface="Calibri"/>
            </a:endParaRPr>
          </a:p>
        </p:txBody>
      </p:sp>
      <p:sp>
        <p:nvSpPr>
          <p:cNvPr id="405" name="Google Shape;405;p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8"/>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Kafka</a:t>
            </a:r>
            <a:endParaRPr b="0" i="0" sz="1000" u="none" cap="none" strike="noStrike">
              <a:solidFill>
                <a:schemeClr val="dk1"/>
              </a:solidFill>
              <a:latin typeface="Calibri"/>
              <a:ea typeface="Calibri"/>
              <a:cs typeface="Calibri"/>
              <a:sym typeface="Calibri"/>
            </a:endParaRPr>
          </a:p>
        </p:txBody>
      </p:sp>
      <p:sp>
        <p:nvSpPr>
          <p:cNvPr id="407" name="Google Shape;407;p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producer — order-service (or the Debezium relay) emits the fact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@Service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OrderEvents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private final KafkaTemplate&lt;String, Order&gt; kafka;</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OrderEvents(KafkaTemplate&lt;String, Order&gt; k) { this.kafka = k;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void publish(Order o)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kafka.send("order.placed", o.id(), o);     // keyed; schema-aware serde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consumer — notification-service, Kafka-only by design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@Service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Notifier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@KafkaListener(topics = "order.placed",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containerFactory = "manualAckFactory")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void onOrder(ConsumerRecord&lt;String, Order&gt; rec, Acknowledgment ack)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sendEmail(rec.value());                    // do the work first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ack.acknowledge();                         // ack after — at-least-once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408" name="Google Shape;408;p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Ack after the side-effect, and make handlers idempotent — at-least-once delivery is the contract.</a:t>
            </a:r>
            <a:endParaRPr b="0" i="0" sz="1300" u="none" cap="none" strike="noStrike">
              <a:solidFill>
                <a:schemeClr val="dk1"/>
              </a:solidFill>
              <a:latin typeface="Calibri"/>
              <a:ea typeface="Calibri"/>
              <a:cs typeface="Calibri"/>
              <a:sym typeface="Calibri"/>
            </a:endParaRPr>
          </a:p>
        </p:txBody>
      </p:sp>
      <p:sp>
        <p:nvSpPr>
          <p:cNvPr id="409" name="Google Shape;409;p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410" name="Google Shape;410;p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sb/12-event-schema-registry.png" id="418" name="Google Shape;418;p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19" name="Google Shape;419;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20" name="Google Shape;420;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21" name="Google Shape;421;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8" name="Google Shape;428;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sb/11b-event-sourcing-vs-streaming.png" id="429" name="Google Shape;429;p40"/>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30" name="Google Shape;430;p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31" name="Google Shape;431;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2" name="Google Shape;432;p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9" name="Google Shape;439;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sb/11c-event-tooling-landscape.png" id="440" name="Google Shape;440;p41"/>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41" name="Google Shape;441;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42" name="Google Shape;442;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3" name="Google Shape;443;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50" name="Google Shape;450;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sb/13-event-log-replay.png" id="451" name="Google Shape;451;p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52" name="Google Shape;452;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53" name="Google Shape;453;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4" name="Google Shape;454;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59" name="Shape 459"/>
        <p:cNvGrpSpPr/>
        <p:nvPr/>
      </p:nvGrpSpPr>
      <p:grpSpPr>
        <a:xfrm>
          <a:off x="0" y="0"/>
          <a:ext cx="0" cy="0"/>
          <a:chOff x="0" y="0"/>
          <a:chExt cx="0" cy="0"/>
        </a:xfrm>
      </p:grpSpPr>
      <p:pic>
        <p:nvPicPr>
          <p:cNvPr descr="/home/claude/work/assets/rh-divider-bg.png" id="460" name="Google Shape;460;p4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61" name="Google Shape;461;p4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62" name="Google Shape;462;p4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63" name="Google Shape;463;p4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sb/14-stream-topology.png" id="472" name="Google Shape;472;p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0" name="Shape 480"/>
        <p:cNvGrpSpPr/>
        <p:nvPr/>
      </p:nvGrpSpPr>
      <p:grpSpPr>
        <a:xfrm>
          <a:off x="0" y="0"/>
          <a:ext cx="0" cy="0"/>
          <a:chOff x="0" y="0"/>
          <a:chExt cx="0" cy="0"/>
        </a:xfrm>
      </p:grpSpPr>
      <p:sp>
        <p:nvSpPr>
          <p:cNvPr id="481" name="Google Shape;481;p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82" name="Google Shape;482;p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Kafka Streams</a:t>
            </a:r>
            <a:endParaRPr b="0" i="0" sz="3000" u="none" cap="none" strike="noStrike">
              <a:solidFill>
                <a:schemeClr val="dk1"/>
              </a:solidFill>
              <a:latin typeface="Calibri"/>
              <a:ea typeface="Calibri"/>
              <a:cs typeface="Calibri"/>
              <a:sym typeface="Calibri"/>
            </a:endParaRPr>
          </a:p>
        </p:txBody>
      </p:sp>
      <p:sp>
        <p:nvSpPr>
          <p:cNvPr id="483" name="Google Shape;483;p4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5"/>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Kafka Streams</a:t>
            </a:r>
            <a:endParaRPr b="0" i="0" sz="1000" u="none" cap="none" strike="noStrike">
              <a:solidFill>
                <a:schemeClr val="dk1"/>
              </a:solidFill>
              <a:latin typeface="Calibri"/>
              <a:ea typeface="Calibri"/>
              <a:cs typeface="Calibri"/>
              <a:sym typeface="Calibri"/>
            </a:endParaRPr>
          </a:p>
        </p:txBody>
      </p:sp>
      <p:sp>
        <p:nvSpPr>
          <p:cNvPr id="485" name="Google Shape;485;p4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stream-processor RevenueTopology.java (excerpt): order.placed -&gt; revenue.by-merchant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@Configuration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@EnableKafkaStreams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RevenueTopology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@Bean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KStream&lt;String, String&gt; revenueStream(StreamsBuilder builder)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JacksonJsonSerde&lt;Acc&gt; accSerde = new JacksonJsonSerde&lt;&gt;(Acc.class).noTypeInfo();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var revenue = builder.stream(ORDERS, Consumed.with(Serdes.String(), Serdes.String()))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.map((key, json) -&gt; parse(json))               // re-key by merchant_id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.groupByKey(Grouped.with(Serdes.String(), Serdes.String()))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.windowedBy(TimeWindows.ofSizeWithNoGrace(Duration.ofSeconds(windowSeconds)))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.aggregate(() -&gt; new Acc(0, BigDecimal.ZERO),  // local, changelog-backed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(merchant, amount, acc) -&gt; add(merchant, acc, amount),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Materialized.with(Serdes.String(), accSerde))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.toStream()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.map((window, acc) -&gt; KeyValue.pair(window.key(), toJson(window, acc)));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revenue.to(REVENUE, Produced.with(Serdes.String(), Serdes.String()));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revenue;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486" name="Google Shape;486;p4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state + a changelog topic gives fault-tolerant aggregation. The output is itself a stream other services can consume.</a:t>
            </a:r>
            <a:endParaRPr b="0" i="0" sz="1300" u="none" cap="none" strike="noStrike">
              <a:solidFill>
                <a:schemeClr val="dk1"/>
              </a:solidFill>
              <a:latin typeface="Calibri"/>
              <a:ea typeface="Calibri"/>
              <a:cs typeface="Calibri"/>
              <a:sym typeface="Calibri"/>
            </a:endParaRPr>
          </a:p>
        </p:txBody>
      </p:sp>
      <p:sp>
        <p:nvSpPr>
          <p:cNvPr id="487" name="Google Shape;487;p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88" name="Google Shape;488;p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sb/15-stream-keda-scaling.png" id="496" name="Google Shape;496;p46"/>
          <p:cNvPicPr preferRelativeResize="0"/>
          <p:nvPr/>
        </p:nvPicPr>
        <p:blipFill rotWithShape="1">
          <a:blip r:embed="rId5">
            <a:alphaModFix/>
          </a:blip>
          <a:stretch/>
        </p:blipFill>
        <p:spPr>
          <a:xfrm>
            <a:off x="1493156" y="2311575"/>
            <a:ext cx="9205386" cy="3103530"/>
          </a:xfrm>
          <a:prstGeom prst="rect">
            <a:avLst/>
          </a:prstGeom>
          <a:noFill/>
          <a:ln>
            <a:noFill/>
          </a:ln>
        </p:spPr>
      </p:pic>
      <p:sp>
        <p:nvSpPr>
          <p:cNvPr id="497" name="Google Shape;497;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498" name="Google Shape;498;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9" name="Google Shape;499;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4" name="Shape 504"/>
        <p:cNvGrpSpPr/>
        <p:nvPr/>
      </p:nvGrpSpPr>
      <p:grpSpPr>
        <a:xfrm>
          <a:off x="0" y="0"/>
          <a:ext cx="0" cy="0"/>
          <a:chOff x="0" y="0"/>
          <a:chExt cx="0" cy="0"/>
        </a:xfrm>
      </p:grpSpPr>
      <p:sp>
        <p:nvSpPr>
          <p:cNvPr id="505" name="Google Shape;505;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6" name="Google Shape;506;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09" name="Google Shape;509;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Spring Boot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10" name="Google Shape;510;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11" name="Google Shape;511;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12" name="Google Shape;512;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17" name="Shape 517"/>
        <p:cNvGrpSpPr/>
        <p:nvPr/>
      </p:nvGrpSpPr>
      <p:grpSpPr>
        <a:xfrm>
          <a:off x="0" y="0"/>
          <a:ext cx="0" cy="0"/>
          <a:chOff x="0" y="0"/>
          <a:chExt cx="0" cy="0"/>
        </a:xfrm>
      </p:grpSpPr>
      <p:pic>
        <p:nvPicPr>
          <p:cNvPr descr="/home/claude/work/assets/rh-divider-bg.png" id="518" name="Google Shape;518;p4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19" name="Google Shape;519;p4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20" name="Google Shape;520;p4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21" name="Google Shape;521;p4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22" name="Google Shape;522;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29" name="Google Shape;529;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sb/16-workflows-orchestration.png" id="530" name="Google Shape;530;p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31" name="Google Shape;531;p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40" name="Google Shape;540;p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41" name="Google Shape;541;p50"/>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50"/>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43" name="Google Shape;543;p50"/>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44" name="Google Shape;544;p50"/>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50"/>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46" name="Google Shape;546;p50"/>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47" name="Google Shape;547;p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48" name="Google Shape;548;p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5" name="Google Shape;555;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sb/17-workflows-jobs.png" id="556" name="Google Shape;556;p5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57" name="Google Shape;557;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58" name="Google Shape;558;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9" name="Google Shape;559;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64" name="Shape 564"/>
        <p:cNvGrpSpPr/>
        <p:nvPr/>
      </p:nvGrpSpPr>
      <p:grpSpPr>
        <a:xfrm>
          <a:off x="0" y="0"/>
          <a:ext cx="0" cy="0"/>
          <a:chOff x="0" y="0"/>
          <a:chExt cx="0" cy="0"/>
        </a:xfrm>
      </p:grpSpPr>
      <p:pic>
        <p:nvPicPr>
          <p:cNvPr descr="/home/claude/work/assets/rh-divider-bg.png" id="565" name="Google Shape;565;p5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66" name="Google Shape;566;p5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67" name="Google Shape;567;p5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68" name="Google Shape;568;p5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69" name="Google Shape;569;p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sb/18-api-management-stack.png" id="577" name="Google Shape;577;p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5" name="Shape 585"/>
        <p:cNvGrpSpPr/>
        <p:nvPr/>
      </p:nvGrpSpPr>
      <p:grpSpPr>
        <a:xfrm>
          <a:off x="0" y="0"/>
          <a:ext cx="0" cy="0"/>
          <a:chOff x="0" y="0"/>
          <a:chExt cx="0" cy="0"/>
        </a:xfrm>
      </p:grpSpPr>
      <p:sp>
        <p:nvSpPr>
          <p:cNvPr id="586" name="Google Shape;586;p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87" name="Google Shape;587;p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588" name="Google Shape;588;p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589" name="Google Shape;589;p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90" name="Google Shape;590;p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95" name="Shape 595"/>
        <p:cNvGrpSpPr/>
        <p:nvPr/>
      </p:nvGrpSpPr>
      <p:grpSpPr>
        <a:xfrm>
          <a:off x="0" y="0"/>
          <a:ext cx="0" cy="0"/>
          <a:chOff x="0" y="0"/>
          <a:chExt cx="0" cy="0"/>
        </a:xfrm>
      </p:grpSpPr>
      <p:pic>
        <p:nvPicPr>
          <p:cNvPr descr="/home/claude/work/assets/rh-divider-bg.png" id="596" name="Google Shape;596;p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97" name="Google Shape;597;p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598" name="Google Shape;598;p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599" name="Google Shape;599;p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00" name="Google Shape;600;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07" name="Google Shape;607;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sb/19-api-registry-apicurio.png" id="608" name="Google Shape;608;p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09" name="Google Shape;609;p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18" name="Google Shape;618;p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 with Maven</a:t>
            </a:r>
            <a:endParaRPr b="0" i="0" sz="3000" u="none" cap="none" strike="noStrike">
              <a:solidFill>
                <a:schemeClr val="dk1"/>
              </a:solidFill>
              <a:latin typeface="Calibri"/>
              <a:ea typeface="Calibri"/>
              <a:cs typeface="Calibri"/>
              <a:sym typeface="Calibri"/>
            </a:endParaRPr>
          </a:p>
        </p:txBody>
      </p:sp>
      <p:sp>
        <p:nvSpPr>
          <p:cNvPr id="619" name="Google Shape;619;p5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57"/>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xml · Maven + Apicurio</a:t>
            </a:r>
            <a:endParaRPr b="0" i="0" sz="1000" u="none" cap="none" strike="noStrike">
              <a:solidFill>
                <a:schemeClr val="dk1"/>
              </a:solidFill>
              <a:latin typeface="Calibri"/>
              <a:ea typeface="Calibri"/>
              <a:cs typeface="Calibri"/>
              <a:sym typeface="Calibri"/>
            </a:endParaRPr>
          </a:p>
        </p:txBody>
      </p:sp>
      <p:sp>
        <p:nvSpPr>
          <p:cNvPr id="621" name="Google Shape;621;p5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 pom.xml: the apicurio-registry-maven-plugin checks the rule in CI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&lt;plugin&gt;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&lt;groupId&gt;io.apicurio&lt;/groupId&gt;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&lt;artifactId&gt;apicurio-registry-maven-plugin&lt;/artifactId&gt;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&lt;version&gt;3.3.3&lt;/version&gt;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&lt;executions&gt;&lt;execution&gt;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&lt;goals&gt;&lt;goal&gt;register&lt;/goal&gt;&lt;/goals&gt;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&lt;configuration&gt;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&lt;registryUrl&gt;http://apicurio.registry.svc/apis/registry/v3&lt;/registryUrl&gt;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&lt;dryRun&gt;true&lt;/dryRun&gt;   &lt;!-- check the rule, store nothing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&lt;artifacts&gt;&lt;artifact&gt;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&lt;groupId&gt;orders&lt;/groupId&gt;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&lt;artifactId&gt;order-placed&lt;/artifactId&gt;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&lt;artifactType&gt;AVRO&lt;/artifactType&gt;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&lt;ifExists&gt;CREATE_VERSION&lt;/ifExists&gt;   &lt;!-- a new version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&lt;file&gt;src/main/avro/order-placed.avsc&lt;/file&gt;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&lt;/artifact&gt;&lt;/artifacts&gt;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&lt;/configuration&gt;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&lt;/execution&gt;&lt;/executions&gt;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&lt;/plugin&gt;</a:t>
            </a:r>
            <a:endParaRPr b="0" i="0" sz="1100" u="none" cap="none" strike="noStrike">
              <a:solidFill>
                <a:schemeClr val="dk1"/>
              </a:solidFill>
              <a:latin typeface="Calibri"/>
              <a:ea typeface="Calibri"/>
              <a:cs typeface="Calibri"/>
              <a:sym typeface="Calibri"/>
            </a:endParaRPr>
          </a:p>
        </p:txBody>
      </p:sp>
      <p:sp>
        <p:nvSpPr>
          <p:cNvPr id="622" name="Google Shape;622;p5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dry-run register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23" name="Google Shape;623;p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24" name="Google Shape;624;p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29" name="Shape 629"/>
        <p:cNvGrpSpPr/>
        <p:nvPr/>
      </p:nvGrpSpPr>
      <p:grpSpPr>
        <a:xfrm>
          <a:off x="0" y="0"/>
          <a:ext cx="0" cy="0"/>
          <a:chOff x="0" y="0"/>
          <a:chExt cx="0" cy="0"/>
        </a:xfrm>
      </p:grpSpPr>
      <p:pic>
        <p:nvPicPr>
          <p:cNvPr descr="/home/claude/work/assets/rh-divider-bg.png" id="630" name="Google Shape;630;p5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31" name="Google Shape;631;p5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32" name="Google Shape;632;p5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33" name="Google Shape;633;p5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34" name="Google Shape;634;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9" name="Shape 639"/>
        <p:cNvGrpSpPr/>
        <p:nvPr/>
      </p:nvGrpSpPr>
      <p:grpSpPr>
        <a:xfrm>
          <a:off x="0" y="0"/>
          <a:ext cx="0" cy="0"/>
          <a:chOff x="0" y="0"/>
          <a:chExt cx="0" cy="0"/>
        </a:xfrm>
      </p:grpSpPr>
      <p:sp>
        <p:nvSpPr>
          <p:cNvPr id="640" name="Google Shape;640;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41" name="Google Shape;641;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sb/20-api-metadata-openmetadata.png" id="642" name="Google Shape;642;p5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43" name="Google Shape;643;p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0" name="Shape 650"/>
        <p:cNvGrpSpPr/>
        <p:nvPr/>
      </p:nvGrpSpPr>
      <p:grpSpPr>
        <a:xfrm>
          <a:off x="0" y="0"/>
          <a:ext cx="0" cy="0"/>
          <a:chOff x="0" y="0"/>
          <a:chExt cx="0" cy="0"/>
        </a:xfrm>
      </p:grpSpPr>
      <p:sp>
        <p:nvSpPr>
          <p:cNvPr id="651" name="Google Shape;651;p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52" name="Google Shape;652;p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53" name="Google Shape;653;p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54" name="Google Shape;654;p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55" name="Google Shape;655;p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60" name="Shape 660"/>
        <p:cNvGrpSpPr/>
        <p:nvPr/>
      </p:nvGrpSpPr>
      <p:grpSpPr>
        <a:xfrm>
          <a:off x="0" y="0"/>
          <a:ext cx="0" cy="0"/>
          <a:chOff x="0" y="0"/>
          <a:chExt cx="0" cy="0"/>
        </a:xfrm>
      </p:grpSpPr>
      <p:pic>
        <p:nvPicPr>
          <p:cNvPr descr="/home/claude/work/assets/rh-divider-bg.png" id="661" name="Google Shape;661;p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62" name="Google Shape;662;p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63" name="Google Shape;663;p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64" name="Google Shape;664;p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65" name="Google Shape;665;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0" name="Shape 670"/>
        <p:cNvGrpSpPr/>
        <p:nvPr/>
      </p:nvGrpSpPr>
      <p:grpSpPr>
        <a:xfrm>
          <a:off x="0" y="0"/>
          <a:ext cx="0" cy="0"/>
          <a:chOff x="0" y="0"/>
          <a:chExt cx="0" cy="0"/>
        </a:xfrm>
      </p:grpSpPr>
      <p:sp>
        <p:nvSpPr>
          <p:cNvPr id="671" name="Google Shape;671;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72" name="Google Shape;672;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sb/21-observability-pillars.png" id="673" name="Google Shape;673;p6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74" name="Google Shape;674;p6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1" name="Shape 681"/>
        <p:cNvGrpSpPr/>
        <p:nvPr/>
      </p:nvGrpSpPr>
      <p:grpSpPr>
        <a:xfrm>
          <a:off x="0" y="0"/>
          <a:ext cx="0" cy="0"/>
          <a:chOff x="0" y="0"/>
          <a:chExt cx="0" cy="0"/>
        </a:xfrm>
      </p:grpSpPr>
      <p:sp>
        <p:nvSpPr>
          <p:cNvPr id="682" name="Google Shape;682;p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83" name="Google Shape;683;p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sb/21b-observability-signals.png" id="684" name="Google Shape;684;p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685" name="Google Shape;685;p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686" name="Google Shape;686;p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87" name="Google Shape;687;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2" name="Shape 692"/>
        <p:cNvGrpSpPr/>
        <p:nvPr/>
      </p:nvGrpSpPr>
      <p:grpSpPr>
        <a:xfrm>
          <a:off x="0" y="0"/>
          <a:ext cx="0" cy="0"/>
          <a:chOff x="0" y="0"/>
          <a:chExt cx="0" cy="0"/>
        </a:xfrm>
      </p:grpSpPr>
      <p:sp>
        <p:nvSpPr>
          <p:cNvPr id="693" name="Google Shape;693;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4" name="Google Shape;694;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695" name="Google Shape;695;p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05" name="Google Shape;705;p6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tracer.spanBuilder(...).startSpan(), span.setAttribute(...), span.addEvent(...).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06" name="Google Shape;706;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7" name="Google Shape;707;p6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2" name="Shape 712"/>
        <p:cNvGrpSpPr/>
        <p:nvPr/>
      </p:nvGrpSpPr>
      <p:grpSpPr>
        <a:xfrm>
          <a:off x="0" y="0"/>
          <a:ext cx="0" cy="0"/>
          <a:chOff x="0" y="0"/>
          <a:chExt cx="0" cy="0"/>
        </a:xfrm>
      </p:grpSpPr>
      <p:sp>
        <p:nvSpPr>
          <p:cNvPr id="713" name="Google Shape;713;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4" name="Google Shape;714;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with the OpenTelemetry Java agent</a:t>
            </a:r>
            <a:endParaRPr b="0" i="0" sz="30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66"/>
          <p:cNvSpPr/>
          <p:nvPr/>
        </p:nvSpPr>
        <p:spPr>
          <a:xfrm>
            <a:off x="7718217" y="1700784"/>
            <a:ext cx="3815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OpenTelemetry Java agent</a:t>
            </a:r>
            <a:endParaRPr b="0" i="0" sz="1000" u="none" cap="none" strike="noStrike">
              <a:solidFill>
                <a:schemeClr val="dk1"/>
              </a:solidFill>
              <a:latin typeface="Calibri"/>
              <a:ea typeface="Calibri"/>
              <a:cs typeface="Calibri"/>
              <a:sym typeface="Calibri"/>
            </a:endParaRPr>
          </a:p>
        </p:txBody>
      </p:sp>
      <p:sp>
        <p:nvSpPr>
          <p:cNvPr id="717" name="Google Shape;717;p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Containerfile — attach the OpenTelemetry Java agent (Spring Boot 4 needs no starter)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ENV JAVA_TOOL_OPTIONS="-javaagent:/deployments/opentelemetry-javaagent.jar"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environment: OTEL_SERVICE_NAME=order-service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OTEL_EXPORTER_OTLP_ENDPOINT=http://otel-collector:4318</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OTEL_TRACES_SAMPLER=parentbased_traceidratio, OTEL_TRACES_SAMPLER_ARG=1.0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The agent instruments Spring MVC, RestClient, gRPC, JDBC and the Kafka clients,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and puts trace_id/span_id in the logback MDC. Custom business spans use the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OpenTelemetry API annotation (io.opentelemetry.instrumentation.annotations):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private final InventoryGrpcClient inventory;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OrderService(InventoryGrpcClient i) { this.inventory = i;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@WithSpan("reserve_stock")                 // custom span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ReserveReply reserve(String sku, int qty)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inventory.reserveStock(sku, qty);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trace_id flows: REST -&gt; gRPC -&gt; Kafka -&gt; consumer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718" name="Google Shape;718;p6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agent exports OTLP: traces to Tempo, metrics to Mimir, logs to Loki, all keyed by trace_id.</a:t>
            </a:r>
            <a:endParaRPr b="0" i="0" sz="1300" u="none" cap="none" strike="noStrike">
              <a:solidFill>
                <a:schemeClr val="dk1"/>
              </a:solidFill>
              <a:latin typeface="Calibri"/>
              <a:ea typeface="Calibri"/>
              <a:cs typeface="Calibri"/>
              <a:sym typeface="Calibri"/>
            </a:endParaRPr>
          </a:p>
        </p:txBody>
      </p:sp>
      <p:sp>
        <p:nvSpPr>
          <p:cNvPr id="719" name="Google Shape;719;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20" name="Google Shape;720;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5" name="Shape 725"/>
        <p:cNvGrpSpPr/>
        <p:nvPr/>
      </p:nvGrpSpPr>
      <p:grpSpPr>
        <a:xfrm>
          <a:off x="0" y="0"/>
          <a:ext cx="0" cy="0"/>
          <a:chOff x="0" y="0"/>
          <a:chExt cx="0" cy="0"/>
        </a:xfrm>
      </p:grpSpPr>
      <p:sp>
        <p:nvSpPr>
          <p:cNvPr id="726" name="Google Shape;726;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sb/21c-observability-correlation.png" id="728" name="Google Shape;728;p6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29" name="Google Shape;729;p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30" name="Google Shape;730;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31" name="Google Shape;731;p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6" name="Shape 736"/>
        <p:cNvGrpSpPr/>
        <p:nvPr/>
      </p:nvGrpSpPr>
      <p:grpSpPr>
        <a:xfrm>
          <a:off x="0" y="0"/>
          <a:ext cx="0" cy="0"/>
          <a:chOff x="0" y="0"/>
          <a:chExt cx="0" cy="0"/>
        </a:xfrm>
      </p:grpSpPr>
      <p:sp>
        <p:nvSpPr>
          <p:cNvPr id="737" name="Google Shape;737;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8" name="Google Shape;738;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68"/>
          <p:cNvSpPr/>
          <p:nvPr/>
        </p:nvSpPr>
        <p:spPr>
          <a:xfrm>
            <a:off x="8251617" y="1700784"/>
            <a:ext cx="3281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OpenTelemetry API</a:t>
            </a:r>
            <a:endParaRPr b="0" i="0" sz="1000" u="none" cap="none" strike="noStrike">
              <a:solidFill>
                <a:schemeClr val="dk1"/>
              </a:solidFill>
              <a:latin typeface="Calibri"/>
              <a:ea typeface="Calibri"/>
              <a:cs typeface="Calibri"/>
              <a:sym typeface="Calibri"/>
            </a:endParaRPr>
          </a:p>
        </p:txBody>
      </p:sp>
      <p:sp>
        <p:nvSpPr>
          <p:cNvPr id="741" name="Google Shape;741;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OpenTelemetry Baggage rides the same context propagation as the trace;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the Java agent carries the W3C baggage header over REST, gRPC and Kafka.</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@Component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TenantBaggageFilter extends OncePerRequestFilter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@Override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protected void doFilterInternal(HttpServletRequest req, HttpServletResponse res,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FilterChain chain) throws ServletException, IOException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try (Scope s = Baggage.current().toBuilder()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.put("tenant.id", req.getHeader("X-Tenant"))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.build()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.makeCurrent())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chain.doFilter(req, res);          // downstream calls carry tenant.id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read it downstream, in a consumer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@KafkaListener(topics = "order.placed")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void handle(OrderEvent ev)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String tenant = Baggage.current().getEntryValue("tenant.id");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Span.current().setAttribute("tenant.id", tenant);   // baggage is not an attribute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p:txBody>
      </p:sp>
      <p:sp>
        <p:nvSpPr>
          <p:cNvPr id="742" name="Google Shape;742;p6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Set baggage once at the edge; every downstream hop carries it, and a span attribute makes it queryable.</a:t>
            </a:r>
            <a:endParaRPr b="0" i="0" sz="1300" u="none" cap="none" strike="noStrike">
              <a:solidFill>
                <a:schemeClr val="dk1"/>
              </a:solidFill>
              <a:latin typeface="Calibri"/>
              <a:ea typeface="Calibri"/>
              <a:cs typeface="Calibri"/>
              <a:sym typeface="Calibri"/>
            </a:endParaRPr>
          </a:p>
        </p:txBody>
      </p:sp>
      <p:sp>
        <p:nvSpPr>
          <p:cNvPr id="743" name="Google Shape;743;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4" name="Google Shape;744;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9" name="Shape 749"/>
        <p:cNvGrpSpPr/>
        <p:nvPr/>
      </p:nvGrpSpPr>
      <p:grpSpPr>
        <a:xfrm>
          <a:off x="0" y="0"/>
          <a:ext cx="0" cy="0"/>
          <a:chOff x="0" y="0"/>
          <a:chExt cx="0" cy="0"/>
        </a:xfrm>
      </p:grpSpPr>
      <p:sp>
        <p:nvSpPr>
          <p:cNvPr id="750" name="Google Shape;750;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sb/22-observability-trace.png" id="752" name="Google Shape;752;p69"/>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53" name="Google Shape;753;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54" name="Google Shape;754;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5" name="Google Shape;755;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0" name="Shape 760"/>
        <p:cNvGrpSpPr/>
        <p:nvPr/>
      </p:nvGrpSpPr>
      <p:grpSpPr>
        <a:xfrm>
          <a:off x="0" y="0"/>
          <a:ext cx="0" cy="0"/>
          <a:chOff x="0" y="0"/>
          <a:chExt cx="0" cy="0"/>
        </a:xfrm>
      </p:grpSpPr>
      <p:sp>
        <p:nvSpPr>
          <p:cNvPr id="761" name="Google Shape;761;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62" name="Google Shape;762;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sb/21d-observability-sampling.png" id="763" name="Google Shape;763;p7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64" name="Google Shape;764;p7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65" name="Google Shape;765;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6" name="Google Shape;766;p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1" name="Shape 771"/>
        <p:cNvGrpSpPr/>
        <p:nvPr/>
      </p:nvGrpSpPr>
      <p:grpSpPr>
        <a:xfrm>
          <a:off x="0" y="0"/>
          <a:ext cx="0" cy="0"/>
          <a:chOff x="0" y="0"/>
          <a:chExt cx="0" cy="0"/>
        </a:xfrm>
      </p:grpSpPr>
      <p:sp>
        <p:nvSpPr>
          <p:cNvPr id="772" name="Google Shape;772;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3" name="Google Shape;773;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74" name="Google Shape;774;p71"/>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784" name="Google Shape;784;p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UI (GraphiQL)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785" name="Google Shape;785;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6" name="Google Shape;786;p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91" name="Shape 791"/>
        <p:cNvGrpSpPr/>
        <p:nvPr/>
      </p:nvGrpSpPr>
      <p:grpSpPr>
        <a:xfrm>
          <a:off x="0" y="0"/>
          <a:ext cx="0" cy="0"/>
          <a:chOff x="0" y="0"/>
          <a:chExt cx="0" cy="0"/>
        </a:xfrm>
      </p:grpSpPr>
      <p:pic>
        <p:nvPicPr>
          <p:cNvPr descr="/home/claude/work/assets/rh-divider-bg.png" id="792" name="Google Shape;792;p7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793" name="Google Shape;793;p7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794" name="Google Shape;794;p7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795" name="Google Shape;795;p7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796" name="Google Shape;796;p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1" name="Shape 801"/>
        <p:cNvGrpSpPr/>
        <p:nvPr/>
      </p:nvGrpSpPr>
      <p:grpSpPr>
        <a:xfrm>
          <a:off x="0" y="0"/>
          <a:ext cx="0" cy="0"/>
          <a:chOff x="0" y="0"/>
          <a:chExt cx="0" cy="0"/>
        </a:xfrm>
      </p:grpSpPr>
      <p:sp>
        <p:nvSpPr>
          <p:cNvPr id="802" name="Google Shape;802;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03" name="Google Shape;803;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sb/100-security-4cs.png" id="804" name="Google Shape;804;p7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05" name="Google Shape;805;p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2" name="Shape 812"/>
        <p:cNvGrpSpPr/>
        <p:nvPr/>
      </p:nvGrpSpPr>
      <p:grpSpPr>
        <a:xfrm>
          <a:off x="0" y="0"/>
          <a:ext cx="0" cy="0"/>
          <a:chOff x="0" y="0"/>
          <a:chExt cx="0" cy="0"/>
        </a:xfrm>
      </p:grpSpPr>
      <p:sp>
        <p:nvSpPr>
          <p:cNvPr id="813" name="Google Shape;813;p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14" name="Google Shape;814;p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15" name="Google Shape;815;p75"/>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16" name="Google Shape;816;p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17" name="Google Shape;817;p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25" name="Google Shape;825;p76"/>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is presented as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26" name="Google Shape;826;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7" name="Google Shape;827;p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2" name="Shape 832"/>
        <p:cNvGrpSpPr/>
        <p:nvPr/>
      </p:nvGrpSpPr>
      <p:grpSpPr>
        <a:xfrm>
          <a:off x="0" y="0"/>
          <a:ext cx="0" cy="0"/>
          <a:chOff x="0" y="0"/>
          <a:chExt cx="0" cy="0"/>
        </a:xfrm>
      </p:grpSpPr>
      <p:sp>
        <p:nvSpPr>
          <p:cNvPr id="833" name="Google Shape;833;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34" name="Google Shape;834;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sb/101-security-sidecar.png" id="835" name="Google Shape;835;p7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36" name="Google Shape;836;p7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sb/102-security-valet-key.png" id="856" name="Google Shape;856;p79"/>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80"/>
          <p:cNvSpPr/>
          <p:nvPr/>
        </p:nvSpPr>
        <p:spPr>
          <a:xfrm>
            <a:off x="7642017" y="1700784"/>
            <a:ext cx="3891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javax.crypto (HmacSHA256)</a:t>
            </a:r>
            <a:endParaRPr b="0" i="0" sz="1000" u="none" cap="none" strike="noStrike">
              <a:solidFill>
                <a:schemeClr val="dk1"/>
              </a:solidFill>
              <a:latin typeface="Calibri"/>
              <a:ea typeface="Calibri"/>
              <a:cs typeface="Calibri"/>
              <a:sym typeface="Calibri"/>
            </a:endParaRPr>
          </a:p>
        </p:txBody>
      </p:sp>
      <p:sp>
        <p:nvSpPr>
          <p:cNvPr id="869" name="Google Shape;869;p80"/>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ValetKeyService.java (excerpt), examples/12-security/spring-boot: HMAC-SHA256 valet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ValetKeyService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static final int TTL_SECONDS = 300;                       // time-bound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byte[] secret;          // VALET_SECRET, injected through @Value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Map&lt;String, Object&gt; mint(String resource, String operation)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long expires = System.currentTimeMillis() / 1000 + TTL_SECONDS;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payload = resource + ":" + operation + ":" + expires;  // one object, one 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Map&lt;String, Object&gt; result = new LinkedHashMap&lt;&gt;();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result.put("resource", resource);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result.put("operation", operation);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result.put("expires",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result.put("token", hmac(payload));               // HmacSHA256, hex-encoded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boolean verify(String resource, String operation, long expires, String token)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(System.currentTimeMillis() / 1000 &gt; expires) return false;   // expired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expected = hmac(resource + ":" + operation + ":" +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MessageDigest.isEqual(token.getBytes(), expected.getBytes()); // constant time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OrderController maps POST /valet-key to mint() and GET /verify-valet to verify()</a:t>
            </a:r>
            <a:endParaRPr b="0" i="0" sz="1000" u="none" cap="none" strike="noStrike">
              <a:solidFill>
                <a:schemeClr val="dk1"/>
              </a:solidFill>
              <a:latin typeface="Calibri"/>
              <a:ea typeface="Calibri"/>
              <a:cs typeface="Calibri"/>
              <a:sym typeface="Calibri"/>
            </a:endParaRPr>
          </a:p>
        </p:txBody>
      </p:sp>
      <p:sp>
        <p:nvSpPr>
          <p:cNvPr id="870" name="Google Shape;870;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71" name="Google Shape;871;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6" name="Shape 876"/>
        <p:cNvGrpSpPr/>
        <p:nvPr/>
      </p:nvGrpSpPr>
      <p:grpSpPr>
        <a:xfrm>
          <a:off x="0" y="0"/>
          <a:ext cx="0" cy="0"/>
          <a:chOff x="0" y="0"/>
          <a:chExt cx="0" cy="0"/>
        </a:xfrm>
      </p:grpSpPr>
      <p:sp>
        <p:nvSpPr>
          <p:cNvPr id="877" name="Google Shape;877;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78" name="Google Shape;878;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880" name="Google Shape;880;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1" name="Google Shape;881;p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6" name="Shape 886"/>
        <p:cNvGrpSpPr/>
        <p:nvPr/>
      </p:nvGrpSpPr>
      <p:grpSpPr>
        <a:xfrm>
          <a:off x="0" y="0"/>
          <a:ext cx="0" cy="0"/>
          <a:chOff x="0" y="0"/>
          <a:chExt cx="0" cy="0"/>
        </a:xfrm>
      </p:grpSpPr>
      <p:sp>
        <p:nvSpPr>
          <p:cNvPr id="887" name="Google Shape;887;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sb/103-security-zero-trust.png" id="889" name="Google Shape;889;p82"/>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890" name="Google Shape;890;p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sb/104-security-policy-as-code.png" id="910" name="Google Shape;910;p8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85"/>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23" name="Google Shape;923;p8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24" name="Google Shape;924;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5" name="Google Shape;925;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0" name="Shape 930"/>
        <p:cNvGrpSpPr/>
        <p:nvPr/>
      </p:nvGrpSpPr>
      <p:grpSpPr>
        <a:xfrm>
          <a:off x="0" y="0"/>
          <a:ext cx="0" cy="0"/>
          <a:chOff x="0" y="0"/>
          <a:chExt cx="0" cy="0"/>
        </a:xfrm>
      </p:grpSpPr>
      <p:sp>
        <p:nvSpPr>
          <p:cNvPr id="931" name="Google Shape;931;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32" name="Google Shape;932;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sb/105-security-bulkhead.png" id="933" name="Google Shape;933;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4" name="Google Shape;934;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35" name="Google Shape;935;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6" name="Google Shape;936;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1" name="Shape 941"/>
        <p:cNvGrpSpPr/>
        <p:nvPr/>
      </p:nvGrpSpPr>
      <p:grpSpPr>
        <a:xfrm>
          <a:off x="0" y="0"/>
          <a:ext cx="0" cy="0"/>
          <a:chOff x="0" y="0"/>
          <a:chExt cx="0" cy="0"/>
        </a:xfrm>
      </p:grpSpPr>
      <p:sp>
        <p:nvSpPr>
          <p:cNvPr id="942" name="Google Shape;942;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43" name="Google Shape;943;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Resilience4j bulkheads in Spring Boot</a:t>
            </a:r>
            <a:endParaRPr b="0" i="0" sz="3000" u="none" cap="none" strike="noStrike">
              <a:solidFill>
                <a:schemeClr val="dk1"/>
              </a:solidFill>
              <a:latin typeface="Calibri"/>
              <a:ea typeface="Calibri"/>
              <a:cs typeface="Calibri"/>
              <a:sym typeface="Calibri"/>
            </a:endParaRPr>
          </a:p>
        </p:txBody>
      </p:sp>
      <p:sp>
        <p:nvSpPr>
          <p:cNvPr id="944" name="Google Shape;944;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87"/>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Resilience4j</a:t>
            </a:r>
            <a:endParaRPr b="0" i="0" sz="1000" u="none" cap="none" strike="noStrike">
              <a:solidFill>
                <a:schemeClr val="dk1"/>
              </a:solidFill>
              <a:latin typeface="Calibri"/>
              <a:ea typeface="Calibri"/>
              <a:cs typeface="Calibri"/>
              <a:sym typeface="Calibri"/>
            </a:endParaRPr>
          </a:p>
        </p:txBody>
      </p:sp>
      <p:sp>
        <p:nvSpPr>
          <p:cNvPr id="946" name="Google Shape;946;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OrderService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BulkheadRegistry tenantBulkheads;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PaymentClient payments;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constructor injects PaymentClient and the BulkheadRegistry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@Bulkhead(name = "orders", type = Bulkhead.Type.SEMAPHORE,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fallbackMethod = "placeFallback")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@TimeLimiter(name = "orders")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CompletableFuture&lt;Order&gt; place(OrderRequest req)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payments.chargeAsync(req).thenApply(p -&gt; Order.from(req, 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CompletableFuture&lt;Order&gt; placeFallback(OrderRequest req, Throwable 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CompletableFuture.failedFuture(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ResponseStatusException(SERVICE_UNAVAILABLE, "bulkhead saturated"));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Per-tenant bulkheads via programmatic registry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CompletableFuture&lt;Order&gt; placeForTenant(String tenantId, OrderRequest req)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io.github.resilience4j.bulkhead.Bulkhead bh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tenantBulkheads.bulkhead("tenant-" + tenantId);     // maxConcurrentCalls: 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Decorators.ofCompletionStage(() -&gt; payments.chargeAsync(req))</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.withBulkhead(bh).get().toCompletableFuture()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.thenApply(p -&gt; Order.from(req, 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947" name="Google Shape;947;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8" name="Google Shape;948;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3" name="Shape 953"/>
        <p:cNvGrpSpPr/>
        <p:nvPr/>
      </p:nvGrpSpPr>
      <p:grpSpPr>
        <a:xfrm>
          <a:off x="0" y="0"/>
          <a:ext cx="0" cy="0"/>
          <a:chOff x="0" y="0"/>
          <a:chExt cx="0" cy="0"/>
        </a:xfrm>
      </p:grpSpPr>
      <p:sp>
        <p:nvSpPr>
          <p:cNvPr id="954" name="Google Shape;954;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55" name="Google Shape;955;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sb/106-security-claim-check.png" id="956" name="Google Shape;956;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7" name="Google Shape;957;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58" name="Google Shape;958;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9" name="Google Shape;959;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4" name="Shape 964"/>
        <p:cNvGrpSpPr/>
        <p:nvPr/>
      </p:nvGrpSpPr>
      <p:grpSpPr>
        <a:xfrm>
          <a:off x="0" y="0"/>
          <a:ext cx="0" cy="0"/>
          <a:chOff x="0" y="0"/>
          <a:chExt cx="0" cy="0"/>
        </a:xfrm>
      </p:grpSpPr>
      <p:sp>
        <p:nvSpPr>
          <p:cNvPr id="965" name="Google Shape;965;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66" name="Google Shape;966;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67" name="Google Shape;967;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89"/>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Kafka</a:t>
            </a:r>
            <a:endParaRPr b="0" i="0" sz="1000" u="none" cap="none" strike="noStrike">
              <a:solidFill>
                <a:schemeClr val="dk1"/>
              </a:solidFill>
              <a:latin typeface="Calibri"/>
              <a:ea typeface="Calibri"/>
              <a:cs typeface="Calibri"/>
              <a:sym typeface="Calibri"/>
            </a:endParaRPr>
          </a:p>
        </p:txBody>
      </p:sp>
      <p:sp>
        <p:nvSpPr>
          <p:cNvPr id="969" name="Google Shape;969;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claim-check sketch: store is any encrypted object store; the ticket: Example 12's valet key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@Service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ClaimPublisher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private final ObjectStore store;                           // any encrypted object store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private final KafkaTemplate&lt;String, Map&lt;String, Object&gt;&gt; kafka;</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private final ValetKeyService valet;                       // examples/12-security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 constructor injection omitted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void publish(String orderId, byte[] body)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String key = "payloads/" + 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store.put(key, body, true);                            // encrypted at rest, ACL'd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Map&lt;String, Object&gt; claim = new LinkedHashMap&lt;&gt;(valet.mint(key, "GET"));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claim.put("order_id", 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claim.put("uri", "https://objects.internal/" + key);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kafka.send("order.documents", orderId, claim);         // only the claim on the topic</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consumer: read the claim, fetch the body out of band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@KafkaListener(topics = "order.documents", groupId = "documents")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void onClaim(Map&lt;String, Object&gt; claim)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byte[] body = store.get((String) claim.get("uri"), (String) claim.get("token"));</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handle(body);                                              // PII never touched the topic</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p:txBody>
      </p:sp>
      <p:sp>
        <p:nvSpPr>
          <p:cNvPr id="970" name="Google Shape;970;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71" name="Google Shape;971;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6" name="Shape 976"/>
        <p:cNvGrpSpPr/>
        <p:nvPr/>
      </p:nvGrpSpPr>
      <p:grpSpPr>
        <a:xfrm>
          <a:off x="0" y="0"/>
          <a:ext cx="0" cy="0"/>
          <a:chOff x="0" y="0"/>
          <a:chExt cx="0" cy="0"/>
        </a:xfrm>
      </p:grpSpPr>
      <p:sp>
        <p:nvSpPr>
          <p:cNvPr id="977" name="Google Shape;977;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78" name="Google Shape;978;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980" name="Google Shape;980;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1" name="Google Shape;981;p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6" name="Shape 986"/>
        <p:cNvGrpSpPr/>
        <p:nvPr/>
      </p:nvGrpSpPr>
      <p:grpSpPr>
        <a:xfrm>
          <a:off x="0" y="0"/>
          <a:ext cx="0" cy="0"/>
          <a:chOff x="0" y="0"/>
          <a:chExt cx="0" cy="0"/>
        </a:xfrm>
      </p:grpSpPr>
      <p:sp>
        <p:nvSpPr>
          <p:cNvPr id="987" name="Google Shape;987;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989" name="Google Shape;989;p9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990" name="Google Shape;990;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1" name="Google Shape;991;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996" name="Shape 996"/>
        <p:cNvGrpSpPr/>
        <p:nvPr/>
      </p:nvGrpSpPr>
      <p:grpSpPr>
        <a:xfrm>
          <a:off x="0" y="0"/>
          <a:ext cx="0" cy="0"/>
          <a:chOff x="0" y="0"/>
          <a:chExt cx="0" cy="0"/>
        </a:xfrm>
      </p:grpSpPr>
      <p:pic>
        <p:nvPicPr>
          <p:cNvPr descr="/home/claude/work/assets/rh-divider-bg.png" id="997" name="Google Shape;997;p9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998" name="Google Shape;998;p9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999" name="Google Shape;999;p9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00" name="Google Shape;1000;p9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01" name="Google Shape;1001;p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6" name="Shape 1006"/>
        <p:cNvGrpSpPr/>
        <p:nvPr/>
      </p:nvGrpSpPr>
      <p:grpSpPr>
        <a:xfrm>
          <a:off x="0" y="0"/>
          <a:ext cx="0" cy="0"/>
          <a:chOff x="0" y="0"/>
          <a:chExt cx="0" cy="0"/>
        </a:xfrm>
      </p:grpSpPr>
      <p:sp>
        <p:nvSpPr>
          <p:cNvPr id="1007" name="Google Shape;1007;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08" name="Google Shape;1008;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sb/23-anti-patterns-grid.png" id="1009" name="Google Shape;1009;p93"/>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10" name="Google Shape;1010;p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7" name="Shape 1017"/>
        <p:cNvGrpSpPr/>
        <p:nvPr/>
      </p:nvGrpSpPr>
      <p:grpSpPr>
        <a:xfrm>
          <a:off x="0" y="0"/>
          <a:ext cx="0" cy="0"/>
          <a:chOff x="0" y="0"/>
          <a:chExt cx="0" cy="0"/>
        </a:xfrm>
      </p:grpSpPr>
      <p:sp>
        <p:nvSpPr>
          <p:cNvPr id="1018" name="Google Shape;1018;p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19" name="Google Shape;1019;p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20" name="Google Shape;1020;p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21" name="Google Shape;1021;p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22" name="Google Shape;1022;p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30" name="Google Shape;1030;p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31" name="Google Shape;1031;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2" name="Google Shape;1032;p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7" name="Shape 1037"/>
        <p:cNvGrpSpPr/>
        <p:nvPr/>
      </p:nvGrpSpPr>
      <p:grpSpPr>
        <a:xfrm>
          <a:off x="0" y="0"/>
          <a:ext cx="0" cy="0"/>
          <a:chOff x="0" y="0"/>
          <a:chExt cx="0" cy="0"/>
        </a:xfrm>
      </p:grpSpPr>
      <p:sp>
        <p:nvSpPr>
          <p:cNvPr id="1038" name="Google Shape;1038;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39" name="Google Shape;1039;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Cloud-Native Patterns and Architecture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 Gerald Bachlmayr</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Spring Boot 4 reference (docs.spring.io/spring-boot), Temporal Java SDK docs (docs.temporal.io/dev-guide/java), Spring for GraphQL, Spring Kafka, and Debezium docs — for the runtime specifics</a:t>
            </a:r>
            <a:endParaRPr b="0" i="0" sz="14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2" name="Google Shape;1042;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47" name="Shape 1047"/>
        <p:cNvGrpSpPr/>
        <p:nvPr/>
      </p:nvGrpSpPr>
      <p:grpSpPr>
        <a:xfrm>
          <a:off x="0" y="0"/>
          <a:ext cx="0" cy="0"/>
          <a:chOff x="0" y="0"/>
          <a:chExt cx="0" cy="0"/>
        </a:xfrm>
      </p:grpSpPr>
      <p:pic>
        <p:nvPicPr>
          <p:cNvPr descr="/home/claude/work/assets/rh-divider-bg.png" id="1048" name="Google Shape;1048;p9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49" name="Google Shape;1049;p97"/>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50" name="Google Shape;1050;p97"/>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51" name="Google Shape;1051;p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6" name="Shape 1056"/>
        <p:cNvGrpSpPr/>
        <p:nvPr/>
      </p:nvGrpSpPr>
      <p:grpSpPr>
        <a:xfrm>
          <a:off x="0" y="0"/>
          <a:ext cx="0" cy="0"/>
          <a:chOff x="0" y="0"/>
          <a:chExt cx="0" cy="0"/>
        </a:xfrm>
      </p:grpSpPr>
      <p:sp>
        <p:nvSpPr>
          <p:cNvPr id="1057" name="Google Shape;1057;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58" name="Google Shape;1058;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59" name="Google Shape;1059;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which sets a key and its TTL atomically); ORM (Object-Relational Mapping); JPA (Jakarta Persistence API); Spring Data (Spring's repository abstraction, not an acronym).</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61" name="Google Shape;1061;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6" name="Shape 1066"/>
        <p:cNvGrpSpPr/>
        <p:nvPr/>
      </p:nvGrpSpPr>
      <p:grpSpPr>
        <a:xfrm>
          <a:off x="0" y="0"/>
          <a:ext cx="0" cy="0"/>
          <a:chOff x="0" y="0"/>
          <a:chExt cx="0" cy="0"/>
        </a:xfrm>
      </p:grpSpPr>
      <p:sp>
        <p:nvSpPr>
          <p:cNvPr id="1067" name="Google Shape;1067;p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68" name="Google Shape;1068;p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69" name="Google Shape;1069;p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JVM (Java Virtual Machine); JIT (Just-In-Time compilation); AOT (Ahead-Of-Time compilation: GraalVM / Spring AOT); GC (Garbage Collection); IoC (Inversion of Control); DI (Dependency Injection); DTO (Data Transfer Object); POJO (Plain Old Java Object); SpEL (Spring Expression Language).</a:t>
            </a:r>
            <a:endParaRPr b="0" i="0" sz="1200" u="none" cap="none" strike="noStrike">
              <a:solidFill>
                <a:schemeClr val="dk1"/>
              </a:solidFill>
              <a:latin typeface="Calibri"/>
              <a:ea typeface="Calibri"/>
              <a:cs typeface="Calibri"/>
              <a:sym typeface="Calibri"/>
            </a:endParaRPr>
          </a:p>
        </p:txBody>
      </p:sp>
      <p:sp>
        <p:nvSpPr>
          <p:cNvPr id="1070" name="Google Shape;1070;p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71" name="Google Shape;1071;p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76" name="Shape 1076"/>
        <p:cNvGrpSpPr/>
        <p:nvPr/>
      </p:nvGrpSpPr>
      <p:grpSpPr>
        <a:xfrm>
          <a:off x="0" y="0"/>
          <a:ext cx="0" cy="0"/>
          <a:chOff x="0" y="0"/>
          <a:chExt cx="0" cy="0"/>
        </a:xfrm>
      </p:grpSpPr>
      <p:pic>
        <p:nvPicPr>
          <p:cNvPr descr="/home/claude/work/assets/rh-divider-bg.png" id="1077" name="Google Shape;1077;p1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8" name="Google Shape;1078;p1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079" name="Google Shape;1079;p1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080" name="Google Shape;1080;p1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081" name="Google Shape;1081;p1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6" name="Shape 1086"/>
        <p:cNvGrpSpPr/>
        <p:nvPr/>
      </p:nvGrpSpPr>
      <p:grpSpPr>
        <a:xfrm>
          <a:off x="0" y="0"/>
          <a:ext cx="0" cy="0"/>
          <a:chOff x="0" y="0"/>
          <a:chExt cx="0" cy="0"/>
        </a:xfrm>
      </p:grpSpPr>
      <p:sp>
        <p:nvSpPr>
          <p:cNvPr id="1087" name="Google Shape;1087;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88" name="Google Shape;1088;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sb/24-appA-paradigms.png" id="1089" name="Google Shape;1089;p10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090" name="Google Shape;1090;p1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7" name="Shape 1097"/>
        <p:cNvGrpSpPr/>
        <p:nvPr/>
      </p:nvGrpSpPr>
      <p:grpSpPr>
        <a:xfrm>
          <a:off x="0" y="0"/>
          <a:ext cx="0" cy="0"/>
          <a:chOff x="0" y="0"/>
          <a:chExt cx="0" cy="0"/>
        </a:xfrm>
      </p:grpSpPr>
      <p:sp>
        <p:nvSpPr>
          <p:cNvPr id="1098" name="Google Shape;1098;p1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99" name="Google Shape;1099;p1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sb/25-appA-fetching.png" id="1100" name="Google Shape;1100;p1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01" name="Google Shape;1101;p1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02" name="Google Shape;1102;p1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103" name="Google Shape;1103;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8" name="Shape 1108"/>
        <p:cNvGrpSpPr/>
        <p:nvPr/>
      </p:nvGrpSpPr>
      <p:grpSpPr>
        <a:xfrm>
          <a:off x="0" y="0"/>
          <a:ext cx="0" cy="0"/>
          <a:chOff x="0" y="0"/>
          <a:chExt cx="0" cy="0"/>
        </a:xfrm>
      </p:grpSpPr>
      <p:sp>
        <p:nvSpPr>
          <p:cNvPr id="1109" name="Google Shape;1109;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10" name="Google Shape;1110;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sb/26-appA-transport.png" id="1111" name="Google Shape;1111;p10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12" name="Google Shape;1112;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13" name="Google Shape;1113;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4" name="Google Shape;1114;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9" name="Shape 1119"/>
        <p:cNvGrpSpPr/>
        <p:nvPr/>
      </p:nvGrpSpPr>
      <p:grpSpPr>
        <a:xfrm>
          <a:off x="0" y="0"/>
          <a:ext cx="0" cy="0"/>
          <a:chOff x="0" y="0"/>
          <a:chExt cx="0" cy="0"/>
        </a:xfrm>
      </p:grpSpPr>
      <p:sp>
        <p:nvSpPr>
          <p:cNvPr id="1120" name="Google Shape;1120;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1" name="Google Shape;1121;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22" name="Google Shape;1122;p10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32" name="Google Shape;1132;p1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33" name="Google Shape;1133;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4" name="Google Shape;1134;p1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39" name="Shape 1139"/>
        <p:cNvGrpSpPr/>
        <p:nvPr/>
      </p:nvGrpSpPr>
      <p:grpSpPr>
        <a:xfrm>
          <a:off x="0" y="0"/>
          <a:ext cx="0" cy="0"/>
          <a:chOff x="0" y="0"/>
          <a:chExt cx="0" cy="0"/>
        </a:xfrm>
      </p:grpSpPr>
      <p:pic>
        <p:nvPicPr>
          <p:cNvPr descr="/home/claude/work/assets/rh-divider-bg.png" id="1140" name="Google Shape;1140;p10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41" name="Google Shape;1141;p10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42" name="Google Shape;1142;p10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43" name="Google Shape;1143;p10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44" name="Google Shape;1144;p1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9" name="Shape 1149"/>
        <p:cNvGrpSpPr/>
        <p:nvPr/>
      </p:nvGrpSpPr>
      <p:grpSpPr>
        <a:xfrm>
          <a:off x="0" y="0"/>
          <a:ext cx="0" cy="0"/>
          <a:chOff x="0" y="0"/>
          <a:chExt cx="0" cy="0"/>
        </a:xfrm>
      </p:grpSpPr>
      <p:sp>
        <p:nvSpPr>
          <p:cNvPr id="1150" name="Google Shape;1150;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51" name="Google Shape;1151;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sb/27-appB-rest-versioning.png" id="1152" name="Google Shape;1152;p10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53" name="Google Shape;1153;p1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0" name="Shape 1160"/>
        <p:cNvGrpSpPr/>
        <p:nvPr/>
      </p:nvGrpSpPr>
      <p:grpSpPr>
        <a:xfrm>
          <a:off x="0" y="0"/>
          <a:ext cx="0" cy="0"/>
          <a:chOff x="0" y="0"/>
          <a:chExt cx="0" cy="0"/>
        </a:xfrm>
      </p:grpSpPr>
      <p:sp>
        <p:nvSpPr>
          <p:cNvPr id="1161" name="Google Shape;1161;p1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62" name="Google Shape;1162;p1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Spring Web</a:t>
            </a:r>
            <a:endParaRPr b="0" i="0" sz="3000" u="none" cap="none" strike="noStrike">
              <a:solidFill>
                <a:schemeClr val="dk1"/>
              </a:solidFill>
              <a:latin typeface="Calibri"/>
              <a:ea typeface="Calibri"/>
              <a:cs typeface="Calibri"/>
              <a:sym typeface="Calibri"/>
            </a:endParaRPr>
          </a:p>
        </p:txBody>
      </p:sp>
      <p:sp>
        <p:nvSpPr>
          <p:cNvPr id="1163" name="Google Shape;1163;p1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108"/>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Web</a:t>
            </a:r>
            <a:endParaRPr b="0" i="0" sz="1000" u="none" cap="none" strike="noStrike">
              <a:solidFill>
                <a:schemeClr val="dk1"/>
              </a:solidFill>
              <a:latin typeface="Calibri"/>
              <a:ea typeface="Calibri"/>
              <a:cs typeface="Calibri"/>
              <a:sym typeface="Calibri"/>
            </a:endParaRPr>
          </a:p>
        </p:txBody>
      </p:sp>
      <p:sp>
        <p:nvSpPr>
          <p:cNvPr id="1165" name="Google Shape;1165;p1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@RestController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@RequestMapping("/orders")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OrderController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static final String V1 = "application/vnd.acme.order+json";      // legacy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static final String V2 = "application/vnd.acme.order.v2+json";   // adds currency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@GetMapping(value = "/{id}", produces = V2)   // one stable URL — the resource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OrderV2 getV2(@PathVariable String id) {  // chosen by Accept: …v2+json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OrderV2.from(orders.get(id));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@GetMapping(value = "/{id}", produces = V1)   // same path, different representation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OrderV1 getV1(@PathVariable String id) {  // default for old clients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OrderV1.from(orders.get(id));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Spring's content negotiation routes on Accept; the URL never changes.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Spring Boot 4 also ships a new API versioning support if you prefer header- 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path-based versioning declared centrally rather than per-handler.</a:t>
            </a:r>
            <a:endParaRPr b="0" i="0" sz="1100" u="none" cap="none" strike="noStrike">
              <a:solidFill>
                <a:schemeClr val="dk1"/>
              </a:solidFill>
              <a:latin typeface="Calibri"/>
              <a:ea typeface="Calibri"/>
              <a:cs typeface="Calibri"/>
              <a:sym typeface="Calibri"/>
            </a:endParaRPr>
          </a:p>
        </p:txBody>
      </p:sp>
      <p:sp>
        <p:nvSpPr>
          <p:cNvPr id="1166" name="Google Shape;1166;p1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67" name="Google Shape;1167;p1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68" name="Google Shape;1168;p1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3" name="Shape 1173"/>
        <p:cNvGrpSpPr/>
        <p:nvPr/>
      </p:nvGrpSpPr>
      <p:grpSpPr>
        <a:xfrm>
          <a:off x="0" y="0"/>
          <a:ext cx="0" cy="0"/>
          <a:chOff x="0" y="0"/>
          <a:chExt cx="0" cy="0"/>
        </a:xfrm>
      </p:grpSpPr>
      <p:sp>
        <p:nvSpPr>
          <p:cNvPr id="1174" name="Google Shape;1174;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sb/28-appB-proto-evolution.png" id="1176" name="Google Shape;1176;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7" name="Google Shape;1177;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78" name="Google Shape;1178;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9" name="Google Shape;1179;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4" name="Shape 1184"/>
        <p:cNvGrpSpPr/>
        <p:nvPr/>
      </p:nvGrpSpPr>
      <p:grpSpPr>
        <a:xfrm>
          <a:off x="0" y="0"/>
          <a:ext cx="0" cy="0"/>
          <a:chOff x="0" y="0"/>
          <a:chExt cx="0" cy="0"/>
        </a:xfrm>
      </p:grpSpPr>
      <p:sp>
        <p:nvSpPr>
          <p:cNvPr id="1185" name="Google Shape;1185;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6" name="Google Shape;1186;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11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189" name="Google Shape;1189;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190" name="Google Shape;1190;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191" name="Google Shape;1191;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92" name="Google Shape;1192;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7" name="Shape 1197"/>
        <p:cNvGrpSpPr/>
        <p:nvPr/>
      </p:nvGrpSpPr>
      <p:grpSpPr>
        <a:xfrm>
          <a:off x="0" y="0"/>
          <a:ext cx="0" cy="0"/>
          <a:chOff x="0" y="0"/>
          <a:chExt cx="0" cy="0"/>
        </a:xfrm>
      </p:grpSpPr>
      <p:sp>
        <p:nvSpPr>
          <p:cNvPr id="1198" name="Google Shape;1198;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sb/29-appB-graphql-evolution.png" id="1200" name="Google Shape;1200;p11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01" name="Google Shape;1201;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02" name="Google Shape;1202;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3" name="Google Shape;1203;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8" name="Shape 1208"/>
        <p:cNvGrpSpPr/>
        <p:nvPr/>
      </p:nvGrpSpPr>
      <p:grpSpPr>
        <a:xfrm>
          <a:off x="0" y="0"/>
          <a:ext cx="0" cy="0"/>
          <a:chOff x="0" y="0"/>
          <a:chExt cx="0" cy="0"/>
        </a:xfrm>
      </p:grpSpPr>
      <p:sp>
        <p:nvSpPr>
          <p:cNvPr id="1209" name="Google Shape;1209;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10" name="Google Shape;1210;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Spring for GraphQL</a:t>
            </a:r>
            <a:endParaRPr b="0" i="0" sz="300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112"/>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graphql + java · Spring for GraphQL</a:t>
            </a:r>
            <a:endParaRPr b="0" i="0" sz="1000" u="none" cap="none" strike="noStrike">
              <a:solidFill>
                <a:schemeClr val="dk1"/>
              </a:solidFill>
              <a:latin typeface="Calibri"/>
              <a:ea typeface="Calibri"/>
              <a:cs typeface="Calibri"/>
              <a:sym typeface="Calibri"/>
            </a:endParaRPr>
          </a:p>
        </p:txBody>
      </p:sp>
      <p:sp>
        <p:nvSpPr>
          <p:cNvPr id="1213" name="Google Shape;1213;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schema.graphqls — the GraphQL contract (schema-first)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type Order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id: 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total: Float                                </a:t>
            </a:r>
            <a:r>
              <a:rPr b="0" i="0" lang="en-US" sz="1150" u="none" cap="none" strike="noStrike">
                <a:solidFill>
                  <a:srgbClr val="8FB98F"/>
                </a:solidFill>
                <a:latin typeface="Red Hat Mono"/>
                <a:ea typeface="Red Hat Mono"/>
                <a:cs typeface="Red Hat Mono"/>
                <a:sym typeface="Red Hat Mono"/>
              </a:rPr>
              <a:t># still served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@deprecated(reason: "Use totalMinor (integer cents) instead.")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totalMinor: Int!                            </a:t>
            </a:r>
            <a:r>
              <a:rPr b="0" i="0" lang="en-US" sz="1150" u="none" cap="none" strike="noStrike">
                <a:solidFill>
                  <a:srgbClr val="8FB98F"/>
                </a:solidFill>
                <a:latin typeface="Red Hat Mono"/>
                <a:ea typeface="Red Hat Mono"/>
                <a:cs typeface="Red Hat Mono"/>
                <a:sym typeface="Red Hat Mono"/>
              </a:rPr>
              <a:t># replacement, added additively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Java record matches the schema; both fields resolve.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record Order(String id, double total, int totalMinor) {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@deprecated surfaces in introspection and in /graphiql with the reason.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Field-level usage metrics (Micrometer + Apollo's @apollo/usage-reporting,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or graphql-java-extended-validation) tell you when 'total' has zero callers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only then do you remove it. No /v2 endpoint ever exists.</a:t>
            </a:r>
            <a:endParaRPr b="0" i="0" sz="1150" u="none" cap="none" strike="noStrike">
              <a:solidFill>
                <a:schemeClr val="dk1"/>
              </a:solidFill>
              <a:latin typeface="Calibri"/>
              <a:ea typeface="Calibri"/>
              <a:cs typeface="Calibri"/>
              <a:sym typeface="Calibri"/>
            </a:endParaRPr>
          </a:p>
        </p:txBody>
      </p:sp>
      <p:sp>
        <p:nvSpPr>
          <p:cNvPr id="1214" name="Google Shape;1214;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15" name="Google Shape;1215;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6" name="Google Shape;1216;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1" name="Shape 1221"/>
        <p:cNvGrpSpPr/>
        <p:nvPr/>
      </p:nvGrpSpPr>
      <p:grpSpPr>
        <a:xfrm>
          <a:off x="0" y="0"/>
          <a:ext cx="0" cy="0"/>
          <a:chOff x="0" y="0"/>
          <a:chExt cx="0" cy="0"/>
        </a:xfrm>
      </p:grpSpPr>
      <p:sp>
        <p:nvSpPr>
          <p:cNvPr id="1222" name="Google Shape;1222;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24" name="Google Shape;1224;p1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25" name="Google Shape;1225;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6" name="Google Shape;1226;p1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31" name="Shape 1231"/>
        <p:cNvGrpSpPr/>
        <p:nvPr/>
      </p:nvGrpSpPr>
      <p:grpSpPr>
        <a:xfrm>
          <a:off x="0" y="0"/>
          <a:ext cx="0" cy="0"/>
          <a:chOff x="0" y="0"/>
          <a:chExt cx="0" cy="0"/>
        </a:xfrm>
      </p:grpSpPr>
      <p:pic>
        <p:nvPicPr>
          <p:cNvPr descr="/home/claude/work/assets/rh-divider-bg.png" id="1232" name="Google Shape;1232;p1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33" name="Google Shape;1233;p1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34" name="Google Shape;1234;p1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35" name="Google Shape;1235;p1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Spring WebSocket, pod pinning, the backplane, binary framing, reconnection.</a:t>
            </a:r>
            <a:endParaRPr b="0" i="0" sz="1500" u="none" cap="none" strike="noStrike">
              <a:solidFill>
                <a:schemeClr val="dk1"/>
              </a:solidFill>
              <a:latin typeface="Calibri"/>
              <a:ea typeface="Calibri"/>
              <a:cs typeface="Calibri"/>
              <a:sym typeface="Calibri"/>
            </a:endParaRPr>
          </a:p>
        </p:txBody>
      </p:sp>
      <p:pic>
        <p:nvPicPr>
          <p:cNvPr descr="/home/claude/work/assets/rh-logo-white.png" id="1236" name="Google Shape;1236;p1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1" name="Shape 1241"/>
        <p:cNvGrpSpPr/>
        <p:nvPr/>
      </p:nvGrpSpPr>
      <p:grpSpPr>
        <a:xfrm>
          <a:off x="0" y="0"/>
          <a:ext cx="0" cy="0"/>
          <a:chOff x="0" y="0"/>
          <a:chExt cx="0" cy="0"/>
        </a:xfrm>
      </p:grpSpPr>
      <p:sp>
        <p:nvSpPr>
          <p:cNvPr id="1242" name="Google Shape;1242;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43" name="Google Shape;1243;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with Spring WebSocket</a:t>
            </a:r>
            <a:endParaRPr b="0" i="0" sz="30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115"/>
          <p:cNvSpPr/>
          <p:nvPr/>
        </p:nvSpPr>
        <p:spPr>
          <a:xfrm>
            <a:off x="7337217" y="1700784"/>
            <a:ext cx="4196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spring-boot-starter-websocket</a:t>
            </a:r>
            <a:endParaRPr b="0" i="0" sz="1000" u="none" cap="none" strike="noStrike">
              <a:solidFill>
                <a:schemeClr val="dk1"/>
              </a:solidFill>
              <a:latin typeface="Calibri"/>
              <a:ea typeface="Calibri"/>
              <a:cs typeface="Calibri"/>
              <a:sym typeface="Calibri"/>
            </a:endParaRPr>
          </a:p>
        </p:txBody>
      </p:sp>
      <p:sp>
        <p:nvSpPr>
          <p:cNvPr id="1246" name="Google Shape;1246;p1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@Configuration                                  // spring-boot-starter-websocket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@EnableWebSocket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WsConfig implements WebSocketConfigurer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@Override public void registerWebSocketHandlers(WebSocketHandlerRegistry 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r.addHandler(new OrderSocket(), "/ws/{userId}")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.setAllowedOriginPatterns("*");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@Component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OrderSocket extends TextWebSocketHandler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 per-pod registry — not shared!  This single fact is the scaling problem.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private final Map&lt;String, WebSocketSession&gt; conns = new ConcurrentHashMap&lt;&gt;();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@Override public void afterConnectionEstablished(WebSocketSession s)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conns.put(userIdFrom(s), s);             // this pod owns this connection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@Override protected void handleTextMessage(WebSocketSession s, TextMessage msg)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handle(parse(msg.getPayload()));         // full-duplex, long-lived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 afterConnectionClosed cleanup removes the entry from this pod's map.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247" name="Google Shape;1247;p1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Declarative, but the conns map is per-pod. That single fact is the entire scaling problem.</a:t>
            </a:r>
            <a:endParaRPr b="0" i="0" sz="1300" u="none" cap="none" strike="noStrike">
              <a:solidFill>
                <a:schemeClr val="dk1"/>
              </a:solidFill>
              <a:latin typeface="Calibri"/>
              <a:ea typeface="Calibri"/>
              <a:cs typeface="Calibri"/>
              <a:sym typeface="Calibri"/>
            </a:endParaRPr>
          </a:p>
        </p:txBody>
      </p:sp>
      <p:sp>
        <p:nvSpPr>
          <p:cNvPr id="1248" name="Google Shape;1248;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49" name="Google Shape;1249;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4" name="Shape 1254"/>
        <p:cNvGrpSpPr/>
        <p:nvPr/>
      </p:nvGrpSpPr>
      <p:grpSpPr>
        <a:xfrm>
          <a:off x="0" y="0"/>
          <a:ext cx="0" cy="0"/>
          <a:chOff x="0" y="0"/>
          <a:chExt cx="0" cy="0"/>
        </a:xfrm>
      </p:grpSpPr>
      <p:sp>
        <p:nvSpPr>
          <p:cNvPr id="1255" name="Google Shape;1255;p1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56" name="Google Shape;1256;p1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sb/30-appC-pinning.png" id="1257" name="Google Shape;1257;p1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58" name="Google Shape;1258;p1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59" name="Google Shape;1259;p1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60" name="Google Shape;1260;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5" name="Shape 1265"/>
        <p:cNvGrpSpPr/>
        <p:nvPr/>
      </p:nvGrpSpPr>
      <p:grpSpPr>
        <a:xfrm>
          <a:off x="0" y="0"/>
          <a:ext cx="0" cy="0"/>
          <a:chOff x="0" y="0"/>
          <a:chExt cx="0" cy="0"/>
        </a:xfrm>
      </p:grpSpPr>
      <p:sp>
        <p:nvSpPr>
          <p:cNvPr id="1266" name="Google Shape;1266;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7" name="Google Shape;1267;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sb/31-appC-backplane.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119"/>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java · Spring WebSocket</a:t>
            </a:r>
            <a:endParaRPr b="0" i="0" sz="1000" u="none" cap="none" strike="noStrike">
              <a:solidFill>
                <a:schemeClr val="dk1"/>
              </a:solidFill>
              <a:latin typeface="Calibri"/>
              <a:ea typeface="Calibri"/>
              <a:cs typeface="Calibri"/>
              <a:sym typeface="Calibri"/>
            </a:endParaRPr>
          </a:p>
        </p:txBody>
      </p:sp>
      <p:sp>
        <p:nvSpPr>
          <p:cNvPr id="1291" name="Google Shape;1291;p1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envelope.proto — version the message, not the URL</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message Envelope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uint32 version = 1;        // bump for incompatible payload changes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string type    = 2;        // "order.updated", "ping",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bytes  payload = 3;        // the protobuf-encoded body for `type`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uint64 seq     = 4;        // monotonic per-connection — drives resume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server: send compact binary frames instead of JSON text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OrderBinarySocket extends BinaryWebSocketHandler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@Override protected void handleBinaryMessage(WebSocketSession s, BinaryMessage m)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Envelope env = Envelope.parseFrom(m.getPayload());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dispatch(env);</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Envelope frame = Envelope.newBuilder().setVersion(2)</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.setType("order.updated").setSeq(n)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.setPayload(order.toByteString()).build();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session.sendMessage(new BinaryMessage(frame.toByteArray()));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client checks env.version; unknown major version → reconnect &amp; renegotiate</a:t>
            </a:r>
            <a:endParaRPr b="0" i="0" sz="1050" u="none" cap="none" strike="noStrike">
              <a:solidFill>
                <a:schemeClr val="dk1"/>
              </a:solidFill>
              <a:latin typeface="Calibri"/>
              <a:ea typeface="Calibri"/>
              <a:cs typeface="Calibri"/>
              <a:sym typeface="Calibri"/>
            </a:endParaRPr>
          </a:p>
        </p:txBody>
      </p:sp>
      <p:sp>
        <p:nvSpPr>
          <p:cNvPr id="1292" name="Google Shape;1292;p1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293" name="Google Shape;1293;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4" name="Google Shape;1294;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9" name="Shape 1299"/>
        <p:cNvGrpSpPr/>
        <p:nvPr/>
      </p:nvGrpSpPr>
      <p:grpSpPr>
        <a:xfrm>
          <a:off x="0" y="0"/>
          <a:ext cx="0" cy="0"/>
          <a:chOff x="0" y="0"/>
          <a:chExt cx="0" cy="0"/>
        </a:xfrm>
      </p:grpSpPr>
      <p:sp>
        <p:nvSpPr>
          <p:cNvPr id="1300" name="Google Shape;1300;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sb/32-appC-reconnect.png" id="1302" name="Google Shape;1302;p1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03" name="Google Shape;1303;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04" name="Google Shape;1304;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5" name="Google Shape;1305;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0" name="Shape 1310"/>
        <p:cNvGrpSpPr/>
        <p:nvPr/>
      </p:nvGrpSpPr>
      <p:grpSpPr>
        <a:xfrm>
          <a:off x="0" y="0"/>
          <a:ext cx="0" cy="0"/>
          <a:chOff x="0" y="0"/>
          <a:chExt cx="0" cy="0"/>
        </a:xfrm>
      </p:grpSpPr>
      <p:sp>
        <p:nvSpPr>
          <p:cNvPr id="1311" name="Google Shape;1311;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12" name="Google Shape;1312;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(Spring exposes ping/pong via WebSocketSession.sendMessage(new PingMessage())); reconnect with exponential backoff + jitter;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20" name="Shape 1320"/>
        <p:cNvGrpSpPr/>
        <p:nvPr/>
      </p:nvGrpSpPr>
      <p:grpSpPr>
        <a:xfrm>
          <a:off x="0" y="0"/>
          <a:ext cx="0" cy="0"/>
          <a:chOff x="0" y="0"/>
          <a:chExt cx="0" cy="0"/>
        </a:xfrm>
      </p:grpSpPr>
      <p:pic>
        <p:nvPicPr>
          <p:cNvPr descr="/home/claude/work/assets/rh-divider-bg.png" id="1321" name="Google Shape;1321;p12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22" name="Google Shape;1322;p12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23" name="Google Shape;1323;p12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24" name="Google Shape;1324;p12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25" name="Google Shape;1325;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0" name="Shape 1330"/>
        <p:cNvGrpSpPr/>
        <p:nvPr/>
      </p:nvGrpSpPr>
      <p:grpSpPr>
        <a:xfrm>
          <a:off x="0" y="0"/>
          <a:ext cx="0" cy="0"/>
          <a:chOff x="0" y="0"/>
          <a:chExt cx="0" cy="0"/>
        </a:xfrm>
      </p:grpSpPr>
      <p:sp>
        <p:nvSpPr>
          <p:cNvPr id="1331" name="Google Shape;1331;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32" name="Google Shape;1332;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saga keeps its state</a:t>
            </a:r>
            <a:endParaRPr b="0" i="0" sz="3000" u="none" cap="none" strike="noStrike">
              <a:solidFill>
                <a:schemeClr val="dk1"/>
              </a:solidFill>
              <a:latin typeface="Calibri"/>
              <a:ea typeface="Calibri"/>
              <a:cs typeface="Calibri"/>
              <a:sym typeface="Calibri"/>
            </a:endParaRPr>
          </a:p>
        </p:txBody>
      </p:sp>
      <p:pic>
        <p:nvPicPr>
          <p:cNvPr descr="/home/claude/work/png-sb/33-appD-state-options-sb.png" id="1333" name="Google Shape;1333;p123"/>
          <p:cNvPicPr preferRelativeResize="0"/>
          <p:nvPr/>
        </p:nvPicPr>
        <p:blipFill rotWithShape="1">
          <a:blip r:embed="rId5">
            <a:alphaModFix/>
          </a:blip>
          <a:stretch/>
        </p:blipFill>
        <p:spPr>
          <a:xfrm>
            <a:off x="1327421" y="2609925"/>
            <a:ext cx="9536855" cy="2506830"/>
          </a:xfrm>
          <a:prstGeom prst="rect">
            <a:avLst/>
          </a:prstGeom>
          <a:noFill/>
          <a:ln>
            <a:noFill/>
          </a:ln>
        </p:spPr>
      </p:pic>
      <p:sp>
        <p:nvSpPr>
          <p:cNvPr id="1334" name="Google Shape;1334;p1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 (Spring Data JPA)</a:t>
            </a:r>
            <a:endParaRPr b="0" i="0" sz="3000" u="none" cap="none" strike="noStrike">
              <a:solidFill>
                <a:schemeClr val="dk1"/>
              </a:solidFill>
              <a:latin typeface="Calibri"/>
              <a:ea typeface="Calibri"/>
              <a:cs typeface="Calibri"/>
              <a:sym typeface="Calibri"/>
            </a:endParaRPr>
          </a:p>
        </p:txBody>
      </p:sp>
      <p:sp>
        <p:nvSpPr>
          <p:cNvPr id="1344" name="Google Shape;1344;p1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124"/>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Data JPA</a:t>
            </a:r>
            <a:endParaRPr b="0" i="0" sz="1000" u="none" cap="none" strike="noStrike">
              <a:solidFill>
                <a:schemeClr val="dk1"/>
              </a:solidFill>
              <a:latin typeface="Calibri"/>
              <a:ea typeface="Calibri"/>
              <a:cs typeface="Calibri"/>
              <a:sym typeface="Calibri"/>
            </a:endParaRPr>
          </a:p>
        </p:txBody>
      </p:sp>
      <p:sp>
        <p:nvSpPr>
          <p:cNvPr id="1346" name="Google Shape;1346;p1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SagaCoordinator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static final List&lt;String&gt; STEPS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List.of("charge_payment", "reserve_stock", "book_shipping");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SagaRepository repo;</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EntityManager em;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SagaCoordinator(SagaRepository r, EntityManager em)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this.repo = r; this.em = em;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                                  // state + command commit together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advance(String sagaId)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 s = em.find(Saga.class, sagaId, LockModeType.PESSIMISTIC_WRITE);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(!"RUNNING".equals(s.getStatus())) return;   // idempotent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step = STEPS.get(s.getStepIndex());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result = invoke(step, s.getContext());  // call the 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s.getContext().put(step, result);           // accumulate output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(s.incStep() == STEPS.size()) s.setStatus("COMPLETED");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(StepException 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s.setStatus("COMPENSATING");                // hand off to the unwinder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repo.save(s);                                   // durable after every step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347" name="Google Shape;1347;p1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 again.'</a:t>
            </a:r>
            <a:endParaRPr b="0" i="0" sz="1300" u="none" cap="none" strike="noStrike">
              <a:solidFill>
                <a:schemeClr val="dk1"/>
              </a:solidFill>
              <a:latin typeface="Calibri"/>
              <a:ea typeface="Calibri"/>
              <a:cs typeface="Calibri"/>
              <a:sym typeface="Calibri"/>
            </a:endParaRPr>
          </a:p>
        </p:txBody>
      </p:sp>
      <p:sp>
        <p:nvSpPr>
          <p:cNvPr id="1348" name="Google Shape;1348;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49" name="Google Shape;1349;p1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4" name="Shape 1354"/>
        <p:cNvGrpSpPr/>
        <p:nvPr/>
      </p:nvGrpSpPr>
      <p:grpSpPr>
        <a:xfrm>
          <a:off x="0" y="0"/>
          <a:ext cx="0" cy="0"/>
          <a:chOff x="0" y="0"/>
          <a:chExt cx="0" cy="0"/>
        </a:xfrm>
      </p:grpSpPr>
      <p:sp>
        <p:nvSpPr>
          <p:cNvPr id="1355" name="Google Shape;1355;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sb/34-appD-compensation.png" id="1357" name="Google Shape;1357;p1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358" name="Google Shape;1358;p1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359" name="Google Shape;1359;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60" name="Google Shape;1360;p1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5" name="Shape 1365"/>
        <p:cNvGrpSpPr/>
        <p:nvPr/>
      </p:nvGrpSpPr>
      <p:grpSpPr>
        <a:xfrm>
          <a:off x="0" y="0"/>
          <a:ext cx="0" cy="0"/>
          <a:chOff x="0" y="0"/>
          <a:chExt cx="0" cy="0"/>
        </a:xfrm>
      </p:grpSpPr>
      <p:sp>
        <p:nvSpPr>
          <p:cNvPr id="1366" name="Google Shape;1366;p1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67" name="Google Shape;1367;p1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368" name="Google Shape;1368;p1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12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Data JPA</a:t>
            </a:r>
            <a:endParaRPr b="0" i="0" sz="1000" u="none" cap="none" strike="noStrike">
              <a:solidFill>
                <a:schemeClr val="dk1"/>
              </a:solidFill>
              <a:latin typeface="Calibri"/>
              <a:ea typeface="Calibri"/>
              <a:cs typeface="Calibri"/>
              <a:sym typeface="Calibri"/>
            </a:endParaRPr>
          </a:p>
        </p:txBody>
      </p:sp>
      <p:sp>
        <p:nvSpPr>
          <p:cNvPr id="1370" name="Google Shape;1370;p1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static final Map&lt;String, String&gt; COMPENSATIONS = Map.of(  // inverse per step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"charge_payment", "refund_payment",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"reserve_stock",  "release_stock",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"book_shipping",  "cancel_shipping");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@Transactional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void compensate(String sagaId)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 s = em.find(Saga.class, sagaId, LockModeType.PESSIMISTIC_WRITE);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undo only the steps that actually completed, newest first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for (String step : reversed(STEPS.subList(0, s.getStepIndex())))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invoke(COMPENSATIONS.get(step), s.getContext(),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sagaId + ":" + step);          // idempotency key — safe to 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s.setStatus("COMPENSATED");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repo.save(s);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371" name="Google Shape;1371;p1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372" name="Google Shape;1372;p1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73" name="Google Shape;1373;p1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8" name="Shape 1378"/>
        <p:cNvGrpSpPr/>
        <p:nvPr/>
      </p:nvGrpSpPr>
      <p:grpSpPr>
        <a:xfrm>
          <a:off x="0" y="0"/>
          <a:ext cx="0" cy="0"/>
          <a:chOff x="0" y="0"/>
          <a:chExt cx="0" cy="0"/>
        </a:xfrm>
      </p:grpSpPr>
      <p:sp>
        <p:nvSpPr>
          <p:cNvPr id="1379" name="Google Shape;1379;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0" name="Google Shape;1380;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sb/35-appD-data-dependency.png" id="1381" name="Google Shape;1381;p12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382" name="Google Shape;1382;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383" name="Google Shape;1383;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84" name="Google Shape;1384;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9" name="Shape 1389"/>
        <p:cNvGrpSpPr/>
        <p:nvPr/>
      </p:nvGrpSpPr>
      <p:grpSpPr>
        <a:xfrm>
          <a:off x="0" y="0"/>
          <a:ext cx="0" cy="0"/>
          <a:chOff x="0" y="0"/>
          <a:chExt cx="0" cy="0"/>
        </a:xfrm>
      </p:grpSpPr>
      <p:sp>
        <p:nvSpPr>
          <p:cNvPr id="1390" name="Google Shape;1390;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1" name="Google Shape;1391;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Two ways to keep a saga durable</a:t>
            </a:r>
            <a:endParaRPr b="0" i="0" sz="3000" u="none" cap="none" strike="noStrike">
              <a:solidFill>
                <a:schemeClr val="dk1"/>
              </a:solidFill>
              <a:latin typeface="Calibri"/>
              <a:ea typeface="Calibri"/>
              <a:cs typeface="Calibri"/>
              <a:sym typeface="Calibri"/>
            </a:endParaRPr>
          </a:p>
        </p:txBody>
      </p:sp>
      <p:sp>
        <p:nvSpPr>
          <p:cNvPr id="1392" name="Google Shape;1392;p12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Two open-source paths, both shown in this appendix with a diagram and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hand-rolled orchestrator (Example 17): one sagas row per instance (status, step_index, JSONB context) and a saga_log, written with JdbcClient inside a TransactionTemplate. No extra dependency, no extra cluster.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Temporal: a durable execution engine (Temporal Server MIT, Java SDK Apache 2.0). Workflows and activities are plain Java; the Server persists every event and replays it on recovery. Most power, a separate cluster to run.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Decision rule: keep the hand-rolled orchestrator while the saga is short and lives in one service; reach for Temporal when it is long, shared across services, or needs timers, retries and child workflows as first-class features.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Spring Statemachine is not on the list: its repository is archived upstream and 4.0.x was its last open-source line.</a:t>
            </a:r>
            <a:endParaRPr b="0" i="0" sz="1700" u="none" cap="none" strike="noStrike">
              <a:solidFill>
                <a:schemeClr val="dk1"/>
              </a:solidFill>
              <a:latin typeface="Calibri"/>
              <a:ea typeface="Calibri"/>
              <a:cs typeface="Calibri"/>
              <a:sym typeface="Calibri"/>
            </a:endParaRPr>
          </a:p>
        </p:txBody>
      </p:sp>
      <p:sp>
        <p:nvSpPr>
          <p:cNvPr id="1393" name="Google Shape;1393;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4" name="Google Shape;1394;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9" name="Shape 1399"/>
        <p:cNvGrpSpPr/>
        <p:nvPr/>
      </p:nvGrpSpPr>
      <p:grpSpPr>
        <a:xfrm>
          <a:off x="0" y="0"/>
          <a:ext cx="0" cy="0"/>
          <a:chOff x="0" y="0"/>
          <a:chExt cx="0" cy="0"/>
        </a:xfrm>
      </p:grpSpPr>
      <p:sp>
        <p:nvSpPr>
          <p:cNvPr id="1400" name="Google Shape;1400;p1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01" name="Google Shape;1401;p1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a plain-Java saga that the Server makes durable</a:t>
            </a:r>
            <a:endParaRPr b="0" i="0" sz="3000" u="none" cap="none" strike="noStrike">
              <a:solidFill>
                <a:schemeClr val="dk1"/>
              </a:solidFill>
              <a:latin typeface="Calibri"/>
              <a:ea typeface="Calibri"/>
              <a:cs typeface="Calibri"/>
              <a:sym typeface="Calibri"/>
            </a:endParaRPr>
          </a:p>
        </p:txBody>
      </p:sp>
      <p:pic>
        <p:nvPicPr>
          <p:cNvPr descr="/home/claude/work/png-sb/62-appD-temporal.png" id="1402" name="Google Shape;1402;p129"/>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03" name="Google Shape;1403;p1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Worker (your Spring Boot app) runs Workflow + Activity code; the Temporal Server persists every event and replays deterministically.</a:t>
            </a:r>
            <a:endParaRPr b="0" i="0" sz="1200" u="none" cap="none" strike="noStrike">
              <a:solidFill>
                <a:schemeClr val="dk1"/>
              </a:solidFill>
              <a:latin typeface="Calibri"/>
              <a:ea typeface="Calibri"/>
              <a:cs typeface="Calibri"/>
              <a:sym typeface="Calibri"/>
            </a:endParaRPr>
          </a:p>
        </p:txBody>
      </p:sp>
      <p:sp>
        <p:nvSpPr>
          <p:cNvPr id="1404" name="Google Shape;1404;p1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05" name="Google Shape;1405;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0" name="Shape 1410"/>
        <p:cNvGrpSpPr/>
        <p:nvPr/>
      </p:nvGrpSpPr>
      <p:grpSpPr>
        <a:xfrm>
          <a:off x="0" y="0"/>
          <a:ext cx="0" cy="0"/>
          <a:chOff x="0" y="0"/>
          <a:chExt cx="0" cy="0"/>
        </a:xfrm>
      </p:grpSpPr>
      <p:sp>
        <p:nvSpPr>
          <p:cNvPr id="1411" name="Google Shape;1411;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12" name="Google Shape;1412;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saga workflow + activity, in Spring Boot</a:t>
            </a:r>
            <a:endParaRPr b="0" i="0" sz="3000" u="none" cap="none" strike="noStrike">
              <a:solidFill>
                <a:schemeClr val="dk1"/>
              </a:solidFill>
              <a:latin typeface="Calibri"/>
              <a:ea typeface="Calibri"/>
              <a:cs typeface="Calibri"/>
              <a:sym typeface="Calibri"/>
            </a:endParaRPr>
          </a:p>
        </p:txBody>
      </p:sp>
      <p:sp>
        <p:nvSpPr>
          <p:cNvPr id="1413" name="Google Shape;1413;p13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 name="Google Shape;1414;p130"/>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io.temporal:temporal-sdk + Spring Boot</a:t>
            </a:r>
            <a:endParaRPr b="0" i="0" sz="1000" u="none" cap="none" strike="noStrike">
              <a:solidFill>
                <a:schemeClr val="dk1"/>
              </a:solidFill>
              <a:latin typeface="Calibri"/>
              <a:ea typeface="Calibri"/>
              <a:cs typeface="Calibri"/>
              <a:sym typeface="Calibri"/>
            </a:endParaRPr>
          </a:p>
        </p:txBody>
      </p:sp>
      <p:sp>
        <p:nvSpPr>
          <p:cNvPr id="1415" name="Google Shape;1415;p13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1) Activity interface — each is a normal Spring bean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@ActivityInterface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PaymentActivity { @ActivityMethod String charge(SagaInput in);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InventoryActivity.reserve and ShippingActivity.book are declared the same way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2) Workflow interface + impl — plain Java, deterministic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@WorkflowInterface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FulfillmentWorkflow { @WorkflowMethod String run(SagaInput in);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FulfillmentWorkflowImpl implements FulfillmentWorkflow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PaymentActivity   payment   = Workflow.newActivityStub(…);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InventoryActivity inventory = Workflow.newActivityStub(…);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ShippingActivity  shipping  = Workflow.newActivityStub(…);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@Override public String run(SagaInput in)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 saga = new Saga(new Saga.Options.Builder().build()); // built-in compensator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paymentId     = payment.charge(in);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saga.addCompensation(() -&gt; payment.refund(paymentId));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reservationId = inventory.reserve(in, paymentId);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saga.addCompensation(() -&gt; inventory.release(reservationId));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shipping.book(in, reservationId);     // outputs flow forward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(ActivityFailure 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saga.compensate();                            // unwinds in reverse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throw 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16" name="Google Shape;1416;p13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Workflow + Activities are Spring beans; Temporal's built-in Saga utility owns the unwind. State is durable on the Server.</a:t>
            </a:r>
            <a:endParaRPr b="0" i="0" sz="1300" u="none" cap="none" strike="noStrike">
              <a:solidFill>
                <a:schemeClr val="dk1"/>
              </a:solidFill>
              <a:latin typeface="Calibri"/>
              <a:ea typeface="Calibri"/>
              <a:cs typeface="Calibri"/>
              <a:sym typeface="Calibri"/>
            </a:endParaRPr>
          </a:p>
        </p:txBody>
      </p:sp>
      <p:sp>
        <p:nvSpPr>
          <p:cNvPr id="1417" name="Google Shape;1417;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18" name="Google Shape;1418;p13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3" name="Shape 1423"/>
        <p:cNvGrpSpPr/>
        <p:nvPr/>
      </p:nvGrpSpPr>
      <p:grpSpPr>
        <a:xfrm>
          <a:off x="0" y="0"/>
          <a:ext cx="0" cy="0"/>
          <a:chOff x="0" y="0"/>
          <a:chExt cx="0" cy="0"/>
        </a:xfrm>
      </p:grpSpPr>
      <p:sp>
        <p:nvSpPr>
          <p:cNvPr id="1424" name="Google Shape;1424;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hand-rolled orchestrator: one row, one log, no cluster</a:t>
            </a:r>
            <a:endParaRPr b="0" i="0" sz="3000" u="none" cap="none" strike="noStrike">
              <a:solidFill>
                <a:schemeClr val="dk1"/>
              </a:solidFill>
              <a:latin typeface="Calibri"/>
              <a:ea typeface="Calibri"/>
              <a:cs typeface="Calibri"/>
              <a:sym typeface="Calibri"/>
            </a:endParaRPr>
          </a:p>
        </p:txBody>
      </p:sp>
      <p:pic>
        <p:nvPicPr>
          <p:cNvPr descr="/home/claude/work/png-sb/63-appD-statemachine.png" id="1426" name="Google Shape;1426;p131"/>
          <p:cNvPicPr preferRelativeResize="0"/>
          <p:nvPr/>
        </p:nvPicPr>
        <p:blipFill rotWithShape="1">
          <a:blip r:embed="rId5">
            <a:alphaModFix/>
          </a:blip>
          <a:stretch/>
        </p:blipFill>
        <p:spPr>
          <a:xfrm>
            <a:off x="1893731" y="1600200"/>
            <a:ext cx="8404235" cy="4526281"/>
          </a:xfrm>
          <a:prstGeom prst="rect">
            <a:avLst/>
          </a:prstGeom>
          <a:noFill/>
          <a:ln>
            <a:noFill/>
          </a:ln>
        </p:spPr>
      </p:pic>
      <p:sp>
        <p:nvSpPr>
          <p:cNvPr id="1427" name="Google Shape;1427;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sagas row locked FOR UPDATE, a saga_log of every action, and a resume pass at startup: Example 17.</a:t>
            </a:r>
            <a:endParaRPr b="0" i="0" sz="1200" u="none" cap="none" strike="noStrike">
              <a:solidFill>
                <a:schemeClr val="dk1"/>
              </a:solidFill>
              <a:latin typeface="Calibri"/>
              <a:ea typeface="Calibri"/>
              <a:cs typeface="Calibri"/>
              <a:sym typeface="Calibri"/>
            </a:endParaRPr>
          </a:p>
        </p:txBody>
      </p:sp>
      <p:sp>
        <p:nvSpPr>
          <p:cNvPr id="1428" name="Google Shape;1428;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29" name="Google Shape;1429;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4" name="Shape 1434"/>
        <p:cNvGrpSpPr/>
        <p:nvPr/>
      </p:nvGrpSpPr>
      <p:grpSpPr>
        <a:xfrm>
          <a:off x="0" y="0"/>
          <a:ext cx="0" cy="0"/>
          <a:chOff x="0" y="0"/>
          <a:chExt cx="0" cy="0"/>
        </a:xfrm>
      </p:grpSpPr>
      <p:sp>
        <p:nvSpPr>
          <p:cNvPr id="1435" name="Google Shape;1435;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36" name="Google Shape;1436;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hand-rolled orchestrator: one step per transaction</a:t>
            </a:r>
            <a:endParaRPr b="0" i="0" sz="3000" u="none" cap="none" strike="noStrike">
              <a:solidFill>
                <a:schemeClr val="dk1"/>
              </a:solidFill>
              <a:latin typeface="Calibri"/>
              <a:ea typeface="Calibri"/>
              <a:cs typeface="Calibri"/>
              <a:sym typeface="Calibri"/>
            </a:endParaRPr>
          </a:p>
        </p:txBody>
      </p:sp>
      <p:sp>
        <p:nvSpPr>
          <p:cNvPr id="1437" name="Google Shape;1437;p13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132"/>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JdbcClient</a:t>
            </a:r>
            <a:endParaRPr b="0" i="0" sz="1000" u="none" cap="none" strike="noStrike">
              <a:solidFill>
                <a:schemeClr val="dk1"/>
              </a:solidFill>
              <a:latin typeface="Calibri"/>
              <a:ea typeface="Calibri"/>
              <a:cs typeface="Calibri"/>
              <a:sym typeface="Calibri"/>
            </a:endParaRPr>
          </a:p>
        </p:txBody>
      </p:sp>
      <p:sp>
        <p:nvSpPr>
          <p:cNvPr id="1439" name="Google Shape;1439;p13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SagaService.java excerpt (examples/17-sagas); helper names stand for its JdbcClient calls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private void advance(String sagaId)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statusHolder = new String[1];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txTemplate.executeWithoutResult(status -&gt; {         // lock, run one step, commit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row = lockRow(sagaId);          // SELECT ... FROM sagas WHERE id = :id FOR UPDATE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(row == null || !"RUNNING".equals(row[0])) return;      // finished: no-op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 stepIndex = (int) row[1]; var context = fromJson((String) row[2]);</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(stepIndex &gt;= STEPS.size()) { markStatus(sagaId, "COMPLETED"); return;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SagaStep step = STEPS.get(stepIndex);               // (name, compensation)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Map&lt;String, Object&gt; result = stepExecutor.execute(step.name(), context);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context.put(step.name(), result);                  // output flows forward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logStep(sagaId, step.name(), "execute", result);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saveProgress(sagaId, stepIndex + 1, context);      // step_index + JSONB context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statusHolder[0] = "RUNNING";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(Exception 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markStatus(sagaId, "COMPENSATING"); statusHolder[0] = "COMPENSATING";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("RUNNING".equals(statusHolder[0])) advance(sagaId);    // next step, new transaction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else if ("COMPENSATING".equals(statusHolder[0])) compensate(sagaId);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40" name="Google Shape;1440;p13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row lock, the step's output and the new state commit together; a failed step hands off to compensate().</a:t>
            </a:r>
            <a:endParaRPr b="0" i="0" sz="1300" u="none" cap="none" strike="noStrike">
              <a:solidFill>
                <a:schemeClr val="dk1"/>
              </a:solidFill>
              <a:latin typeface="Calibri"/>
              <a:ea typeface="Calibri"/>
              <a:cs typeface="Calibri"/>
              <a:sym typeface="Calibri"/>
            </a:endParaRPr>
          </a:p>
        </p:txBody>
      </p:sp>
      <p:sp>
        <p:nvSpPr>
          <p:cNvPr id="1441" name="Google Shape;1441;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42" name="Google Shape;1442;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47" name="Shape 1447"/>
        <p:cNvGrpSpPr/>
        <p:nvPr/>
      </p:nvGrpSpPr>
      <p:grpSpPr>
        <a:xfrm>
          <a:off x="0" y="0"/>
          <a:ext cx="0" cy="0"/>
          <a:chOff x="0" y="0"/>
          <a:chExt cx="0" cy="0"/>
        </a:xfrm>
      </p:grpSpPr>
      <p:pic>
        <p:nvPicPr>
          <p:cNvPr descr="/home/claude/work/assets/rh-divider-bg.png" id="1448" name="Google Shape;1448;p13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49" name="Google Shape;1449;p13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50" name="Google Shape;1450;p13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51" name="Google Shape;1451;p13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52" name="Google Shape;1452;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7" name="Shape 1457"/>
        <p:cNvGrpSpPr/>
        <p:nvPr/>
      </p:nvGrpSpPr>
      <p:grpSpPr>
        <a:xfrm>
          <a:off x="0" y="0"/>
          <a:ext cx="0" cy="0"/>
          <a:chOff x="0" y="0"/>
          <a:chExt cx="0" cy="0"/>
        </a:xfrm>
      </p:grpSpPr>
      <p:sp>
        <p:nvSpPr>
          <p:cNvPr id="1458" name="Google Shape;1458;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59" name="Google Shape;1459;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sb/36-appE-error-shape.png" id="1460" name="Google Shape;1460;p134"/>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61" name="Google Shape;1461;p1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462" name="Google Shape;1462;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63" name="Google Shape;1463;p1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8" name="Shape 1468"/>
        <p:cNvGrpSpPr/>
        <p:nvPr/>
      </p:nvGrpSpPr>
      <p:grpSpPr>
        <a:xfrm>
          <a:off x="0" y="0"/>
          <a:ext cx="0" cy="0"/>
          <a:chOff x="0" y="0"/>
          <a:chExt cx="0" cy="0"/>
        </a:xfrm>
      </p:grpSpPr>
      <p:sp>
        <p:nvSpPr>
          <p:cNvPr id="1469" name="Google Shape;1469;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70" name="Google Shape;1470;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sb/37-appE-rest-errors.png" id="1471" name="Google Shape;1471;p13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72" name="Google Shape;1472;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473" name="Google Shape;1473;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74" name="Google Shape;1474;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9" name="Shape 1479"/>
        <p:cNvGrpSpPr/>
        <p:nvPr/>
      </p:nvGrpSpPr>
      <p:grpSpPr>
        <a:xfrm>
          <a:off x="0" y="0"/>
          <a:ext cx="0" cy="0"/>
          <a:chOff x="0" y="0"/>
          <a:chExt cx="0" cy="0"/>
        </a:xfrm>
      </p:grpSpPr>
      <p:sp>
        <p:nvSpPr>
          <p:cNvPr id="1480" name="Google Shape;1480;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81" name="Google Shape;1481;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Spring 7 ProblemDetail</a:t>
            </a:r>
            <a:endParaRPr b="0" i="0" sz="3000" u="none" cap="none" strike="noStrike">
              <a:solidFill>
                <a:schemeClr val="dk1"/>
              </a:solidFill>
              <a:latin typeface="Calibri"/>
              <a:ea typeface="Calibri"/>
              <a:cs typeface="Calibri"/>
              <a:sym typeface="Calibri"/>
            </a:endParaRPr>
          </a:p>
        </p:txBody>
      </p:sp>
      <p:sp>
        <p:nvSpPr>
          <p:cNvPr id="1482" name="Google Shape;1482;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3" name="Google Shape;1483;p136"/>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7 ProblemDetail</a:t>
            </a:r>
            <a:endParaRPr b="0" i="0" sz="1000" u="none" cap="none" strike="noStrike">
              <a:solidFill>
                <a:schemeClr val="dk1"/>
              </a:solidFill>
              <a:latin typeface="Calibri"/>
              <a:ea typeface="Calibri"/>
              <a:cs typeface="Calibri"/>
              <a:sym typeface="Calibri"/>
            </a:endParaRPr>
          </a:p>
        </p:txBody>
      </p:sp>
      <p:sp>
        <p:nvSpPr>
          <p:cNvPr id="1484" name="Google Shape;1484;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Framework 7's built-in ProblemDetail = RFC 9457 out of the box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@RestControllerAdvice                          // one place: domain → wire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ApiExceptionHandler extends ResponseEntityExceptionHandler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@ExceptionHandler(StockException.class)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ProblemDetail handleStock(StockException 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ProblemDetail pd = ProblemDetail.forStatusAndDetail(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HttpStatus.CONFLICT, e.getMessage());                        // 409</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pd.setType(URI.create("https://errors.acme.io/stock"));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pd.setTitle("Insufficient 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pd.setProperty("code", "STOCK_UNAVAILABLE");                    // stable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pd.setProperty("traceId",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Span.current().getSpanContext().getTraceId());                // correlate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pd;                              // Content-Type: application/problem+json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Typed alternative — throw an ErrorResponseException subclass from anywhere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and Spring handles the rest: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OrderNotFound extends ErrorResponseException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OrderNotFound(String 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super(HttpStatus.NOT_FOUND,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ProblemDetail.forStatusAndDetail(HttpStatus.NOT_FOUND,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 + id + " not found"), null);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85" name="Google Shape;1485;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Spring 7 ships ProblemDetail and ErrorResponseException as the RFC 9457 contract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486" name="Google Shape;1486;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87" name="Google Shape;1487;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2" name="Shape 1492"/>
        <p:cNvGrpSpPr/>
        <p:nvPr/>
      </p:nvGrpSpPr>
      <p:grpSpPr>
        <a:xfrm>
          <a:off x="0" y="0"/>
          <a:ext cx="0" cy="0"/>
          <a:chOff x="0" y="0"/>
          <a:chExt cx="0" cy="0"/>
        </a:xfrm>
      </p:grpSpPr>
      <p:sp>
        <p:nvSpPr>
          <p:cNvPr id="1493" name="Google Shape;1493;p1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94" name="Google Shape;1494;p1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sb/38-appE-grpc-errors.png" id="1495" name="Google Shape;1495;p13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96" name="Google Shape;1496;p1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497" name="Google Shape;1497;p1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498" name="Google Shape;1498;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3" name="Shape 1503"/>
        <p:cNvGrpSpPr/>
        <p:nvPr/>
      </p:nvGrpSpPr>
      <p:grpSpPr>
        <a:xfrm>
          <a:off x="0" y="0"/>
          <a:ext cx="0" cy="0"/>
          <a:chOff x="0" y="0"/>
          <a:chExt cx="0" cy="0"/>
        </a:xfrm>
      </p:grpSpPr>
      <p:sp>
        <p:nvSpPr>
          <p:cNvPr id="1504" name="Google Shape;1504;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5" name="Google Shape;1505;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506" name="Google Shape;1506;p1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 name="Google Shape;1507;p138"/>
          <p:cNvSpPr/>
          <p:nvPr/>
        </p:nvSpPr>
        <p:spPr>
          <a:xfrm>
            <a:off x="9013617" y="1700784"/>
            <a:ext cx="2519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grpc-java + StatusProto</a:t>
            </a:r>
            <a:endParaRPr b="0" i="0" sz="1000" u="none" cap="none" strike="noStrike">
              <a:solidFill>
                <a:schemeClr val="dk1"/>
              </a:solidFill>
              <a:latin typeface="Calibri"/>
              <a:ea typeface="Calibri"/>
              <a:cs typeface="Calibri"/>
              <a:sym typeface="Calibri"/>
            </a:endParaRPr>
          </a:p>
        </p:txBody>
      </p:sp>
      <p:sp>
        <p:nvSpPr>
          <p:cNvPr id="1508" name="Google Shape;1508;p1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io.grpc.protobuf.StatusProto;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com.google.rpc.*;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void reserveStock(ReserveRequest req,</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StreamObserver&lt;ReserveReply&gt; responseObserver)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(inventoryDown)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status = com.google.rpc.Status.newBuilder()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.setCode(Code.UNAVAILABLE_VALUE)            // canonical code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.setMessage("inventory temporarily 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.addDetails(Any.pack(ErrorInfo.newBuilder()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.setReason("STOCK_DOWN").setDomain("inventory").build()))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.addDetails(Any.pack(RetryInfo.newBuilder().setRetryDelay(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Duration.newBuilder().setSeconds(2)).build()))  // back off 2s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responseObserver.onError(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StatusProto.toStatusRuntimeException(status));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responseObserver.onNext(toReply(stock.reserve(req)));</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responseObserver.onCompleted();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1509" name="Google Shape;1509;p1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510" name="Google Shape;1510;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11" name="Google Shape;1511;p1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6" name="Shape 1516"/>
        <p:cNvGrpSpPr/>
        <p:nvPr/>
      </p:nvGrpSpPr>
      <p:grpSpPr>
        <a:xfrm>
          <a:off x="0" y="0"/>
          <a:ext cx="0" cy="0"/>
          <a:chOff x="0" y="0"/>
          <a:chExt cx="0" cy="0"/>
        </a:xfrm>
      </p:grpSpPr>
      <p:sp>
        <p:nvSpPr>
          <p:cNvPr id="1517" name="Google Shape;1517;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18" name="Google Shape;1518;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sb/39-appE-kafka-errors.png" id="1519" name="Google Shape;1519;p1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20" name="Google Shape;1520;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521" name="Google Shape;1521;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22" name="Google Shape;1522;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7" name="Shape 1527"/>
        <p:cNvGrpSpPr/>
        <p:nvPr/>
      </p:nvGrpSpPr>
      <p:grpSpPr>
        <a:xfrm>
          <a:off x="0" y="0"/>
          <a:ext cx="0" cy="0"/>
          <a:chOff x="0" y="0"/>
          <a:chExt cx="0" cy="0"/>
        </a:xfrm>
      </p:grpSpPr>
      <p:sp>
        <p:nvSpPr>
          <p:cNvPr id="1528" name="Google Shape;1528;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9" name="Google Shape;1529;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Spring Kafka</a:t>
            </a:r>
            <a:endParaRPr b="0" i="0" sz="3000" u="none" cap="none" strike="noStrike">
              <a:solidFill>
                <a:schemeClr val="dk1"/>
              </a:solidFill>
              <a:latin typeface="Calibri"/>
              <a:ea typeface="Calibri"/>
              <a:cs typeface="Calibri"/>
              <a:sym typeface="Calibri"/>
            </a:endParaRPr>
          </a:p>
        </p:txBody>
      </p:sp>
      <p:sp>
        <p:nvSpPr>
          <p:cNvPr id="1530" name="Google Shape;1530;p14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1" name="Google Shape;1531;p140"/>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Kafka</a:t>
            </a:r>
            <a:endParaRPr b="0" i="0" sz="1000" u="none" cap="none" strike="noStrike">
              <a:solidFill>
                <a:schemeClr val="dk1"/>
              </a:solidFill>
              <a:latin typeface="Calibri"/>
              <a:ea typeface="Calibri"/>
              <a:cs typeface="Calibri"/>
              <a:sym typeface="Calibri"/>
            </a:endParaRPr>
          </a:p>
        </p:txBody>
      </p:sp>
      <p:sp>
        <p:nvSpPr>
          <p:cNvPr id="1532" name="Google Shape;1532;p14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@Configuration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KafkaErrorConfig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@Bean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DefaultErrorHandler errorHandler(KafkaTemplate&lt;?, ?&gt; template)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route to orders.DLQ on terminal failure; commit offset; never block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dlt = new DeadLetterPublishingRecoverer(template,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(rec, ex) -&gt; new TopicPartition(rec.topic() + ".DLQ", rec.partition()));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in-place retries: 3 attempts, exponential backoff with jitter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backoff = new ExponentialBackOffWithMaxRetries(3);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backoff.setInitialInterval(200);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backoff.setMultiplier(2.0);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backoff.setMaxInterval(5_000);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handler = new DefaultErrorHandler(dlt, backoff);</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handler.addNotRetryableExceptions(ValidationException.class);  // 4xx → DLQ now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handler;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@KafkaListener(topics = "orders", containerFactory = "manualAckFactory")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void consume(Order order)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handle(order);          // handler retries; exhausted → DLQ; offset commits either way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33" name="Google Shape;1533;p14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DefaultErrorHandler + DeadLetterPublishingRecoverer with backoff — declaratively, so a poison record can't stall the partition.</a:t>
            </a:r>
            <a:endParaRPr b="0" i="0" sz="1300" u="none" cap="none" strike="noStrike">
              <a:solidFill>
                <a:schemeClr val="dk1"/>
              </a:solidFill>
              <a:latin typeface="Calibri"/>
              <a:ea typeface="Calibri"/>
              <a:cs typeface="Calibri"/>
              <a:sym typeface="Calibri"/>
            </a:endParaRPr>
          </a:p>
        </p:txBody>
      </p:sp>
      <p:sp>
        <p:nvSpPr>
          <p:cNvPr id="1534" name="Google Shape;1534;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35" name="Google Shape;1535;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40" name="Shape 1540"/>
        <p:cNvGrpSpPr/>
        <p:nvPr/>
      </p:nvGrpSpPr>
      <p:grpSpPr>
        <a:xfrm>
          <a:off x="0" y="0"/>
          <a:ext cx="0" cy="0"/>
          <a:chOff x="0" y="0"/>
          <a:chExt cx="0" cy="0"/>
        </a:xfrm>
      </p:grpSpPr>
      <p:sp>
        <p:nvSpPr>
          <p:cNvPr id="1541" name="Google Shape;1541;p1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42" name="Google Shape;1542;p1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sb/40-appE-graphql-errors.png" id="1543" name="Google Shape;1543;p14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44" name="Google Shape;1544;p1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45" name="Google Shape;1545;p1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46" name="Google Shape;1546;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1" name="Shape 1551"/>
        <p:cNvGrpSpPr/>
        <p:nvPr/>
      </p:nvGrpSpPr>
      <p:grpSpPr>
        <a:xfrm>
          <a:off x="0" y="0"/>
          <a:ext cx="0" cy="0"/>
          <a:chOff x="0" y="0"/>
          <a:chExt cx="0" cy="0"/>
        </a:xfrm>
      </p:grpSpPr>
      <p:sp>
        <p:nvSpPr>
          <p:cNvPr id="1552" name="Google Shape;1552;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53" name="Google Shape;1553;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Spring for GraphQL</a:t>
            </a:r>
            <a:endParaRPr b="0" i="0" sz="3000" u="none" cap="none" strike="noStrike">
              <a:solidFill>
                <a:schemeClr val="dk1"/>
              </a:solidFill>
              <a:latin typeface="Calibri"/>
              <a:ea typeface="Calibri"/>
              <a:cs typeface="Calibri"/>
              <a:sym typeface="Calibri"/>
            </a:endParaRPr>
          </a:p>
        </p:txBody>
      </p:sp>
      <p:sp>
        <p:nvSpPr>
          <p:cNvPr id="1554" name="Google Shape;1554;p14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5" name="Google Shape;1555;p142"/>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for GraphQL</a:t>
            </a:r>
            <a:endParaRPr b="0" i="0" sz="1000" u="none" cap="none" strike="noStrike">
              <a:solidFill>
                <a:schemeClr val="dk1"/>
              </a:solidFill>
              <a:latin typeface="Calibri"/>
              <a:ea typeface="Calibri"/>
              <a:cs typeface="Calibri"/>
              <a:sym typeface="Calibri"/>
            </a:endParaRPr>
          </a:p>
        </p:txBody>
      </p:sp>
      <p:sp>
        <p:nvSpPr>
          <p:cNvPr id="1556" name="Google Shape;1556;p14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@Component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GraphQLExceptionResolver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extends DataFetcherExceptionResolverAdapter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@Override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protected GraphQLError resolveToSingleError(Throwable ex,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DataFetchingEnvironment env)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(ex instanceof InventoryUnavailable iu)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GraphqlErrorBuilder.newError(env)</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.errorType(ErrorType.UNAVAILABLE)              // standard category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.message(iu.getMessage())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.path(env.getExecutionStepInfo().getPath())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.extensions(Map.of(code, retryable, traceId))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null;          // delegate to the next resolver / Spring 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OrderGraphQLController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@SchemaMapping(typeName = "Order", field = "stock")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Integer stock(Order order) {                // one field's resolver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calls inventory; on Unavailable throws InventoryUnavailable (nulls the field)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57" name="Google Shape;1557;p14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Throw from the field resolver; a DataFetcherExceptionResolver nulls that field and adds it to errors[] with code + retryable + traceId in extensions.</a:t>
            </a:r>
            <a:endParaRPr b="0" i="0" sz="1300" u="none" cap="none" strike="noStrike">
              <a:solidFill>
                <a:schemeClr val="dk1"/>
              </a:solidFill>
              <a:latin typeface="Calibri"/>
              <a:ea typeface="Calibri"/>
              <a:cs typeface="Calibri"/>
              <a:sym typeface="Calibri"/>
            </a:endParaRPr>
          </a:p>
        </p:txBody>
      </p:sp>
      <p:sp>
        <p:nvSpPr>
          <p:cNvPr id="1558" name="Google Shape;1558;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59" name="Google Shape;1559;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4" name="Shape 1564"/>
        <p:cNvGrpSpPr/>
        <p:nvPr/>
      </p:nvGrpSpPr>
      <p:grpSpPr>
        <a:xfrm>
          <a:off x="0" y="0"/>
          <a:ext cx="0" cy="0"/>
          <a:chOff x="0" y="0"/>
          <a:chExt cx="0" cy="0"/>
        </a:xfrm>
      </p:grpSpPr>
      <p:sp>
        <p:nvSpPr>
          <p:cNvPr id="1565" name="Google Shape;1565;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66" name="Google Shape;1566;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sb/41-appE-retry-storm.png" id="1567" name="Google Shape;1567;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8" name="Google Shape;1568;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569" name="Google Shape;1569;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70" name="Google Shape;1570;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5" name="Shape 1575"/>
        <p:cNvGrpSpPr/>
        <p:nvPr/>
      </p:nvGrpSpPr>
      <p:grpSpPr>
        <a:xfrm>
          <a:off x="0" y="0"/>
          <a:ext cx="0" cy="0"/>
          <a:chOff x="0" y="0"/>
          <a:chExt cx="0" cy="0"/>
        </a:xfrm>
      </p:grpSpPr>
      <p:sp>
        <p:nvSpPr>
          <p:cNvPr id="1576" name="Google Shape;1576;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77" name="Google Shape;1577;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578" name="Google Shape;1578;p1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@Retry + jitter, @CircuitBreaker,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579" name="Google Shape;1579;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80" name="Google Shape;1580;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585" name="Shape 1585"/>
        <p:cNvGrpSpPr/>
        <p:nvPr/>
      </p:nvGrpSpPr>
      <p:grpSpPr>
        <a:xfrm>
          <a:off x="0" y="0"/>
          <a:ext cx="0" cy="0"/>
          <a:chOff x="0" y="0"/>
          <a:chExt cx="0" cy="0"/>
        </a:xfrm>
      </p:grpSpPr>
      <p:pic>
        <p:nvPicPr>
          <p:cNvPr descr="/home/claude/work/assets/rh-divider-bg.png" id="1586" name="Google Shape;1586;p14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587" name="Google Shape;1587;p14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588" name="Google Shape;1588;p14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589" name="Google Shape;1589;p14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590" name="Google Shape;1590;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5" name="Shape 1595"/>
        <p:cNvGrpSpPr/>
        <p:nvPr/>
      </p:nvGrpSpPr>
      <p:grpSpPr>
        <a:xfrm>
          <a:off x="0" y="0"/>
          <a:ext cx="0" cy="0"/>
          <a:chOff x="0" y="0"/>
          <a:chExt cx="0" cy="0"/>
        </a:xfrm>
      </p:grpSpPr>
      <p:sp>
        <p:nvSpPr>
          <p:cNvPr id="1596" name="Google Shape;1596;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97" name="Google Shape;1597;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598" name="Google Shape;1598;p14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599" name="Google Shape;1599;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600" name="Google Shape;1600;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5" name="Shape 1605"/>
        <p:cNvGrpSpPr/>
        <p:nvPr/>
      </p:nvGrpSpPr>
      <p:grpSpPr>
        <a:xfrm>
          <a:off x="0" y="0"/>
          <a:ext cx="0" cy="0"/>
          <a:chOff x="0" y="0"/>
          <a:chExt cx="0" cy="0"/>
        </a:xfrm>
      </p:grpSpPr>
      <p:sp>
        <p:nvSpPr>
          <p:cNvPr id="1606" name="Google Shape;1606;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07" name="Google Shape;1607;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sb/45-appF-ddd-strategic.png" id="1608" name="Google Shape;1608;p14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609" name="Google Shape;1609;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610" name="Google Shape;1610;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11" name="Google Shape;1611;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6" name="Shape 1616"/>
        <p:cNvGrpSpPr/>
        <p:nvPr/>
      </p:nvGrpSpPr>
      <p:grpSpPr>
        <a:xfrm>
          <a:off x="0" y="0"/>
          <a:ext cx="0" cy="0"/>
          <a:chOff x="0" y="0"/>
          <a:chExt cx="0" cy="0"/>
        </a:xfrm>
      </p:grpSpPr>
      <p:sp>
        <p:nvSpPr>
          <p:cNvPr id="1617" name="Google Shape;1617;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18" name="Google Shape;1618;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21" name="Google Shape;1621;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6" name="Shape 1626"/>
        <p:cNvGrpSpPr/>
        <p:nvPr/>
      </p:nvGrpSpPr>
      <p:grpSpPr>
        <a:xfrm>
          <a:off x="0" y="0"/>
          <a:ext cx="0" cy="0"/>
          <a:chOff x="0" y="0"/>
          <a:chExt cx="0" cy="0"/>
        </a:xfrm>
      </p:grpSpPr>
      <p:sp>
        <p:nvSpPr>
          <p:cNvPr id="1627" name="Google Shape;1627;p1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28" name="Google Shape;1628;p1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sb/46-appF-context-map.png" id="1629" name="Google Shape;1629;p14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30" name="Google Shape;1630;p1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631" name="Google Shape;1631;p1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32" name="Google Shape;1632;p1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7" name="Shape 1637"/>
        <p:cNvGrpSpPr/>
        <p:nvPr/>
      </p:nvGrpSpPr>
      <p:grpSpPr>
        <a:xfrm>
          <a:off x="0" y="0"/>
          <a:ext cx="0" cy="0"/>
          <a:chOff x="0" y="0"/>
          <a:chExt cx="0" cy="0"/>
        </a:xfrm>
      </p:grpSpPr>
      <p:sp>
        <p:nvSpPr>
          <p:cNvPr id="1638" name="Google Shape;1638;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641" name="Google Shape;1641;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2" name="Google Shape;1642;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7" name="Shape 1647"/>
        <p:cNvGrpSpPr/>
        <p:nvPr/>
      </p:nvGrpSpPr>
      <p:grpSpPr>
        <a:xfrm>
          <a:off x="0" y="0"/>
          <a:ext cx="0" cy="0"/>
          <a:chOff x="0" y="0"/>
          <a:chExt cx="0" cy="0"/>
        </a:xfrm>
      </p:grpSpPr>
      <p:sp>
        <p:nvSpPr>
          <p:cNvPr id="1648" name="Google Shape;1648;p1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49" name="Google Shape;1649;p1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sb/47-appF-hexagonal.png" id="1650" name="Google Shape;1650;p151"/>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51" name="Google Shape;1651;p1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52" name="Google Shape;1652;p1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53" name="Google Shape;1653;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8" name="Shape 1658"/>
        <p:cNvGrpSpPr/>
        <p:nvPr/>
      </p:nvGrpSpPr>
      <p:grpSpPr>
        <a:xfrm>
          <a:off x="0" y="0"/>
          <a:ext cx="0" cy="0"/>
          <a:chOff x="0" y="0"/>
          <a:chExt cx="0" cy="0"/>
        </a:xfrm>
      </p:grpSpPr>
      <p:sp>
        <p:nvSpPr>
          <p:cNvPr id="1659" name="Google Shape;1659;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661" name="Google Shape;1661;p15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2" name="Google Shape;1662;p152"/>
          <p:cNvSpPr/>
          <p:nvPr/>
        </p:nvSpPr>
        <p:spPr>
          <a:xfrm>
            <a:off x="8404017" y="1700784"/>
            <a:ext cx="3129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ports &amp; adapters in Spring Boot</a:t>
            </a:r>
            <a:endParaRPr b="0" i="0" sz="1000" u="none" cap="none" strike="noStrike">
              <a:solidFill>
                <a:schemeClr val="dk1"/>
              </a:solidFill>
              <a:latin typeface="Calibri"/>
              <a:ea typeface="Calibri"/>
              <a:cs typeface="Calibri"/>
              <a:sym typeface="Calibri"/>
            </a:endParaRPr>
          </a:p>
        </p:txBody>
      </p:sp>
      <p:sp>
        <p:nvSpPr>
          <p:cNvPr id="1663" name="Google Shape;1663;p15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domain — the core declares the interfaces (ports) it needs; no framework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OrderRepository { void save(Order order); }       // outbound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EventPublisher  { void publish(DomainEvent e); }  // outbound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                                       // pure application logic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PlaceOrder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OrderRepository repo;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EventPublisher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constructor injection: no framework leak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handle(PlaceOrderCmd cmd)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Order.create(cmd);      // aggregate enforces invariants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repo.save(order);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events.publish(new OrderPlaced(order.id()));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adapter — a driving adapter; gRPC/GraphQL adapters look the same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OrderController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PlaceOrder placeOrder;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OrderController(PlaceOrder p) { this.placeOrder = p;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 public Order place(@RequestBody OrderIn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placeOrder.handle(body.toCmd());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664" name="Google Shape;1664;p152"/>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Spring injects the adapters (JPA repo, Kafka publisher) by constructor. Swap or add one without touching PlaceOrder.</a:t>
            </a:r>
            <a:endParaRPr b="0" i="0" sz="1300" u="none" cap="none" strike="noStrike">
              <a:solidFill>
                <a:schemeClr val="dk1"/>
              </a:solidFill>
              <a:latin typeface="Calibri"/>
              <a:ea typeface="Calibri"/>
              <a:cs typeface="Calibri"/>
              <a:sym typeface="Calibri"/>
            </a:endParaRPr>
          </a:p>
        </p:txBody>
      </p:sp>
      <p:sp>
        <p:nvSpPr>
          <p:cNvPr id="1665" name="Google Shape;1665;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66" name="Google Shape;1666;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1" name="Shape 1671"/>
        <p:cNvGrpSpPr/>
        <p:nvPr/>
      </p:nvGrpSpPr>
      <p:grpSpPr>
        <a:xfrm>
          <a:off x="0" y="0"/>
          <a:ext cx="0" cy="0"/>
          <a:chOff x="0" y="0"/>
          <a:chExt cx="0" cy="0"/>
        </a:xfrm>
      </p:grpSpPr>
      <p:sp>
        <p:nvSpPr>
          <p:cNvPr id="1672" name="Google Shape;1672;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73" name="Google Shape;1673;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674" name="Google Shape;1674;p15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675" name="Google Shape;1675;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76" name="Google Shape;1676;p15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1" name="Shape 1681"/>
        <p:cNvGrpSpPr/>
        <p:nvPr/>
      </p:nvGrpSpPr>
      <p:grpSpPr>
        <a:xfrm>
          <a:off x="0" y="0"/>
          <a:ext cx="0" cy="0"/>
          <a:chOff x="0" y="0"/>
          <a:chExt cx="0" cy="0"/>
        </a:xfrm>
      </p:grpSpPr>
      <p:sp>
        <p:nvSpPr>
          <p:cNvPr id="1682" name="Google Shape;1682;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83" name="Google Shape;1683;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684" name="Google Shape;1684;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685" name="Google Shape;1685;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86" name="Google Shape;1686;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91" name="Shape 1691"/>
        <p:cNvGrpSpPr/>
        <p:nvPr/>
      </p:nvGrpSpPr>
      <p:grpSpPr>
        <a:xfrm>
          <a:off x="0" y="0"/>
          <a:ext cx="0" cy="0"/>
          <a:chOff x="0" y="0"/>
          <a:chExt cx="0" cy="0"/>
        </a:xfrm>
      </p:grpSpPr>
      <p:pic>
        <p:nvPicPr>
          <p:cNvPr descr="/home/claude/work/assets/rh-divider-bg.png" id="1692" name="Google Shape;1692;p1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93" name="Google Shape;1693;p1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694" name="Google Shape;1694;p1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695" name="Google Shape;1695;p1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696" name="Google Shape;1696;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1" name="Shape 1701"/>
        <p:cNvGrpSpPr/>
        <p:nvPr/>
      </p:nvGrpSpPr>
      <p:grpSpPr>
        <a:xfrm>
          <a:off x="0" y="0"/>
          <a:ext cx="0" cy="0"/>
          <a:chOff x="0" y="0"/>
          <a:chExt cx="0" cy="0"/>
        </a:xfrm>
      </p:grpSpPr>
      <p:sp>
        <p:nvSpPr>
          <p:cNvPr id="1702" name="Google Shape;1702;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03" name="Google Shape;1703;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704" name="Google Shape;1704;p1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705" name="Google Shape;1705;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706" name="Google Shape;1706;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1" name="Shape 1711"/>
        <p:cNvGrpSpPr/>
        <p:nvPr/>
      </p:nvGrpSpPr>
      <p:grpSpPr>
        <a:xfrm>
          <a:off x="0" y="0"/>
          <a:ext cx="0" cy="0"/>
          <a:chOff x="0" y="0"/>
          <a:chExt cx="0" cy="0"/>
        </a:xfrm>
      </p:grpSpPr>
      <p:sp>
        <p:nvSpPr>
          <p:cNvPr id="1712" name="Google Shape;1712;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13" name="Google Shape;1713;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sb/48-appG-dimensions.png" id="1714" name="Google Shape;1714;p15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15" name="Google Shape;1715;p15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716" name="Google Shape;1716;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17" name="Google Shape;1717;p1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2" name="Shape 1722"/>
        <p:cNvGrpSpPr/>
        <p:nvPr/>
      </p:nvGrpSpPr>
      <p:grpSpPr>
        <a:xfrm>
          <a:off x="0" y="0"/>
          <a:ext cx="0" cy="0"/>
          <a:chOff x="0" y="0"/>
          <a:chExt cx="0" cy="0"/>
        </a:xfrm>
      </p:grpSpPr>
      <p:sp>
        <p:nvSpPr>
          <p:cNvPr id="1723" name="Google Shape;1723;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24" name="Google Shape;1724;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725" name="Google Shape;1725;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726" name="Google Shape;1726;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27" name="Google Shape;1727;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2" name="Shape 1732"/>
        <p:cNvGrpSpPr/>
        <p:nvPr/>
      </p:nvGrpSpPr>
      <p:grpSpPr>
        <a:xfrm>
          <a:off x="0" y="0"/>
          <a:ext cx="0" cy="0"/>
          <a:chOff x="0" y="0"/>
          <a:chExt cx="0" cy="0"/>
        </a:xfrm>
      </p:grpSpPr>
      <p:sp>
        <p:nvSpPr>
          <p:cNvPr id="1733" name="Google Shape;1733;p1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34" name="Google Shape;1734;p1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sb/49-appG-strength.png" id="1735" name="Google Shape;1735;p15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36" name="Google Shape;1736;p1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737" name="Google Shape;1737;p1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38" name="Google Shape;1738;p1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3" name="Shape 1743"/>
        <p:cNvGrpSpPr/>
        <p:nvPr/>
      </p:nvGrpSpPr>
      <p:grpSpPr>
        <a:xfrm>
          <a:off x="0" y="0"/>
          <a:ext cx="0" cy="0"/>
          <a:chOff x="0" y="0"/>
          <a:chExt cx="0" cy="0"/>
        </a:xfrm>
      </p:grpSpPr>
      <p:sp>
        <p:nvSpPr>
          <p:cNvPr id="1744" name="Google Shape;1744;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5" name="Google Shape;1745;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46" name="Google Shape;1746;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47" name="Google Shape;1747;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8" name="Google Shape;1748;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3" name="Shape 1753"/>
        <p:cNvGrpSpPr/>
        <p:nvPr/>
      </p:nvGrpSpPr>
      <p:grpSpPr>
        <a:xfrm>
          <a:off x="0" y="0"/>
          <a:ext cx="0" cy="0"/>
          <a:chOff x="0" y="0"/>
          <a:chExt cx="0" cy="0"/>
        </a:xfrm>
      </p:grpSpPr>
      <p:sp>
        <p:nvSpPr>
          <p:cNvPr id="1754" name="Google Shape;1754;p1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55" name="Google Shape;1755;p1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sb/50-appG-balance.png" id="1756" name="Google Shape;1756;p161"/>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57" name="Google Shape;1757;p16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758" name="Google Shape;1758;p1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59" name="Google Shape;1759;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4" name="Shape 1764"/>
        <p:cNvGrpSpPr/>
        <p:nvPr/>
      </p:nvGrpSpPr>
      <p:grpSpPr>
        <a:xfrm>
          <a:off x="0" y="0"/>
          <a:ext cx="0" cy="0"/>
          <a:chOff x="0" y="0"/>
          <a:chExt cx="0" cy="0"/>
        </a:xfrm>
      </p:grpSpPr>
      <p:sp>
        <p:nvSpPr>
          <p:cNvPr id="1765" name="Google Shape;1765;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66" name="Google Shape;1766;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767" name="Google Shape;1767;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768" name="Google Shape;1768;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69" name="Google Shape;1769;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74" name="Shape 1774"/>
        <p:cNvGrpSpPr/>
        <p:nvPr/>
      </p:nvGrpSpPr>
      <p:grpSpPr>
        <a:xfrm>
          <a:off x="0" y="0"/>
          <a:ext cx="0" cy="0"/>
          <a:chOff x="0" y="0"/>
          <a:chExt cx="0" cy="0"/>
        </a:xfrm>
      </p:grpSpPr>
      <p:sp>
        <p:nvSpPr>
          <p:cNvPr id="1775" name="Google Shape;1775;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76" name="Google Shape;1776;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777" name="Google Shape;1777;p16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778" name="Google Shape;1778;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79" name="Google Shape;1779;p16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4" name="Shape 1784"/>
        <p:cNvGrpSpPr/>
        <p:nvPr/>
      </p:nvGrpSpPr>
      <p:grpSpPr>
        <a:xfrm>
          <a:off x="0" y="0"/>
          <a:ext cx="0" cy="0"/>
          <a:chOff x="0" y="0"/>
          <a:chExt cx="0" cy="0"/>
        </a:xfrm>
      </p:grpSpPr>
      <p:sp>
        <p:nvSpPr>
          <p:cNvPr id="1785" name="Google Shape;1785;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86" name="Google Shape;1786;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787" name="Google Shape;1787;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788" name="Google Shape;1788;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89" name="Google Shape;1789;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94" name="Shape 1794"/>
        <p:cNvGrpSpPr/>
        <p:nvPr/>
      </p:nvGrpSpPr>
      <p:grpSpPr>
        <a:xfrm>
          <a:off x="0" y="0"/>
          <a:ext cx="0" cy="0"/>
          <a:chOff x="0" y="0"/>
          <a:chExt cx="0" cy="0"/>
        </a:xfrm>
      </p:grpSpPr>
      <p:pic>
        <p:nvPicPr>
          <p:cNvPr descr="/home/claude/work/assets/rh-divider-bg.png" id="1795" name="Google Shape;1795;p16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96" name="Google Shape;1796;p16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797" name="Google Shape;1797;p16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798" name="Google Shape;1798;p16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799" name="Google Shape;1799;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4" name="Shape 1804"/>
        <p:cNvGrpSpPr/>
        <p:nvPr/>
      </p:nvGrpSpPr>
      <p:grpSpPr>
        <a:xfrm>
          <a:off x="0" y="0"/>
          <a:ext cx="0" cy="0"/>
          <a:chOff x="0" y="0"/>
          <a:chExt cx="0" cy="0"/>
        </a:xfrm>
      </p:grpSpPr>
      <p:sp>
        <p:nvSpPr>
          <p:cNvPr id="1805" name="Google Shape;1805;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06" name="Google Shape;1806;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807" name="Google Shape;1807;p16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9" name="Google Shape;1809;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4" name="Shape 1814"/>
        <p:cNvGrpSpPr/>
        <p:nvPr/>
      </p:nvGrpSpPr>
      <p:grpSpPr>
        <a:xfrm>
          <a:off x="0" y="0"/>
          <a:ext cx="0" cy="0"/>
          <a:chOff x="0" y="0"/>
          <a:chExt cx="0" cy="0"/>
        </a:xfrm>
      </p:grpSpPr>
      <p:sp>
        <p:nvSpPr>
          <p:cNvPr id="1815" name="Google Shape;1815;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16" name="Google Shape;1816;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sb/51-appH-termination.png" id="1817" name="Google Shape;1817;p16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818" name="Google Shape;1818;p1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819" name="Google Shape;1819;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20" name="Google Shape;1820;p1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5" name="Shape 1825"/>
        <p:cNvGrpSpPr/>
        <p:nvPr/>
      </p:nvGrpSpPr>
      <p:grpSpPr>
        <a:xfrm>
          <a:off x="0" y="0"/>
          <a:ext cx="0" cy="0"/>
          <a:chOff x="0" y="0"/>
          <a:chExt cx="0" cy="0"/>
        </a:xfrm>
      </p:grpSpPr>
      <p:sp>
        <p:nvSpPr>
          <p:cNvPr id="1826" name="Google Shape;1826;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27" name="Google Shape;1827;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828" name="Google Shape;1828;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30" name="Google Shape;1830;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5" name="Shape 1835"/>
        <p:cNvGrpSpPr/>
        <p:nvPr/>
      </p:nvGrpSpPr>
      <p:grpSpPr>
        <a:xfrm>
          <a:off x="0" y="0"/>
          <a:ext cx="0" cy="0"/>
          <a:chOff x="0" y="0"/>
          <a:chExt cx="0" cy="0"/>
        </a:xfrm>
      </p:grpSpPr>
      <p:sp>
        <p:nvSpPr>
          <p:cNvPr id="1836" name="Google Shape;1836;p1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37" name="Google Shape;1837;p1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sb/52-appH-workloads.png" id="1838" name="Google Shape;1838;p16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839" name="Google Shape;1839;p1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840" name="Google Shape;1840;p1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41" name="Google Shape;1841;p1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6" name="Shape 1846"/>
        <p:cNvGrpSpPr/>
        <p:nvPr/>
      </p:nvGrpSpPr>
      <p:grpSpPr>
        <a:xfrm>
          <a:off x="0" y="0"/>
          <a:ext cx="0" cy="0"/>
          <a:chOff x="0" y="0"/>
          <a:chExt cx="0" cy="0"/>
        </a:xfrm>
      </p:grpSpPr>
      <p:sp>
        <p:nvSpPr>
          <p:cNvPr id="1847" name="Google Shape;1847;p1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48" name="Google Shape;1848;p1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Spring Boot</a:t>
            </a:r>
            <a:endParaRPr b="0" i="0" sz="3000" u="none" cap="none" strike="noStrike">
              <a:solidFill>
                <a:schemeClr val="dk1"/>
              </a:solidFill>
              <a:latin typeface="Calibri"/>
              <a:ea typeface="Calibri"/>
              <a:cs typeface="Calibri"/>
              <a:sym typeface="Calibri"/>
            </a:endParaRPr>
          </a:p>
        </p:txBody>
      </p:sp>
      <p:sp>
        <p:nvSpPr>
          <p:cNvPr id="1849" name="Google Shape;1849;p17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0" name="Google Shape;1850;p17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a:t>
            </a:r>
            <a:endParaRPr b="0" i="0" sz="1000" u="none" cap="none" strike="noStrike">
              <a:solidFill>
                <a:schemeClr val="dk1"/>
              </a:solidFill>
              <a:latin typeface="Calibri"/>
              <a:ea typeface="Calibri"/>
              <a:cs typeface="Calibri"/>
              <a:sym typeface="Calibri"/>
            </a:endParaRPr>
          </a:p>
        </p:txBody>
      </p:sp>
      <p:sp>
        <p:nvSpPr>
          <p:cNvPr id="1851" name="Google Shape;1851;p17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OrderServiceApplication.java (excerpt), examples/21-graceful-shutdown/spring-boot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application.properties: server.shutdown=graceful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spring.lifecycle.timeout-per-shutdown-phase=20s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@SpringBootApplication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OrderServiceApplication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static void main(String[] args)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registered before Spring starts: replaces the JVM's default SIGTERM handler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Signal.handle(new Signal("TERM"), signal -&gt;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ShutdownState state = ShutdownState.getInstance();  // GET /readyz reads it: 503</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(!state.markShuttingDown()) return;   // one SIGTERM drives the drain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long delay = drainDelaySeconds();        // DRAIN_DELAY_SECONDS, default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Thread(() -&gt;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Thread.sleep(delay * 1000); }  // keep serving: endpoints update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catch (InterruptedException e) { Thread.currentThread().interrupt();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System.exit(0);  // shutdown hook: stop accepting, finish in-flight, close pool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"drain").start();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SpringApplication.run(OrderServiceApplication.class, args);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Kafka consumers, the scheduler and WebSockets drain in a ContextClosedEvent listener.</a:t>
            </a:r>
            <a:endParaRPr b="0" i="0" sz="900" u="none" cap="none" strike="noStrike">
              <a:solidFill>
                <a:schemeClr val="dk1"/>
              </a:solidFill>
              <a:latin typeface="Calibri"/>
              <a:ea typeface="Calibri"/>
              <a:cs typeface="Calibri"/>
              <a:sym typeface="Calibri"/>
            </a:endParaRPr>
          </a:p>
        </p:txBody>
      </p:sp>
      <p:sp>
        <p:nvSpPr>
          <p:cNvPr id="1852" name="Google Shape;1852;p17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flips readiness; after DRAIN_DELAY_SECONDS, System.exit(0) runs Spring's graceful shutdown, bounded at 20 s per phase.</a:t>
            </a:r>
            <a:endParaRPr b="0" i="0" sz="1300" u="none" cap="none" strike="noStrike">
              <a:solidFill>
                <a:schemeClr val="dk1"/>
              </a:solidFill>
              <a:latin typeface="Calibri"/>
              <a:ea typeface="Calibri"/>
              <a:cs typeface="Calibri"/>
              <a:sym typeface="Calibri"/>
            </a:endParaRPr>
          </a:p>
        </p:txBody>
      </p:sp>
      <p:sp>
        <p:nvSpPr>
          <p:cNvPr id="1853" name="Google Shape;1853;p1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54" name="Google Shape;1854;p17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9" name="Shape 1859"/>
        <p:cNvGrpSpPr/>
        <p:nvPr/>
      </p:nvGrpSpPr>
      <p:grpSpPr>
        <a:xfrm>
          <a:off x="0" y="0"/>
          <a:ext cx="0" cy="0"/>
          <a:chOff x="0" y="0"/>
          <a:chExt cx="0" cy="0"/>
        </a:xfrm>
      </p:grpSpPr>
      <p:sp>
        <p:nvSpPr>
          <p:cNvPr id="1860" name="Google Shape;1860;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862" name="Google Shape;1862;p17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17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864" name="Google Shape;1864;p17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865" name="Google Shape;1865;p171"/>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866" name="Google Shape;1866;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67" name="Google Shape;1867;p1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2" name="Shape 1872"/>
        <p:cNvGrpSpPr/>
        <p:nvPr/>
      </p:nvGrpSpPr>
      <p:grpSpPr>
        <a:xfrm>
          <a:off x="0" y="0"/>
          <a:ext cx="0" cy="0"/>
          <a:chOff x="0" y="0"/>
          <a:chExt cx="0" cy="0"/>
        </a:xfrm>
      </p:grpSpPr>
      <p:sp>
        <p:nvSpPr>
          <p:cNvPr id="1873" name="Google Shape;1873;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74" name="Google Shape;1874;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875" name="Google Shape;1875;p1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876" name="Google Shape;1876;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77" name="Google Shape;1877;p1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2" name="Shape 1882"/>
        <p:cNvGrpSpPr/>
        <p:nvPr/>
      </p:nvGrpSpPr>
      <p:grpSpPr>
        <a:xfrm>
          <a:off x="0" y="0"/>
          <a:ext cx="0" cy="0"/>
          <a:chOff x="0" y="0"/>
          <a:chExt cx="0" cy="0"/>
        </a:xfrm>
      </p:grpSpPr>
      <p:sp>
        <p:nvSpPr>
          <p:cNvPr id="1883" name="Google Shape;1883;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84" name="Google Shape;1884;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885" name="Google Shape;1885;p17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Spring Boot 4 reference — “Web / Graceful Shutdown” and “Context lifecycle”; Spring Kafka container drain semantics; Kubernetes “Termination of Pods” documentation.</a:t>
            </a:r>
            <a:endParaRPr b="0" i="0" sz="1700" u="none" cap="none" strike="noStrike">
              <a:solidFill>
                <a:schemeClr val="dk1"/>
              </a:solidFill>
              <a:latin typeface="Calibri"/>
              <a:ea typeface="Calibri"/>
              <a:cs typeface="Calibri"/>
              <a:sym typeface="Calibri"/>
            </a:endParaRPr>
          </a:p>
        </p:txBody>
      </p:sp>
      <p:sp>
        <p:nvSpPr>
          <p:cNvPr id="1886" name="Google Shape;1886;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87" name="Google Shape;1887;p1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92" name="Shape 1892"/>
        <p:cNvGrpSpPr/>
        <p:nvPr/>
      </p:nvGrpSpPr>
      <p:grpSpPr>
        <a:xfrm>
          <a:off x="0" y="0"/>
          <a:ext cx="0" cy="0"/>
          <a:chOff x="0" y="0"/>
          <a:chExt cx="0" cy="0"/>
        </a:xfrm>
      </p:grpSpPr>
      <p:pic>
        <p:nvPicPr>
          <p:cNvPr descr="/home/claude/work/assets/rh-divider-bg.png" id="1893" name="Google Shape;1893;p17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94" name="Google Shape;1894;p17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895" name="Google Shape;1895;p17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896" name="Google Shape;1896;p17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897" name="Google Shape;1897;p1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2" name="Shape 1902"/>
        <p:cNvGrpSpPr/>
        <p:nvPr/>
      </p:nvGrpSpPr>
      <p:grpSpPr>
        <a:xfrm>
          <a:off x="0" y="0"/>
          <a:ext cx="0" cy="0"/>
          <a:chOff x="0" y="0"/>
          <a:chExt cx="0" cy="0"/>
        </a:xfrm>
      </p:grpSpPr>
      <p:sp>
        <p:nvSpPr>
          <p:cNvPr id="1903" name="Google Shape;1903;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905" name="Google Shape;1905;p17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Apache Camel, Kogito DMN, Drools — plus a YAML or two.</a:t>
            </a:r>
            <a:endParaRPr b="0" i="0" sz="1700" u="none" cap="none" strike="noStrike">
              <a:solidFill>
                <a:schemeClr val="dk1"/>
              </a:solidFill>
              <a:latin typeface="Calibri"/>
              <a:ea typeface="Calibri"/>
              <a:cs typeface="Calibri"/>
              <a:sym typeface="Calibri"/>
            </a:endParaRPr>
          </a:p>
        </p:txBody>
      </p:sp>
      <p:sp>
        <p:nvSpPr>
          <p:cNvPr id="1906" name="Google Shape;1906;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907" name="Google Shape;1907;p1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2" name="Shape 1912"/>
        <p:cNvGrpSpPr/>
        <p:nvPr/>
      </p:nvGrpSpPr>
      <p:grpSpPr>
        <a:xfrm>
          <a:off x="0" y="0"/>
          <a:ext cx="0" cy="0"/>
          <a:chOff x="0" y="0"/>
          <a:chExt cx="0" cy="0"/>
        </a:xfrm>
      </p:grpSpPr>
      <p:sp>
        <p:nvSpPr>
          <p:cNvPr id="1913" name="Google Shape;1913;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14" name="Google Shape;1914;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sb/53-appI-l4-vs-l7.png" id="1915" name="Google Shape;1915;p176"/>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16" name="Google Shape;1916;p17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917" name="Google Shape;1917;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18" name="Google Shape;1918;p17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3" name="Shape 1923"/>
        <p:cNvGrpSpPr/>
        <p:nvPr/>
      </p:nvGrpSpPr>
      <p:grpSpPr>
        <a:xfrm>
          <a:off x="0" y="0"/>
          <a:ext cx="0" cy="0"/>
          <a:chOff x="0" y="0"/>
          <a:chExt cx="0" cy="0"/>
        </a:xfrm>
      </p:grpSpPr>
      <p:sp>
        <p:nvSpPr>
          <p:cNvPr id="1924" name="Google Shape;1924;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25" name="Google Shape;1925;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28" name="Google Shape;1928;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3" name="Shape 1933"/>
        <p:cNvGrpSpPr/>
        <p:nvPr/>
      </p:nvGrpSpPr>
      <p:grpSpPr>
        <a:xfrm>
          <a:off x="0" y="0"/>
          <a:ext cx="0" cy="0"/>
          <a:chOff x="0" y="0"/>
          <a:chExt cx="0" cy="0"/>
        </a:xfrm>
      </p:grpSpPr>
      <p:sp>
        <p:nvSpPr>
          <p:cNvPr id="1934" name="Google Shape;1934;p1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35" name="Google Shape;1935;p1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sb/54-appI-stack-sb.png" id="1936" name="Google Shape;1936;p178"/>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937" name="Google Shape;1937;p17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938" name="Google Shape;1938;p1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39" name="Google Shape;1939;p17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4" name="Shape 1944"/>
        <p:cNvGrpSpPr/>
        <p:nvPr/>
      </p:nvGrpSpPr>
      <p:grpSpPr>
        <a:xfrm>
          <a:off x="0" y="0"/>
          <a:ext cx="0" cy="0"/>
          <a:chOff x="0" y="0"/>
          <a:chExt cx="0" cy="0"/>
        </a:xfrm>
      </p:grpSpPr>
      <p:sp>
        <p:nvSpPr>
          <p:cNvPr id="1945" name="Google Shape;1945;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6" name="Google Shape;1946;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sb/55-appI-journey.png" id="1947" name="Google Shape;1947;p179"/>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48" name="Google Shape;1948;p1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49" name="Google Shape;1949;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50" name="Google Shape;1950;p1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5" name="Shape 1955"/>
        <p:cNvGrpSpPr/>
        <p:nvPr/>
      </p:nvGrpSpPr>
      <p:grpSpPr>
        <a:xfrm>
          <a:off x="0" y="0"/>
          <a:ext cx="0" cy="0"/>
          <a:chOff x="0" y="0"/>
          <a:chExt cx="0" cy="0"/>
        </a:xfrm>
      </p:grpSpPr>
      <p:sp>
        <p:nvSpPr>
          <p:cNvPr id="1956" name="Google Shape;1956;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57" name="Google Shape;1957;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1958" name="Google Shape;1958;p18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Spring Cloud Gateway: opinionated API gateways with plugin ecosystems.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Apache Camel + Drools / Kogito DMN: when the routing logic is a business rule, push it into the app — EIP DSL + a rule engine.</a:t>
            </a:r>
            <a:endParaRPr b="0" i="0" sz="1700" u="none" cap="none" strike="noStrike">
              <a:solidFill>
                <a:schemeClr val="dk1"/>
              </a:solidFill>
              <a:latin typeface="Calibri"/>
              <a:ea typeface="Calibri"/>
              <a:cs typeface="Calibri"/>
              <a:sym typeface="Calibri"/>
            </a:endParaRPr>
          </a:p>
        </p:txBody>
      </p:sp>
      <p:sp>
        <p:nvSpPr>
          <p:cNvPr id="1959" name="Google Shape;1959;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0" name="Google Shape;1960;p1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5" name="Shape 1965"/>
        <p:cNvGrpSpPr/>
        <p:nvPr/>
      </p:nvGrpSpPr>
      <p:grpSpPr>
        <a:xfrm>
          <a:off x="0" y="0"/>
          <a:ext cx="0" cy="0"/>
          <a:chOff x="0" y="0"/>
          <a:chExt cx="0" cy="0"/>
        </a:xfrm>
      </p:grpSpPr>
      <p:sp>
        <p:nvSpPr>
          <p:cNvPr id="1966" name="Google Shape;1966;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7" name="Google Shape;1967;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1968" name="Google Shape;1968;p18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9" name="Google Shape;1969;p18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1970" name="Google Shape;1970;p18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1971" name="Google Shape;1971;p18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1972" name="Google Shape;1972;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3" name="Google Shape;1973;p1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8" name="Shape 1978"/>
        <p:cNvGrpSpPr/>
        <p:nvPr/>
      </p:nvGrpSpPr>
      <p:grpSpPr>
        <a:xfrm>
          <a:off x="0" y="0"/>
          <a:ext cx="0" cy="0"/>
          <a:chOff x="0" y="0"/>
          <a:chExt cx="0" cy="0"/>
        </a:xfrm>
      </p:grpSpPr>
      <p:sp>
        <p:nvSpPr>
          <p:cNvPr id="1979" name="Google Shape;1979;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0" name="Google Shape;1980;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1981" name="Google Shape;1981;p18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2" name="Google Shape;1982;p18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1983" name="Google Shape;1983;p18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84" name="Google Shape;1984;p18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1985" name="Google Shape;1985;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6" name="Google Shape;1986;p1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1" name="Shape 1991"/>
        <p:cNvGrpSpPr/>
        <p:nvPr/>
      </p:nvGrpSpPr>
      <p:grpSpPr>
        <a:xfrm>
          <a:off x="0" y="0"/>
          <a:ext cx="0" cy="0"/>
          <a:chOff x="0" y="0"/>
          <a:chExt cx="0" cy="0"/>
        </a:xfrm>
      </p:grpSpPr>
      <p:sp>
        <p:nvSpPr>
          <p:cNvPr id="1992" name="Google Shape;1992;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3" name="Google Shape;1993;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1994" name="Google Shape;1994;p18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5" name="Google Shape;1995;p183"/>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1996" name="Google Shape;1996;p18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1997" name="Google Shape;1997;p18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1998" name="Google Shape;1998;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9" name="Google Shape;1999;p1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4" name="Shape 2004"/>
        <p:cNvGrpSpPr/>
        <p:nvPr/>
      </p:nvGrpSpPr>
      <p:grpSpPr>
        <a:xfrm>
          <a:off x="0" y="0"/>
          <a:ext cx="0" cy="0"/>
          <a:chOff x="0" y="0"/>
          <a:chExt cx="0" cy="0"/>
        </a:xfrm>
      </p:grpSpPr>
      <p:sp>
        <p:nvSpPr>
          <p:cNvPr id="2005" name="Google Shape;2005;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6" name="Google Shape;2006;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2007" name="Google Shape;2007;p18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2008" name="Google Shape;2008;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9" name="Google Shape;2009;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4" name="Shape 2014"/>
        <p:cNvGrpSpPr/>
        <p:nvPr/>
      </p:nvGrpSpPr>
      <p:grpSpPr>
        <a:xfrm>
          <a:off x="0" y="0"/>
          <a:ext cx="0" cy="0"/>
          <a:chOff x="0" y="0"/>
          <a:chExt cx="0" cy="0"/>
        </a:xfrm>
      </p:grpSpPr>
      <p:sp>
        <p:nvSpPr>
          <p:cNvPr id="2015" name="Google Shape;2015;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16" name="Google Shape;2016;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sb/56-appI-sticky.png" id="2017" name="Google Shape;2017;p18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018" name="Google Shape;2018;p18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2019" name="Google Shape;2019;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20" name="Google Shape;2020;p18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5" name="Shape 2025"/>
        <p:cNvGrpSpPr/>
        <p:nvPr/>
      </p:nvGrpSpPr>
      <p:grpSpPr>
        <a:xfrm>
          <a:off x="0" y="0"/>
          <a:ext cx="0" cy="0"/>
          <a:chOff x="0" y="0"/>
          <a:chExt cx="0" cy="0"/>
        </a:xfrm>
      </p:grpSpPr>
      <p:sp>
        <p:nvSpPr>
          <p:cNvPr id="2026" name="Google Shape;2026;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7" name="Google Shape;2027;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2028" name="Google Shape;2028;p18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2029" name="Google Shape;2029;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30" name="Google Shape;2030;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5" name="Shape 2035"/>
        <p:cNvGrpSpPr/>
        <p:nvPr/>
      </p:nvGrpSpPr>
      <p:grpSpPr>
        <a:xfrm>
          <a:off x="0" y="0"/>
          <a:ext cx="0" cy="0"/>
          <a:chOff x="0" y="0"/>
          <a:chExt cx="0" cy="0"/>
        </a:xfrm>
      </p:grpSpPr>
      <p:sp>
        <p:nvSpPr>
          <p:cNvPr id="2036" name="Google Shape;2036;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7" name="Google Shape;2037;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sb/57-appI-steering.png" id="2038" name="Google Shape;2038;p18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2039" name="Google Shape;2039;p18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1" name="Google Shape;2041;p18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6" name="Shape 2046"/>
        <p:cNvGrpSpPr/>
        <p:nvPr/>
      </p:nvGrpSpPr>
      <p:grpSpPr>
        <a:xfrm>
          <a:off x="0" y="0"/>
          <a:ext cx="0" cy="0"/>
          <a:chOff x="0" y="0"/>
          <a:chExt cx="0" cy="0"/>
        </a:xfrm>
      </p:grpSpPr>
      <p:sp>
        <p:nvSpPr>
          <p:cNvPr id="2047" name="Google Shape;2047;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48" name="Google Shape;2048;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49" name="Google Shape;2049;p18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0" name="Google Shape;2050;p18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51" name="Google Shape;2051;p18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52" name="Google Shape;2052;p18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53" name="Google Shape;2053;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4" name="Google Shape;2054;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9" name="Shape 2059"/>
        <p:cNvGrpSpPr/>
        <p:nvPr/>
      </p:nvGrpSpPr>
      <p:grpSpPr>
        <a:xfrm>
          <a:off x="0" y="0"/>
          <a:ext cx="0" cy="0"/>
          <a:chOff x="0" y="0"/>
          <a:chExt cx="0" cy="0"/>
        </a:xfrm>
      </p:grpSpPr>
      <p:sp>
        <p:nvSpPr>
          <p:cNvPr id="2060" name="Google Shape;2060;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1" name="Google Shape;2061;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062" name="Google Shape;2062;p18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3" name="Google Shape;2063;p189"/>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064" name="Google Shape;2064;p18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065" name="Google Shape;2065;p18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066" name="Google Shape;2066;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7" name="Google Shape;2067;p1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2" name="Shape 2072"/>
        <p:cNvGrpSpPr/>
        <p:nvPr/>
      </p:nvGrpSpPr>
      <p:grpSpPr>
        <a:xfrm>
          <a:off x="0" y="0"/>
          <a:ext cx="0" cy="0"/>
          <a:chOff x="0" y="0"/>
          <a:chExt cx="0" cy="0"/>
        </a:xfrm>
      </p:grpSpPr>
      <p:sp>
        <p:nvSpPr>
          <p:cNvPr id="2073" name="Google Shape;2073;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4" name="Google Shape;2074;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075" name="Google Shape;2075;p1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Camel transforms).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076" name="Google Shape;2076;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7" name="Google Shape;2077;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2" name="Shape 2082"/>
        <p:cNvGrpSpPr/>
        <p:nvPr/>
      </p:nvGrpSpPr>
      <p:grpSpPr>
        <a:xfrm>
          <a:off x="0" y="0"/>
          <a:ext cx="0" cy="0"/>
          <a:chOff x="0" y="0"/>
          <a:chExt cx="0" cy="0"/>
        </a:xfrm>
      </p:grpSpPr>
      <p:sp>
        <p:nvSpPr>
          <p:cNvPr id="2083" name="Google Shape;2083;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84" name="Google Shape;2084;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085" name="Google Shape;2085;p19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6" name="Google Shape;2086;p19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087" name="Google Shape;2087;p19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088" name="Google Shape;2088;p19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089" name="Google Shape;2089;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90" name="Google Shape;2090;p1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5" name="Shape 2095"/>
        <p:cNvGrpSpPr/>
        <p:nvPr/>
      </p:nvGrpSpPr>
      <p:grpSpPr>
        <a:xfrm>
          <a:off x="0" y="0"/>
          <a:ext cx="0" cy="0"/>
          <a:chOff x="0" y="0"/>
          <a:chExt cx="0" cy="0"/>
        </a:xfrm>
      </p:grpSpPr>
      <p:sp>
        <p:nvSpPr>
          <p:cNvPr id="2096" name="Google Shape;2096;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7" name="Google Shape;2097;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098" name="Google Shape;2098;p19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(Apache Camel, Spring Integration, a custom dispatcher) calls a rule engine (Drools, Kogito DMN)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099" name="Google Shape;2099;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100" name="Google Shape;2100;p19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5" name="Shape 2105"/>
        <p:cNvGrpSpPr/>
        <p:nvPr/>
      </p:nvGrpSpPr>
      <p:grpSpPr>
        <a:xfrm>
          <a:off x="0" y="0"/>
          <a:ext cx="0" cy="0"/>
          <a:chOff x="0" y="0"/>
          <a:chExt cx="0" cy="0"/>
        </a:xfrm>
      </p:grpSpPr>
      <p:sp>
        <p:nvSpPr>
          <p:cNvPr id="2106" name="Google Shape;2106;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07" name="Google Shape;2107;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Spring Boot + Camel + Drools: rule-based routing</a:t>
            </a:r>
            <a:endParaRPr b="0" i="0" sz="3000" u="none" cap="none" strike="noStrike">
              <a:solidFill>
                <a:schemeClr val="dk1"/>
              </a:solidFill>
              <a:latin typeface="Calibri"/>
              <a:ea typeface="Calibri"/>
              <a:cs typeface="Calibri"/>
              <a:sym typeface="Calibri"/>
            </a:endParaRPr>
          </a:p>
        </p:txBody>
      </p:sp>
      <p:pic>
        <p:nvPicPr>
          <p:cNvPr descr="/home/claude/work/png-sb/58-appI-camel-drools-sb.png" id="2108" name="Google Shape;2108;p19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109" name="Google Shape;2109;p1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Camel is the EIP DSL; Drools is the decision engine; Spring Boot wires them together.</a:t>
            </a:r>
            <a:endParaRPr b="0" i="0" sz="1200" u="none" cap="none" strike="noStrike">
              <a:solidFill>
                <a:schemeClr val="dk1"/>
              </a:solidFill>
              <a:latin typeface="Calibri"/>
              <a:ea typeface="Calibri"/>
              <a:cs typeface="Calibri"/>
              <a:sym typeface="Calibri"/>
            </a:endParaRPr>
          </a:p>
        </p:txBody>
      </p:sp>
      <p:sp>
        <p:nvSpPr>
          <p:cNvPr id="2110" name="Google Shape;2110;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11" name="Google Shape;2111;p1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6" name="Shape 2116"/>
        <p:cNvGrpSpPr/>
        <p:nvPr/>
      </p:nvGrpSpPr>
      <p:grpSpPr>
        <a:xfrm>
          <a:off x="0" y="0"/>
          <a:ext cx="0" cy="0"/>
          <a:chOff x="0" y="0"/>
          <a:chExt cx="0" cy="0"/>
        </a:xfrm>
      </p:grpSpPr>
      <p:sp>
        <p:nvSpPr>
          <p:cNvPr id="2117" name="Google Shape;2117;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8" name="Google Shape;2118;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Camel route in Spring Boot, calling Drools</a:t>
            </a:r>
            <a:endParaRPr b="0" i="0" sz="3000" u="none" cap="none" strike="noStrike">
              <a:solidFill>
                <a:schemeClr val="dk1"/>
              </a:solidFill>
              <a:latin typeface="Calibri"/>
              <a:ea typeface="Calibri"/>
              <a:cs typeface="Calibri"/>
              <a:sym typeface="Calibri"/>
            </a:endParaRPr>
          </a:p>
        </p:txBody>
      </p:sp>
      <p:sp>
        <p:nvSpPr>
          <p:cNvPr id="2119" name="Google Shape;2119;p19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0" name="Google Shape;2120;p194"/>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Apache Camel</a:t>
            </a:r>
            <a:endParaRPr b="0" i="0" sz="1000" u="none" cap="none" strike="noStrike">
              <a:solidFill>
                <a:schemeClr val="dk1"/>
              </a:solidFill>
              <a:latin typeface="Calibri"/>
              <a:ea typeface="Calibri"/>
              <a:cs typeface="Calibri"/>
              <a:sym typeface="Calibri"/>
            </a:endParaRPr>
          </a:p>
        </p:txBody>
      </p:sp>
      <p:sp>
        <p:nvSpPr>
          <p:cNvPr id="2121" name="Google Shape;2121;p19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pom.xml: camel-spring-boot-starter, camel-kafka-starter, drools-spring-boot-starter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@Component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OrderRoutes extends RouteBuilder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private final RulesEvaluator rules;            // wraps a Drools KieSession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OrderRoutes(RulesEvaluator rules) { this.rules = rules;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@Override public void configure()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from("kafka:orders.inbound")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.enrich("direct:lookupCustomer", aggregateStrategy)  // 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.process(rules::evaluate)                // sets "whereTo" header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.log("routing ${header.whereTo}")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.routingSlip(header("whereTo"))          // dynamic dispatch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from("direct:lookupCustomer")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.to("http:customer-svc/lookup")          // enrich w/ HTTP call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.unmarshal().json();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2122" name="Google Shape;2122;p19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from → enrich → rules.evaluate → routingSlip — the canonical content-based-router EIP, with the decision externalised to Drools.</a:t>
            </a:r>
            <a:endParaRPr b="0" i="0" sz="1300" u="none" cap="none" strike="noStrike">
              <a:solidFill>
                <a:schemeClr val="dk1"/>
              </a:solidFill>
              <a:latin typeface="Calibri"/>
              <a:ea typeface="Calibri"/>
              <a:cs typeface="Calibri"/>
              <a:sym typeface="Calibri"/>
            </a:endParaRPr>
          </a:p>
        </p:txBody>
      </p:sp>
      <p:sp>
        <p:nvSpPr>
          <p:cNvPr id="2123" name="Google Shape;2123;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24" name="Google Shape;2124;p1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9" name="Shape 2129"/>
        <p:cNvGrpSpPr/>
        <p:nvPr/>
      </p:nvGrpSpPr>
      <p:grpSpPr>
        <a:xfrm>
          <a:off x="0" y="0"/>
          <a:ext cx="0" cy="0"/>
          <a:chOff x="0" y="0"/>
          <a:chExt cx="0" cy="0"/>
        </a:xfrm>
      </p:grpSpPr>
      <p:sp>
        <p:nvSpPr>
          <p:cNvPr id="2130" name="Google Shape;2130;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Drools rule: the decision, externalised</a:t>
            </a:r>
            <a:endParaRPr b="0" i="0" sz="3000" u="none" cap="none" strike="noStrike">
              <a:solidFill>
                <a:schemeClr val="dk1"/>
              </a:solidFill>
              <a:latin typeface="Calibri"/>
              <a:ea typeface="Calibri"/>
              <a:cs typeface="Calibri"/>
              <a:sym typeface="Calibri"/>
            </a:endParaRPr>
          </a:p>
        </p:txBody>
      </p:sp>
      <p:sp>
        <p:nvSpPr>
          <p:cNvPr id="2132" name="Google Shape;2132;p19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3" name="Google Shape;2133;p19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drl · Drools rules</a:t>
            </a:r>
            <a:endParaRPr b="0" i="0" sz="1000" u="none" cap="none" strike="noStrike">
              <a:solidFill>
                <a:schemeClr val="dk1"/>
              </a:solidFill>
              <a:latin typeface="Calibri"/>
              <a:ea typeface="Calibri"/>
              <a:cs typeface="Calibri"/>
              <a:sym typeface="Calibri"/>
            </a:endParaRPr>
          </a:p>
        </p:txBody>
      </p:sp>
      <p:sp>
        <p:nvSpPr>
          <p:cNvPr id="2134" name="Google Shape;2134;p19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orders.drl  —  edited by domain experts, not developers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package com.acme.orders;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import com.acme.orders.OrderFact;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"High-value VIP orders go to the priority queue"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 : OrderFact( amountCents &gt; 50_000, customer.tier == "VIP"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$o.setWhereTo("kafka:orders.priority,http:notify-vip");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"European orders go to the EU region"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 : OrderFact( customer.region == "EU"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$o.setWhereTo("kafka:orders.eu");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"Default route"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salience -100                                  // last resort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   $o : OrderFact( whereTo == null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   $o.setWhereTo("kafka:orders.default");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p:txBody>
      </p:sp>
      <p:sp>
        <p:nvSpPr>
          <p:cNvPr id="2135" name="Google Shape;2135;p19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rule is a small business statement: when X is true, then route to Y. Edited and reviewed by domain experts.</a:t>
            </a:r>
            <a:endParaRPr b="0" i="0" sz="1300" u="none" cap="none" strike="noStrike">
              <a:solidFill>
                <a:schemeClr val="dk1"/>
              </a:solidFill>
              <a:latin typeface="Calibri"/>
              <a:ea typeface="Calibri"/>
              <a:cs typeface="Calibri"/>
              <a:sym typeface="Calibri"/>
            </a:endParaRPr>
          </a:p>
        </p:txBody>
      </p:sp>
      <p:sp>
        <p:nvSpPr>
          <p:cNvPr id="2136" name="Google Shape;2136;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7" name="Google Shape;2137;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42" name="Shape 2142"/>
        <p:cNvGrpSpPr/>
        <p:nvPr/>
      </p:nvGrpSpPr>
      <p:grpSpPr>
        <a:xfrm>
          <a:off x="0" y="0"/>
          <a:ext cx="0" cy="0"/>
          <a:chOff x="0" y="0"/>
          <a:chExt cx="0" cy="0"/>
        </a:xfrm>
      </p:grpSpPr>
      <p:sp>
        <p:nvSpPr>
          <p:cNvPr id="2143" name="Google Shape;2143;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4" name="Google Shape;2144;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sb/59-appI-latency-sb.png" id="2145" name="Google Shape;2145;p196"/>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46" name="Google Shape;2146;p19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47" name="Google Shape;2147;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8" name="Google Shape;2148;p19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3" name="Shape 2153"/>
        <p:cNvGrpSpPr/>
        <p:nvPr/>
      </p:nvGrpSpPr>
      <p:grpSpPr>
        <a:xfrm>
          <a:off x="0" y="0"/>
          <a:ext cx="0" cy="0"/>
          <a:chOff x="0" y="0"/>
          <a:chExt cx="0" cy="0"/>
        </a:xfrm>
      </p:grpSpPr>
      <p:sp>
        <p:nvSpPr>
          <p:cNvPr id="2154" name="Google Shape;2154;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55" name="Google Shape;2155;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56" name="Google Shape;2156;p1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57" name="Google Shape;2157;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8" name="Google Shape;2158;p1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3" name="Shape 2163"/>
        <p:cNvGrpSpPr/>
        <p:nvPr/>
      </p:nvGrpSpPr>
      <p:grpSpPr>
        <a:xfrm>
          <a:off x="0" y="0"/>
          <a:ext cx="0" cy="0"/>
          <a:chOff x="0" y="0"/>
          <a:chExt cx="0" cy="0"/>
        </a:xfrm>
      </p:grpSpPr>
      <p:sp>
        <p:nvSpPr>
          <p:cNvPr id="2164" name="Google Shape;2164;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sb/60-appI-east-west.png" id="2166" name="Google Shape;2166;p198"/>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167" name="Google Shape;2167;p19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168" name="Google Shape;2168;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9" name="Google Shape;2169;p19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4" name="Shape 2174"/>
        <p:cNvGrpSpPr/>
        <p:nvPr/>
      </p:nvGrpSpPr>
      <p:grpSpPr>
        <a:xfrm>
          <a:off x="0" y="0"/>
          <a:ext cx="0" cy="0"/>
          <a:chOff x="0" y="0"/>
          <a:chExt cx="0" cy="0"/>
        </a:xfrm>
      </p:grpSpPr>
      <p:sp>
        <p:nvSpPr>
          <p:cNvPr id="2175" name="Google Shape;2175;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6" name="Google Shape;2176;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177" name="Google Shape;2177;p1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178" name="Google Shape;2178;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9" name="Google Shape;2179;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4" name="Shape 2184"/>
        <p:cNvGrpSpPr/>
        <p:nvPr/>
      </p:nvGrpSpPr>
      <p:grpSpPr>
        <a:xfrm>
          <a:off x="0" y="0"/>
          <a:ext cx="0" cy="0"/>
          <a:chOff x="0" y="0"/>
          <a:chExt cx="0" cy="0"/>
        </a:xfrm>
      </p:grpSpPr>
      <p:sp>
        <p:nvSpPr>
          <p:cNvPr id="2185" name="Google Shape;2185;p20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86" name="Google Shape;2186;p20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187" name="Google Shape;2187;p20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8" name="Google Shape;2188;p200"/>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189" name="Google Shape;2189;p20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190" name="Google Shape;2190;p20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191" name="Google Shape;2191;p20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2" name="Google Shape;2192;p20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7" name="Shape 2197"/>
        <p:cNvGrpSpPr/>
        <p:nvPr/>
      </p:nvGrpSpPr>
      <p:grpSpPr>
        <a:xfrm>
          <a:off x="0" y="0"/>
          <a:ext cx="0" cy="0"/>
          <a:chOff x="0" y="0"/>
          <a:chExt cx="0" cy="0"/>
        </a:xfrm>
      </p:grpSpPr>
      <p:sp>
        <p:nvSpPr>
          <p:cNvPr id="2198" name="Google Shape;2198;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99" name="Google Shape;2199;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200" name="Google Shape;2200;p20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201" name="Google Shape;2201;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2" name="Google Shape;2202;p20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7" name="Shape 2207"/>
        <p:cNvGrpSpPr/>
        <p:nvPr/>
      </p:nvGrpSpPr>
      <p:grpSpPr>
        <a:xfrm>
          <a:off x="0" y="0"/>
          <a:ext cx="0" cy="0"/>
          <a:chOff x="0" y="0"/>
          <a:chExt cx="0" cy="0"/>
        </a:xfrm>
      </p:grpSpPr>
      <p:sp>
        <p:nvSpPr>
          <p:cNvPr id="2208" name="Google Shape;2208;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09" name="Google Shape;2209;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210" name="Google Shape;2210;p20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(Apache Camel + Drools):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211" name="Google Shape;2211;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12" name="Google Shape;2212;p20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7" name="Shape 2217"/>
        <p:cNvGrpSpPr/>
        <p:nvPr/>
      </p:nvGrpSpPr>
      <p:grpSpPr>
        <a:xfrm>
          <a:off x="0" y="0"/>
          <a:ext cx="0" cy="0"/>
          <a:chOff x="0" y="0"/>
          <a:chExt cx="0" cy="0"/>
        </a:xfrm>
      </p:grpSpPr>
      <p:sp>
        <p:nvSpPr>
          <p:cNvPr id="2218" name="Google Shape;2218;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220" name="Google Shape;2220;p20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Apache Camel Spring Boot starter guide; Drools / Kogito DMN docs; the Camel Content-Based Router EIP (choice/when/otherwise) in the official apache/camel-spring-boot-examples repo.</a:t>
            </a:r>
            <a:endParaRPr b="0" i="0" sz="1700" u="none" cap="none" strike="noStrike">
              <a:solidFill>
                <a:schemeClr val="dk1"/>
              </a:solidFill>
              <a:latin typeface="Calibri"/>
              <a:ea typeface="Calibri"/>
              <a:cs typeface="Calibri"/>
              <a:sym typeface="Calibri"/>
            </a:endParaRPr>
          </a:p>
        </p:txBody>
      </p:sp>
      <p:sp>
        <p:nvSpPr>
          <p:cNvPr id="2221" name="Google Shape;2221;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22" name="Google Shape;2222;p20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227" name="Shape 2227"/>
        <p:cNvGrpSpPr/>
        <p:nvPr/>
      </p:nvGrpSpPr>
      <p:grpSpPr>
        <a:xfrm>
          <a:off x="0" y="0"/>
          <a:ext cx="0" cy="0"/>
          <a:chOff x="0" y="0"/>
          <a:chExt cx="0" cy="0"/>
        </a:xfrm>
      </p:grpSpPr>
      <p:pic>
        <p:nvPicPr>
          <p:cNvPr descr="/home/claude/work/assets/rh-divider-bg.png" id="2228" name="Google Shape;2228;p20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229" name="Google Shape;2229;p20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230" name="Google Shape;2230;p20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231" name="Google Shape;2231;p20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232" name="Google Shape;2232;p2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7" name="Shape 2237"/>
        <p:cNvGrpSpPr/>
        <p:nvPr/>
      </p:nvGrpSpPr>
      <p:grpSpPr>
        <a:xfrm>
          <a:off x="0" y="0"/>
          <a:ext cx="0" cy="0"/>
          <a:chOff x="0" y="0"/>
          <a:chExt cx="0" cy="0"/>
        </a:xfrm>
      </p:grpSpPr>
      <p:sp>
        <p:nvSpPr>
          <p:cNvPr id="2238" name="Google Shape;2238;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239" name="Google Shape;2239;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sb/80-appK-monolith-deployment.png" id="2240" name="Google Shape;2240;p2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41" name="Google Shape;2241;p2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242" name="Google Shape;2242;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43" name="Google Shape;2243;p2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8" name="Shape 2248"/>
        <p:cNvGrpSpPr/>
        <p:nvPr/>
      </p:nvGrpSpPr>
      <p:grpSpPr>
        <a:xfrm>
          <a:off x="0" y="0"/>
          <a:ext cx="0" cy="0"/>
          <a:chOff x="0" y="0"/>
          <a:chExt cx="0" cy="0"/>
        </a:xfrm>
      </p:grpSpPr>
      <p:sp>
        <p:nvSpPr>
          <p:cNvPr id="2249" name="Google Shape;2249;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250" name="Google Shape;2250;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sb/81-appK-modular-monolith.png" id="2251" name="Google Shape;2251;p20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52" name="Google Shape;2252;p20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253" name="Google Shape;2253;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54" name="Google Shape;2254;p2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9" name="Shape 2259"/>
        <p:cNvGrpSpPr/>
        <p:nvPr/>
      </p:nvGrpSpPr>
      <p:grpSpPr>
        <a:xfrm>
          <a:off x="0" y="0"/>
          <a:ext cx="0" cy="0"/>
          <a:chOff x="0" y="0"/>
          <a:chExt cx="0" cy="0"/>
        </a:xfrm>
      </p:grpSpPr>
      <p:sp>
        <p:nvSpPr>
          <p:cNvPr id="2260" name="Google Shape;2260;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261" name="Google Shape;2261;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sb/82-appK-modular-monolith-decomposed-db.png" id="2262" name="Google Shape;2262;p20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63" name="Google Shape;2263;p2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264" name="Google Shape;2264;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65" name="Google Shape;2265;p2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0" name="Shape 2270"/>
        <p:cNvGrpSpPr/>
        <p:nvPr/>
      </p:nvGrpSpPr>
      <p:grpSpPr>
        <a:xfrm>
          <a:off x="0" y="0"/>
          <a:ext cx="0" cy="0"/>
          <a:chOff x="0" y="0"/>
          <a:chExt cx="0" cy="0"/>
        </a:xfrm>
      </p:grpSpPr>
      <p:sp>
        <p:nvSpPr>
          <p:cNvPr id="2271" name="Google Shape;2271;p2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72" name="Google Shape;2272;p2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sb/83-appK-strangler-identify-move-redirect.png" id="2273" name="Google Shape;2273;p20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74" name="Google Shape;2274;p20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275" name="Google Shape;2275;p2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76" name="Google Shape;2276;p20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1" name="Shape 2281"/>
        <p:cNvGrpSpPr/>
        <p:nvPr/>
      </p:nvGrpSpPr>
      <p:grpSpPr>
        <a:xfrm>
          <a:off x="0" y="0"/>
          <a:ext cx="0" cy="0"/>
          <a:chOff x="0" y="0"/>
          <a:chExt cx="0" cy="0"/>
        </a:xfrm>
      </p:grpSpPr>
      <p:sp>
        <p:nvSpPr>
          <p:cNvPr id="2282" name="Google Shape;2282;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83" name="Google Shape;2283;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sb/84-appK-strangler-proxy.png" id="2284" name="Google Shape;2284;p20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85" name="Google Shape;2285;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286" name="Google Shape;2286;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7" name="Google Shape;2287;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2" name="Shape 2292"/>
        <p:cNvGrpSpPr/>
        <p:nvPr/>
      </p:nvGrpSpPr>
      <p:grpSpPr>
        <a:xfrm>
          <a:off x="0" y="0"/>
          <a:ext cx="0" cy="0"/>
          <a:chOff x="0" y="0"/>
          <a:chExt cx="0" cy="0"/>
        </a:xfrm>
      </p:grpSpPr>
      <p:sp>
        <p:nvSpPr>
          <p:cNvPr id="2293" name="Google Shape;2293;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94" name="Google Shape;2294;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sb/85-appK-strangler-proxy-redirection.png" id="2295" name="Google Shape;2295;p21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96" name="Google Shape;2296;p2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297" name="Google Shape;2297;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298" name="Google Shape;2298;p2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3" name="Shape 2303"/>
        <p:cNvGrpSpPr/>
        <p:nvPr/>
      </p:nvGrpSpPr>
      <p:grpSpPr>
        <a:xfrm>
          <a:off x="0" y="0"/>
          <a:ext cx="0" cy="0"/>
          <a:chOff x="0" y="0"/>
          <a:chExt cx="0" cy="0"/>
        </a:xfrm>
      </p:grpSpPr>
      <p:sp>
        <p:nvSpPr>
          <p:cNvPr id="2304" name="Google Shape;2304;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05" name="Google Shape;2305;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sb/86-appK-strangler-shared-database.png" id="2306" name="Google Shape;2306;p211"/>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307" name="Google Shape;2307;p2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308" name="Google Shape;2308;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09" name="Google Shape;2309;p2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14" name="Shape 2314"/>
        <p:cNvGrpSpPr/>
        <p:nvPr/>
      </p:nvGrpSpPr>
      <p:grpSpPr>
        <a:xfrm>
          <a:off x="0" y="0"/>
          <a:ext cx="0" cy="0"/>
          <a:chOff x="0" y="0"/>
          <a:chExt cx="0" cy="0"/>
        </a:xfrm>
      </p:grpSpPr>
      <p:sp>
        <p:nvSpPr>
          <p:cNvPr id="2315" name="Google Shape;2315;p2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316" name="Google Shape;2316;p2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317" name="Google Shape;2317;p2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8" name="Google Shape;2318;p212"/>
          <p:cNvSpPr/>
          <p:nvPr/>
        </p:nvSpPr>
        <p:spPr>
          <a:xfrm>
            <a:off x="7794417" y="1700784"/>
            <a:ext cx="3738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Web + RestClient</a:t>
            </a:r>
            <a:endParaRPr b="0" i="0" sz="1000" u="none" cap="none" strike="noStrike">
              <a:solidFill>
                <a:schemeClr val="dk1"/>
              </a:solidFill>
              <a:latin typeface="Calibri"/>
              <a:ea typeface="Calibri"/>
              <a:cs typeface="Calibri"/>
              <a:sym typeface="Calibri"/>
            </a:endParaRPr>
          </a:p>
        </p:txBody>
      </p:sp>
      <p:sp>
        <p:nvSpPr>
          <p:cNvPr id="2319" name="Google Shape;2319;p2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Web + RestClient — a content-aware proxy that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the request body and forwards to the new service or the monolith.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OrderRouter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RestClient monolith;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RestClient newSvc;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RestClient euSvc;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the constructor builds the monolith, orders and orders-eu RestClients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ResponseEntity&lt;Order&gt; route(@RequestBody Map&lt;String,Object&gt; 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@RequestHeader Map&lt;String,String&gt; headers)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tenant = (String) body.getOrDefault("tenant",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region = (String) body.getOrDefault("region",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RestClient upstream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"acme".equals(tenant) ? newSvc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"EU".equals(region)   ? euSvc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monolith;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upstream.post()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.headers(h -&gt; h.setAll(headers))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.retrieve()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.toEntity(Order.class);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320" name="Google Shape;2320;p2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body, decide by content (tenant / region / feature flag), forward via RestClient.</a:t>
            </a:r>
            <a:endParaRPr b="0" i="0" sz="1300" u="none" cap="none" strike="noStrike">
              <a:solidFill>
                <a:schemeClr val="dk1"/>
              </a:solidFill>
              <a:latin typeface="Calibri"/>
              <a:ea typeface="Calibri"/>
              <a:cs typeface="Calibri"/>
              <a:sym typeface="Calibri"/>
            </a:endParaRPr>
          </a:p>
        </p:txBody>
      </p:sp>
      <p:sp>
        <p:nvSpPr>
          <p:cNvPr id="2321" name="Google Shape;2321;p2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22" name="Google Shape;2322;p2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7" name="Shape 2327"/>
        <p:cNvGrpSpPr/>
        <p:nvPr/>
      </p:nvGrpSpPr>
      <p:grpSpPr>
        <a:xfrm>
          <a:off x="0" y="0"/>
          <a:ext cx="0" cy="0"/>
          <a:chOff x="0" y="0"/>
          <a:chExt cx="0" cy="0"/>
        </a:xfrm>
      </p:grpSpPr>
      <p:sp>
        <p:nvSpPr>
          <p:cNvPr id="2328" name="Google Shape;2328;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329" name="Google Shape;2329;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sb/88-appK-decorating-collaborator.png" id="2330" name="Google Shape;2330;p21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31" name="Google Shape;2331;p21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332" name="Google Shape;2332;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33" name="Google Shape;2333;p21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8" name="Shape 2338"/>
        <p:cNvGrpSpPr/>
        <p:nvPr/>
      </p:nvGrpSpPr>
      <p:grpSpPr>
        <a:xfrm>
          <a:off x="0" y="0"/>
          <a:ext cx="0" cy="0"/>
          <a:chOff x="0" y="0"/>
          <a:chExt cx="0" cy="0"/>
        </a:xfrm>
      </p:grpSpPr>
      <p:sp>
        <p:nvSpPr>
          <p:cNvPr id="2339" name="Google Shape;2339;p2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340" name="Google Shape;2340;p2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Spring Boot</a:t>
            </a:r>
            <a:endParaRPr b="0" i="0" sz="3000" u="none" cap="none" strike="noStrike">
              <a:solidFill>
                <a:schemeClr val="dk1"/>
              </a:solidFill>
              <a:latin typeface="Calibri"/>
              <a:ea typeface="Calibri"/>
              <a:cs typeface="Calibri"/>
              <a:sym typeface="Calibri"/>
            </a:endParaRPr>
          </a:p>
        </p:txBody>
      </p:sp>
      <p:sp>
        <p:nvSpPr>
          <p:cNvPr id="2341" name="Google Shape;2341;p21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2" name="Google Shape;2342;p214"/>
          <p:cNvSpPr/>
          <p:nvPr/>
        </p:nvSpPr>
        <p:spPr>
          <a:xfrm>
            <a:off x="6118017" y="1700784"/>
            <a:ext cx="5415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RestClient + Spring Data Redis + Spring Kafka</a:t>
            </a:r>
            <a:endParaRPr b="0" i="0" sz="1000" u="none" cap="none" strike="noStrike">
              <a:solidFill>
                <a:schemeClr val="dk1"/>
              </a:solidFill>
              <a:latin typeface="Calibri"/>
              <a:ea typeface="Calibri"/>
              <a:cs typeface="Calibri"/>
              <a:sym typeface="Calibri"/>
            </a:endParaRPr>
          </a:p>
        </p:txBody>
      </p:sp>
      <p:sp>
        <p:nvSpPr>
          <p:cNvPr id="2343" name="Google Shape;2343;p21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OrdersDecorator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fields and constructor: RestClient legacy, RedisTemplate cache, KafkaTemplate kafka, TTL 60 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get(@PathVariable String 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key = "order:" + 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cached = cache.opsForValue().get(key);          // 1. cache hit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null) return 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legacy.get().uri("/orders/{id}", id)     // 2. legacy fallback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.retrieve().body(Order.class);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cache.opsForValue().set(key, order, TTL);             // 3. populate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@PostMapping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place(@RequestBody Order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legacy.post().uri("/orders")            // 1. legacy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.body(body).retrieve().body(Order.class);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kafka.send("order.placed", order.id(), order);        // 2. emit event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cache.delete("order:" + order.id());                  // 3.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344" name="Google Shape;2344;p21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345" name="Google Shape;2345;p2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46" name="Google Shape;2346;p21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51" name="Shape 2351"/>
        <p:cNvGrpSpPr/>
        <p:nvPr/>
      </p:nvGrpSpPr>
      <p:grpSpPr>
        <a:xfrm>
          <a:off x="0" y="0"/>
          <a:ext cx="0" cy="0"/>
          <a:chOff x="0" y="0"/>
          <a:chExt cx="0" cy="0"/>
        </a:xfrm>
      </p:grpSpPr>
      <p:sp>
        <p:nvSpPr>
          <p:cNvPr id="2352" name="Google Shape;2352;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353" name="Google Shape;2353;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354" name="Google Shape;2354;p215"/>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Modular monolith first, microservices later — with Spring Modulith giving first-class module boundaries, the cheapest decomposition is often inside one Spring Boot process. Many systems never need to leave this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with multiple Spring DataSource beans is much cheaper than coordinating across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Always introduce the proxy first — the routing layer is what makes incremental cutover possible. No proxy = no incremental migration.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with shared database is a transition state. Plan its end before you start it. Schema coupling is debt that accrues.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Decorating collaborator when you need to add behaviour to a system you can't modify. Best suited to vendor / 3rd-party / legacy wrappers.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700" u="none" cap="none" strike="noStrike">
              <a:solidFill>
                <a:schemeClr val="dk1"/>
              </a:solidFill>
              <a:latin typeface="Calibri"/>
              <a:ea typeface="Calibri"/>
              <a:cs typeface="Calibri"/>
              <a:sym typeface="Calibri"/>
            </a:endParaRPr>
          </a:p>
        </p:txBody>
      </p:sp>
      <p:sp>
        <p:nvSpPr>
          <p:cNvPr id="2355" name="Google Shape;2355;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56" name="Google Shape;2356;p2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61" name="Shape 2361"/>
        <p:cNvGrpSpPr/>
        <p:nvPr/>
      </p:nvGrpSpPr>
      <p:grpSpPr>
        <a:xfrm>
          <a:off x="0" y="0"/>
          <a:ext cx="0" cy="0"/>
          <a:chOff x="0" y="0"/>
          <a:chExt cx="0" cy="0"/>
        </a:xfrm>
      </p:grpSpPr>
      <p:pic>
        <p:nvPicPr>
          <p:cNvPr descr="/home/claude/work/assets/rh-divider-bg.png" id="2362" name="Google Shape;2362;p21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63" name="Google Shape;2363;p21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364" name="Google Shape;2364;p21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365" name="Google Shape;2365;p21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366" name="Google Shape;2366;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1" name="Shape 2371"/>
        <p:cNvGrpSpPr/>
        <p:nvPr/>
      </p:nvGrpSpPr>
      <p:grpSpPr>
        <a:xfrm>
          <a:off x="0" y="0"/>
          <a:ext cx="0" cy="0"/>
          <a:chOff x="0" y="0"/>
          <a:chExt cx="0" cy="0"/>
        </a:xfrm>
      </p:grpSpPr>
      <p:sp>
        <p:nvSpPr>
          <p:cNvPr id="2372" name="Google Shape;2372;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373" name="Google Shape;2373;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374" name="Google Shape;2374;p2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a:t>
            </a:r>
            <a:endParaRPr b="0" i="0" sz="1700" u="none" cap="none" strike="noStrike">
              <a:solidFill>
                <a:schemeClr val="dk1"/>
              </a:solidFill>
              <a:latin typeface="Calibri"/>
              <a:ea typeface="Calibri"/>
              <a:cs typeface="Calibri"/>
              <a:sym typeface="Calibri"/>
            </a:endParaRPr>
          </a:p>
        </p:txBody>
      </p:sp>
      <p:sp>
        <p:nvSpPr>
          <p:cNvPr id="2375" name="Google Shape;2375;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6" name="Google Shape;2376;p2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1" name="Shape 2381"/>
        <p:cNvGrpSpPr/>
        <p:nvPr/>
      </p:nvGrpSpPr>
      <p:grpSpPr>
        <a:xfrm>
          <a:off x="0" y="0"/>
          <a:ext cx="0" cy="0"/>
          <a:chOff x="0" y="0"/>
          <a:chExt cx="0" cy="0"/>
        </a:xfrm>
      </p:grpSpPr>
      <p:sp>
        <p:nvSpPr>
          <p:cNvPr id="2382" name="Google Shape;2382;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83" name="Google Shape;2383;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sb/90-appL-cache-aside.png" id="2384" name="Google Shape;2384;p21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85" name="Google Shape;2385;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386" name="Google Shape;2386;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87" name="Google Shape;2387;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2" name="Shape 2392"/>
        <p:cNvGrpSpPr/>
        <p:nvPr/>
      </p:nvGrpSpPr>
      <p:grpSpPr>
        <a:xfrm>
          <a:off x="0" y="0"/>
          <a:ext cx="0" cy="0"/>
          <a:chOff x="0" y="0"/>
          <a:chExt cx="0" cy="0"/>
        </a:xfrm>
      </p:grpSpPr>
      <p:sp>
        <p:nvSpPr>
          <p:cNvPr id="2393" name="Google Shape;2393;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94" name="Google Shape;2394;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Spring Boot with Redis</a:t>
            </a:r>
            <a:endParaRPr b="0" i="0" sz="3000" u="none" cap="none" strike="noStrike">
              <a:solidFill>
                <a:schemeClr val="dk1"/>
              </a:solidFill>
              <a:latin typeface="Calibri"/>
              <a:ea typeface="Calibri"/>
              <a:cs typeface="Calibri"/>
              <a:sym typeface="Calibri"/>
            </a:endParaRPr>
          </a:p>
        </p:txBody>
      </p:sp>
      <p:sp>
        <p:nvSpPr>
          <p:cNvPr id="2395" name="Google Shape;2395;p2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6" name="Google Shape;2396;p219"/>
          <p:cNvSpPr/>
          <p:nvPr/>
        </p:nvSpPr>
        <p:spPr>
          <a:xfrm>
            <a:off x="6880017" y="1700784"/>
            <a:ext cx="4653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Data JPA + Spring Data Redis</a:t>
            </a:r>
            <a:endParaRPr b="0" i="0" sz="1000" u="none" cap="none" strike="noStrike">
              <a:solidFill>
                <a:schemeClr val="dk1"/>
              </a:solidFill>
              <a:latin typeface="Calibri"/>
              <a:ea typeface="Calibri"/>
              <a:cs typeface="Calibri"/>
              <a:sym typeface="Calibri"/>
            </a:endParaRPr>
          </a:p>
        </p:txBody>
      </p:sp>
      <p:sp>
        <p:nvSpPr>
          <p:cNvPr id="2397" name="Google Shape;2397;p2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Web + Spring Data JPA + Spring Data Redis — explicit cache-aside.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@RestController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@RequestMapping("/products")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ProductController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TTL 60 s; ProductRepository repo and RedisTemplate cache injected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@GetMapping("/{id}")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 get(@PathVariable String 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key = "product:" + 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cached = cache.opsForValue().get(key);            // 1. cache lookup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null) return cached;                        //    hit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p = repo.findById(id)                             // 2. DB on miss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.orElseThrow(() -&gt; new ResponseStatusException(NOT_FOUND));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cache.opsForValue().set(key, p, TTL);                     // 3. populate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@PutMapping("/{id}")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 update(@PathVariable String id, @RequestBody Product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p = repo.findById(id).orElseThrow();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p.update(body);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cache.delete("product:" + id);                            // 4. invalidate on write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repo.save(p);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398" name="Google Shape;2398;p2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JPA query and populate. Invalidate on write. Three operations; the rest is naming conventions.</a:t>
            </a:r>
            <a:endParaRPr b="0" i="0" sz="1300" u="none" cap="none" strike="noStrike">
              <a:solidFill>
                <a:schemeClr val="dk1"/>
              </a:solidFill>
              <a:latin typeface="Calibri"/>
              <a:ea typeface="Calibri"/>
              <a:cs typeface="Calibri"/>
              <a:sym typeface="Calibri"/>
            </a:endParaRPr>
          </a:p>
        </p:txBody>
      </p:sp>
      <p:sp>
        <p:nvSpPr>
          <p:cNvPr id="2399" name="Google Shape;2399;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400" name="Google Shape;2400;p2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5" name="Shape 2405"/>
        <p:cNvGrpSpPr/>
        <p:nvPr/>
      </p:nvGrpSpPr>
      <p:grpSpPr>
        <a:xfrm>
          <a:off x="0" y="0"/>
          <a:ext cx="0" cy="0"/>
          <a:chOff x="0" y="0"/>
          <a:chExt cx="0" cy="0"/>
        </a:xfrm>
      </p:grpSpPr>
      <p:sp>
        <p:nvSpPr>
          <p:cNvPr id="2406" name="Google Shape;2406;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407" name="Google Shape;2407;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sb/91-appL-read-through.png" id="2408" name="Google Shape;2408;p2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09" name="Google Shape;2409;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410" name="Google Shape;2410;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11" name="Google Shape;2411;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6" name="Shape 2416"/>
        <p:cNvGrpSpPr/>
        <p:nvPr/>
      </p:nvGrpSpPr>
      <p:grpSpPr>
        <a:xfrm>
          <a:off x="0" y="0"/>
          <a:ext cx="0" cy="0"/>
          <a:chOff x="0" y="0"/>
          <a:chExt cx="0" cy="0"/>
        </a:xfrm>
      </p:grpSpPr>
      <p:sp>
        <p:nvSpPr>
          <p:cNvPr id="2417" name="Google Shape;2417;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418" name="Google Shape;2418;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Spring Boot with @Cacheable</a:t>
            </a:r>
            <a:endParaRPr b="0" i="0" sz="3000" u="none" cap="none" strike="noStrike">
              <a:solidFill>
                <a:schemeClr val="dk1"/>
              </a:solidFill>
              <a:latin typeface="Calibri"/>
              <a:ea typeface="Calibri"/>
              <a:cs typeface="Calibri"/>
              <a:sym typeface="Calibri"/>
            </a:endParaRPr>
          </a:p>
        </p:txBody>
      </p:sp>
      <p:sp>
        <p:nvSpPr>
          <p:cNvPr id="2419" name="Google Shape;2419;p2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0" name="Google Shape;2420;p221"/>
          <p:cNvSpPr/>
          <p:nvPr/>
        </p:nvSpPr>
        <p:spPr>
          <a:xfrm>
            <a:off x="7108617" y="1700784"/>
            <a:ext cx="4424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Cache + Spring Data Redis</a:t>
            </a:r>
            <a:endParaRPr b="0" i="0" sz="1000" u="none" cap="none" strike="noStrike">
              <a:solidFill>
                <a:schemeClr val="dk1"/>
              </a:solidFill>
              <a:latin typeface="Calibri"/>
              <a:ea typeface="Calibri"/>
              <a:cs typeface="Calibri"/>
              <a:sym typeface="Calibri"/>
            </a:endParaRPr>
          </a:p>
        </p:txBody>
      </p:sp>
      <p:sp>
        <p:nvSpPr>
          <p:cNvPr id="2421" name="Google Shape;2421;p2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Cache with Redis backing (Spring Boot 4, Jackson 3).</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@Configuration @EnableCaching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CacheConfig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@Bean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RedisCacheManager cacheManager(RedisConnectionFactory cf)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RedisCacheManager.builder(cf)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.cacheDefaults(RedisCacheConfiguration.defaultCacheConfig()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.entryTtl(Duration.ofSeconds(60))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.serializeValuesWith(SerializationPair.fromSerializer(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RedisSerializer.json())))   // Jackson 3: hits come back as Product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ProductService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ProductRepository repo;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ProductService(ProductRepository repo) { this.repo = repo;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@Cacheable(value = "products", key = "#id")           // cache-then-load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 findById(String 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repo.findById(id)                          // method body = loader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.orElseThrow(() -&gt; new ResponseStatusException(NOT_FOUND));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@CacheEvict(value = "products", key = "#id") @Transactional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 update(String id, Product body) { /* load, apply, save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22" name="Google Shape;2422;p2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@Cacheable turns the method body into a loader. Callers see one interface; the cache miss path is invisible.</a:t>
            </a:r>
            <a:endParaRPr b="0" i="0" sz="1300" u="none" cap="none" strike="noStrike">
              <a:solidFill>
                <a:schemeClr val="dk1"/>
              </a:solidFill>
              <a:latin typeface="Calibri"/>
              <a:ea typeface="Calibri"/>
              <a:cs typeface="Calibri"/>
              <a:sym typeface="Calibri"/>
            </a:endParaRPr>
          </a:p>
        </p:txBody>
      </p:sp>
      <p:sp>
        <p:nvSpPr>
          <p:cNvPr id="2423" name="Google Shape;2423;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24" name="Google Shape;2424;p2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29" name="Shape 2429"/>
        <p:cNvGrpSpPr/>
        <p:nvPr/>
      </p:nvGrpSpPr>
      <p:grpSpPr>
        <a:xfrm>
          <a:off x="0" y="0"/>
          <a:ext cx="0" cy="0"/>
          <a:chOff x="0" y="0"/>
          <a:chExt cx="0" cy="0"/>
        </a:xfrm>
      </p:grpSpPr>
      <p:sp>
        <p:nvSpPr>
          <p:cNvPr id="2430" name="Google Shape;2430;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431" name="Google Shape;2431;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sb/92-appL-write-through.png" id="2432" name="Google Shape;2432;p2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3" name="Google Shape;2433;p2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434" name="Google Shape;2434;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35" name="Google Shape;2435;p2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0" name="Shape 2440"/>
        <p:cNvGrpSpPr/>
        <p:nvPr/>
      </p:nvGrpSpPr>
      <p:grpSpPr>
        <a:xfrm>
          <a:off x="0" y="0"/>
          <a:ext cx="0" cy="0"/>
          <a:chOff x="0" y="0"/>
          <a:chExt cx="0" cy="0"/>
        </a:xfrm>
      </p:grpSpPr>
      <p:sp>
        <p:nvSpPr>
          <p:cNvPr id="2441" name="Google Shape;2441;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442" name="Google Shape;2442;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Spring Boot</a:t>
            </a:r>
            <a:endParaRPr b="0" i="0" sz="3000" u="none" cap="none" strike="noStrike">
              <a:solidFill>
                <a:schemeClr val="dk1"/>
              </a:solidFill>
              <a:latin typeface="Calibri"/>
              <a:ea typeface="Calibri"/>
              <a:cs typeface="Calibri"/>
              <a:sym typeface="Calibri"/>
            </a:endParaRPr>
          </a:p>
        </p:txBody>
      </p:sp>
      <p:sp>
        <p:nvSpPr>
          <p:cNvPr id="2443" name="Google Shape;2443;p2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4" name="Google Shape;2444;p223"/>
          <p:cNvSpPr/>
          <p:nvPr/>
        </p:nvSpPr>
        <p:spPr>
          <a:xfrm>
            <a:off x="6041817" y="1700784"/>
            <a:ext cx="5491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Cache + Spring Data Redis + @TransactionalEventListener</a:t>
            </a:r>
            <a:endParaRPr b="0" i="0" sz="1000" u="none" cap="none" strike="noStrike">
              <a:solidFill>
                <a:schemeClr val="dk1"/>
              </a:solidFill>
              <a:latin typeface="Calibri"/>
              <a:ea typeface="Calibri"/>
              <a:cs typeface="Calibri"/>
              <a:sym typeface="Calibri"/>
            </a:endParaRPr>
          </a:p>
        </p:txBody>
      </p:sp>
      <p:sp>
        <p:nvSpPr>
          <p:cNvPr id="2445" name="Google Shape;2445;p2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Spring Cache: @CachePut is the write-through annotation.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Always runs the method body and writes the return value to the cache.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ProductService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final ProductRepository repo;</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ProductService(ProductRepository repo) { this.repo = repo;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@CachePut(value = "products", key = "#id")             // ← write-through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 update(String id, Product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p = repo.findById(id).orElseThrow();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p.update(body);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repo.save(p);                                // saved + 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Explicit RedisTemplate alternative — useful when you need control: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ProductServiceExplicit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fields repo, cache, events; @Transactional update() saves, then publishes ProductUpdatedEvent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@TransactionalEventListener(phase = TransactionPhase.AFTER_COMMIT)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cacheAfterCommit(ProductUpdatedEvent ev)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cache.opsForValue().set("product:" + ev.product().id(),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ev.product(), Duration.ofSeconds(60));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46" name="Google Shape;2446;p2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@CachePut is the one-line write-through. The explicit version with @TransactionalEventListener ties cache writes to DB commit.</a:t>
            </a:r>
            <a:endParaRPr b="0" i="0" sz="1300" u="none" cap="none" strike="noStrike">
              <a:solidFill>
                <a:schemeClr val="dk1"/>
              </a:solidFill>
              <a:latin typeface="Calibri"/>
              <a:ea typeface="Calibri"/>
              <a:cs typeface="Calibri"/>
              <a:sym typeface="Calibri"/>
            </a:endParaRPr>
          </a:p>
        </p:txBody>
      </p:sp>
      <p:sp>
        <p:nvSpPr>
          <p:cNvPr id="2447" name="Google Shape;2447;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48" name="Google Shape;2448;p2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3" name="Shape 2453"/>
        <p:cNvGrpSpPr/>
        <p:nvPr/>
      </p:nvGrpSpPr>
      <p:grpSpPr>
        <a:xfrm>
          <a:off x="0" y="0"/>
          <a:ext cx="0" cy="0"/>
          <a:chOff x="0" y="0"/>
          <a:chExt cx="0" cy="0"/>
        </a:xfrm>
      </p:grpSpPr>
      <p:sp>
        <p:nvSpPr>
          <p:cNvPr id="2454" name="Google Shape;2454;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55" name="Google Shape;2455;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sb/93-appL-write-around.png" id="2456" name="Google Shape;2456;p22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57" name="Google Shape;2457;p2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458" name="Google Shape;2458;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59" name="Google Shape;2459;p2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64" name="Shape 2464"/>
        <p:cNvGrpSpPr/>
        <p:nvPr/>
      </p:nvGrpSpPr>
      <p:grpSpPr>
        <a:xfrm>
          <a:off x="0" y="0"/>
          <a:ext cx="0" cy="0"/>
          <a:chOff x="0" y="0"/>
          <a:chExt cx="0" cy="0"/>
        </a:xfrm>
      </p:grpSpPr>
      <p:sp>
        <p:nvSpPr>
          <p:cNvPr id="2465" name="Google Shape;2465;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66" name="Google Shape;2466;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Spring Boot</a:t>
            </a:r>
            <a:endParaRPr b="0" i="0" sz="3000" u="none" cap="none" strike="noStrike">
              <a:solidFill>
                <a:schemeClr val="dk1"/>
              </a:solidFill>
              <a:latin typeface="Calibri"/>
              <a:ea typeface="Calibri"/>
              <a:cs typeface="Calibri"/>
              <a:sym typeface="Calibri"/>
            </a:endParaRPr>
          </a:p>
        </p:txBody>
      </p:sp>
      <p:sp>
        <p:nvSpPr>
          <p:cNvPr id="2467" name="Google Shape;2467;p22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8" name="Google Shape;2468;p225"/>
          <p:cNvSpPr/>
          <p:nvPr/>
        </p:nvSpPr>
        <p:spPr>
          <a:xfrm>
            <a:off x="7108617" y="1700784"/>
            <a:ext cx="4424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Spring Cache + Spring Data Redis</a:t>
            </a:r>
            <a:endParaRPr b="0" i="0" sz="1000" u="none" cap="none" strike="noStrike">
              <a:solidFill>
                <a:schemeClr val="dk1"/>
              </a:solidFill>
              <a:latin typeface="Calibri"/>
              <a:ea typeface="Calibri"/>
              <a:cs typeface="Calibri"/>
              <a:sym typeface="Calibri"/>
            </a:endParaRPr>
          </a:p>
        </p:txBody>
      </p:sp>
      <p:sp>
        <p:nvSpPr>
          <p:cNvPr id="2469" name="Google Shape;2469;p22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Append-heavy data: events, audit logs, telemetry. Writes hit the DB only.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@RestController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@RequestMapping("/events")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EventController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EventRepository repo;</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EventController(EventRepository repo) { this.repo = repo;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@PostMapping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@Transactional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Event record(@RequestBody Event body)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repo.save(body);                              // DB only, cache untouched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@GetMapping("/{id}")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@Cacheable(value = "events", key = "#id")               // read side populates lazily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Event get(@PathVariable String id)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repo.findById(id)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.orElseThrow(() -&gt; new ResponseStatusException(NOT_FOUND));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470" name="Google Shape;2470;p22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first read populates via @Cacheable. Avoids cache thrash from one-time writes.</a:t>
            </a:r>
            <a:endParaRPr b="0" i="0" sz="1300" u="none" cap="none" strike="noStrike">
              <a:solidFill>
                <a:schemeClr val="dk1"/>
              </a:solidFill>
              <a:latin typeface="Calibri"/>
              <a:ea typeface="Calibri"/>
              <a:cs typeface="Calibri"/>
              <a:sym typeface="Calibri"/>
            </a:endParaRPr>
          </a:p>
        </p:txBody>
      </p:sp>
      <p:sp>
        <p:nvSpPr>
          <p:cNvPr id="2471" name="Google Shape;2471;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72" name="Google Shape;2472;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77" name="Shape 2477"/>
        <p:cNvGrpSpPr/>
        <p:nvPr/>
      </p:nvGrpSpPr>
      <p:grpSpPr>
        <a:xfrm>
          <a:off x="0" y="0"/>
          <a:ext cx="0" cy="0"/>
          <a:chOff x="0" y="0"/>
          <a:chExt cx="0" cy="0"/>
        </a:xfrm>
      </p:grpSpPr>
      <p:sp>
        <p:nvSpPr>
          <p:cNvPr id="2478" name="Google Shape;2478;p2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79" name="Google Shape;2479;p2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sb/94-appL-write-back.png" id="2480" name="Google Shape;2480;p22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81" name="Google Shape;2481;p22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482" name="Google Shape;2482;p2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3" name="Google Shape;2483;p2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8" name="Shape 2488"/>
        <p:cNvGrpSpPr/>
        <p:nvPr/>
      </p:nvGrpSpPr>
      <p:grpSpPr>
        <a:xfrm>
          <a:off x="0" y="0"/>
          <a:ext cx="0" cy="0"/>
          <a:chOff x="0" y="0"/>
          <a:chExt cx="0" cy="0"/>
        </a:xfrm>
      </p:grpSpPr>
      <p:sp>
        <p:nvSpPr>
          <p:cNvPr id="2489" name="Google Shape;2489;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90" name="Google Shape;2490;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@Scheduled in Spring Boot</a:t>
            </a:r>
            <a:endParaRPr b="0" i="0" sz="3000" u="none" cap="none" strike="noStrike">
              <a:solidFill>
                <a:schemeClr val="dk1"/>
              </a:solidFill>
              <a:latin typeface="Calibri"/>
              <a:ea typeface="Calibri"/>
              <a:cs typeface="Calibri"/>
              <a:sym typeface="Calibri"/>
            </a:endParaRPr>
          </a:p>
        </p:txBody>
      </p:sp>
      <p:sp>
        <p:nvSpPr>
          <p:cNvPr id="2491" name="Google Shape;2491;p22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2" name="Google Shape;2492;p227"/>
          <p:cNvSpPr/>
          <p:nvPr/>
        </p:nvSpPr>
        <p:spPr>
          <a:xfrm>
            <a:off x="5965617" y="1700784"/>
            <a:ext cx="5567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@Scheduled + Spring Data Redis + JdbcClient</a:t>
            </a:r>
            <a:endParaRPr b="0" i="0" sz="1000" u="none" cap="none" strike="noStrike">
              <a:solidFill>
                <a:schemeClr val="dk1"/>
              </a:solidFill>
              <a:latin typeface="Calibri"/>
              <a:ea typeface="Calibri"/>
              <a:cs typeface="Calibri"/>
              <a:sym typeface="Calibri"/>
            </a:endParaRPr>
          </a:p>
        </p:txBody>
      </p:sp>
      <p:sp>
        <p:nvSpPr>
          <p:cNvPr id="2493" name="Google Shape;2493;p22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@PutMapping("/write-back/metrics/{mid}")   // CacheController (excerpt)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ResponseEntity&lt;Map&lt;String, Object&gt;&gt; writeBackWrite(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@PathVariable String mid, @RequestBody Map&lt;String, Object&gt;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HSET metric:&lt;mid&gt; {value, tags}; SADD metric:dirty &lt;mid&gt; (503 when Redis is down)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ResponseEntity.accepted().body(Map.of("ok", true, "pattern", "write-back",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"action", "cached-for-flush"));               // 202: queued, not yet durable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examples/25-caching/spring-boot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@Scheduled(fixedDelayString = "${cache-service.flush-period-ms:1000}")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void flusher() {                                // BackgroundTasks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(System.currentTimeMillis() &lt; nextFlushAt) return;   // backing off after a failure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Set&lt;String&gt; ids = cache.spop("metric:dirty", FLUSH_BATCH);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(ids == null || ids.isEmpty()) return;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List&lt;String&gt; failed = new ArrayList&lt;&gt;();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(String mid : ids)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 upsert: an id flushed twice is one 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jdbc.sql("INSERT INTO metrics (id, payload) VALUES (?, ?::jsonb)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"ON CONFLICT (id) DO UPDATE SET payload = ?::jsonb, ts = NOW()")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.param(mid).param(json).param(json).update();   // json: the cached hash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cache.hdel("metric:attempts", mid);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(Exception e) { failed.add(mid); }     // logged: flush failed for &lt;mid&gt;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(failed.isEmpty()) { failures = 0; return;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nextFlushAt = System.currentTimeMillis() + Math.min(flushPeriodMs &lt;&lt; ++failures, 8000);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requeue(failed);   // HINCRBY metric:attempts; SADD metric:dirty, or metric:failed at 5</a:t>
            </a:r>
            <a:endParaRPr b="0" i="0" sz="900" u="none" cap="none" strike="noStrike">
              <a:solidFill>
                <a:schemeClr val="dk1"/>
              </a:solidFill>
              <a:latin typeface="Calibri"/>
              <a:ea typeface="Calibri"/>
              <a:cs typeface="Calibri"/>
              <a:sym typeface="Calibri"/>
            </a:endParaRPr>
          </a:p>
        </p:txBody>
      </p:sp>
      <p:sp>
        <p:nvSpPr>
          <p:cNvPr id="2494" name="Google Shape;2494;p22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495" name="Google Shape;2495;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6" name="Google Shape;2496;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01" name="Shape 2501"/>
        <p:cNvGrpSpPr/>
        <p:nvPr/>
      </p:nvGrpSpPr>
      <p:grpSpPr>
        <a:xfrm>
          <a:off x="0" y="0"/>
          <a:ext cx="0" cy="0"/>
          <a:chOff x="0" y="0"/>
          <a:chExt cx="0" cy="0"/>
        </a:xfrm>
      </p:grpSpPr>
      <p:sp>
        <p:nvSpPr>
          <p:cNvPr id="2502" name="Google Shape;2502;p2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503" name="Google Shape;2503;p2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sb/95-appL-refresh-ahead.png" id="2504" name="Google Shape;2504;p22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05" name="Google Shape;2505;p22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506" name="Google Shape;2506;p2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07" name="Google Shape;2507;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2" name="Shape 2512"/>
        <p:cNvGrpSpPr/>
        <p:nvPr/>
      </p:nvGrpSpPr>
      <p:grpSpPr>
        <a:xfrm>
          <a:off x="0" y="0"/>
          <a:ext cx="0" cy="0"/>
          <a:chOff x="0" y="0"/>
          <a:chExt cx="0" cy="0"/>
        </a:xfrm>
      </p:grpSpPr>
      <p:sp>
        <p:nvSpPr>
          <p:cNvPr id="2513" name="Google Shape;2513;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514" name="Google Shape;2514;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Spring Boot</a:t>
            </a:r>
            <a:endParaRPr b="0" i="0" sz="3000" u="none" cap="none" strike="noStrike">
              <a:solidFill>
                <a:schemeClr val="dk1"/>
              </a:solidFill>
              <a:latin typeface="Calibri"/>
              <a:ea typeface="Calibri"/>
              <a:cs typeface="Calibri"/>
              <a:sym typeface="Calibri"/>
            </a:endParaRPr>
          </a:p>
        </p:txBody>
      </p:sp>
      <p:sp>
        <p:nvSpPr>
          <p:cNvPr id="2515" name="Google Shape;2515;p22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6" name="Google Shape;2516;p229"/>
          <p:cNvSpPr/>
          <p:nvPr/>
        </p:nvSpPr>
        <p:spPr>
          <a:xfrm>
            <a:off x="6422817" y="1700784"/>
            <a:ext cx="5110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@Scheduled + ShedLock + Spring Data Redis</a:t>
            </a:r>
            <a:endParaRPr b="0" i="0" sz="1000" u="none" cap="none" strike="noStrike">
              <a:solidFill>
                <a:schemeClr val="dk1"/>
              </a:solidFill>
              <a:latin typeface="Calibri"/>
              <a:ea typeface="Calibri"/>
              <a:cs typeface="Calibri"/>
              <a:sym typeface="Calibri"/>
            </a:endParaRPr>
          </a:p>
        </p:txBody>
      </p:sp>
      <p:sp>
        <p:nvSpPr>
          <p:cNvPr id="2517" name="Google Shape;2517;p22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ProductService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TTL 60 s, REFRESH_BEFORE_S 10; repo, cache and hot (RedisTemplate) injected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Product findById(String 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hot.opsForZSet().add("product:hot", id, System.currentTimeMillis());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then cache-aside on product:{id} with TTL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@Scheduled(fixedDelay = 5000)                      // every 5 seconds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@SchedulerLock(name = "refresh-hot")              // ShedLock: only one node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refreshHot()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long cutoff = System.currentTimeMillis() - 5 * 60_000L;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hot.opsForZSet().removeRangeByScore("product:hot", 0, cutoff);</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Set&lt;String&gt; hotIds = hot.opsForZSet().range("product:hot", 0, -1);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(hotIds == null) return;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(String id : hotIds)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key = "product:" + 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Long ttl = cache.getExpire(key, TimeUnit.SECONDS);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(ttl != null &amp;&amp; ttl &gt; 0 &amp;&amp; ttl &lt; REFRESH_BEFORE_S)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repo.findById(id).ifPresent(p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cache.opsForValue().set(key, p, TTL));   // refresh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18" name="Google Shape;2518;p22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Hot keys live in a Redis sorted set scored by last-access time. Refresh those with low TTL.</a:t>
            </a:r>
            <a:endParaRPr b="0" i="0" sz="1300" u="none" cap="none" strike="noStrike">
              <a:solidFill>
                <a:schemeClr val="dk1"/>
              </a:solidFill>
              <a:latin typeface="Calibri"/>
              <a:ea typeface="Calibri"/>
              <a:cs typeface="Calibri"/>
              <a:sym typeface="Calibri"/>
            </a:endParaRPr>
          </a:p>
        </p:txBody>
      </p:sp>
      <p:sp>
        <p:nvSpPr>
          <p:cNvPr id="2519" name="Google Shape;2519;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20" name="Google Shape;2520;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5" name="Shape 2525"/>
        <p:cNvGrpSpPr/>
        <p:nvPr/>
      </p:nvGrpSpPr>
      <p:grpSpPr>
        <a:xfrm>
          <a:off x="0" y="0"/>
          <a:ext cx="0" cy="0"/>
          <a:chOff x="0" y="0"/>
          <a:chExt cx="0" cy="0"/>
        </a:xfrm>
      </p:grpSpPr>
      <p:sp>
        <p:nvSpPr>
          <p:cNvPr id="2526" name="Google Shape;2526;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527" name="Google Shape;2527;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528" name="Google Shape;2528;p23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your read patterns first — Micrometer + Spring Actuator's cache metrics give you hit/miss ratios per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explicit entryTtl on RedisCacheConfiguration or maxmemory-policy on Redis (allkeys-lru typical).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Avoid cache stampedes (thundering herd): when a hot key expires and many concurrent Spring Pods all miss at once, they all hit the DB. Mitigate with a Redisson distributed lock per key, or refresh-ahead, or jittered TTLs.</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can persist for the full TTL. Use @CacheEvict on writes, or short TTL.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1" i="0" lang="en-US" sz="1600" u="none" cap="none" strike="noStrike">
                <a:solidFill>
                  <a:srgbClr val="151515"/>
                </a:solidFill>
                <a:latin typeface="Red Hat Text"/>
                <a:ea typeface="Red Hat Text"/>
                <a:cs typeface="Red Hat Text"/>
                <a:sym typeface="Red Hat Text"/>
              </a:rPr>
              <a:t>Treat the cache as a performance optimisation, never as the source of truth. A Redis outage must mean slower reads, not data loss — always have a JPA fallback path. Test this by stopping Redis in staging.</a:t>
            </a:r>
            <a:endParaRPr b="0" i="0" sz="1600" u="none" cap="none" strike="noStrike">
              <a:solidFill>
                <a:schemeClr val="dk1"/>
              </a:solidFill>
              <a:latin typeface="Calibri"/>
              <a:ea typeface="Calibri"/>
              <a:cs typeface="Calibri"/>
              <a:sym typeface="Calibri"/>
            </a:endParaRPr>
          </a:p>
        </p:txBody>
      </p:sp>
      <p:sp>
        <p:nvSpPr>
          <p:cNvPr id="2529" name="Google Shape;2529;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30" name="Google Shape;2530;p23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5" name="Shape 2535"/>
        <p:cNvGrpSpPr/>
        <p:nvPr/>
      </p:nvGrpSpPr>
      <p:grpSpPr>
        <a:xfrm>
          <a:off x="0" y="0"/>
          <a:ext cx="0" cy="0"/>
          <a:chOff x="0" y="0"/>
          <a:chExt cx="0" cy="0"/>
        </a:xfrm>
      </p:grpSpPr>
      <p:sp>
        <p:nvSpPr>
          <p:cNvPr id="2536" name="Google Shape;2536;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537" name="Google Shape;2537;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538" name="Google Shape;2538;p23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(@Cacheable) — use when the read path is repetitive across the codebase and you want declarative caching.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(@CachePut) — use when zero stale-read risk after a write matters more than write latency.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 use only when extreme write throughput is the constraint and eventual durability is 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 use when a small set of hot keys serves most traffic and miss latency is unacceptable.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Spring Boot systems use @Cacheable for 95% of cases, with refresh-ahead on identified hot keys and @CachePut where stale-read is forbidden. Mix patterns; don't pick one as the rule.</a:t>
            </a:r>
            <a:endParaRPr b="0" i="0" sz="1700" u="none" cap="none" strike="noStrike">
              <a:solidFill>
                <a:schemeClr val="dk1"/>
              </a:solidFill>
              <a:latin typeface="Calibri"/>
              <a:ea typeface="Calibri"/>
              <a:cs typeface="Calibri"/>
              <a:sym typeface="Calibri"/>
            </a:endParaRPr>
          </a:p>
        </p:txBody>
      </p:sp>
      <p:sp>
        <p:nvSpPr>
          <p:cNvPr id="2539" name="Google Shape;2539;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0" name="Google Shape;2540;p2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45" name="Shape 2545"/>
        <p:cNvGrpSpPr/>
        <p:nvPr/>
      </p:nvGrpSpPr>
      <p:grpSpPr>
        <a:xfrm>
          <a:off x="0" y="0"/>
          <a:ext cx="0" cy="0"/>
          <a:chOff x="0" y="0"/>
          <a:chExt cx="0" cy="0"/>
        </a:xfrm>
      </p:grpSpPr>
      <p:pic>
        <p:nvPicPr>
          <p:cNvPr descr="/home/claude/work/assets/rh-divider-bg.png" id="2546" name="Google Shape;2546;p23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47" name="Google Shape;2547;p23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548" name="Google Shape;2548;p23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549" name="Google Shape;2549;p23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550" name="Google Shape;2550;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5" name="Shape 2555"/>
        <p:cNvGrpSpPr/>
        <p:nvPr/>
      </p:nvGrpSpPr>
      <p:grpSpPr>
        <a:xfrm>
          <a:off x="0" y="0"/>
          <a:ext cx="0" cy="0"/>
          <a:chOff x="0" y="0"/>
          <a:chExt cx="0" cy="0"/>
        </a:xfrm>
      </p:grpSpPr>
      <p:sp>
        <p:nvSpPr>
          <p:cNvPr id="2556" name="Google Shape;2556;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57" name="Google Shape;2557;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558" name="Google Shape;2558;p23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559" name="Google Shape;2559;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60" name="Google Shape;2560;p23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5" name="Shape 2565"/>
        <p:cNvGrpSpPr/>
        <p:nvPr/>
      </p:nvGrpSpPr>
      <p:grpSpPr>
        <a:xfrm>
          <a:off x="0" y="0"/>
          <a:ext cx="0" cy="0"/>
          <a:chOff x="0" y="0"/>
          <a:chExt cx="0" cy="0"/>
        </a:xfrm>
      </p:grpSpPr>
      <p:sp>
        <p:nvSpPr>
          <p:cNvPr id="2566" name="Google Shape;2566;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67" name="Google Shape;2567;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sb/110-failure-taxonomy.png" id="2568" name="Google Shape;2568;p234"/>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569" name="Google Shape;2569;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570" name="Google Shape;2570;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71" name="Google Shape;2571;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6" name="Shape 2576"/>
        <p:cNvGrpSpPr/>
        <p:nvPr/>
      </p:nvGrpSpPr>
      <p:grpSpPr>
        <a:xfrm>
          <a:off x="0" y="0"/>
          <a:ext cx="0" cy="0"/>
          <a:chOff x="0" y="0"/>
          <a:chExt cx="0" cy="0"/>
        </a:xfrm>
      </p:grpSpPr>
      <p:sp>
        <p:nvSpPr>
          <p:cNvPr id="2577" name="Google Shape;2577;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78" name="Google Shape;2578;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sb/111-failure-network-partition.png" id="2579" name="Google Shape;2579;p2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80" name="Google Shape;2580;p2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581" name="Google Shape;2581;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82" name="Google Shape;2582;p2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7" name="Shape 2587"/>
        <p:cNvGrpSpPr/>
        <p:nvPr/>
      </p:nvGrpSpPr>
      <p:grpSpPr>
        <a:xfrm>
          <a:off x="0" y="0"/>
          <a:ext cx="0" cy="0"/>
          <a:chOff x="0" y="0"/>
          <a:chExt cx="0" cy="0"/>
        </a:xfrm>
      </p:grpSpPr>
      <p:sp>
        <p:nvSpPr>
          <p:cNvPr id="2588" name="Google Shape;2588;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89" name="Google Shape;2589;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sb/112-failure-split-brain.png" id="2590" name="Google Shape;2590;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91" name="Google Shape;2591;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592" name="Google Shape;2592;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93" name="Google Shape;2593;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8" name="Shape 2598"/>
        <p:cNvGrpSpPr/>
        <p:nvPr/>
      </p:nvGrpSpPr>
      <p:grpSpPr>
        <a:xfrm>
          <a:off x="0" y="0"/>
          <a:ext cx="0" cy="0"/>
          <a:chOff x="0" y="0"/>
          <a:chExt cx="0" cy="0"/>
        </a:xfrm>
      </p:grpSpPr>
      <p:sp>
        <p:nvSpPr>
          <p:cNvPr id="2599" name="Google Shape;2599;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sb/113-failure-partial.png" id="2601" name="Google Shape;2601;p23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02" name="Google Shape;2602;p2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603" name="Google Shape;2603;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4" name="Google Shape;2604;p2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9" name="Shape 2609"/>
        <p:cNvGrpSpPr/>
        <p:nvPr/>
      </p:nvGrpSpPr>
      <p:grpSpPr>
        <a:xfrm>
          <a:off x="0" y="0"/>
          <a:ext cx="0" cy="0"/>
          <a:chOff x="0" y="0"/>
          <a:chExt cx="0" cy="0"/>
        </a:xfrm>
      </p:grpSpPr>
      <p:sp>
        <p:nvSpPr>
          <p:cNvPr id="2610" name="Google Shape;2610;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611" name="Google Shape;2611;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sb/114-failure-gray.png" id="2612" name="Google Shape;2612;p238"/>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613" name="Google Shape;2613;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614" name="Google Shape;2614;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5" name="Google Shape;2615;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20" name="Shape 2620"/>
        <p:cNvGrpSpPr/>
        <p:nvPr/>
      </p:nvGrpSpPr>
      <p:grpSpPr>
        <a:xfrm>
          <a:off x="0" y="0"/>
          <a:ext cx="0" cy="0"/>
          <a:chOff x="0" y="0"/>
          <a:chExt cx="0" cy="0"/>
        </a:xfrm>
      </p:grpSpPr>
      <p:sp>
        <p:nvSpPr>
          <p:cNvPr id="2621" name="Google Shape;2621;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622" name="Google Shape;2622;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sb/115-failure-amplification.png" id="2623" name="Google Shape;2623;p2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624" name="Google Shape;2624;p2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625" name="Google Shape;2625;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6" name="Google Shape;2626;p2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1" name="Shape 2631"/>
        <p:cNvGrpSpPr/>
        <p:nvPr/>
      </p:nvGrpSpPr>
      <p:grpSpPr>
        <a:xfrm>
          <a:off x="0" y="0"/>
          <a:ext cx="0" cy="0"/>
          <a:chOff x="0" y="0"/>
          <a:chExt cx="0" cy="0"/>
        </a:xfrm>
      </p:grpSpPr>
      <p:sp>
        <p:nvSpPr>
          <p:cNvPr id="2632" name="Google Shape;2632;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633" name="Google Shape;2633;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sb/116-failure-cascading.png" id="2634" name="Google Shape;2634;p24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35" name="Google Shape;2635;p2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636" name="Google Shape;2636;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7" name="Google Shape;2637;p2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2" name="Shape 2642"/>
        <p:cNvGrpSpPr/>
        <p:nvPr/>
      </p:nvGrpSpPr>
      <p:grpSpPr>
        <a:xfrm>
          <a:off x="0" y="0"/>
          <a:ext cx="0" cy="0"/>
          <a:chOff x="0" y="0"/>
          <a:chExt cx="0" cy="0"/>
        </a:xfrm>
      </p:grpSpPr>
      <p:sp>
        <p:nvSpPr>
          <p:cNvPr id="2643" name="Google Shape;2643;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645" name="Google Shape;2645;p24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is covered with code; the final matrix maps patterns to modes.</a:t>
            </a:r>
            <a:endParaRPr b="0" i="0" sz="1400" u="none" cap="none" strike="noStrike">
              <a:solidFill>
                <a:schemeClr val="dk1"/>
              </a:solidFill>
              <a:latin typeface="Calibri"/>
              <a:ea typeface="Calibri"/>
              <a:cs typeface="Calibri"/>
              <a:sym typeface="Calibri"/>
            </a:endParaRPr>
          </a:p>
        </p:txBody>
      </p:sp>
      <p:sp>
        <p:nvSpPr>
          <p:cNvPr id="2646" name="Google Shape;2646;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7" name="Google Shape;2647;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2" name="Shape 2652"/>
        <p:cNvGrpSpPr/>
        <p:nvPr/>
      </p:nvGrpSpPr>
      <p:grpSpPr>
        <a:xfrm>
          <a:off x="0" y="0"/>
          <a:ext cx="0" cy="0"/>
          <a:chOff x="0" y="0"/>
          <a:chExt cx="0" cy="0"/>
        </a:xfrm>
      </p:grpSpPr>
      <p:sp>
        <p:nvSpPr>
          <p:cNvPr id="2653" name="Google Shape;2653;p2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54" name="Google Shape;2654;p2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sb/119-failure-timeout-deadline.png" id="2655" name="Google Shape;2655;p242"/>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656" name="Google Shape;2656;p2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657" name="Google Shape;2657;p2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58" name="Google Shape;2658;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3" name="Shape 2663"/>
        <p:cNvGrpSpPr/>
        <p:nvPr/>
      </p:nvGrpSpPr>
      <p:grpSpPr>
        <a:xfrm>
          <a:off x="0" y="0"/>
          <a:ext cx="0" cy="0"/>
          <a:chOff x="0" y="0"/>
          <a:chExt cx="0" cy="0"/>
        </a:xfrm>
      </p:grpSpPr>
      <p:sp>
        <p:nvSpPr>
          <p:cNvPr id="2664" name="Google Shape;2664;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65" name="Google Shape;2665;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666" name="Google Shape;2666;p24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7" name="Google Shape;2667;p243"/>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Resilience4j</a:t>
            </a:r>
            <a:endParaRPr b="0" i="0" sz="1000" u="none" cap="none" strike="noStrike">
              <a:solidFill>
                <a:schemeClr val="dk1"/>
              </a:solidFill>
              <a:latin typeface="Calibri"/>
              <a:ea typeface="Calibri"/>
              <a:cs typeface="Calibri"/>
              <a:sym typeface="Calibri"/>
            </a:endParaRPr>
          </a:p>
        </p:txBody>
      </p:sp>
      <p:sp>
        <p:nvSpPr>
          <p:cNvPr id="2668" name="Google Shape;2668;p24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PaymentService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private final RestClient client;            // built with timeouts (below)</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@TimeLimiter(name = "payment")              // Resilience4j: caps total time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CompletableFuture&lt;Receipt&gt; charge(Order o, long deadlineMs)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long remaining = deadlineMs - elapsedMs();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(remaining &lt; 50)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CompletableFuture.failedFuture(new DeadlineExceeded());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CompletableFuture.supplyAsync(()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client.post().uri("/charge")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.header("X-Deadline-Ms", Long.toString(remaining))  // propagate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.body(o).retrieve().body(Receipt.class));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RestClient factory: ClientHttpRequestFactorySettings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.withConnectTimeout(500ms).withReadTimeout(2s)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application.yml: resilience4j.timelimiter.instances.payment.timeout-duration: 2s</a:t>
            </a:r>
            <a:endParaRPr b="0" i="0" sz="950" u="none" cap="none" strike="noStrike">
              <a:solidFill>
                <a:schemeClr val="dk1"/>
              </a:solidFill>
              <a:latin typeface="Calibri"/>
              <a:ea typeface="Calibri"/>
              <a:cs typeface="Calibri"/>
              <a:sym typeface="Calibri"/>
            </a:endParaRPr>
          </a:p>
        </p:txBody>
      </p:sp>
      <p:sp>
        <p:nvSpPr>
          <p:cNvPr id="2669" name="Google Shape;2669;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0" name="Google Shape;2670;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5" name="Shape 2675"/>
        <p:cNvGrpSpPr/>
        <p:nvPr/>
      </p:nvGrpSpPr>
      <p:grpSpPr>
        <a:xfrm>
          <a:off x="0" y="0"/>
          <a:ext cx="0" cy="0"/>
          <a:chOff x="0" y="0"/>
          <a:chExt cx="0" cy="0"/>
        </a:xfrm>
      </p:grpSpPr>
      <p:sp>
        <p:nvSpPr>
          <p:cNvPr id="2676" name="Google Shape;2676;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77" name="Google Shape;2677;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sb/118-failure-retry-backoff.png" id="2678" name="Google Shape;2678;p2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79" name="Google Shape;2679;p2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680" name="Google Shape;2680;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1" name="Google Shape;2681;p2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6" name="Shape 2686"/>
        <p:cNvGrpSpPr/>
        <p:nvPr/>
      </p:nvGrpSpPr>
      <p:grpSpPr>
        <a:xfrm>
          <a:off x="0" y="0"/>
          <a:ext cx="0" cy="0"/>
          <a:chOff x="0" y="0"/>
          <a:chExt cx="0" cy="0"/>
        </a:xfrm>
      </p:grpSpPr>
      <p:sp>
        <p:nvSpPr>
          <p:cNvPr id="2687" name="Google Shape;2687;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88" name="Google Shape;2688;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689" name="Google Shape;2689;p24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0" name="Google Shape;2690;p245"/>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Resilience4j</a:t>
            </a:r>
            <a:endParaRPr b="0" i="0" sz="1000" u="none" cap="none" strike="noStrike">
              <a:solidFill>
                <a:schemeClr val="dk1"/>
              </a:solidFill>
              <a:latin typeface="Calibri"/>
              <a:ea typeface="Calibri"/>
              <a:cs typeface="Calibri"/>
              <a:sym typeface="Calibri"/>
            </a:endParaRPr>
          </a:p>
        </p:txBody>
      </p:sp>
      <p:sp>
        <p:nvSpPr>
          <p:cNvPr id="2691" name="Google Shape;2691;p24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QuoteService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QuoteClient client;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@Retry(name = "quote")                  // config in application.yml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@CircuitBreaker(name = "quote")         // always pair retry with a breaker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Quote quote(String symbol) {     // idempotent GET only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client.getQuote(symbol);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application.yml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resilience4j.retry.instances.quote: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max-attempts: 3</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wait-duration: 100ms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enable-exponential-backoff: true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exponential-backoff-multiplier: 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enable-randomized-wait: true          </a:t>
            </a:r>
            <a:r>
              <a:rPr b="0" i="0" lang="en-US" sz="1000" u="none" cap="none" strike="noStrike">
                <a:solidFill>
                  <a:srgbClr val="8FB98F"/>
                </a:solidFill>
                <a:latin typeface="Red Hat Mono"/>
                <a:ea typeface="Red Hat Mono"/>
                <a:cs typeface="Red Hat Mono"/>
                <a:sym typeface="Red Hat Mono"/>
              </a:rPr>
              <a:t># jitter — do not omit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retry-exceptions: [java.io.IOException]   </a:t>
            </a:r>
            <a:r>
              <a:rPr b="0" i="0" lang="en-US" sz="1000" u="none" cap="none" strike="noStrike">
                <a:solidFill>
                  <a:srgbClr val="8FB98F"/>
                </a:solidFill>
                <a:latin typeface="Red Hat Mono"/>
                <a:ea typeface="Red Hat Mono"/>
                <a:cs typeface="Red Hat Mono"/>
                <a:sym typeface="Red Hat Mono"/>
              </a:rPr>
              <a:t># transient only</a:t>
            </a:r>
            <a:endParaRPr b="0" i="0" sz="1000" u="none" cap="none" strike="noStrike">
              <a:solidFill>
                <a:schemeClr val="dk1"/>
              </a:solidFill>
              <a:latin typeface="Calibri"/>
              <a:ea typeface="Calibri"/>
              <a:cs typeface="Calibri"/>
              <a:sym typeface="Calibri"/>
            </a:endParaRPr>
          </a:p>
        </p:txBody>
      </p:sp>
      <p:sp>
        <p:nvSpPr>
          <p:cNvPr id="2692" name="Google Shape;2692;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3" name="Google Shape;2693;p2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8" name="Shape 2698"/>
        <p:cNvGrpSpPr/>
        <p:nvPr/>
      </p:nvGrpSpPr>
      <p:grpSpPr>
        <a:xfrm>
          <a:off x="0" y="0"/>
          <a:ext cx="0" cy="0"/>
          <a:chOff x="0" y="0"/>
          <a:chExt cx="0" cy="0"/>
        </a:xfrm>
      </p:grpSpPr>
      <p:sp>
        <p:nvSpPr>
          <p:cNvPr id="2699" name="Google Shape;2699;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700" name="Google Shape;2700;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sb/117-failure-circuit-breaker.png" id="2701" name="Google Shape;2701;p24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02" name="Google Shape;2702;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703" name="Google Shape;2703;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4" name="Google Shape;2704;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9" name="Shape 2709"/>
        <p:cNvGrpSpPr/>
        <p:nvPr/>
      </p:nvGrpSpPr>
      <p:grpSpPr>
        <a:xfrm>
          <a:off x="0" y="0"/>
          <a:ext cx="0" cy="0"/>
          <a:chOff x="0" y="0"/>
          <a:chExt cx="0" cy="0"/>
        </a:xfrm>
      </p:grpSpPr>
      <p:sp>
        <p:nvSpPr>
          <p:cNvPr id="2710" name="Google Shape;2710;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711" name="Google Shape;2711;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712" name="Google Shape;2712;p24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3" name="Google Shape;2713;p247"/>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 + Resilience4j</a:t>
            </a:r>
            <a:endParaRPr b="0" i="0" sz="1000" u="none" cap="none" strike="noStrike">
              <a:solidFill>
                <a:schemeClr val="dk1"/>
              </a:solidFill>
              <a:latin typeface="Calibri"/>
              <a:ea typeface="Calibri"/>
              <a:cs typeface="Calibri"/>
              <a:sym typeface="Calibri"/>
            </a:endParaRPr>
          </a:p>
        </p:txBody>
      </p:sp>
      <p:sp>
        <p:nvSpPr>
          <p:cNvPr id="2714" name="Google Shape;2714;p24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PaymentService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private final PaymentClient client;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private final Outbox outbox;</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@CircuitBreaker(name = "payment", fallbackMethod = "queueForLater")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Receipt charge(Order o)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client.charge(o);       // while OPEN: skipped, fallback runs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Receipt queueForLater(Order o, Throwable t) {   // graceful degradation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outbox.enqueue(o);</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Receipt.pending(o.id());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application.yml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resilience4j.circuitbreaker.instances.payment: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sliding-window-size: 10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failure-rate-threshold: 50          </a:t>
            </a:r>
            <a:r>
              <a:rPr b="0" i="0" lang="en-US" sz="950" u="none" cap="none" strike="noStrike">
                <a:solidFill>
                  <a:srgbClr val="8FB98F"/>
                </a:solidFill>
                <a:latin typeface="Red Hat Mono"/>
                <a:ea typeface="Red Hat Mono"/>
                <a:cs typeface="Red Hat Mono"/>
                <a:sym typeface="Red Hat Mono"/>
              </a:rPr>
              <a:t># open at 50%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wait-duration-in-open-state: 5s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permitted-number-of-calls-in-half-open-state: 2</a:t>
            </a:r>
            <a:endParaRPr b="0" i="0" sz="950" u="none" cap="none" strike="noStrike">
              <a:solidFill>
                <a:schemeClr val="dk1"/>
              </a:solidFill>
              <a:latin typeface="Calibri"/>
              <a:ea typeface="Calibri"/>
              <a:cs typeface="Calibri"/>
              <a:sym typeface="Calibri"/>
            </a:endParaRPr>
          </a:p>
        </p:txBody>
      </p:sp>
      <p:sp>
        <p:nvSpPr>
          <p:cNvPr id="2715" name="Google Shape;2715;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16" name="Google Shape;2716;p2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1" name="Shape 2721"/>
        <p:cNvGrpSpPr/>
        <p:nvPr/>
      </p:nvGrpSpPr>
      <p:grpSpPr>
        <a:xfrm>
          <a:off x="0" y="0"/>
          <a:ext cx="0" cy="0"/>
          <a:chOff x="0" y="0"/>
          <a:chExt cx="0" cy="0"/>
        </a:xfrm>
      </p:grpSpPr>
      <p:sp>
        <p:nvSpPr>
          <p:cNvPr id="2722" name="Google Shape;2722;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723" name="Google Shape;2723;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724" name="Google Shape;2724;p2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Resilience4j Bulkhead (semaphore or thread-pool flavour, via BulkheadRegistry), paired with @TimeLimiter.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725" name="Google Shape;2725;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26" name="Google Shape;2726;p2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31" name="Shape 2731"/>
        <p:cNvGrpSpPr/>
        <p:nvPr/>
      </p:nvGrpSpPr>
      <p:grpSpPr>
        <a:xfrm>
          <a:off x="0" y="0"/>
          <a:ext cx="0" cy="0"/>
          <a:chOff x="0" y="0"/>
          <a:chExt cx="0" cy="0"/>
        </a:xfrm>
      </p:grpSpPr>
      <p:sp>
        <p:nvSpPr>
          <p:cNvPr id="2732" name="Google Shape;2732;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733" name="Google Shape;2733;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734" name="Google Shape;2734;p24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735" name="Google Shape;2735;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36" name="Google Shape;2736;p2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1" name="Shape 2741"/>
        <p:cNvGrpSpPr/>
        <p:nvPr/>
      </p:nvGrpSpPr>
      <p:grpSpPr>
        <a:xfrm>
          <a:off x="0" y="0"/>
          <a:ext cx="0" cy="0"/>
          <a:chOff x="0" y="0"/>
          <a:chExt cx="0" cy="0"/>
        </a:xfrm>
      </p:grpSpPr>
      <p:sp>
        <p:nvSpPr>
          <p:cNvPr id="2742" name="Google Shape;2742;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743" name="Google Shape;2743;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sb/120-failure-istio-resilience.png" id="2744" name="Google Shape;2744;p25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45" name="Google Shape;2745;p25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746" name="Google Shape;2746;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47" name="Google Shape;2747;p25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52" name="Shape 2752"/>
        <p:cNvGrpSpPr/>
        <p:nvPr/>
      </p:nvGrpSpPr>
      <p:grpSpPr>
        <a:xfrm>
          <a:off x="0" y="0"/>
          <a:ext cx="0" cy="0"/>
          <a:chOff x="0" y="0"/>
          <a:chExt cx="0" cy="0"/>
        </a:xfrm>
      </p:grpSpPr>
      <p:sp>
        <p:nvSpPr>
          <p:cNvPr id="2753" name="Google Shape;2753;p2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754" name="Google Shape;2754;p2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755" name="Google Shape;2755;p25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6" name="Google Shape;2756;p251"/>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Spring Boot 4</a:t>
            </a:r>
            <a:endParaRPr b="0" i="0" sz="1000" u="none" cap="none" strike="noStrike">
              <a:solidFill>
                <a:schemeClr val="dk1"/>
              </a:solidFill>
              <a:latin typeface="Calibri"/>
              <a:ea typeface="Calibri"/>
              <a:cs typeface="Calibri"/>
              <a:sym typeface="Calibri"/>
            </a:endParaRPr>
          </a:p>
        </p:txBody>
      </p:sp>
      <p:sp>
        <p:nvSpPr>
          <p:cNvPr id="2757" name="Google Shape;2757;p25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excerpt, examples/21-graceful-shutdown/spring-boot: one SIGTERM drives the drain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application.properties: server.shutdown=graceful, timeout-per-shutdown-phase=20s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Signal.handle(new Signal("TERM"), signal -&gt; {      // registered before SpringApplication.run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ShutdownState state = ShutdownState.getInstance();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(!state.markShuttingDown()) return;          // 1. readiness flips: /readyz answers 503</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new Thread(() -&gt;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try { Thread.sleep(drainDelaySeconds() * 1000); }   // 2. the LB stops routing (5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catch (InterruptedException e) { Thread.currentThread().interrupt();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System.exit(0);              // 3. graceful shutdown drains in-flight HTTP (20 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"drain").start();                            // 4. the context closes the pool, exit 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@GetMapping("/readyz")                              // OrderController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ResponseEntity&lt;Map&lt;String, Object&gt;&gt; readyz()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(shutdownState.isShuttingDown())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ResponseEntity.status(HttpStatus.SERVICE_UNAVAILABLE)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.body(Map.of("ready", false, "reason", "shutting down"));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 ... SELECT 1: 200 {"ready": true}, or 503 "db unreachable"; /healthz stays 200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758" name="Google Shape;2758;p2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222</a:t>
            </a:r>
            <a:endParaRPr b="0" i="0" sz="1000" u="none" cap="none" strike="noStrike">
              <a:solidFill>
                <a:schemeClr val="dk1"/>
              </a:solidFill>
              <a:latin typeface="Calibri"/>
              <a:ea typeface="Calibri"/>
              <a:cs typeface="Calibri"/>
              <a:sym typeface="Calibri"/>
            </a:endParaRPr>
          </a:p>
        </p:txBody>
      </p:sp>
      <p:pic>
        <p:nvPicPr>
          <p:cNvPr descr="/home/claude/work/assets/rh-logo.png" id="2759" name="Google Shape;2759;p25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64" name="Shape 2764"/>
        <p:cNvGrpSpPr/>
        <p:nvPr/>
      </p:nvGrpSpPr>
      <p:grpSpPr>
        <a:xfrm>
          <a:off x="0" y="0"/>
          <a:ext cx="0" cy="0"/>
          <a:chOff x="0" y="0"/>
          <a:chExt cx="0" cy="0"/>
        </a:xfrm>
      </p:grpSpPr>
      <p:sp>
        <p:nvSpPr>
          <p:cNvPr id="2765" name="Google Shape;2765;p2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766" name="Google Shape;2766;p2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767" name="Google Shape;2767;p2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768" name="Google Shape;2768;p2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223</a:t>
            </a:r>
            <a:endParaRPr b="0" i="0" sz="1000" u="none" cap="none" strike="noStrike">
              <a:solidFill>
                <a:schemeClr val="dk1"/>
              </a:solidFill>
              <a:latin typeface="Calibri"/>
              <a:ea typeface="Calibri"/>
              <a:cs typeface="Calibri"/>
              <a:sym typeface="Calibri"/>
            </a:endParaRPr>
          </a:p>
        </p:txBody>
      </p:sp>
      <p:pic>
        <p:nvPicPr>
          <p:cNvPr descr="/home/claude/work/assets/rh-logo.png" id="2769" name="Google Shape;2769;p2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74" name="Shape 2774"/>
        <p:cNvGrpSpPr/>
        <p:nvPr/>
      </p:nvGrpSpPr>
      <p:grpSpPr>
        <a:xfrm>
          <a:off x="0" y="0"/>
          <a:ext cx="0" cy="0"/>
          <a:chOff x="0" y="0"/>
          <a:chExt cx="0" cy="0"/>
        </a:xfrm>
      </p:grpSpPr>
      <p:sp>
        <p:nvSpPr>
          <p:cNvPr id="2775" name="Google Shape;2775;p2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76" name="Google Shape;2776;p2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sb/121-failure-matrix.png" id="2777" name="Google Shape;2777;p25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778" name="Google Shape;2778;p2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779" name="Google Shape;2779;p2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224</a:t>
            </a:r>
            <a:endParaRPr b="0" i="0" sz="1000" u="none" cap="none" strike="noStrike">
              <a:solidFill>
                <a:schemeClr val="dk1"/>
              </a:solidFill>
              <a:latin typeface="Calibri"/>
              <a:ea typeface="Calibri"/>
              <a:cs typeface="Calibri"/>
              <a:sym typeface="Calibri"/>
            </a:endParaRPr>
          </a:p>
        </p:txBody>
      </p:sp>
      <p:pic>
        <p:nvPicPr>
          <p:cNvPr descr="/home/claude/work/assets/rh-logo.png" id="2780" name="Google Shape;2780;p2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5" name="Shape 2785"/>
        <p:cNvGrpSpPr/>
        <p:nvPr/>
      </p:nvGrpSpPr>
      <p:grpSpPr>
        <a:xfrm>
          <a:off x="0" y="0"/>
          <a:ext cx="0" cy="0"/>
          <a:chOff x="0" y="0"/>
          <a:chExt cx="0" cy="0"/>
        </a:xfrm>
      </p:grpSpPr>
      <p:sp>
        <p:nvSpPr>
          <p:cNvPr id="2786" name="Google Shape;2786;p2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87" name="Google Shape;2787;p2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788" name="Google Shape;2788;p2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789" name="Google Shape;2789;p2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225</a:t>
            </a:r>
            <a:endParaRPr b="0" i="0" sz="1000" u="none" cap="none" strike="noStrike">
              <a:solidFill>
                <a:schemeClr val="dk1"/>
              </a:solidFill>
              <a:latin typeface="Calibri"/>
              <a:ea typeface="Calibri"/>
              <a:cs typeface="Calibri"/>
              <a:sym typeface="Calibri"/>
            </a:endParaRPr>
          </a:p>
        </p:txBody>
      </p:sp>
      <p:pic>
        <p:nvPicPr>
          <p:cNvPr descr="/home/claude/work/assets/rh-logo.png" id="2790" name="Google Shape;2790;p2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Spring Boot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configure the OpenFeature provider once, at startup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@Configuration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FeatureFlags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@Bean Client flags()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api = OpenFeatureAPI.getInstance();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api.setProviderAndWait(new FlagdProvider(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FlagdOptions.builder().host("flagd").port(8013).build()));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api.getClient();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@PostMapping("/checkout")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Receipt checkout(@RequestBody Cart cart, @RequestHeader("X-User") String user)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ctx = new MutableContext(user)            // targeting 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.add("plan", cart.plan()).add("region", cart.region());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boolean useNew = flags.getBooleanValue("new-checkout", false, ctx);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useNew ? newCheckout(cart) : legacyCheckout(cart);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Spring Boot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until an operator kills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Recommendations recommend(String user)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(!flags.getBooleanValue("recommendations-enabled", true, ctx(user)))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recsClient.fetch(user);           // pairs with a circuit breaker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Spring Boot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Spring Boot — start the service under test, then run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./mvnw spring-boot:run &amp;           # http://localhost:8080</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252</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k8s/overlays/spring-boot/kustomization.yaml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localhost/cndp-05/spring-boot-order-service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SPRING_DATASOURCE_URL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"jdbc:postgresql://cndp-postgres-rw:5432/appdb"</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SPRING_DATASOURCE_USERNAME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"$(PG_USER)"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SPRING_DATASOURCE_PASSWORD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"$(PG_PASSWORD)"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SPRING_KAFKA_BOOTSTRAP_SERVERS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253</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spring-boot  # docker build, then minikube image load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spring-boot   # Strimzi, Kafka, Postgres, LGTM, then the overlay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