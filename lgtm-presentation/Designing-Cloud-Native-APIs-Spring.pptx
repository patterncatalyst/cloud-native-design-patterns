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85" r:id="rId234"/>
    <p:sldId id="486" r:id="rId235"/>
    <p:sldId id="487" r:id="rId236"/>
    <p:sldId id="488" r:id="rId237"/>
    <p:sldId id="489" r:id="rId238"/>
    <p:sldId id="490" r:id="rId239"/>
    <p:sldId id="491" r:id="rId240"/>
    <p:sldId id="492" r:id="rId241"/>
    <p:sldId id="493" r:id="rId242"/>
    <p:sldId id="494" r:id="rId243"/>
    <p:sldId id="495" r:id="rId244"/>
    <p:sldId id="496" r:id="rId245"/>
    <p:sldId id="497" r:id="rId246"/>
    <p:sldId id="498" r:id="rId247"/>
    <p:sldId id="499" r:id="rId248"/>
    <p:sldId id="500" r:id="rId249"/>
    <p:sldId id="501" r:id="rId250"/>
    <p:sldId id="502" r:id="rId251"/>
    <p:sldId id="503" r:id="rId252"/>
    <p:sldId id="504" r:id="rId253"/>
    <p:sldId id="505" r:id="rId254"/>
    <p:sldId id="506" r:id="rId255"/>
    <p:sldId id="507" r:id="rId256"/>
    <p:sldId id="508" r:id="rId269"/>
    <p:sldId id="509" r:id="rId270"/>
    <p:sldId id="510" r:id="rId271"/>
    <p:sldId id="511" r:id="rId272"/>
    <p:sldId id="512" r:id="rId273"/>
    <p:sldId id="513" r:id="rId274"/>
    <p:sldId id="514" r:id="rId275"/>
    <p:sldId id="515" r:id="rId276"/>
    <p:sldId id="516" r:id="rId277"/>
    <p:sldId id="517" r:id="rId278"/>
    <p:sldId id="518" r:id="rId279"/>
    <p:sldId id="519" r:id="rId280"/>
    <p:sldId id="520" r:id="rId281"/>
    <p:sldId id="521" r:id="rId282"/>
    <p:sldId id="522" r:id="rId283"/>
    <p:sldId id="523" r:id="rId284"/>
    <p:sldId id="524" r:id="rId285"/>
    <p:sldId id="525" r:id="rId286"/>
    <p:sldId id="526" r:id="rId287"/>
    <p:sldId id="527" r:id="rId288"/>
    <p:sldId id="528" r:id="rId289"/>
    <p:sldId id="529" r:id="rId290"/>
    <p:sldId id="530" r:id="rId291"/>
    <p:sldId id="531" r:id="rId292"/>
    <p:sldId id="532" r:id="rId293"/>
    <p:sldId id="533" r:id="rId294"/>
    <p:sldId id="534" r:id="rId295"/>
    <p:sldId id="535" r:id="rId296"/>
    <p:sldId id="536" r:id="rId297"/>
    <p:sldId id="537" r:id="rId298"/>
    <p:sldId id="538" r:id="rId299"/>
    <p:sldId id="539" r:id="rId300"/>
    <p:sldId id="540" r:id="rId301"/>
  </p:sldIdLst>
  <p:sldSz cy="6858000" cx="12191675"/>
  <p:notesSz cx="6858000" cy="12191675"/>
  <p:embeddedFontLst>
    <p:embeddedFont>
      <p:font typeface="Overpass SemiBold"/>
      <p:regular r:id="rId257"/>
      <p:bold r:id="rId258"/>
      <p:italic r:id="rId259"/>
      <p:boldItalic r:id="rId260"/>
    </p:embeddedFont>
    <p:embeddedFont>
      <p:font typeface="Red Hat Text"/>
      <p:regular r:id="rId261"/>
      <p:bold r:id="rId262"/>
      <p:italic r:id="rId263"/>
      <p:boldItalic r:id="rId264"/>
    </p:embeddedFont>
    <p:embeddedFont>
      <p:font typeface="Red Hat Mono"/>
      <p:regular r:id="rId265"/>
      <p:bold r:id="rId266"/>
      <p:italic r:id="rId267"/>
      <p:boldItalic r:id="rId2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schemas.openxmlformats.org/officeDocument/2006/relationships/slide" Target="slides/slide230.xml"/><Relationship Id="rId235" Type="http://schemas.openxmlformats.org/officeDocument/2006/relationships/slide" Target="slides/slide231.xml"/><Relationship Id="rId236" Type="http://schemas.openxmlformats.org/officeDocument/2006/relationships/slide" Target="slides/slide232.xml"/><Relationship Id="rId237" Type="http://schemas.openxmlformats.org/officeDocument/2006/relationships/slide" Target="slides/slide233.xml"/><Relationship Id="rId238" Type="http://schemas.openxmlformats.org/officeDocument/2006/relationships/slide" Target="slides/slide234.xml"/><Relationship Id="rId239" Type="http://schemas.openxmlformats.org/officeDocument/2006/relationships/slide" Target="slides/slide235.xml"/><Relationship Id="rId240" Type="http://schemas.openxmlformats.org/officeDocument/2006/relationships/slide" Target="slides/slide236.xml"/><Relationship Id="rId241" Type="http://schemas.openxmlformats.org/officeDocument/2006/relationships/slide" Target="slides/slide237.xml"/><Relationship Id="rId242" Type="http://schemas.openxmlformats.org/officeDocument/2006/relationships/slide" Target="slides/slide238.xml"/><Relationship Id="rId243" Type="http://schemas.openxmlformats.org/officeDocument/2006/relationships/slide" Target="slides/slide239.xml"/><Relationship Id="rId244" Type="http://schemas.openxmlformats.org/officeDocument/2006/relationships/slide" Target="slides/slide240.xml"/><Relationship Id="rId245" Type="http://schemas.openxmlformats.org/officeDocument/2006/relationships/slide" Target="slides/slide241.xml"/><Relationship Id="rId246" Type="http://schemas.openxmlformats.org/officeDocument/2006/relationships/slide" Target="slides/slide242.xml"/><Relationship Id="rId247" Type="http://schemas.openxmlformats.org/officeDocument/2006/relationships/slide" Target="slides/slide243.xml"/><Relationship Id="rId248" Type="http://schemas.openxmlformats.org/officeDocument/2006/relationships/slide" Target="slides/slide244.xml"/><Relationship Id="rId249" Type="http://schemas.openxmlformats.org/officeDocument/2006/relationships/slide" Target="slides/slide245.xml"/><Relationship Id="rId250" Type="http://schemas.openxmlformats.org/officeDocument/2006/relationships/slide" Target="slides/slide246.xml"/><Relationship Id="rId251" Type="http://schemas.openxmlformats.org/officeDocument/2006/relationships/slide" Target="slides/slide247.xml"/><Relationship Id="rId252" Type="http://schemas.openxmlformats.org/officeDocument/2006/relationships/slide" Target="slides/slide248.xml"/><Relationship Id="rId253" Type="http://schemas.openxmlformats.org/officeDocument/2006/relationships/slide" Target="slides/slide249.xml"/><Relationship Id="rId254" Type="http://schemas.openxmlformats.org/officeDocument/2006/relationships/slide" Target="slides/slide250.xml"/><Relationship Id="rId255" Type="http://schemas.openxmlformats.org/officeDocument/2006/relationships/slide" Target="slides/slide251.xml"/><Relationship Id="rId256" Type="http://schemas.openxmlformats.org/officeDocument/2006/relationships/slide" Target="slides/slide252.xml"/><Relationship Id="rId257" Type="http://schemas.openxmlformats.org/officeDocument/2006/relationships/font" Target="fonts/OverpassSemiBold-regular.fntdata"/><Relationship Id="rId258" Type="http://schemas.openxmlformats.org/officeDocument/2006/relationships/font" Target="fonts/OverpassSemiBold-bold.fntdata"/><Relationship Id="rId259" Type="http://schemas.openxmlformats.org/officeDocument/2006/relationships/font" Target="fonts/OverpassSemiBold-italic.fntdata"/><Relationship Id="rId260" Type="http://schemas.openxmlformats.org/officeDocument/2006/relationships/font" Target="fonts/OverpassSemiBold-boldItalic.fntdata"/><Relationship Id="rId261" Type="http://schemas.openxmlformats.org/officeDocument/2006/relationships/font" Target="fonts/RedHatText-regular.fntdata"/><Relationship Id="rId262" Type="http://schemas.openxmlformats.org/officeDocument/2006/relationships/font" Target="fonts/RedHatText-bold.fntdata"/><Relationship Id="rId263" Type="http://schemas.openxmlformats.org/officeDocument/2006/relationships/font" Target="fonts/RedHatText-italic.fntdata"/><Relationship Id="rId264" Type="http://schemas.openxmlformats.org/officeDocument/2006/relationships/font" Target="fonts/RedHatText-boldItalic.fntdata"/><Relationship Id="rId265" Type="http://schemas.openxmlformats.org/officeDocument/2006/relationships/font" Target="fonts/RedHatMono-regular.fntdata"/><Relationship Id="rId266" Type="http://schemas.openxmlformats.org/officeDocument/2006/relationships/font" Target="fonts/RedHatMono-bold.fntdata"/><Relationship Id="rId267" Type="http://schemas.openxmlformats.org/officeDocument/2006/relationships/font" Target="fonts/RedHatMono-italic.fntdata"/><Relationship Id="rId268" Type="http://schemas.openxmlformats.org/officeDocument/2006/relationships/font" Target="fonts/RedHatMono-boldItalic.fntdata"/><Relationship Id="rId269" Type="http://schemas.openxmlformats.org/officeDocument/2006/relationships/slide" Target="slides/slide253.xml"/><Relationship Id="rId270" Type="http://schemas.openxmlformats.org/officeDocument/2006/relationships/slide" Target="slides/slide254.xml"/><Relationship Id="rId271" Type="http://schemas.openxmlformats.org/officeDocument/2006/relationships/slide" Target="slides/slide255.xml"/><Relationship Id="rId272" Type="http://schemas.openxmlformats.org/officeDocument/2006/relationships/slide" Target="slides/slide256.xml"/><Relationship Id="rId273" Type="http://schemas.openxmlformats.org/officeDocument/2006/relationships/slide" Target="slides/slide257.xml"/><Relationship Id="rId274" Type="http://schemas.openxmlformats.org/officeDocument/2006/relationships/slide" Target="slides/slide258.xml"/><Relationship Id="rId275" Type="http://schemas.openxmlformats.org/officeDocument/2006/relationships/slide" Target="slides/slide259.xml"/><Relationship Id="rId276" Type="http://schemas.openxmlformats.org/officeDocument/2006/relationships/slide" Target="slides/slide260.xml"/><Relationship Id="rId277" Type="http://schemas.openxmlformats.org/officeDocument/2006/relationships/slide" Target="slides/slide261.xml"/><Relationship Id="rId278" Type="http://schemas.openxmlformats.org/officeDocument/2006/relationships/slide" Target="slides/slide262.xml"/><Relationship Id="rId279" Type="http://schemas.openxmlformats.org/officeDocument/2006/relationships/slide" Target="slides/slide263.xml"/><Relationship Id="rId280" Type="http://schemas.openxmlformats.org/officeDocument/2006/relationships/slide" Target="slides/slide264.xml"/><Relationship Id="rId281" Type="http://schemas.openxmlformats.org/officeDocument/2006/relationships/slide" Target="slides/slide265.xml"/><Relationship Id="rId282" Type="http://schemas.openxmlformats.org/officeDocument/2006/relationships/slide" Target="slides/slide266.xml"/><Relationship Id="rId283" Type="http://schemas.openxmlformats.org/officeDocument/2006/relationships/slide" Target="slides/slide267.xml"/><Relationship Id="rId284" Type="http://schemas.openxmlformats.org/officeDocument/2006/relationships/slide" Target="slides/slide268.xml"/><Relationship Id="rId285" Type="http://schemas.openxmlformats.org/officeDocument/2006/relationships/slide" Target="slides/slide269.xml"/><Relationship Id="rId286" Type="http://schemas.openxmlformats.org/officeDocument/2006/relationships/slide" Target="slides/slide270.xml"/><Relationship Id="rId287" Type="http://schemas.openxmlformats.org/officeDocument/2006/relationships/slide" Target="slides/slide271.xml"/><Relationship Id="rId288" Type="http://schemas.openxmlformats.org/officeDocument/2006/relationships/slide" Target="slides/slide272.xml"/><Relationship Id="rId289" Type="http://schemas.openxmlformats.org/officeDocument/2006/relationships/slide" Target="slides/slide273.xml"/><Relationship Id="rId290" Type="http://schemas.openxmlformats.org/officeDocument/2006/relationships/slide" Target="slides/slide274.xml"/><Relationship Id="rId291" Type="http://schemas.openxmlformats.org/officeDocument/2006/relationships/slide" Target="slides/slide275.xml"/><Relationship Id="rId292" Type="http://schemas.openxmlformats.org/officeDocument/2006/relationships/slide" Target="slides/slide276.xml"/><Relationship Id="rId293" Type="http://schemas.openxmlformats.org/officeDocument/2006/relationships/slide" Target="slides/slide277.xml"/><Relationship Id="rId294" Type="http://schemas.openxmlformats.org/officeDocument/2006/relationships/slide" Target="slides/slide278.xml"/><Relationship Id="rId295" Type="http://schemas.openxmlformats.org/officeDocument/2006/relationships/slide" Target="slides/slide279.xml"/><Relationship Id="rId296" Type="http://schemas.openxmlformats.org/officeDocument/2006/relationships/slide" Target="slides/slide280.xml"/><Relationship Id="rId297" Type="http://schemas.openxmlformats.org/officeDocument/2006/relationships/slide" Target="slides/slide281.xml"/><Relationship Id="rId298" Type="http://schemas.openxmlformats.org/officeDocument/2006/relationships/slide" Target="slides/slide282.xml"/><Relationship Id="rId299" Type="http://schemas.openxmlformats.org/officeDocument/2006/relationships/slide" Target="slides/slide283.xml"/><Relationship Id="rId300" Type="http://schemas.openxmlformats.org/officeDocument/2006/relationships/slide" Target="slides/slide284.xml"/><Relationship Id="rId301" Type="http://schemas.openxmlformats.org/officeDocument/2006/relationships/slide" Target="slides/slide2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e50de7c6a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e50de7c6a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Welcome and framing. This is a working architect's tour of designing cloud-native APIs on Spring Boot 4.1.1. We build one realistic system (five services and a gateway) and re-examine it section by section; the appendices go deep on protocols, versioning, WebSockets, sagas, errors, DDD, coupling, shutdown, L7 routing, migration, caching, failure modes, feature flags and API testing, and run Example 05 on minikube. The whole deck is a reference the audience can keep.</a:t>
            </a:r>
            <a:endParaRPr/>
          </a:p>
          <a:p>
            <a:pPr indent="0" lvl="0" marL="0" rtl="0" algn="l">
              <a:spcBef>
                <a:spcPts val="0"/>
              </a:spcBef>
              <a:spcAft>
                <a:spcPts val="0"/>
              </a:spcAft>
              <a:buClr>
                <a:schemeClr val="dk1"/>
              </a:buClr>
              <a:buFont typeface="Arial"/>
              <a:buNone/>
            </a:pPr>
            <a:r>
              <a:rPr lang="en-US"/>
              <a:t>The running stack: Java 25 with Spring Boot 4.1.1 on Spring Framework 7.0.9 (Spring Web MVC, gRPC on grpc-java, Spring for GraphQL, Spring for Apache Kafka with Kafka Streams, Spring WebSocket, Jackson 3), on Kubernetes with Kafka, Istio and KEDA, traced by the OpenTelemetry Java agent. The platform around the code (Strimzi, Apicurio, OpenMetadata, the LGTM stack) is the same whatever the language; Spring Boot is how these services are written.</a:t>
            </a:r>
            <a:endParaRPr/>
          </a:p>
        </p:txBody>
      </p:sp>
      <p:sp>
        <p:nvSpPr>
          <p:cNvPr id="14" name="Google Shape;14;g3e50de7c6a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e54846f4b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e54846f4b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agenda: a short setup, thirteen sections, and the deep-dive appendices. The setup motivates why patterns matter in the age of AI. Sections 1 to 6 build the system from principles up through data and streaming; sections 7 to 13 cover the operational platform around it (workflows, management, registry, metadata, observability), then security, and close on anti-patterns.</a:t>
            </a:r>
            <a:endParaRPr/>
          </a:p>
          <a:p>
            <a:pPr indent="0" lvl="0" marL="0" rtl="0" algn="l">
              <a:spcBef>
                <a:spcPts val="0"/>
              </a:spcBef>
              <a:spcAft>
                <a:spcPts val="0"/>
              </a:spcAft>
              <a:buNone/>
            </a:pPr>
            <a:r>
              <a:rPr lang="en-US"/>
              <a:t>The appendices are reference material for the questions that come up: protocols, versioning, WebSockets, sagas, errors, DDD, coupling, shutdown, L7 routing, monolith-to-microservices decomposition, caching, failure modes, feature flags and API testing. Appendix R runs Example 05 on minikube with the same verify.sh as compose. A glossary of acronyms closes the deck.</a:t>
            </a:r>
            <a:endParaRPr/>
          </a:p>
          <a:p>
            <a:pPr indent="0" lvl="0" marL="0" rtl="0" algn="l">
              <a:spcBef>
                <a:spcPts val="0"/>
              </a:spcBef>
              <a:spcAft>
                <a:spcPts val="0"/>
              </a:spcAft>
              <a:buNone/>
            </a:pPr>
            <a:r>
              <a:rPr lang="en-US"/>
              <a:t>Tell the audience which sections you will cover given the session length. The overview that follows reframes the agenda as the narrative arc: what we build and in what order.</a:t>
            </a:r>
            <a:endParaRPr/>
          </a:p>
        </p:txBody>
      </p:sp>
      <p:sp>
        <p:nvSpPr>
          <p:cNvPr id="25" name="Google Shape;25;g3e54846f4b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e54846f4b4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g3e54846f4b4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 quickly; don't dwell. The order follows dependency: principles first because they justify every later choice, then the synchronous surface (comms, composition), then data ownership, then the asynchronous backbone (events, streams), then the operational concerns (workflows, the platform planes), and finally anti-patterns as a reflective close. Tell people the deep-dive appendices A to R (protocols, versioning, WebSockets, sagas, errors, caching, failure modes, feature flags, API testing, minikube) are there to jump to. For a 90-minute talk, cover the main twelve; for the full three hours, work through the appendices too.</a:t>
            </a:r>
            <a:endParaRPr/>
          </a:p>
        </p:txBody>
      </p:sp>
      <p:sp>
        <p:nvSpPr>
          <p:cNvPr id="36" name="Google Shape;36;g3e54846f4b4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e54846f4b4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g3e54846f4b4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deck by naming the elephant. AI coding tools (Claude, Claude Code, Cursor, Copilot, every frontier model) are now in production engineering workflows. They produce code fluently. From a one-sentence prompt they will produce a microservices decomposition, a saga, a cache layer, a strangler fig wrapper, a CQRS write side: plausible enough to compile, deploy and run. The risk is also new: a developer who doesn't have the vocabulary to evaluate what comes back is rolling dice in production. The patterns in this deck are not nostalgic computer-science trivia; they are the literacy that lets you direct AI tooling instead of being directed by it. Walk the three layers of patterns briefly: design patterns are code-level vocabulary (Gang of Four); architecture patterns describe how applications fit together (hexagonal, microservices, BFF, event-driven); system design patterns, the focus of this deck, span services, data and runtime (sagas, caching, the strangler fig, outbox, decomposition, L7 routing). The four maxims are the philosophical spine. ‘Least-worst decision’: every architecture choice is a set of trades (latency for throughput, consistency for availability, simplicity for flexibility), and the job is not to find the optionless option but to make the trades visible and explicit. ‘Risk management’: you manage the distribution of failures, not their existence. ‘No free lunch’: every pattern (cache, saga, eventing, decomposition) has a cost — a stale read window, a compensation path, a coordination tax, an operational complexity. The question is whether you are buying the right thing for what you are paying. ‘No problem cannot be made worse’ is the warning corollary: a confidently-wrong intervention amplifies the original pain, and AI tooling makes confident interventions fast and cheap. The closing line is the audience take-home: AI is the amplifier; the patterns are the literacy that decides which direction it amplifies.</a:t>
            </a:r>
            <a:endParaRPr/>
          </a:p>
        </p:txBody>
      </p:sp>
      <p:sp>
        <p:nvSpPr>
          <p:cNvPr id="46" name="Google Shape;46;g3e54846f4b4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e54846f4b4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e54846f4b4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visual companion to the patterns-literacy framing. Three stacked boxes: design patterns at the bottom (Gang of Four: factory, strategy, observer, decorator, repository, etc.); architecture patterns in the middle (hexagonal, microservices, modular monolith, BFF, federation, pipes-and-filters, event-driven, layered); and at the top, system design patterns, the scope of this deck (sagas, caching, the strangler fig, outbox, event sourcing, CQRS, decomposition, back-pressure, bulkhead, L7 routing, rule-based dispatch). The arrows up the middle show how each lower layer informs the next: you can't reason about a saga (system layer) without knowing what a state machine and a compensation are (architecture / design layer); you can't reason about content-based routing without understanding the strategy pattern. The blue caption in the middle is the through-line: knowing this vocabulary is what lets you ask AI tooling for the right thing, recognise what it produces, and judge why it is or isn't fit. The four maxims at the bottom in red are the philosophical anchors for every section: each concrete choice in the deck is an exercise in those four principles. Make the audience comfortable with the maxims, especially the last one (no problem cannot be made worse) — it's the warning at the heart of using AI tooling well.</a:t>
            </a:r>
            <a:endParaRPr/>
          </a:p>
        </p:txBody>
      </p:sp>
      <p:sp>
        <p:nvSpPr>
          <p:cNvPr id="56" name="Google Shape;56;g3e54846f4b4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54846f4b4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e54846f4b4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most important slide to anchor on — every later example refers back to it. Walk each service: order-service owns the order lifecycle and exposes REST at the edge; inventory, payment and shipping are internal, reached by gRPC and contributing to GraphQL reads; notification-service is Kafka-only, consuming order.placed. The graphql-gateway composes reads across them. Emphasize that each service exposes only the protocols that fit its role — not a uniform surface. Promise the audience we'll return to this picture a dozen times.</a:t>
            </a:r>
            <a:endParaRPr/>
          </a:p>
        </p:txBody>
      </p:sp>
      <p:sp>
        <p:nvSpPr>
          <p:cNvPr id="66" name="Google Shape;66;g3e54846f4b4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4846f4b4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e54846f4b4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into section one. The core message: cloud-native is not a stack you buy, it is a set of runtime properties your service must exhibit. Tools (Kubernetes, Istio, KEDA) exist to make those properties cheap to obtain — but if your service isn't written to lean on them, no platform can rescue it.</a:t>
            </a:r>
            <a:endParaRPr/>
          </a:p>
        </p:txBody>
      </p:sp>
      <p:sp>
        <p:nvSpPr>
          <p:cNvPr id="77" name="Google Shape;77;g3e54846f4b4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4846f4b4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e54846f4b4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pillars. Spend a sentence on each: disposable (12-factor, fast start, clean stop, no local state), observable (traces/metrics/logs, health probes), resilient (timeouts, retries, circuit breakers, graceful degradation), elastic (scale to load and to zero), automatable (declarative config, GitOps, self-healing), loosely coupled (contracts not calls, async where it fits). The pillars are the rubric for the whole talk: every design decision in it either earns or spends one of these properties.</a:t>
            </a:r>
            <a:endParaRPr/>
          </a:p>
        </p:txBody>
      </p:sp>
      <p:sp>
        <p:nvSpPr>
          <p:cNvPr id="87" name="Google Shape;87;g3e54846f4b4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54846f4b4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e54846f4b4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punchline is the bold line: your job is to lean on the platform, not reimplement it. Concretely — don't write your own retry library when Istio does it at the wire; don't build a bespoke autoscaler when KEDA scales on lag and RPS; don't hand-roll metrics plumbing when OpenTelemetry plus the LGTM stack gives it to you. Every line of resilience code you write per service is a line you maintain forever and that drifts between teams. The platform makes the good behaviour the default.</a:t>
            </a:r>
            <a:endParaRPr/>
          </a:p>
        </p:txBody>
      </p:sp>
      <p:sp>
        <p:nvSpPr>
          <p:cNvPr id="98" name="Google Shape;98;g3e54846f4b4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4846f4b4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e54846f4b4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Design-first is the cultural prerequisite for everything that follows. The contract (OpenAPI, .proto, AsyncAPI) is agreed and registered before code is written, owned by the producing domain, and gated in CI. Consumers code against the contract and generated stubs, never against your database. Make the point that this is what delivers independent deployability: the promise the contract encodes is the service boundary. If you skip this, you get distributed coupling that's worse than a monolith because it fails over the network. In the Spring Boot world the contract artifacts come naturally: springdoc-openapi emits the REST spec from your @RestController methods, the protobuf-maven-plugin compiles the .proto, and Spring for GraphQL loads the .graphqls schema (or generates SDL from your @SchemaMapping methods if you go code-first) — all checked into the registry.</a:t>
            </a:r>
            <a:endParaRPr/>
          </a:p>
        </p:txBody>
      </p:sp>
      <p:sp>
        <p:nvSpPr>
          <p:cNvPr id="108" name="Google Shape;108;g3e54846f4b4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54846f4b4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e54846f4b4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twelve-factor app for the audience: it's the 2011 Heroku methodology that first codified what we now call cloud-native, and it's worth revisiting because it predates Kubernetes yet maps onto it almost perfectly. The key reframing here is ownership: don't recite the list; split it into the few factors you still write (config from the environment, stateless processes, fast clean startup and shutdown, logs as event streams) versus the many the platform now provides by default (build/release/run via images and GitOps, concurrency via KEDA, attached backing services). In a microservices/event-driven world several factors deepen: backing services now includes Kafka and the registry, and 'logs' has become full observability. End by teeing up the list and the mapping diagrams.</a:t>
            </a:r>
            <a:endParaRPr/>
          </a:p>
        </p:txBody>
      </p:sp>
      <p:sp>
        <p:nvSpPr>
          <p:cNvPr id="118" name="Google Shape;118;g3e54846f4b4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4846f4b4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e54846f4b4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lot of people nod along to ‘twelve-factor’ without being able to name the twelve, so here they are at a glance, one line each. Don't read them aloud — let people scan. Two takeaways to say: first, this 2011 list predicted cloud-native a decade early; second, many factors are now handled by the platform (build/release/run, concurrency, disposability, port binding, backing services) versus the few you still actively write (config from the environment, statelessness, logs as streams). That sets up the mapping of each factor onto our architecture.</a:t>
            </a:r>
            <a:endParaRPr/>
          </a:p>
        </p:txBody>
      </p:sp>
      <p:sp>
        <p:nvSpPr>
          <p:cNvPr id="128" name="Google Shape;128;g3e54846f4b4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54846f4b4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e54846f4b4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payoff: not the traditional twelve-factor table, but a map of where each factor lives in the system we're building. Read it left to right: the twelve factors cluster into five things they ask of you, and each maps to a concrete piece of our stack and the section that covers it. Build &amp; ship (codebase, dependencies, build/release/run, parity) becomes one repo, one image per release, the same image everywhere (§1). Configure becomes environment config (§1). Run on the platform (stateless processes, concurrency, disposability, port binding) becomes stateless pods, KEDA scaling, fast start/stop, and services behind Istio (§1, 2, 6). Attach resources becomes Postgres, Kafka and Apicurio as swappable URLs (§4–5). Operate (logs, admin processes) becomes OpenTelemetry into the LGTM stack and admin work as Jobs/CronJobs (§7, 11). The caption is the message: most of these are now defaults you adopt, not code you write — which is exactly what 'cloud-native' buys you.</a:t>
            </a:r>
            <a:endParaRPr/>
          </a:p>
        </p:txBody>
      </p:sp>
      <p:sp>
        <p:nvSpPr>
          <p:cNvPr id="139" name="Google Shape;139;g3e54846f4b4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54846f4b4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54846f4b4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code: config comes from the environment through Spring's property resolution (factor III): SPRING_DATASOURCE_URL and its credentials configure the DataSource and SERVICE_VERSION feeds service.version, never a baked-in file; Spring profiles override per environment. The application name (spring.application.name) shows up in Micrometer metrics and traces. The two probes come from Spring Boot Actuator, with no controller code in Example 01: the liveness and readiness health groups are served on the main port at /healthz and /readyz (additional-path), so the compose healthchecks and the Kubernetes probes keep their paths. /healthz is liveness (am I alive? if not, restart me) and includes only livenessState, so it never checks a dependency; /readyz is readiness (can I serve?): its group adds the db contributor, which checks a pooled connection, and when that fails it answers 503 with status DOWN, which takes the pod out of rotation without killing it. The probe reads the status code, not the body: Kubernetes treats any answer from 200 to 399 as ready. A custom check is a HealthIndicator bean added to a group's include list; Example 21 adds one. Persistence is Spring Data JPA: the entity maps the existing orders table and Hibernate only validates it (ddl-auto=validate), because the db/init scripts own the schema. Getting liveness vs readiness wrong is a top cause of cascading restarts, so stress the distinction. Maven with spring-boot-starter-parent pins every dependency reproducibly. Constructor injection is the idiomatic Spring style: the bean stays immutable and is unit-testable without a container.</a:t>
            </a:r>
            <a:endParaRPr/>
          </a:p>
        </p:txBody>
      </p:sp>
      <p:sp>
        <p:nvSpPr>
          <p:cNvPr id="150" name="Google Shape;150;g3e54846f4b4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54846f4b4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e54846f4b4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two. The thesis: there is no single right protocol — there is a right protocol per interaction. Resist the urge to standardize on one wire for everything. What follows gives you a decision rule and then shows each protocol in code against the running system.</a:t>
            </a:r>
            <a:endParaRPr/>
          </a:p>
        </p:txBody>
      </p:sp>
      <p:sp>
        <p:nvSpPr>
          <p:cNvPr id="163" name="Google Shape;163;g3e54846f4b4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54846f4b4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54846f4b4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interaction styles, four defaults. REST for the public/edge surface where reach and caching matter; gRPC for internal service-to-service where latency and streaming matter; GraphQL for client-driven reads that compose many sources in one round trip; async events for decoupled facts that fan out. Most real systems use all four — the skill is matching each call to the right one. Note the sync/async chips at the bottom. This is the map for the whole section.</a:t>
            </a:r>
            <a:endParaRPr/>
          </a:p>
        </p:txBody>
      </p:sp>
      <p:sp>
        <p:nvSpPr>
          <p:cNvPr id="173" name="Google Shape;173;g3e54846f4b4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54846f4b4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e54846f4b4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edge surface. Point out four things teams routinely get wrong: (1) resource-shaped URLs (nouns, not verbs); (2) request contracts validated declaratively, a Java record with Bean Validation 3.1 annotations (@NotBlank, @Positive, @Valid), where Spring's @Valid triggers the validator so bad input never reaches your logic; (3) correct status codes: HttpStatus.CREATED on create, not 200; (4) cursor pagination, not offset, because offset breaks under concurrent writes and gets slow at depth. Constructor injection is the idiomatic Spring style (no @Autowired needed, fields can be final). For non-blocking I/O, swap @RestController for WebFlux's reactive style with Mono&lt;Order&gt; and Flux&lt;Order&gt;: same controller, reactive runtime. springdoc-openapi generates the OpenAPI spec from the controllers, and that spec is what we register and gate.</a:t>
            </a:r>
            <a:endParaRPr/>
          </a:p>
        </p:txBody>
      </p:sp>
      <p:sp>
        <p:nvSpPr>
          <p:cNvPr id="184" name="Google Shape;184;g3e54846f4b4_0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4846f4b4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e54846f4b4_0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for the internal paths. The .proto is the contract, and it lives in the registry like OpenAPI. The protobuf-maven-plugin runs protoc at build time; the service extends the generated InventoryImplBase and fills in the one method, never touching the wire format.</a:t>
            </a:r>
            <a:endParaRPr/>
          </a:p>
          <a:p>
            <a:pPr indent="0" lvl="0" marL="0" rtl="0" algn="l">
              <a:spcBef>
                <a:spcPts val="0"/>
              </a:spcBef>
              <a:spcAft>
                <a:spcPts val="0"/>
              </a:spcAft>
              <a:buNone/>
            </a:pPr>
            <a:r>
              <a:rPr lang="en-US"/>
              <a:t>The inventory service is a @GrpcService bean: spring-boot-starter-grpc-server starts the server on spring.grpc.server.port, drains it on shutdown and adds the standard gRPC health service, and the order service gets its channel from GrpcChannelFactory. The field numbers (=1, =2) are the wire contract; Appendix B explains why they can never be reused.</a:t>
            </a:r>
            <a:endParaRPr/>
          </a:p>
          <a:p>
            <a:pPr indent="0" lvl="0" marL="0" rtl="0" algn="l">
              <a:spcBef>
                <a:spcPts val="0"/>
              </a:spcBef>
              <a:spcAft>
                <a:spcPts val="0"/>
              </a:spcAft>
              <a:buNone/>
            </a:pPr>
            <a:r>
              <a:rPr lang="en-US"/>
              <a:t>gRPC is binary and multiplexed over HTTP/2, so it is fast and supports streaming: the right default for chatty service-to-service calls where you control both ends. Load-test it with ghz.</a:t>
            </a:r>
            <a:endParaRPr/>
          </a:p>
        </p:txBody>
      </p:sp>
      <p:sp>
        <p:nvSpPr>
          <p:cNvPr id="197" name="Google Shape;197;g3e54846f4b4_0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54846f4b4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54846f4b4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trade-off of the whole talk in one picture. Top row: a synchronous call couples caller to callee in time and availability — if payment-service is down, the order request fails too, and availability multiplies downward across a chain. Bottom row: emitting order.placed as a fact lets the order succeed immediately; consumers catch up from the log if they were down. The rule: reach for async wherever immediacy isn't strictly required. This sets up the entire event-driven section later.</a:t>
            </a:r>
            <a:endParaRPr/>
          </a:p>
        </p:txBody>
      </p:sp>
      <p:sp>
        <p:nvSpPr>
          <p:cNvPr id="210" name="Google Shape;210;g3e54846f4b4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54846f4b4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e54846f4b4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Service mesh in one picture. Your app speaks plain HTTP or gRPC to localhost; the Istio sidecar (Envoy) intercepts and adds mTLS, retries, timeouts and telemetry on the wire — uniformly, for every service, with zero application code. istiod is the control plane distributing policy and identity (SPIFFE). The key insight ties back to principles: resilience and security become platform defaults, not per-service reimplementations. We then show the actual config.</a:t>
            </a:r>
            <a:endParaRPr/>
          </a:p>
        </p:txBody>
      </p:sp>
      <p:sp>
        <p:nvSpPr>
          <p:cNvPr id="221" name="Google Shape;221;g3e54846f4b4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54846f4b4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e54846f4b4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 as configuration. This VirtualService gives inventory a 2-second timeout, two retry attempts with an 800ms per-try timeout, retrying only on connect-failure and unavailable. The critical word is bounded — attempts: 2, not infinite. Tell the war story: unbounded client-side retries are how a brief blip becomes a full outage, because every caller piles on the struggling service (a retry storm). Putting this in the mesh means it's consistent across every service and tunable without redeploying code.</a:t>
            </a:r>
            <a:endParaRPr/>
          </a:p>
        </p:txBody>
      </p:sp>
      <p:sp>
        <p:nvSpPr>
          <p:cNvPr id="232" name="Google Shape;232;g3e54846f4b4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54846f4b4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e54846f4b4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three. The question: when a client needs data from several services, where does the joining happen? The answer that keeps services decoupled: at the edge, in a gateway or BFF — never by services calling each other in deep chains. That chaining is how you accidentally rebuild a monolith over the network.</a:t>
            </a:r>
            <a:endParaRPr/>
          </a:p>
        </p:txBody>
      </p:sp>
      <p:sp>
        <p:nvSpPr>
          <p:cNvPr id="245" name="Google Shape;245;g3e54846f4b4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54846f4b4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54846f4b4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federation against the running system. The gateway presents one schema to clients and fans out to REST and gRPC back-ends, then joins and shapes the result. The client makes one round trip and asks for exactly the fields it needs. The services stay unaware of each other; the gateway owns the composition. Contrast this with services calling services, which we'll warn against on the patterns slide. We then show the resolver code.</a:t>
            </a:r>
            <a:endParaRPr/>
          </a:p>
        </p:txBody>
      </p:sp>
      <p:sp>
        <p:nvSpPr>
          <p:cNvPr id="255" name="Google Shape;255;g3e54846f4b4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54846f4b4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e54846f4b4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resolver makes federation concrete. The top-level order query calls order-service over REST via a typed @QueryMapping; the stock method, annotated @SchemaMapping with typeName=Order and field=stock, adds a stock field to the Order type that resolves on demand by calling inventory-service over gRPC. Each field resolves against its owning service — the gateway is just the composition layer. Mention the N+1 risk: naive per-field resolution can explode into many back-end calls, so production gateways batch (Spring for GraphQL's @BatchMapping does exactly this, batching N orders into one upstream call). Spring for GraphQL is built on graphql-java and ships as a first-class Spring Boot starter; the schema lives in a .graphqls file under resources and is exported to the registry automatically by the build.</a:t>
            </a:r>
            <a:endParaRPr/>
          </a:p>
        </p:txBody>
      </p:sp>
      <p:sp>
        <p:nvSpPr>
          <p:cNvPr id="266" name="Google Shape;266;g3e54846f4b4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54846f4b4_0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e54846f4b4_0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composition patterns: an API gateway (one composed schema for everyone), a backend-for-frontend (a tailored aggregate per client type — web vs mobile), and GraphQL federation (a distributed graph). All three push aggregation outward to the edge. The anti-pattern to call out explicitly: service-to-service call chains, where order calls inventory calls pricing calls... — synchronous, deeply coupled, and impossible to reason about. That rebuilds the monolith with network latency between the pieces.</a:t>
            </a:r>
            <a:endParaRPr/>
          </a:p>
        </p:txBody>
      </p:sp>
      <p:sp>
        <p:nvSpPr>
          <p:cNvPr id="279" name="Google Shape;279;g3e54846f4b4_0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54846f4b4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e54846f4b4_0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four, and the hardest discipline to hold. The rule: each service owns its data and shares it only through APIs and events — never through a shared database or by reaching into another service's tables. This is what makes independent deployment and independent scaling real. The slides cover ownership, the dual-write trap, and the saga.</a:t>
            </a:r>
            <a:endParaRPr/>
          </a:p>
        </p:txBody>
      </p:sp>
      <p:sp>
        <p:nvSpPr>
          <p:cNvPr id="290" name="Google Shape;290;g3e54846f4b4_0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54846f4b4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e54846f4b4_0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Database-per-service. Each service owns its schema and even its storage engine — order and payment on Postgres, something else on a document store if that fits. No other service touches those tables directly; the only doors in are the API and the events. The hard part is social, not technical: someone will always want to 'just join across two services' databases' for a report. That shortcut is the single most common way microservice independence dies. Reporting needs go through the metadata/lineage layer or a dedicated read model, not direct table access.</a:t>
            </a:r>
            <a:endParaRPr/>
          </a:p>
        </p:txBody>
      </p:sp>
      <p:sp>
        <p:nvSpPr>
          <p:cNvPr id="300" name="Google Shape;300;g3e54846f4b4_0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54846f4b4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e54846f4b4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CQRS (Command Query Responsibility Segregation) is the pattern of using different models for writes and reads. The write side optimises for invariants and consistency: a normalised schema in a transactional store (Postgres, MySQL). The read side optimises for query shape: denormalised wide tables, an Elasticsearch index, a Mongo document, or whatever fits the question being asked. The two are linked by a stream of events: either domain events emitted by the write side, or the database commit log itself via CDC, the log-tailing pattern. The cost: eventual consistency, a small lag between the write committing and the read model catching up. The benefit: each side can scale, schema-evolve and even be stored independently. Use this pattern when reads and writes have different shapes and access patterns. Avoid it when a single store handles both; CQRS adds operational complexity that isn't free. The classic motivating case: a service that takes thousands of writes per second but is read by analytics, dashboards and search — the write model serves the writes, the read model serves the rest. CQRS pairs naturally with event sourcing on the write side and event streaming for projections; the Event-Driven section draws both distinctions.</a:t>
            </a:r>
            <a:endParaRPr/>
          </a:p>
        </p:txBody>
      </p:sp>
      <p:sp>
        <p:nvSpPr>
          <p:cNvPr id="311" name="Google Shape;311;g3e54846f4b4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54846f4b4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e54846f4b4_0_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Spring shape. Two @RestController classes: OrderWriteController handles writes, OrderReadController handles reads. Each can have its own DataSource bean wired through @Qualifier (or two separate Spring contexts in a modulith). KafkaTemplate publishes to Kafka after the DB write — in production you'd use the outbox and Debezium combination shown in the outbox write instead of direct publishing. The projection is a @Service with a @KafkaListener that consumes the order.created topic with its own consumer group, then upserts into the read-side OrderSummaryRepository. The read-side table is denormalised: customer_name, line_count, total_cents, status — whatever the UI query needs without a JOIN. Different scaling (read replicas for the read side), different team ownership possible.</a:t>
            </a:r>
            <a:endParaRPr/>
          </a:p>
        </p:txBody>
      </p:sp>
      <p:sp>
        <p:nvSpPr>
          <p:cNvPr id="322" name="Google Shape;322;g3e54846f4b4_0_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54846f4b4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e54846f4b4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mechanism that makes CQRS projections and the outbox pattern work: Change Data Capture, or CDC. The application writes ordinary SQL. The database commits and the change lands in the write-ahead log (WAL on Postgres, redo log on Oracle, binlog on MySQL, transaction log on SQL Server). Debezium, an Apache 2.0 open-source project running as a set of Kafka Connect connectors, tails that log via the database's native replication protocol (logical replication slots on Postgres, etc.), translates row-level deltas into Kafka events, and publishes them with commit ordering preserved. The application doesn't know Debezium exists. There is no dual-write — the commit is the single source of truth, and the event is a strictly downstream consequence. This is why log tailing matters before the outbox: the outbox is a targeted use of CDC for a specific case (publishing events that aren't naturally row-level), and CQRS projections are the other big use. Debezium supports Postgres, MySQL, MariaDB, SQL Server, Oracle, MongoDB, Db2, Cassandra, and Vitess out of the box. Run mode: deploy as Kafka Connect workers, or use Debezium Server (standalone) if you don't want a Kafka Connect cluster. WAL = Write-Ahead Log: the database's commit-ordered durable log that already exists for replication and crash recovery; Debezium just subscribes to it.</a:t>
            </a:r>
            <a:endParaRPr/>
          </a:p>
        </p:txBody>
      </p:sp>
      <p:sp>
        <p:nvSpPr>
          <p:cNvPr id="334" name="Google Shape;334;g3e54846f4b4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54846f4b4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e54846f4b4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that prevents a class of production bugs. The dual-write problem: if you write to your database and then publish to Kafka as two separate operations, a crash between them leaves you inconsistent — the order exists but the event was never sent, or vice versa. The fix is the transactional outbox: write the state change and an outbox row in one local transaction, then a change-data-capture tool (Debezium) tails the database log and relays the committed row to Kafka. The database commit is the single source of truth. We then show the actual transaction.</a:t>
            </a:r>
            <a:endParaRPr/>
          </a:p>
        </p:txBody>
      </p:sp>
      <p:sp>
        <p:nvSpPr>
          <p:cNvPr id="345" name="Google Shape;345;g3e54846f4b4_0_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54846f4b4_0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e54846f4b4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trick is the @Transactional method: the insert of the order row and the insert of the outbox row happen in one local transaction, through two Spring Data JPA repositories. There is no Kafka call inside the request path: if the broker is down, the order still commits and the event ships later when Debezium tails the write-ahead log and relays the outbox row in commit order. This decouples request latency and availability from Kafka's.</a:t>
            </a:r>
            <a:endParaRPr/>
          </a:p>
          <a:p>
            <a:pPr indent="0" lvl="0" marL="0" rtl="0" algn="l">
              <a:spcBef>
                <a:spcPts val="0"/>
              </a:spcBef>
              <a:spcAft>
                <a:spcPts val="0"/>
              </a:spcAft>
              <a:buNone/>
            </a:pPr>
            <a:r>
              <a:rPr lang="en-US"/>
              <a:t>There is no Spring-specific outbox starter: the outbox is a small table (aggregate id, event type, JSON payload, created_at), the payload is a JSONB column that Hibernate maps from a Map with @JdbcTypeCode(SqlTypes.JSON), and a standard Debezium Postgres connector handles the CDC. The Debezium Outbox Event Router single-message transform unwraps the row into the event envelope on the connector side. The same commit-together discipline reappears in the saga appendix.</a:t>
            </a:r>
            <a:endParaRPr/>
          </a:p>
        </p:txBody>
      </p:sp>
      <p:sp>
        <p:nvSpPr>
          <p:cNvPr id="356" name="Google Shape;356;g3e54846f4b4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54846f4b4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e54846f4b4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saga is how you get consistency across services without a distributed transaction (there is no two-phase commit here, and you don't want one). It's a sequence of local transactions, each emitting the event that triggers the next: order created, payment taken, stock reserved, shipment booked. When a step fails (payment fails), you don't roll back; you run compensating actions for the steps that already committed (cancel the order). Flag that Appendix D goes deep on saga state, compensation and a tricky data-dependency case, for anyone who wants the mechanics.</a:t>
            </a:r>
            <a:endParaRPr/>
          </a:p>
        </p:txBody>
      </p:sp>
      <p:sp>
        <p:nvSpPr>
          <p:cNvPr id="369" name="Google Shape;369;g3e54846f4b4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54846f4b4_0_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e54846f4b4_0_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five — the asynchronous backbone we kept pointing at. The mental shift: a producer emits a fact about something that happened (order.placed) and does not know or care who consumes it. Consumers decide what to do. This inverts the dependency direction, and it is what decouples services in time and ownership.</a:t>
            </a:r>
            <a:endParaRPr/>
          </a:p>
        </p:txBody>
      </p:sp>
      <p:sp>
        <p:nvSpPr>
          <p:cNvPr id="380" name="Google Shape;380;g3e54846f4b4_0_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54846f4b4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e54846f4b4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order.placed fans out to payment, shipping and notification — and the producer names none of them. The power move: you can add a new consumer (say, a fraud-check service) without touching or redeploying the producer. Contrast with the synchronous world, where adding a dependency means changing the caller. This is the open/closed principle at the architecture level. Kafka (run by Strimzi on Kubernetes) is the backbone; Pulsar is an alternative with similar semantics.</a:t>
            </a:r>
            <a:endParaRPr/>
          </a:p>
        </p:txBody>
      </p:sp>
      <p:sp>
        <p:nvSpPr>
          <p:cNvPr id="390" name="Google Shape;390;g3e54846f4b4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54846f4b4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54846f4b4_0_3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Spring Kafka is the canonical Spring Boot starter for Apache Kafka, and Spring Boot 4 keeps it as the default. The producer holds a KafkaTemplate, which is auto-configured from spring.kafka.* properties; the send keys the message by order id (so all events for one order land on the same partition and stay ordered). The consumer is annotated @KafkaListener and the manualAckFactory is a ConcurrentKafkaListenerContainerFactory configured with AckMode.MANUAL. Two things to drill home: we ack only once sendEmail has succeeded; ack first and then crash, and the work is lost. Because we ack after, a crash mid-handler means redelivery, so delivery is at-least-once and your handlers must be idempotent (dedupe by message key or an idempotency key). Exactly-once is mostly at-least-once plus idempotency. The serde is wired to Apicurio's Avro / Protobuf SerDes, so the registry enforces the schema. Reactor Kafka is discontinued, so the examples use the imperative @KafkaListener.</a:t>
            </a:r>
            <a:endParaRPr/>
          </a:p>
        </p:txBody>
      </p:sp>
      <p:sp>
        <p:nvSpPr>
          <p:cNvPr id="401" name="Google Shape;401;g3e54846f4b4_0_3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54846f4b4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e54846f4b4_0_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Events need contracts as much as REST and gRPC do, or more, because consumers are anonymous and you can't call them to coordinate. The schema (Avro, Protobuf or JSON Schema) lives in Apicurio. Producers and consumers fetch it; compatibility is checked at publish time so a breaking change is rejected before it ever reaches the topic. This is what makes adding a consumer safe. We come back to event versioning rules in Appendix B.</a:t>
            </a:r>
            <a:endParaRPr/>
          </a:p>
        </p:txBody>
      </p:sp>
      <p:sp>
        <p:nvSpPr>
          <p:cNvPr id="414" name="Google Shape;414;g3e54846f4b4_0_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54846f4b4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e54846f4b4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vocabulary clarification most teams need before they go further with events. Event sourcing means events are the database — there is no 'current state' row anywhere; current state is computed by folding the entire event history. Adding a credit to an account isn't UPDATE balance SET balance = balance + 100; it's INSERT INTO events VALUES ('credit', 100), and reading the balance means summing every event for that account (with snapshots for performance). Strong fit for audit-heavy systems (banking, healthcare records, regulatory), temporal queries ("what was the balance on March 3rd?"), and any domain where the history is itself a primary asset. Tools: Marten (Postgres-backed, .NET), EventStoreDB, Axon (JVM). Event streaming means events are how facts move between services — each service still keeps its current state in a normal database, but emits events ("order.placed", "payment.processed") that other services subscribe to. The event is a transport mechanism, not a storage mechanism. Strong fit for integration, fan-out, decoupling. Tools: Kafka, Pulsar, NATS JetStream. These are not mutually exclusive. A common combination is full CQRS: the write side is event-sourced (so you have an audit trail of state changes), and the read-side projections are fed by streaming those events to consumers that build denormalised views. The acid test: is the event itself the source of truth (sourcing), or is it a propagated fact about a change that happened in a store (streaming)? In most enterprise architectures, streaming is far more common than sourcing; sourcing fits domains where audit and replay are core.</a:t>
            </a:r>
            <a:endParaRPr/>
          </a:p>
        </p:txBody>
      </p:sp>
      <p:sp>
        <p:nvSpPr>
          <p:cNvPr id="425" name="Google Shape;425;g3e54846f4b4_0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54846f4b4_0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e54846f4b4_0_3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 four tools does a different job. Kafka is the substrate: a partitioned, ordered, durable log. Consumers track their own offsets and can replay. It's the de facto event spine for cloud-native architectures; Strimzi runs it natively on Kubernetes. Pulsar is also substrate, in the same broad category as Kafka but with native pub/sub plus queue semantics in the same product, tiered storage that pushes cold data to cheap object stores automatically, and multi-tenancy built into the broker. Pulsar has a Kafka-protocol shim so consumers can speak Kafka while writing to Pulsar. Flink is compute: not a transport layer, but a stateful stream-processing engine. Flink sits on top of Kafka or Pulsar, consumes streams, applies operators (windowed aggregations, joins, filters, stateful transformations) with exactly-once semantics via checkpointing, and produces new streams. Alternatives: Kafka Streams (lighter, JVM-only, embedded library), Spark Structured Streaming (heavier, batch-mindset). NiFi is movement: a visual dataflow / ETL tool with 200+ source-and-sink connectors and back-pressure built in. Think of it as the answer to 'I need to get data from SFTP to Kafka to an object store with these transforms in the middle' — you draw the flow in the UI rather than writing a pipeline. Debezium (covered in the Data section) is the CDC variant of movement. Together they compose: typical pipeline is source DB → Debezium or NiFi → Kafka or Pulsar → Flink for windowed aggregations → sink. The mistake is treating these as competitors. They complement each other; pick by the question your team is asking: durably hold events (substrate), compute over them (Flink), move them around (NiFi/Debezium).</a:t>
            </a:r>
            <a:endParaRPr/>
          </a:p>
        </p:txBody>
      </p:sp>
      <p:sp>
        <p:nvSpPr>
          <p:cNvPr id="436" name="Google Shape;436;g3e54846f4b4_0_3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54846f4b4_0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e54846f4b4_0_3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correction most people need: Kafka is a log, not a queue. Messages are retained after they are read, and each consumer group tracks its own offset. That means replay is just rewinding an offset: a new consumer can process all of history, and a buggy consumer can be fixed and replayed. This is the foundation for event sourcing and for rebuilding stream-processing state, the subject of stream processing. Strimzi runs Kafka on Kubernetes; Pulsar offers similar log semantics with tiered storage.</a:t>
            </a:r>
            <a:endParaRPr/>
          </a:p>
        </p:txBody>
      </p:sp>
      <p:sp>
        <p:nvSpPr>
          <p:cNvPr id="447" name="Google Shape;447;g3e54846f4b4_0_3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54846f4b4_0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e54846f4b4_0_3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six builds directly on the log. Once events are a durable, replayable stream, you can compute over them continuously (filtering, joining, windowing, aggregating) and emit new derived streams. This is where real-time analytics, materialized views and complex event reactions live.</a:t>
            </a:r>
            <a:endParaRPr/>
          </a:p>
        </p:txBody>
      </p:sp>
      <p:sp>
        <p:nvSpPr>
          <p:cNvPr id="458" name="Google Shape;458;g3e54846f4b4_0_3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54846f4b4_0_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e54846f4b4_0_4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stream-processing app is a topology: sources (input topics), stateful processors (filter, join, window, aggregate) and sinks (output topics or stores). The output of one topology is just another stream that other services consume. Emphasize stateful — unlike a simple consumer, these processors keep local state (running totals, window buffers) that must survive restarts. That state-management problem is what the next code slide and KEDA slide address.</a:t>
            </a:r>
            <a:endParaRPr/>
          </a:p>
        </p:txBody>
      </p:sp>
      <p:sp>
        <p:nvSpPr>
          <p:cNvPr id="468" name="Google Shape;468;g3e54846f4b4_0_4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54846f4b4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e54846f4b4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 Streams is the JVM-native stream processor; on Spring Boot you get it through spring-kafka with @EnableKafkaStreams, which auto-configures a StreamsBuilderFactoryBean from spring.kafka.streams.* properties and injects the StreamsBuilder. The topology is a regular @Bean.</a:t>
            </a:r>
            <a:endParaRPr/>
          </a:p>
          <a:p>
            <a:pPr indent="0" lvl="0" marL="0" rtl="0" algn="l">
              <a:spcBef>
                <a:spcPts val="0"/>
              </a:spcBef>
              <a:spcAft>
                <a:spcPts val="0"/>
              </a:spcAft>
              <a:buNone/>
            </a:pPr>
            <a:r>
              <a:rPr lang="en-US"/>
              <a:t>The example reads each order.placed event as a typed OrderPlaced record (merchant_id and total), re-keys it by merchant, groups by key and aggregates into a tumbling window (window.seconds, 10 seconds by default). The accumulator, a count and a BigDecimal total, is serialized with Spring Kafka 4's JacksonJsonSerde on Jackson 3. The Materialized state store is local state backed by a Kafka changelog topic, so if the pod dies the state rebuilds by replaying the changelog: fault-tolerant local state with no external database in the hot path.</a:t>
            </a:r>
            <a:endParaRPr/>
          </a:p>
          <a:p>
            <a:pPr indent="0" lvl="0" marL="0" rtl="0" algn="l">
              <a:spcBef>
                <a:spcPts val="0"/>
              </a:spcBef>
              <a:spcAft>
                <a:spcPts val="0"/>
              </a:spcAft>
              <a:buNone/>
            </a:pPr>
            <a:r>
              <a:rPr lang="en-US"/>
              <a:t>Each update to a (merchant, window) row is mapped to a MerchantRevenue record with the window start and end, merchant_id, order_count and the revenue rounded HALF_UP; a JacksonJsonSerde writes it as the same JSON object other services already consume from revenue.by-merchant, so the payload does not change for non-Java readers. An event that cannot be deserialized, such as a total that is not a number, is logged and skipped by the LogAndContinue handler instead of killing the stream thread. If you would rather express this as routing than as a topology, Spring Integration is the alternative; Flink is the heavyweight option.</a:t>
            </a:r>
            <a:endParaRPr/>
          </a:p>
        </p:txBody>
      </p:sp>
      <p:sp>
        <p:nvSpPr>
          <p:cNvPr id="479" name="Google Shape;479;g3e54846f4b4_0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54846f4b4_0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3e54846f4b4_0_4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KEDA closes the elasticity loop. The right scaling signal for an event consumer is consumer lag, how far behind the log it is, not CPU. KEDA reads that lag and scales workers up, and down to zero when there's no lag. For synchronous HTTP services, the KEDA http-add-on scales on request concurrency/rate. One mechanism, two signals. Scale-to-zero is a real cost lever for spiky workloads. We then show both configs.</a:t>
            </a:r>
            <a:endParaRPr/>
          </a:p>
        </p:txBody>
      </p:sp>
      <p:sp>
        <p:nvSpPr>
          <p:cNvPr id="492" name="Google Shape;492;g3e54846f4b4_0_4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54846f4b4_0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e54846f4b4_0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manifests, one idea. The ScaledObject scales payment-consumer on Kafka lag for the order.placed topic, with minReplicaCount: 0 — true scale to zero when the topic is quiet, springing back when lag builds. The HTTPScaledObject does the same for the synchronous order-service based on request load via the http-add-on. The lagThreshold of 100 is the tuning knob: how many messages of backlog before adding a worker. Point out that scale-to-zero plus a cold-start budget is the trade-off to discuss with the audience for latency-sensitive paths.</a:t>
            </a:r>
            <a:endParaRPr/>
          </a:p>
        </p:txBody>
      </p:sp>
      <p:sp>
        <p:nvSpPr>
          <p:cNvPr id="503" name="Google Shape;503;g3e54846f4b4_0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54846f4b4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e54846f4b4_0_4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seven. A lot of real work is not a synchronous request at all: it's a multi-step business process, or batch and scheduled work. Two topics: how to coordinate multi-step flows (orchestration vs choreography) and where long-running and periodic work belongs on Kubernetes. For orchestration, Appendix D sets two approaches against the saga from the data section: the hand-rolled, database-backed orchestrator that Example 17 runs, and Temporal (Java SDK + Spring Boot) for durable execution when the saga outgrows it.</a:t>
            </a:r>
            <a:endParaRPr/>
          </a:p>
        </p:txBody>
      </p:sp>
      <p:sp>
        <p:nvSpPr>
          <p:cNvPr id="516" name="Google Shape;516;g3e54846f4b4_0_4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54846f4b4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e54846f4b4_0_4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ways to coordinate a multi-step process. Orchestration: a central coordinator explicitly commands each service in turn, so the flow is visible and observable, but the coordinator can become a god-service. Choreography: each service reacts to the previous one's event with no central brain — maximally decoupled, but the end-to-end flow is emergent and hard to see. Neither is universally right; we then give the selection criteria. This connects straight to the saga discussion and Appendix D.</a:t>
            </a:r>
            <a:endParaRPr/>
          </a:p>
        </p:txBody>
      </p:sp>
      <p:sp>
        <p:nvSpPr>
          <p:cNvPr id="526" name="Google Shape;526;g3e54846f4b4_0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54846f4b4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e54846f4b4_0_4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heuristic: use orchestration for complex, long-lived business processes where you need auditability and a clear owner (order fulfillment, loan approval). Use choreography for simple, additive reactions where decoupling matters more than visibility (send a welcome email when a user signs up). The failure modes are mirror images: orchestration risks a god-service; choreography risks nobody owning the process and no one able to answer 'where is order 42 stuck?'. Observability (section 11) is what makes choreography survivable.</a:t>
            </a:r>
            <a:endParaRPr/>
          </a:p>
        </p:txBody>
      </p:sp>
      <p:sp>
        <p:nvSpPr>
          <p:cNvPr id="537" name="Google Shape;537;g3e54846f4b4_0_4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54846f4b4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e54846f4b4_0_4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non-request work lives on Kubernetes. A Job runs a task to completion (a data migration, a nightly export). A CronJob schedules Jobs (the reconciliation that runs at 2am). A queue worker continuously drains a topic and is scaled by KEDA on lag. The anti-pattern: doing long or heavy work inside an HTTP handler, blocking the request and timing out the client. The rule of thumb on screen — long, batch or periodic work never belongs on the request path. Hand it to a Job or a worker and return immediately, ideally with a status URL the client can poll. In-app, Spring's @Scheduled (with ShedLock for cluster-aware locking) covers recurring work without leaving the JVM; Kubernetes Jobs and CronJobs own the heavier or isolated batch runs; and KEDA's Cron scaler is the declarative way to wake a worker on a schedule.</a:t>
            </a:r>
            <a:endParaRPr/>
          </a:p>
        </p:txBody>
      </p:sp>
      <p:sp>
        <p:nvSpPr>
          <p:cNvPr id="552" name="Google Shape;552;g3e54846f4b4_0_4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54846f4b4_0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e54846f4b4_0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eight zooms out from individual services to the API surface as a whole. Management is four cooperating concerns, not a product you buy: runtime control (gateway and mesh), contracts (registry), discovery (metadata), and signals (observability). The next three sections each take one of these in depth.</a:t>
            </a:r>
            <a:endParaRPr/>
          </a:p>
        </p:txBody>
      </p:sp>
      <p:sp>
        <p:nvSpPr>
          <p:cNvPr id="563" name="Google Shape;563;g3e54846f4b4_0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54846f4b4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e54846f4b4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planes, and they map exactly to the rest of the platform sections. Runtime plane: the gateway and Istio mesh handle traffic, auth, rate-limiting and resilience. Contract plane: the registry (section 9) holds every API and event schema, versioned and gated. Discovery plane: metadata/catalog (section 10) lets people find and trust APIs. Signal plane: observability (section 11) tells you what is happening. The point: these are distinct responsibilities with distinct owners, not one monolithic 'API gateway product' that tries to do everything.</a:t>
            </a:r>
            <a:endParaRPr/>
          </a:p>
        </p:txBody>
      </p:sp>
      <p:sp>
        <p:nvSpPr>
          <p:cNvPr id="573" name="Google Shape;573;g3e54846f4b4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54846f4b4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3e54846f4b4_0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Versioning is a management concern, not an afterthought. The core discipline: evolve additively; add optional fields and new endpoints, never repurpose a field or remove one without a deprecation period. When you must break, carry a major version (in the path or media type) and run old and new side by side with a published sunset date, migrating consumers off before retiring. The registry's compatibility rules enforce the additive discipline mechanically at publish time. The bold lifecycle line is the takeaway: every contract moves design → register → publish → consume → deprecate → retire, and each transition has an owner and a gate. Appendix B drills into how REST, gRPC and GraphQL each handle this differently.</a:t>
            </a:r>
            <a:endParaRPr/>
          </a:p>
        </p:txBody>
      </p:sp>
      <p:sp>
        <p:nvSpPr>
          <p:cNvPr id="584" name="Google Shape;584;g3e54846f4b4_0_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54846f4b4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e54846f4b4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nine. If contracts are the boundary, they need one authoritative home. The registry is where every OpenAPI spec, .proto, AsyncAPI doc and event schema lives — versioned, compatibility-checked, and gated in CI. This is the difference between 'we have contracts somewhere in git' and 'contracts are enforced before code ships'.</a:t>
            </a:r>
            <a:endParaRPr/>
          </a:p>
        </p:txBody>
      </p:sp>
      <p:sp>
        <p:nvSpPr>
          <p:cNvPr id="594" name="Google Shape;594;g3e54846f4b4_0_5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e54846f4b4_0_5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e54846f4b4_0_5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Apicurio is the concrete registry in this stack. Every contract type lands here: REST OpenAPI, GraphQL SDL, gRPC .proto, and event schemas (Avro/JSON). Each artifact has versions and a compatibility rule (BACKWARD, FORWARD, FULL). At publish time the registry checks the new version against the rule and rejects incompatible changes. Producers register; consumers fetch and generate stubs. The serde libraries for Kafka pull schemas from here by ID at runtime. We then show the CI gate that turns this into an automatic guardrail.</a:t>
            </a:r>
            <a:endParaRPr/>
          </a:p>
        </p:txBody>
      </p:sp>
      <p:sp>
        <p:nvSpPr>
          <p:cNvPr id="604" name="Google Shape;604;g3e54846f4b4_0_5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e54846f4b4_0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e54846f4b4_0_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guardrail that makes the whole contract story real, done the Maven way. The apicurio-registry-maven-plugin's register goal with dryRun set checks the new schema against the artifact's compatibility rule in the registry without storing it, and fails the build (and the merge) if it is incompatible. The older test-update goal still exists in 3.3.3 but is deprecated in favour of dryRun. The point to make: the contract is enforced before code ships, not discovered broken in production by a downstream team. The rule (e.g. BACKWARD — new consumers can read old data) is set once per artifact and enforced automatically forever; a separate register goal publishes on the main branch after merge. Tie it back: this is design-first from section 1, now mechanized in the build.</a:t>
            </a:r>
            <a:endParaRPr/>
          </a:p>
        </p:txBody>
      </p:sp>
      <p:sp>
        <p:nvSpPr>
          <p:cNvPr id="615" name="Google Shape;615;g3e54846f4b4_0_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54846f4b4_0_5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e54846f4b4_0_5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ten. A contract that's enforced but undiscoverable is half useless. Metadata is the discovery and trust layer: a searchable catalog of every API, topic and table, with ownership, lineage and quality signals. If a consumer can't find your API and trust it, they'll build their own or screen-scrape — and your boundary erodes.</a:t>
            </a:r>
            <a:endParaRPr/>
          </a:p>
        </p:txBody>
      </p:sp>
      <p:sp>
        <p:nvSpPr>
          <p:cNvPr id="628" name="Google Shape;628;g3e54846f4b4_0_5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54846f4b4_0_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e54846f4b4_0_5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OpenMetadata is the catalog in this stack. It ingests from many sources (OpenAPI specs, the Apicurio registry, Kafka topics, Postgres schemas) and builds one searchable catalog. The differentiator over a wiki is automated lineage: it knows that this topic feeds that table feeds this API, so it can answer 'if I change this field, who breaks?' before you change it. Ingestion is a scheduled connector, so the catalog stays current without manual upkeep. We then list what consumers get from it.</a:t>
            </a:r>
            <a:endParaRPr/>
          </a:p>
        </p:txBody>
      </p:sp>
      <p:sp>
        <p:nvSpPr>
          <p:cNvPr id="638" name="Google Shape;638;g3e54846f4b4_0_5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e54846f4b4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e54846f4b4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concrete payoffs for consumers. Discovery: search across APIs, topics and tables, and find the owning team and how to get access — no more asking around in Slack. Trust: published SLOs, data-quality results, freshness and a criticality tier tell you whether to depend on it. Lineage: column- and topic-level impact analysis answers the change-safety question proactively. Ownership and governance: tags, PII classifications and accountable owners on every asset — which is also what your compliance team needs. The throughline of sections 9–10: a contract is only as good as your ability to find it, trust it, and know who owns it.</a:t>
            </a:r>
            <a:endParaRPr/>
          </a:p>
        </p:txBody>
      </p:sp>
      <p:sp>
        <p:nvSpPr>
          <p:cNvPr id="649" name="Google Shape;649;g3e54846f4b4_0_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54846f4b4_0_5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e54846f4b4_0_5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eleven, and the one that makes everything else operable. In a distributed system you cannot debug by reading one log file — a single user action touches five services. Observability is how you reconstruct that story. The key word is correlate: traces, metrics and logs become useful together only when they share a trace_id so you can pivot between them.</a:t>
            </a:r>
            <a:endParaRPr/>
          </a:p>
        </p:txBody>
      </p:sp>
      <p:sp>
        <p:nvSpPr>
          <p:cNvPr id="659" name="Google Shape;659;g3e54846f4b4_0_5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54846f4b4_0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e54846f4b4_0_5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signals, each answering a different question. Traces: where did the time go and which service failed in this one request? Metrics: what are the aggregate rates, errors and latencies over time? Logs: what exactly happened in this component? OpenTelemetry is the vendor-neutral way to emit all three from your code. The LGTM-style stack stores them (Tempo for traces, Mimir/Prometheus for metrics, Loki for logs), and Grafana joins them. The magic is the shared trace_id linking a metric spike to the exact traces and logs behind it. We then show the instrumentation, then the trace.</a:t>
            </a:r>
            <a:endParaRPr/>
          </a:p>
        </p:txBody>
      </p:sp>
      <p:sp>
        <p:nvSpPr>
          <p:cNvPr id="669" name="Google Shape;669;g3e54846f4b4_0_5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54846f4b4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e54846f4b4_0_5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Expand the 'three pillars' framing into the five signals modern observability uses. Traces answer where the time went and which hop failed in one request. Metrics answer the trend question — aggregate rates, errors, latencies over time (the RED method: Rate, Errors, Duration; the USE method: Utilisation, Saturation, Errors). Logs answer what exactly happened in one component. Baggage is the signal most people miss — it's key-value context (tenant_id, user_tier, feature_flag) that propagates along the whole trace, so a value set at the edge is readable in a Kafka consumer three hops downstream. Profiles are the newest signal — continuous CPU / memory / lock sampling per service, answering which function is burning the CPU (Pyroscope, Parca, Grafana Phlare). The correlation bar at the bottom is the whole point: traces, metrics, logs, baggage and profiles all share trace_id + span_id + resource attributes (service.name, k8s.pod.name, deployment.version), so you can pivot — a metric spike leads to an exemplar trace, which leads to its logs, which leads to its CPU profile. OpenTelemetry is the vendor-neutral SDK and wire format for all five; traces/metrics/logs are GA, baggage is stable, profiling is the newest (the OTel profiling signal reached the ecosystem in 2024).</a:t>
            </a:r>
            <a:endParaRPr/>
          </a:p>
        </p:txBody>
      </p:sp>
      <p:sp>
        <p:nvSpPr>
          <p:cNvPr id="680" name="Google Shape;680;g3e54846f4b4_0_5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54846f4b4_0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e54846f4b4_0_6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signal and the question it answers — the framing 'what question does this answer' is more useful to an engineer than 'what is this signal.' Traces are per-request; metrics are aggregate; logs are detail. The two newer ones deserve emphasis. Baggage is underused: most teams propagate trace context but never realise they can also propagate their own key-values (tenant, user tier, AB-test cohort) along the same mechanism, and then filter traces and logs by tenant. Profiling is the frontier: continuous profilers (Pyroscope, Parca, Grafana Phlare) run in production at low overhead and answer the 'the trace says this span took 200ms but why' question by showing the actual call stack burning the CPU. The sub-bullet is the practical guidance on which to adopt when.</a:t>
            </a:r>
            <a:endParaRPr/>
          </a:p>
        </p:txBody>
      </p:sp>
      <p:sp>
        <p:nvSpPr>
          <p:cNvPr id="691" name="Google Shape;691;g3e54846f4b4_0_6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54846f4b4_0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g3e54846f4b4_0_6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Auto-injection, auto-instrumentation and manual instrumentation are three things people conflate. Manual: you call the tracer API yourself; necessary for domain operations. Auto-instrumentation: the OTel instrumentation libraries (or a language agent) wrap known frameworks: your HTTP handler, your DB driver, your Kafka client all emit spans without you touching them. Auto-injection: a Kubernetes-level mechanism; the OpenTelemetry Operator sees a pod annotation and injects the language agent + config as an init container / env vars at admission time, so you don't even put the agent in your image. Per-language specifics: Python: 'opentelemetry-instrument' wrapper or the operator injects it; instrumentation packages per library. Java/Quarkus: the OTel Java agent (-javaagent) auto-instruments everything; Quarkus also has build-time OTel extension. Spring: Micrometer Tracing + the OTel bridge, or the Java agent. .NET: OTel auto-instrumentation via the OpenTelemetry.AutoInstrumentation package or the operator's .NET injection; manual via System.Diagnostics.ActivitySource. The bold line is the mental model: injection delivers the agent, the agent instruments frameworks, you add manual spans on top — they layer into one trace.</a:t>
            </a:r>
            <a:endParaRPr/>
          </a:p>
        </p:txBody>
      </p:sp>
      <p:sp>
        <p:nvSpPr>
          <p:cNvPr id="701" name="Google Shape;701;g3e54846f4b4_0_6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e54846f4b4_0_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e54846f4b4_0_6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payoff line is how little code this takes. The examples attach the OpenTelemetry Java agent 2.32.0 with JAVA_TOOL_OPTIONS in the Containerfile; Spring Boot 4 needs no tracing starter. The Containerfile downloads the agent jar from Maven Central and checks it against a pinned SHA-256.</a:t>
            </a:r>
            <a:endParaRPr/>
          </a:p>
          <a:p>
            <a:pPr indent="0" lvl="0" marL="0" rtl="0" algn="l">
              <a:spcBef>
                <a:spcPts val="0"/>
              </a:spcBef>
              <a:spcAft>
                <a:spcPts val="0"/>
              </a:spcAft>
              <a:buNone/>
            </a:pPr>
            <a:r>
              <a:rPr lang="en-US"/>
              <a:t>Every Spring MVC endpoint, RestClient call, gRPC invocation, JDBC query and Kafka producer and consumer is instrumented: spans are created and W3C trace context is propagated with zero code, and the agent writes trace_id and span_id into the logback MDC. Configuration is environment only: the service name, the OTLP endpoint and the sampler.</a:t>
            </a:r>
            <a:endParaRPr/>
          </a:p>
          <a:p>
            <a:pPr indent="0" lvl="0" marL="0" rtl="0" algn="l">
              <a:spcBef>
                <a:spcPts val="0"/>
              </a:spcBef>
              <a:spcAft>
                <a:spcPts val="0"/>
              </a:spcAft>
              <a:buNone/>
            </a:pPr>
            <a:r>
              <a:rPr lang="en-US"/>
              <a:t>You hand-write spans only for business operations worth measuring, and even that is declarative: @WithSpan from the OpenTelemetry instrumentation annotations. The trace_id flows REST to gRPC to Kafka to the consumer with no manual plumbing, because the agent injects and extracts context at each hop. Instrument once, correlate everything.</a:t>
            </a:r>
            <a:endParaRPr/>
          </a:p>
        </p:txBody>
      </p:sp>
      <p:sp>
        <p:nvSpPr>
          <p:cNvPr id="711" name="Google Shape;711;g3e54846f4b4_0_6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e54846f4b4_0_6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g3e54846f4b4_0_6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Demystify the magic word 'correlation.' It is not a backend join — it's the trace context physically travelling with the request, in-band, at every hop. The W3C traceparent header is the standard: version-traceid-parentspanid-flags. The trace_id (16 bytes) is constant across every hop of the request — that constancy is literally what stitches the distributed story into one trace. The span_id is new per operation, and each span records its parent span_id, which is how the backend rebuilds the tree. The flags byte carries the sampling decision (01 = sampled) so every hop honours the same decision. Alongside traceparent rides tracestate (vendor-specific) and baggage (your key-values). The transport differs per hop but the mechanism is identical: HTTP uses the traceparent header, gRPC uses metadata, Kafka uses message headers. The SDK injects the context on the way out and extracts it on the way in — automatically, which is why auto-instrumentation 'just works' across services. This propagated context is exactly why the same trace_id shows up on the trace waterfall, on every structured log line, and as an exemplar on your metrics — they all read it from the same in-band context.</a:t>
            </a:r>
            <a:endParaRPr/>
          </a:p>
        </p:txBody>
      </p:sp>
      <p:sp>
        <p:nvSpPr>
          <p:cNvPr id="724" name="Google Shape;724;g3e54846f4b4_0_6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54846f4b4_0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e54846f4b4_0_6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Baggage in practice. OpenTelemetry Baggage rides the same context propagation as the trace: the Java agent's default propagators are tracecontext and baggage, so the W3C baggage header travels on every REST, gRPC and Kafka hop with no extra code.</a:t>
            </a:r>
            <a:endParaRPr/>
          </a:p>
          <a:p>
            <a:pPr indent="0" lvl="0" marL="0" rtl="0" algn="l">
              <a:spcBef>
                <a:spcPts val="0"/>
              </a:spcBef>
              <a:spcAft>
                <a:spcPts val="0"/>
              </a:spcAft>
              <a:buNone/>
            </a:pPr>
            <a:r>
              <a:rPr lang="en-US"/>
              <a:t>The OncePerRequestFilter puts tenant.id into the current baggage at the edge, and the try-with-resources scope restores the previous context when the request ends. A @KafkaListener downstream reads it with Baggage.current().getEntryValue(...). Baggage is not recorded on spans automatically, so the consumer copies it onto its span as an attribute, which is what makes traces filterable by tenant.</a:t>
            </a:r>
            <a:endParaRPr/>
          </a:p>
          <a:p>
            <a:pPr indent="0" lvl="0" marL="0" rtl="0" algn="l">
              <a:spcBef>
                <a:spcPts val="0"/>
              </a:spcBef>
              <a:spcAft>
                <a:spcPts val="0"/>
              </a:spcAft>
              <a:buNone/>
            </a:pPr>
            <a:r>
              <a:rPr lang="en-US"/>
              <a:t>Caution: baggage goes on the wire to every hop, including third parties you call. No secrets, no PII.</a:t>
            </a:r>
            <a:endParaRPr/>
          </a:p>
        </p:txBody>
      </p:sp>
      <p:sp>
        <p:nvSpPr>
          <p:cNvPr id="735" name="Google Shape;735;g3e54846f4b4_0_6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4846f4b4_0_6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e54846f4b4_0_6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the instrumentation buys you, visually. One trace_id propagates from the edge REST POST through the gRPC ReserveStock call, onto the published order.placed event, and into the consumer that sends the notification. Five services, one readable waterfall. Point at the time axis: you can see exactly which span dominated latency. That same trace_id appears as an exemplar on your metrics and on every log line, so a latency alert is one click from the offending trace and its logs. This is what makes the choreographed, event-driven design from earlier sections debuggable.</a:t>
            </a:r>
            <a:endParaRPr/>
          </a:p>
        </p:txBody>
      </p:sp>
      <p:sp>
        <p:nvSpPr>
          <p:cNvPr id="748" name="Google Shape;748;g3e54846f4b4_0_6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e54846f4b4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3e54846f4b4_0_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cost-control reality: at scale you cannot store every trace, so you sample. The key question is when the keep/drop decision is made. Head sampling decides at the start, in the SDK, before the trace even completes — typically 'keep 1 in N' (probabilistic) or 'keep N per second' (rate-limiting). It's cheap and low-overhead, but it is blind at decision time: it can't keep a trace because it errored or was slow, because it decides before knowing. Tail sampling decides at the end, in the Collector, after the whole trace has been seen — the Collector buffers spans, waits for the trace to complete, then applies rules: keep all errors, keep all traces over 500ms, keep rare routes, sample the boring successful ones at 1%. Tail is smart but costs memory (buffering in-flight traces) and CPU (the Collector does real work). The strategies, named: probabilistic (keep X%), rate-limiting (cap per second), parent-based (follow the upstream's decision so a trace isn't half-sampled), and tail rules (error / latency / attribute based). The common production setup is both: a parent-based head sample for a representative baseline, plus tail sampling at the Collector to guarantee every error and every slow trace is captured regardless of the baseline rate. Two rules to drill home: always sample by trace, not by span (a half-sampled trace is worse than no trace), and propagate the sampling flag (the 01 in traceparent) so every service agrees. Metrics and logs are usually not sampled the same way: metrics aggregate everything (you don't sample a counter), and logs are typically kept in full with retention limits or sampled on their own policy.</a:t>
            </a:r>
            <a:endParaRPr/>
          </a:p>
        </p:txBody>
      </p:sp>
      <p:sp>
        <p:nvSpPr>
          <p:cNvPr id="759" name="Google Shape;759;g3e54846f4b4_0_6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54846f4b4_0_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3e54846f4b4_0_6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for sampling. Probabilistic is the simplest and the most common starting point — keep 10%, predictable volume. Rate-limiting is better when traffic is bursty because it caps absolute volume. Parent-based is non-negotiable in a distributed system: without it, service A samples a trace but service B independently drops it, and you get a broken trace with holes — worse than no trace. Tail-based sampling gives the most control: because the Collector sees the whole trace before deciding, it can guarantee you keep every error and every slow request, which are the traces you want during an incident. The cost is the Collector must buffer in-flight traces (memory) and evaluate rules (CPU), and it must see all spans of a trace (which constrains how you load-balance the Collector — use a trace-ID-aware load balancer). The recommended setup combines head (for a cheap representative baseline) and tail (for guaranteed capture of the interesting traces). The sub-bullet is the reminder: traces, metrics and logs are sampled differently — you never sample a metric counter, and logs typically follow their own retention or are sampled to match their parent trace.</a:t>
            </a:r>
            <a:endParaRPr/>
          </a:p>
        </p:txBody>
      </p:sp>
      <p:sp>
        <p:nvSpPr>
          <p:cNvPr id="770" name="Google Shape;770;g3e54846f4b4_0_6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54846f4b4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e54846f4b4_0_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testing pragmatic: you don't need a heavy framework to validate this architecture. curl and Postman exercise REST contracts and check status codes and pagination. hey throws quick HTTP load so you can watch latency and error rate and see the KEDA http-add-on add replicas. ghz is the gRPC load tester: confirm your Istio timeouts and retries behave under pressure. The GraphQL UI (GraphiQL, which Spring for GraphQL serves at /graphiql in dev) explores the composed schema and, with tracing on, shows the gateway fanning out in Tempo. Kiali visualizes the live mesh: topology, mTLS status and real-time request flow during a load test. The message: prove the behaviour with simple tools before you ship, not after an incident.</a:t>
            </a:r>
            <a:endParaRPr/>
          </a:p>
        </p:txBody>
      </p:sp>
      <p:sp>
        <p:nvSpPr>
          <p:cNvPr id="780" name="Google Shape;780;g3e54846f4b4_0_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e54846f4b4_0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e54846f4b4_0_6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12 — security. The Anti-Patterns section that used to be 12 has shifted to 13. We organise this section around two ideas: the 4 C's of cloud-native security (concentric layers, each protecting what is inside it), and the seven patterns that you'll meet over and over in practice. The bias of this section: security is not a single product or a single team. It's a property of how the system is designed and run, owned at every layer. Each pattern here exists because no single layer is enough on its own.</a:t>
            </a:r>
            <a:endParaRPr/>
          </a:p>
        </p:txBody>
      </p:sp>
      <p:sp>
        <p:nvSpPr>
          <p:cNvPr id="790" name="Google Shape;790;g3e54846f4b4_0_6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e54846f4b4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e54846f4b4_0_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from the CNCF security paper. Four concentric layers of responsibility, each enforcing controls appropriate to its scope. Cloud is the outermost layer (IAM, VPC, KMS, audit logs, region selection), owned by the platform team or cloud admin. Cluster is the Kubernetes layer (RBAC, NetworkPolicy, Pod Security Standards, admission control), owned by platform/SRE. Container is the workload (minimal base images, non-root users, signed images, vulnerability scanning, secret mounting), owned jointly by app teams and platform. Code is the innermost layer (secure defaults, input validation, dependency scanning, secrets handling), owned by app teams. The point of the concentric metaphor: a weakness in any layer leaks into the inner ones. Strong code on a weak container is still vulnerable. Strong container on a weak cluster is still vulnerable. We design controls at all four. We then cover what each layer's controls are.</a:t>
            </a:r>
            <a:endParaRPr/>
          </a:p>
        </p:txBody>
      </p:sp>
      <p:sp>
        <p:nvSpPr>
          <p:cNvPr id="800" name="Google Shape;800;g3e54846f4b4_0_7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e54846f4b4_0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g3e54846f4b4_0_7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each layer. The Cloud layer is where you control the perimeter and the identities and the keys; failures here often look like 'someone left a storage bucket open to the internet' or 'an over-permissive IAM role enabled lateral movement to another account.' The Cluster layer is the Kubernetes operating system for your workloads; failures look like 'the developer Pod could reach the database Pod' (no NetworkPolicy) or 'a privileged container was admitted' (no Pod Security Standards). The Container layer is about the image and runtime; failures look like 'a CVE in the base image' or 'the container ran as root and got out via a kernel exploit' or 'a secret was in the image.' Code is where most developer focus already lives. The sub-bullet is the take-home: a control at the wrong layer is false confidence. We then open the pattern catalog — seven patterns that show up across these four layers.</a:t>
            </a:r>
            <a:endParaRPr/>
          </a:p>
        </p:txBody>
      </p:sp>
      <p:sp>
        <p:nvSpPr>
          <p:cNvPr id="811" name="Google Shape;811;g3e54846f4b4_0_7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54846f4b4_0_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g3e54846f4b4_0_7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roadmap for the next fourteen slides. These patterns span the 4 C's: Zero-Trust and Policy-as-Code are cluster-layer; Sidecar straddles cluster and container; Valet Key, Bulkhead, and Claim-Check are mostly code-layer; Strangler Fig is architecture-layer (modernisation). You'll see each pattern with a diagram explaining how it works, then either a YAML configuration block (for the platform-heavy patterns) or language-specific code (for the code-heavy patterns). Use the sub-bullet to set audience expectation that what follows alternates between pattern-and-implementation pairs.</a:t>
            </a:r>
            <a:endParaRPr/>
          </a:p>
        </p:txBody>
      </p:sp>
      <p:sp>
        <p:nvSpPr>
          <p:cNvPr id="821" name="Google Shape;821;g3e54846f4b4_0_7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54846f4b4_0_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e54846f4b4_0_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sidecar pattern — a separate container running in the same Pod as the application, sharing localhost. The sidecar handles cross-cutting security concerns: terminates mTLS, validates JWTs, rate-limits, audits, enforces policy. The app receives only authenticated, authorised requests with trusted headers attached (X-Forwarded-Client-Cert, the validated JWT claims, the request ID). Why this matters: one security policy applied uniformly across every workload regardless of language. Same Envoy sidecar protects your Java app, your Python app, your Go app. App teams write business code, not crypto code. The sidecar is enforced by the platform (Istio injects them automatically) so it can't be disabled by accident. Examples in the field: Istio Envoy sidecars (the dominant choice), Linkerd2-proxy, OPA Sidecar for policy decisions, Cilium L7 with per-endpoint policy.</a:t>
            </a:r>
            <a:endParaRPr/>
          </a:p>
        </p:txBody>
      </p:sp>
      <p:sp>
        <p:nvSpPr>
          <p:cNvPr id="831" name="Google Shape;831;g3e54846f4b4_0_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54846f4b4_0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g3e54846f4b4_0_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audience point: the sidecar pattern works only if the app uses the headers the sidecar attaches. The most common failure mode is an app that ignores X-Forwarded-Client-Cert and falls back to 'allow if you got here.' Make the headers required, not optional. The second-most-common failure mode is forgetting that traffic can sometimes bypass the sidecar (port-forward for debugging, host networking, direct pod-to-pod calls within the same node). NetworkPolicy is what closes that gap — only allow inbound traffic on the sidecar's mTLS port, never the app's container port directly. With both the sidecar and the NetworkPolicy, the app can fully trust the headers and become much simpler — no crypto code, no JWT parsing library, just header reads.</a:t>
            </a:r>
            <a:endParaRPr/>
          </a:p>
        </p:txBody>
      </p:sp>
      <p:sp>
        <p:nvSpPr>
          <p:cNvPr id="842" name="Google Shape;842;g3e54846f4b4_0_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54846f4b4_0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g3e54846f4b4_0_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valet key pattern: instead of streaming a large file through your application, the application mints a scoped, time-bound, operation-restricted token (a 'valet key') and the client uses it to interact directly with the storage system. Pros: dramatically less data through the application (memory, bandwidth, latency); no long-lived credentials at the client; no app-side credential to leak; the token can expire and be revoked. Cons: requires the storage side to validate tokens; the token's permissions and TTL must be carefully scoped — a leaked token still has its window. Every implementation has the same shape: sign the operation, the object key and the expiry with a key the storage side can check. Example 12 mints and verifies such a ticket in the service itself (HMAC-SHA256, an HS256 JWT in Go and C++), and most object stores, open-source ones included, accept signed URLs of the same shape. We then show the code.</a:t>
            </a:r>
            <a:endParaRPr/>
          </a:p>
        </p:txBody>
      </p:sp>
      <p:sp>
        <p:nvSpPr>
          <p:cNvPr id="852" name="Google Shape;852;g3e54846f4b4_0_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e54846f4b4_0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e54846f4b4_0_7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handler mints a ticket that authorises one operation (GET or PUT) on one resource for 300 seconds; after that it is worthless. In Example 12 the ticket is an HMAC-SHA256 signature over resource:operation:expires, keyed with VALET_SECRET (javax.crypto.Mac with HmacSHA256). POST /valet-key returns the resource, the operation, the expiry and the token.</a:t>
            </a:r>
            <a:endParaRPr/>
          </a:p>
          <a:p>
            <a:pPr indent="0" lvl="0" marL="0" rtl="0" algn="l">
              <a:spcBef>
                <a:spcPts val="0"/>
              </a:spcBef>
              <a:spcAft>
                <a:spcPts val="0"/>
              </a:spcAft>
              <a:buNone/>
            </a:pPr>
            <a:r>
              <a:rPr lang="en-US"/>
              <a:t>The verifier (GET /verify-valet in the example, the storage gateway in a real system) rejects an expired ticket first, recomputes the signature and compares the two with MessageDigest.isEqual, a constant-time comparison. A changed resource, operation or expiry gives a different signature, so any tampering is a 403.</a:t>
            </a:r>
            <a:endParaRPr/>
          </a:p>
          <a:p>
            <a:pPr indent="0" lvl="0" marL="0" rtl="0" algn="l">
              <a:spcBef>
                <a:spcPts val="0"/>
              </a:spcBef>
              <a:spcAft>
                <a:spcPts val="0"/>
              </a:spcAft>
              <a:buNone/>
            </a:pPr>
            <a:r>
              <a:rPr lang="en-US"/>
              <a:t>The application stays out of the data path: the client presents the ticket to the storage side directly. Most object stores, open-source ones included, accept signed URLs of the same shape: the method, the object key and the expiry signed into the URL. A user-scoped resource path also lets the store's policy restrict each user to their own prefix as defence in depth.</a:t>
            </a:r>
            <a:endParaRPr/>
          </a:p>
        </p:txBody>
      </p:sp>
      <p:sp>
        <p:nvSpPr>
          <p:cNvPr id="863" name="Google Shape;863;g3e54846f4b4_0_7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e54846f4b4_0_7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g3e54846f4b4_0_7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strangler fig was covered as a general pattern in Appendix K — here it shows up specifically for security modernisation, which is a common need: most enterprises have legacy auth (LDAP-only, custom SSO, NTLM, hardcoded API keys) buried in critical systems, and a 'big bang' replacement is too risky. The gateway becomes the bilingual translator: it validates modern JWTs from your IdP at the edge and translates to whatever the legacy backend expects (X-Remote-User header, basic auth, NTLM, custom session cookie). Per route, you migrate when the new path is verified — if anything breaks, flip the gateway config back to forwarding legacy headers. The sub-bullet points to Appendix K for the full mechanics; this is the application of those mechanics to a specific security need.</a:t>
            </a:r>
            <a:endParaRPr/>
          </a:p>
        </p:txBody>
      </p:sp>
      <p:sp>
        <p:nvSpPr>
          <p:cNvPr id="875" name="Google Shape;875;g3e54846f4b4_0_7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e54846f4b4_0_7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4" name="Google Shape;884;g3e54846f4b4_0_7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there is no trusted network. Every request, from any source, to any service, on every hop — authenticated and authorised. The old model (top of the diagram) was 'get inside the VPN, everything inside is trusted': once an attacker is in, they move laterally with little resistance. The new model (bottom): the user authenticates to an IAP (Identity-Aware Proxy) which evaluates identity, device posture, location, MFA. The IAP then forwards to a policy engine (OPA, Cedar) which returns an allow/deny per-request. The downstream service still authenticates the caller (mTLS + SPIFFE ID) and re-authorises against policy. Inside the cluster: mTLS via SPIFFE identity (every workload has an X.509 cert identifying its service account), AuthorizationPolicy per workload restricting which other workloads can call which endpoints. A breach in one service gives you nothing because the next call still has to prove identity and pass policy.</a:t>
            </a:r>
            <a:endParaRPr/>
          </a:p>
        </p:txBody>
      </p:sp>
      <p:sp>
        <p:nvSpPr>
          <p:cNvPr id="885" name="Google Shape;885;g3e54846f4b4_0_7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54846f4b4_0_7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g3e54846f4b4_0_7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Concrete implementations to ground the model. The edge IAP is what your users hit — they authenticate against your IdP (Keycloak, or Dex federating an existing directory), the IAP issues a session, every request from then on carries identity. Inside the cluster, SPIFFE is the service-identity mechanism that makes mTLS work without manual cert management — it's what gives every Pod a verifiable identity. Istio's AuthorizationPolicy is the declarative layer on top: 'who can call what.' OPA / Cedar is the more flexible policy engine when your decision logic is complex (per-tenant, per-time-of-day, per-data-classification). The bold line is the app-side discipline: don't make these external policies redundant by accepting unauthenticated calls in your code; use the peer identity from the headers as a required input.</a:t>
            </a:r>
            <a:endParaRPr/>
          </a:p>
        </p:txBody>
      </p:sp>
      <p:sp>
        <p:nvSpPr>
          <p:cNvPr id="896" name="Google Shape;896;g3e54846f4b4_0_7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4846f4b4_0_8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g3e54846f4b4_0_8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policies as code: declarative, version-controlled, tested, applied automatically. The flow on the diagram: a developer commits manifests; CI runs conftest or Kyverno against the manifests pre-merge (catches violations before they reach the cluster); on `kubectl apply` (or ArgoCD / Flux), the Kubernetes API server calls the admission controller (OPA Gatekeeper / Kyverno) which evaluates the ConstraintTemplate / ClusterPolicy against the incoming object. Non-conformant resources are rejected — they never become running Pods. The policy file lives in Git, reviewed like code, applied by the cluster. No human runs a checklist; consistency is enforced uniformly. Example policies: images must come from approved registries, no privileged containers, no host network, no host path mounts, all containers have resource limits, all images are signed.</a:t>
            </a:r>
            <a:endParaRPr/>
          </a:p>
        </p:txBody>
      </p:sp>
      <p:sp>
        <p:nvSpPr>
          <p:cNvPr id="906" name="Google Shape;906;g3e54846f4b4_0_8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e54846f4b4_0_8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e54846f4b4_0_8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two-piece pattern: ConstraintTemplate defines the logic (in Rego, OPA's policy language), Constraint is the instance that applies the logic to specific resources with specific parameters. The Rego in violation[{msg}] reads as 'for every container in the Pod, if its image doesn't start with any of the allowed registries, emit a violation with this message.' Gatekeeper translates that into an admission webhook that rejects non-conformant Pods before they're scheduled. The Constraint binds the template to the kinds (Pods) and namespaces (everything except system namespaces), with the allowedRegistries list as the parameter. Lives in Git, applied via `kubectl apply` (or ArgoCD), versioned and reviewed like code. An equivalent Kyverno expression is more YAML-native if your team prefers it; Rego is more expressive for complex logic.</a:t>
            </a:r>
            <a:endParaRPr/>
          </a:p>
        </p:txBody>
      </p:sp>
      <p:sp>
        <p:nvSpPr>
          <p:cNvPr id="917" name="Google Shape;917;g3e54846f4b4_0_8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e54846f4b4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g3e54846f4b4_0_8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borrowed from naval architecture, where watertight compartments stop one breach from sinking the ship. In software, you isolate resources (connection pools, thread pools, async semaphores, queues) by tenant, by call type, or by priority. The left side of the diagram (red) shows the default: one shared pool means a single tenant's traffic storm starves everyone else's. The right side: separate pools, each with its own bounded size. A storm from tenant A consumes tenant A's pool and rejects further A requests — tenants B and background workloads keep running. Why this matters for security as well as resilience: a compromised tenant or a compromised endpoint can be used to mount a denial-of-service against the shared system; bulkheads cap that to its own pool. Implementations: Resilience4j Bulkhead (JVM), Polly (.NET), asyncio.Semaphore (Python), Istio per-destination connection pools at the mesh layer.</a:t>
            </a:r>
            <a:endParaRPr/>
          </a:p>
        </p:txBody>
      </p:sp>
      <p:sp>
        <p:nvSpPr>
          <p:cNvPr id="929" name="Google Shape;929;g3e54846f4b4_0_8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e54846f4b4_0_8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e54846f4b4_0_8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Resilience4j (the resilience4j-spring-boot4 starter) provides the bulkhead. Example 12 needs one limit per tenant, so instead of the @Bulkhead annotation, which names a single fixed instance, it asks the BulkheadRegistry for a bulkhead named after the tenant, created on first use from a shared 'tenant' configuration: five concurrent calls and a maximum wait of zero.</a:t>
            </a:r>
            <a:endParaRPr/>
          </a:p>
          <a:p>
            <a:pPr indent="0" lvl="0" marL="0" rtl="0" algn="l">
              <a:spcBef>
                <a:spcPts val="0"/>
              </a:spcBef>
              <a:spcAft>
                <a:spcPts val="0"/>
              </a:spcAft>
              <a:buNone/>
            </a:pPr>
            <a:r>
              <a:rPr lang="en-US"/>
              <a:t>A tenant that fills its five permits gets BulkheadFullException and a 429 at once, while every other tenant keeps its own five. Refusing instead of queueing matters: a queue in front of a saturated tenant only turns its storm into a pile of waiting requests. At the platform layer, Istio's per-destination connection-pool limits complement these in-process limits.</a:t>
            </a:r>
            <a:endParaRPr/>
          </a:p>
        </p:txBody>
      </p:sp>
      <p:sp>
        <p:nvSpPr>
          <p:cNvPr id="940" name="Google Shape;940;g3e54846f4b4_0_8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e54846f4b4_0_8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e54846f4b4_0_8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claim-check pattern: a producer puts the (large or sensitive) payload into a secure object store and publishes only a claim ticket (an opaque token plus a fetch URI) to the message bus. The consumer receives the ticket, fetches the payload from the store with the token. Two big security wins: PII never sits in Kafka's topic history (which is replicated, retained, and possibly visible to operators and other tools); and the token can expire and be revoked, while a Kafka message cannot. The pattern also has performance benefits (you don't push 50MB messages through the message bus), but this section frames it for security. Compare to the write-around caching pattern: same shape, different motivation. Where: any flow where sensitive payloads (health records, financial documents, customer PII) cross messaging infrastructure that shouldn't see them; any flow where payloads are large enough that the bus would be the bottleneck.</a:t>
            </a:r>
            <a:endParaRPr/>
          </a:p>
        </p:txBody>
      </p:sp>
      <p:sp>
        <p:nvSpPr>
          <p:cNvPr id="952" name="Google Shape;952;g3e54846f4b4_0_8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54846f4b4_0_8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g3e54846f4b4_0_8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halves. The producer writes the payload to an encrypted object store under payloads/&lt;order id&gt;, mints a GET-only ticket for that key with Example 12's ValetKeyService.mint (300 seconds), and publishes only a small claim (order id, URI and the ticket) to order.documents with KafkaTemplate. The PII is never on Kafka's wire.</a:t>
            </a:r>
            <a:endParaRPr/>
          </a:p>
          <a:p>
            <a:pPr indent="0" lvl="0" marL="0" rtl="0" algn="l">
              <a:spcBef>
                <a:spcPts val="0"/>
              </a:spcBef>
              <a:spcAft>
                <a:spcPts val="0"/>
              </a:spcAft>
              <a:buNone/>
            </a:pPr>
            <a:r>
              <a:rPr lang="en-US"/>
              <a:t>The consumer decodes the claim, fetches the payload with the token, processes it, then commits the offset (at-least-once delivery, so the handler must be idempotent). The store verifies the ticket before it serves the object and logs every fetch with the principal, an audit trail plain Kafka does not give.</a:t>
            </a:r>
            <a:endParaRPr/>
          </a:p>
          <a:p>
            <a:pPr indent="0" lvl="0" marL="0" rtl="0" algn="l">
              <a:spcBef>
                <a:spcPts val="0"/>
              </a:spcBef>
              <a:spcAft>
                <a:spcPts val="0"/>
              </a:spcAft>
              <a:buNone/>
            </a:pPr>
            <a:r>
              <a:rPr lang="en-US"/>
              <a:t>Size the ticket's lifetime to the consumer's worst-case lag. No runnable example covers claim-check; store stands for any encrypted object store. Set a lifecycle rule that expires claims after the retention period, so a replayed message points at nothing.</a:t>
            </a:r>
            <a:endParaRPr/>
          </a:p>
        </p:txBody>
      </p:sp>
      <p:sp>
        <p:nvSpPr>
          <p:cNvPr id="963" name="Google Shape;963;g3e54846f4b4_0_8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e54846f4b4_0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g3e54846f4b4_0_8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section with the decision rules. The cost lines are there because every pattern is a trade. Sidecar costs a container per Pod (a few MB of memory, a couple hundred ms of startup); for most systems the security uniformity makes it worth that. Valet key requires storage-side validation: the store, or a small gateway in front of it, must check the signature, the operation and the expiry. Strangler fig (auth) is a deliberate transition strategy; the gateway running translation is the cost. Zero-trust / mTLS everywhere has real CPU overhead (TLS handshakes are not free) — mesh implementations like Istio amortise it well but it's not zero. Policy-as-code's cost is the upfront investment in writing policies; the ongoing cost is near zero. Bulkheads are extra moving parts to tune. Claim-check adds a hop. The bold line is the take-home: production systems combine all seven, chosen per concern, not applied as a one-size-fits-all checklist.</a:t>
            </a:r>
            <a:endParaRPr/>
          </a:p>
        </p:txBody>
      </p:sp>
      <p:sp>
        <p:nvSpPr>
          <p:cNvPr id="975" name="Google Shape;975;g3e54846f4b4_0_8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e54846f4b4_0_8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3e54846f4b4_0_8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take-aways the audience should remember. Defence in depth across the 4 C's is the philosophical anchor. Identity-as-perimeter is the operational anchor. Policy-in-Git is the automation anchor. The PII-never-in-cleartext and bulkhead lines are the specific applications. The reference list is what you'd recommend for further reading — NIST 800-204A is the canonical microservices security paper; CNCF's Cloud Native Security Whitepaper organises the same material; OWASP API Top 10 is the application-layer reference; SLSA covers supply-chain security (signing, provenance, build integrity). The open-source list emphasises that the entire security stack is buildable with Apache 2.0 components.</a:t>
            </a:r>
            <a:endParaRPr/>
          </a:p>
        </p:txBody>
      </p:sp>
      <p:sp>
        <p:nvSpPr>
          <p:cNvPr id="985" name="Google Shape;985;g3e54846f4b4_0_8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e54846f4b4_0_8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g3e54846f4b4_0_8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final main section, and the most memorable framing of the whole talk: nearly every cloud-native failure is coupling sneaking back in. You did the work to separate things; entropy and deadlines pull them back together. This section names the specific ways that happens and gives heuristics to catch it early.</a:t>
            </a:r>
            <a:endParaRPr/>
          </a:p>
        </p:txBody>
      </p:sp>
      <p:sp>
        <p:nvSpPr>
          <p:cNvPr id="995" name="Google Shape;995;g3e54846f4b4_0_8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e54846f4b4_0_8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3e54846f4b4_0_8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grid briefly — most of these are callbacks to earlier sections. Distributed monolith (services that must deploy together), shared database (two services on one table), chatty calls (deep synchronous chains), no contract/leaky internal models (DB rows as the public API), missing observability (debugging by guesswork), retry storms (no backoff). The unifying diagnosis is on screen: each one reintroduces the coupling the architecture worked to remove. If you only remember one slide for code review, it's this one. We then turn these into positive heuristics.</a:t>
            </a:r>
            <a:endParaRPr/>
          </a:p>
        </p:txBody>
      </p:sp>
      <p:sp>
        <p:nvSpPr>
          <p:cNvPr id="1005" name="Google Shape;1005;g3e54846f4b4_0_8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e54846f4b4_0_9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g3e54846f4b4_0_9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five tests to apply in design and code review. (1) If two services must deploy together, they are one service: merge them or fix the contract. (2) One writer per dataset; everyone else reads through the API or subscribes to events — no shared tables. (3) Push aggregation to a gateway or BFF and forbid synchronous call chains deeper than one hop. (4) No contract in the registry, no merge — and every retry has a timeout and a bound. (5) If you can't trace it, you can't run it — observability is a launch requirement, not a follow-up. Offer these as a checklist the team can literally paste into a PR template.</a:t>
            </a:r>
            <a:endParaRPr/>
          </a:p>
        </p:txBody>
      </p:sp>
      <p:sp>
        <p:nvSpPr>
          <p:cNvPr id="1016" name="Google Shape;1016;g3e54846f4b4_0_9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54846f4b4_0_9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3e54846f4b4_0_9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recap — read these five as the entire talk compressed. If the audience remembers nothing else: cloud-native is properties not tools; match the protocol to the interaction and compose at the edge; own your data and share it as contracts and facts; make the contract a governed artifact (registry, metadata, observability); and watch for coupling sneaking back in. Pause here before References and Q&amp;A. If it's the long-form session, this is the natural point to say 'and now the appendices go deeper on four things people always ask about' and continue.</a:t>
            </a:r>
            <a:endParaRPr/>
          </a:p>
        </p:txBody>
      </p:sp>
      <p:sp>
        <p:nvSpPr>
          <p:cNvPr id="1026" name="Google Shape;1026;g3e54846f4b4_0_9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e54846f4b4_0_9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g3e54846f4b4_0_9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reading list this talk stands on. Call out a couple of pairings: Newman's Building Microservices for the boundaries and integration story; Kleppmann's Designing Data-Intensive Applications for the data and consistency foundations behind the outbox and saga; Bellemare for the event-driven backbone; and the API-design trio (Higginbotham, Zimmermann et al., Geewax) for contract and versioning depth. The architecture books are language-agnostic — they apply whether you build on Spring, Quarkus, or anything else. The Spring Boot reference docs, Temporal Java SDK guides, and Debezium docs are the practical references for the runtime specifics shown in the code. The slides and these references are enough to build the system, not only to discuss it. The full list, with a publisher link for every title, is on the site's Bibliography page (patterncatalyst.github.io/cloud-native-design-patterns/bibliography/).</a:t>
            </a:r>
            <a:endParaRPr/>
          </a:p>
        </p:txBody>
      </p:sp>
      <p:sp>
        <p:nvSpPr>
          <p:cNvPr id="1036" name="Google Shape;1036;g3e54846f4b4_0_9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4846f4b4_0_9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g3e54846f4b4_0_9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of the main talk. Thank the audience and open for questions. The appendices are deep-dive backup material: pull them up on demand during Q&amp;A, or work through them if you're running the full-length session. They cover the questions that always come up: how the three protocols differ, how to version each one, how to run WebSockets on Kubernetes, and the hard parts of saga state and compensation.</a:t>
            </a:r>
            <a:endParaRPr/>
          </a:p>
        </p:txBody>
      </p:sp>
      <p:sp>
        <p:nvSpPr>
          <p:cNvPr id="1046" name="Google Shape;1046;g3e54846f4b4_0_9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e54846f4b4_0_9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g3e54846f4b4_0_9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1, the protocol/data/event vocabulary. Call out the ones most likely to trip people up: gRPC is recursively 'gRPC Remote Procedure Call' but practically it's Google's high-performance RPC over HTTP/2 with Protocol Buffers. mTLS (mutual TLS) is the one people often gloss — ordinary TLS authenticates the server to the client; mutual TLS also authenticates the client to the server, which is the basis of zero-trust service identity. The data row has the SETEX and TTL the audience asked about explicitly: TTL is the expiry duration on a cached key; SETEX is the Redis command that sets a value and its TTL in one atomic operation (SETEX key seconds value). LRU is the eviction policy that drops the least-recently-touched key when the cache is full. CDC and WAL go together — CDC tails the WAL. Call out the ACL ambiguity: in the DDD/data sections ACL means Anti-Corruption Layer; in the security section it means Access Control List.</a:t>
            </a:r>
            <a:endParaRPr/>
          </a:p>
        </p:txBody>
      </p:sp>
      <p:sp>
        <p:nvSpPr>
          <p:cNvPr id="1055" name="Google Shape;1055;g3e54846f4b4_0_9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e54846f4b4_0_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e54846f4b4_0_9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part 2, the platform/security/observability vocabulary. The Kubernetes row: HPA scales on CPU/memory, KEDA scales on event sources (queue depth, Kafka lag, HTTP rate) — the distinction matters in the autoscaling discussion. PSS (Pod Security Standards) replaced the deprecated PodSecurityPolicy. The security row has the terms from section 12: SPIFFE/SPIRE give workloads cryptographic identities for mTLS; OPA is the policy engine behind policy-as-code; IAP is the zero-trust edge proxy; JWT/OIDC/OAuth are the token/identity standards; SLSA/CVE/SBOM are supply-chain security. The observability row has RED and USE, the two metrics methods worth memorising: RED (Rate, Errors, Duration) for services, USE (Utilisation, Saturation, Errors) for resources. p99 means the 99th-percentile latency — 99% of requests are faster than this; it's what you alert on, not the average. The runtime row is tailored to this deck's language.</a:t>
            </a:r>
            <a:endParaRPr/>
          </a:p>
        </p:txBody>
      </p:sp>
      <p:sp>
        <p:nvSpPr>
          <p:cNvPr id="1065" name="Google Shape;1065;g3e54846f4b4_0_9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e54846f4b4_0_9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g3e54846f4b4_0_9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A. This is the deep dive behind the 'pick the protocol' slide from section 2. We compare the three on three axes: the mental model each imposes, how they handle fetching and round trips, and what travels on the wire. By the end the audience should be able to defend a protocol choice on technical grounds, not fashion.</a:t>
            </a:r>
            <a:endParaRPr/>
          </a:p>
        </p:txBody>
      </p:sp>
      <p:sp>
        <p:nvSpPr>
          <p:cNvPr id="1075" name="Google Shape;1075;g3e54846f4b4_0_9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e54846f4b4_0_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g3e54846f4b4_0_9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mental model, because it drives everything else. REST is resource-oriented: nouns and HTTP verbs, you transfer representations of state. gRPC is procedure-oriented: you call typed methods, it's behaviour not state, and the .proto is the contract. GraphQL is graph-oriented: one typed schema the client traverses, picking exactly the fields it wants. The same place_order intent takes three different shapes. Most arguments about 'which is best' are arguments about which mental model fits the problem, and the answer often differs per interaction.</a:t>
            </a:r>
            <a:endParaRPr/>
          </a:p>
        </p:txBody>
      </p:sp>
      <p:sp>
        <p:nvSpPr>
          <p:cNvPr id="1085" name="Google Shape;1085;g3e54846f4b4_0_9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4846f4b4_0_9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g3e54846f4b4_0_9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practical difference clients feel. With REST you often need several round trips (order, then its items, then stock, then shipping) or you build a bespoke aggregate endpoint — and you still get fixed payload shapes that over- or under-fetch. GraphQL collapses that into one tailored query where the client names the fields, so no over- or under-fetching and the client controls the cost. gRPC is a single typed, binary call with a fixed reply shape: no field selection, but the fastest of the three. The trade: GraphQL gives clients flexibility at the cost of gateway complexity; gRPC gives speed at the cost of rigidity; REST gives reach and simplicity at the cost of round trips.</a:t>
            </a:r>
            <a:endParaRPr/>
          </a:p>
        </p:txBody>
      </p:sp>
      <p:sp>
        <p:nvSpPr>
          <p:cNvPr id="1096" name="Google Shape;1096;g3e54846f4b4_0_9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54846f4b4_0_9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g3e54846f4b4_0_9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travels on the wire, and why it constrains your choice. REST: HTTP/1.1 or /2, JSON text, request/response, cacheable via standard HTTP, browser-native — maximum reach. gRPC: HTTP/2 only, protobuf binary, full uni- and bidirectional streaming, no HTTP caching, and it needs grpc-web to work from a browser. GraphQL: HTTP POST to a single URL, JSON, request/response plus subscriptions, caching is application-level (not HTTP), browser-native. The decision rule: if you need broad reach and HTTP caching, REST; if you need raw speed and streaming between services you control, gRPC; if you need client-shaped responses over many sources, GraphQL.</a:t>
            </a:r>
            <a:endParaRPr/>
          </a:p>
        </p:txBody>
      </p:sp>
      <p:sp>
        <p:nvSpPr>
          <p:cNvPr id="1107" name="Google Shape;1107;g3e54846f4b4_0_9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e54846f4b4_0_9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g3e54846f4b4_0_9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guide. Public/partner/browser with caching → REST. Internal, hot, streaming → gRPC. Client-driven aggregation across back-ends → GraphQL at the gateway. A fact many consumers react to → don't make it a call at all, emit an event. The bold closing point ties back to the whole talk: forcing one protocol everywhere ('we're a gRPC shop', 'everything is GraphQL') is itself an anti-pattern, because you pay gRPC's browser tax or GraphQL's gateway complexity where a plain cacheable GET would have done.</a:t>
            </a:r>
            <a:endParaRPr/>
          </a:p>
        </p:txBody>
      </p:sp>
      <p:sp>
        <p:nvSpPr>
          <p:cNvPr id="1118" name="Google Shape;1118;g3e54846f4b4_0_9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e54846f4b4_0_10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g3e54846f4b4_0_10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failure modes, drawn from real review comments. REST: verbs in URLs, returning 200 with an error body, offset pagination that breaks under load, and throwing away free HTTP caching. gRPC: trying to call it straight from a browser without grpc-web, or using it as 'REST with protobuf' and never touching its streaming superpower. GraphQL: the classic N+1 resolver explosion (fix with DataLoader batching), no depth or complexity limits so a malicious query melts the gateway, and reaching for it when a plain GET would do. The universal one is the last bold-adjacent: leaking your database schema onto the wire kills your ability to evolve — the same leaky-internal-models anti-pattern from section 12.</a:t>
            </a:r>
            <a:endParaRPr/>
          </a:p>
        </p:txBody>
      </p:sp>
      <p:sp>
        <p:nvSpPr>
          <p:cNvPr id="1128" name="Google Shape;1128;g3e54846f4b4_0_10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e54846f4b4_0_10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g3e54846f4b4_0_10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B answers the question every team fights about: how do we version this without breaking everyone? The answer differs sharply by protocol. REST has several strategies with real trade-offs; gRPC has precise wire-compatibility rules; GraphQL rejects versioning entirely in favour of evolution. We'll see each, with code.</a:t>
            </a:r>
            <a:endParaRPr/>
          </a:p>
        </p:txBody>
      </p:sp>
      <p:sp>
        <p:nvSpPr>
          <p:cNvPr id="1138" name="Google Shape;1138;g3e54846f4b4_0_10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e54846f4b4_0_10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g3e54846f4b4_0_10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four strategies, ordered from coarse to fine. URI path (/v2/orders): visible, trivial to route, but couples the version to the URL and breaks REST's idea that a URL identifies a resource, not a representation. Query param: simple to default but muddies caches. Custom header: keeps URLs clean but is invisible and often forgotten. Media-type versioning (Accept: application/vnd.acme.order.v2+json): content negotiation keeps the URL stable as the identifier of the resource, and the representation is what's versioned. This is the RESTful approach. In practice, URI versioning is the most common because it's pragmatic; media-type is the most correct. Know which you're choosing and why. The code follows.</a:t>
            </a:r>
            <a:endParaRPr/>
          </a:p>
        </p:txBody>
      </p:sp>
      <p:sp>
        <p:nvSpPr>
          <p:cNvPr id="1148" name="Google Shape;1148;g3e54846f4b4_0_10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e54846f4b4_0_1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g3e54846f4b4_0_10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makes 'RESTful versioning' concrete in Spring Web. There's one URL for the order resource — it never changes. Two handler methods share the path but declare different produces media types; Spring's content negotiation picks the handler matching the client's Accept header and sets the Content-Type. New clients ask for the v2 media type and get the currency field; old clients send the default and get v1, completely unaffected. Contrast with /v2/orders, where you've now got two URLs for the same underlying thing. The OrderV1/OrderV2 records are explicit representation DTOs — exactly the pattern that keeps your wire contract decoupled from your entity. Mention that Spring Boot 4 adds first-class API versioning support if you prefer to declare versions centrally (annotation- or filter-based) instead of per-handler.</a:t>
            </a:r>
            <a:endParaRPr/>
          </a:p>
        </p:txBody>
      </p:sp>
      <p:sp>
        <p:nvSpPr>
          <p:cNvPr id="1159" name="Google Shape;1159;g3e54846f4b4_0_10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e54846f4b4_0_10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3e54846f4b4_0_10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gRPC's rules are precise because the wire format is positional. Safe, wire-compatible changes: add a field with a new number, add an rpc method, add an enum value, rename a field (the number is what matters, not the name), mark fields deprecated, and reserve removed tags. Breaking changes: change a field's number or type, reuse a removed number, remove a field without reserving its tag, rename or move a service or package, or change the request/response message type. The one people miss is on screen at the bottom: changing a method between unary and any streaming mode changes the HTTP/2 framing and is always breaking. The discipline: field numbers are forever; never reuse or renumber. Code shows safe evolution next.</a:t>
            </a:r>
            <a:endParaRPr/>
          </a:p>
        </p:txBody>
      </p:sp>
      <p:sp>
        <p:nvSpPr>
          <p:cNvPr id="1172" name="Google Shape;1172;g3e54846f4b4_0_10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e54846f4b4_0_10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g3e54846f4b4_0_10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safe pattern. We removed an old 'notes' field, so we reserve both its tag number (4) and its name permanently: nobody can reuse them and silently corrupt old data on the wire. We add currency and state as brand-new fields with new tag numbers; old clients ignore unknown fields and new clients read them, which gives forward and backward compatibility without extra work. Note the enum must keep a zero value as its default. The comment at the bottom lists the things that would break the wire: widening qty's type, moving an existing field to a new tag, or reusing a reserved tag. Apicurio's compatibility check (section 9) enforces exactly these rules in CI.</a:t>
            </a:r>
            <a:endParaRPr/>
          </a:p>
        </p:txBody>
      </p:sp>
      <p:sp>
        <p:nvSpPr>
          <p:cNvPr id="1183" name="Google Shape;1183;g3e54846f4b4_0_10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54846f4b4_0_1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3e54846f4b4_0_10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takes a completely different stance: there are no versions. There's one schema that evolves continuously. The lifecycle on screen: add new fields and types (additive is always safe, because existing queries did not ask for the new field); mark superseded fields @deprecated with a reason and a pointer to the replacement, while still serving them; watch field-level usage metrics to see who still queries the old field and drive their migration; and retire, the single breaking step, only once usage hits zero. The insight: GraphQL pushes you toward data-driven deprecation instead of big-bang version cutovers. Code shows the @deprecated directive next.</a:t>
            </a:r>
            <a:endParaRPr/>
          </a:p>
        </p:txBody>
      </p:sp>
      <p:sp>
        <p:nvSpPr>
          <p:cNvPr id="1196" name="Google Shape;1196;g3e54846f4b4_0_10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54846f4b4_0_10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g3e54846f4b4_0_10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mechanics in Spring for GraphQL. Spring for GraphQL is schema-first: the .graphqls file is the contract. We add totalMinor additively and mark the old total field with GraphQL's native @deprecated directive, carrying a human reason. The Java record on the data side contains both fields and Spring binds them when the field is queried (custom resolvers are needed only when a field comes from a different source). The field keeps working and nothing breaks, but the deprecation shows up in introspection, in the GraphiQL UI Spring serves at /graphiql, and in any IDE plugin that reads the schema. The crucial operational piece is the comment: you instrument field-level usage (Micrometer's Observation API hooks DataFetchingEnvironment so you can record per-field counters), and you only remove total when its usage drops to zero. That's the whole GraphQL philosophy — evolution governed by data, with the breaking removal deferred until provably safe. Each protocol answers the same problem differently.</a:t>
            </a:r>
            <a:endParaRPr/>
          </a:p>
        </p:txBody>
      </p:sp>
      <p:sp>
        <p:nvSpPr>
          <p:cNvPr id="1207" name="Google Shape;1207;g3e54846f4b4_0_10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e54846f4b4_0_10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g3e54846f4b4_0_10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back to the universal principles, because the protocol-specific rules all rhyme. Additive change is safe; removal and mutation break people — so design to add. Make compatibility mechanical: the registry's rules checked in CI, never a reviewer remembering. Never break silently: deprecate with a reason, a replacement, a sunset date, and measure who's still on the old thing. Run old and new in parallel and migrate before you retire, because retirement is the only inherently breaking move. And the bold line that connects this back to the event-driven section: your event schemas version by exactly the same rules — the registry treats an Avro schema and an OpenAPI spec identically. Versioning data and versioning APIs are the same discipline.</a:t>
            </a:r>
            <a:endParaRPr/>
          </a:p>
        </p:txBody>
      </p:sp>
      <p:sp>
        <p:nvSpPr>
          <p:cNvPr id="1220" name="Google Shape;1220;g3e54846f4b4_0_10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54846f4b4_0_10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g3e54846f4b4_0_10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C covers the protocol left out of the main interaction-styles discussion, because it behaves so differently on Kubernetes. WebSockets are long-lived, stateful and pinned to a pod — the opposite of the stateless request model the platform assumes. We'll build one with Spring's WebSocket support (spring-boot-starter-websocket), see why it fights scaling, fix it with a backplane, make it fast and versioned with protobuf, and make it survivable with reconnection.</a:t>
            </a:r>
            <a:endParaRPr/>
          </a:p>
        </p:txBody>
      </p:sp>
      <p:sp>
        <p:nvSpPr>
          <p:cNvPr id="1230" name="Google Shape;1230;g3e54846f4b4_0_10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e54846f4b4_0_1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9" name="Google Shape;1239;g3e54846f4b4_0_1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Spring WebSocket makes the endpoint declarative: register one handler at a path in a small @Configuration class, then extend TextWebSocketHandler (or BinaryWebSocketHandler) and override the lifecycle methods you care about — afterConnectionEstablished, handleTextMessage, afterConnectionClosed. Constructor injection brings in any beans you need. But point hard at the conns map — the registry of who's connected lives in this pod's memory. That one design fact drives everything in this appendix: the connection and the knowledge of who's connected live on exactly one pod. Everything stateless about HTTP (any replica can serve any request) is now false. We then show what that does to scaling. (If you want a higher-level pub/sub style with topics and per-user destinations, Spring also ships STOMP-over-WebSocket via @EnableWebSocketMessageBroker; the trade-offs in this appendix still apply.)</a:t>
            </a:r>
            <a:endParaRPr/>
          </a:p>
        </p:txBody>
      </p:sp>
      <p:sp>
        <p:nvSpPr>
          <p:cNvPr id="1240" name="Google Shape;1240;g3e54846f4b4_0_1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e54846f4b4_0_1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g3e54846f4b4_0_1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collision with Kubernetes. A WebSocket connection, once established through the load balancer, is pinned to one pod for its entire lifetime. Two problems follow. Scale-up: the HPA or KEDA adds ws-pod-3, but it gets zero existing connections, only new ones, so a hot pod stays hot and the new pod sits idle; scaling doesn't relieve the load you already have. Scale-down and rollouts: terminating a pod severs every connection it was holding, so a routine deploy disconnects thousands of users at once. Stateless HTTP shrugs both off; WebSockets don't. The fix is to stop making any single pod the home of a conversation, which is the backplane, rather than to avoid scaling.</a:t>
            </a:r>
            <a:endParaRPr/>
          </a:p>
        </p:txBody>
      </p:sp>
      <p:sp>
        <p:nvSpPr>
          <p:cNvPr id="1253" name="Google Shape;1253;g3e54846f4b4_0_1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e54846f4b4_0_1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3" name="Google Shape;1263;g3e54846f4b4_0_1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Name the five distinct problems so the audience can recognize them. Pinning: the LB can't migrate a live socket. Uneven load: scaling adds capacity for new connections but doesn't rebalance existing ones. Rollouts hurt: every deploy is a mass disconnect event — you need graceful drain and client reconnection. Cross-pod delivery: to push a message to user X you must route to the specific pod holding X's socket, and nothing tracks that by default. And the resource shape is different (the bold point): you scale on open-connection count, file descriptors and memory, not CPU, so your KEDA/HPA trigger has to change too. Every one of these is solved or eased by a pub/sub backplane.</a:t>
            </a:r>
            <a:endParaRPr/>
          </a:p>
        </p:txBody>
      </p:sp>
      <p:sp>
        <p:nvSpPr>
          <p:cNvPr id="1264" name="Google Shape;1264;g3e54846f4b4_0_1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e54846f4b4_0_1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g3e54846f4b4_0_1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that makes WebSockets horizontally scalable. Each pod still owns only its own sockets, which is fine, but every pod subscribes and publishes to a shared backplane: Redis pub/sub for low latency, or a Kafka topic if you want durability and replay. When a publisher wants to push order.updated to user X, it publishes to the backplane without knowing which pod holds X; the backplane fans the message to all pods, and the one pod that holds X's socket delivers it. Now scale-up and zero-downtime rollouts work again, because no pod is the single home of a conversation — connections can land anywhere and still receive everything. Redis is the common default; Kafka if you already run it and want the durability.</a:t>
            </a:r>
            <a:endParaRPr/>
          </a:p>
        </p:txBody>
      </p:sp>
      <p:sp>
        <p:nvSpPr>
          <p:cNvPr id="1274" name="Google Shape;1274;g3e54846f4b4_0_11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e54846f4b4_0_1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g3e54846f4b4_0_1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wins in one slide. Performance: protobuf binary frames via Spring's BinaryWebSocketHandler and session.sendMessage(new BinaryMessage(...)) are markedly smaller and cheaper to parse than JSON text — meaningful when pushing high-frequency updates to many sockets. The server parses the raw ByteBuffer directly into the generated Envelope type. Versioning: because WebSocket messages have no URL to hang a version on, you version the envelope. A version field lets the client detect an incompatible payload format and renegotiate; the type field dispatches to the right protobuf message; and a monotonic seq number per connection is what makes reconnection and replay possible, which the failure-handling material relies on. So the envelope solves both 'make it fast' and 'how do I version a socket message' at once.</a:t>
            </a:r>
            <a:endParaRPr/>
          </a:p>
        </p:txBody>
      </p:sp>
      <p:sp>
        <p:nvSpPr>
          <p:cNvPr id="1285" name="Google Shape;1285;g3e54846f4b4_0_1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e54846f4b4_0_1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g3e54846f4b4_0_1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cloud-native posture: treat every connection as disposable and design for its loss. Heartbeats (ping/pong) detect a dead link quickly — TCP alone can hang for minutes. When the connection drops, the client reconnects with exponential backoff plus jitter (so ten thousand clients don't reconnect in lockstep and hammer your pods after a rollout). On reconnect, the client sends its last-seen sequence number (last_seq = 1042); the server replays only the events the client missed (1043 onward), and because each frame carries a seq, the client can dedupe — so the whole thing is at-least-once and idempotent. The principle on screen: resume, don't restart. A reconnect should be invisible to the user, not a full state reload.</a:t>
            </a:r>
            <a:endParaRPr/>
          </a:p>
        </p:txBody>
      </p:sp>
      <p:sp>
        <p:nvSpPr>
          <p:cNvPr id="1298" name="Google Shape;1298;g3e54846f4b4_0_1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e54846f4b4_0_1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8" name="Google Shape;1308;g3e54846f4b4_0_1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operational checklist to leave on screen. Externalize fan-out to a backplane so no pod is special. Scale and set your KEDA/HPA trigger on connection count and memory, not CPU, and cap connections per pod realistically. Drain gracefully on shutdown — stop accepting, tell clients to reconnect, and let backoff-with-jitter spread the reconnect storm across your rollout. Heartbeat to detect dead links fast; reconnect with backoff and jitter; resume from a per-connection sequence number so the user never notices. And the security note in bold that teams forget: authenticate on connect and re-authenticate on resume, because a resume is a new TCP connection that could come from anywhere. Do these and WebSockets are just another well-behaved cloud-native workload.</a:t>
            </a:r>
            <a:endParaRPr/>
          </a:p>
        </p:txBody>
      </p:sp>
      <p:sp>
        <p:nvSpPr>
          <p:cNvPr id="1309" name="Google Shape;1309;g3e54846f4b4_0_1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e54846f4b4_0_1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g3e54846f4b4_0_1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D is the deep mechanics behind the saga slide in the Data section. Three hard parts that the happy-path picture glosses over: where the orchestrator keeps its state so it survives a crash, how compensation works when a step fails midway, and a specific gnarly case people hit: when step B needs data that only step A produced, and how to resume after a crash between them.</a:t>
            </a:r>
            <a:endParaRPr/>
          </a:p>
        </p:txBody>
      </p:sp>
      <p:sp>
        <p:nvSpPr>
          <p:cNvPr id="1319" name="Google Shape;1319;g3e54846f4b4_0_1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e54846f4b4_0_1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g3e54846f4b4_0_1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problem: the orchestrator must survive a crash mid-flow, so in-memory state is a non-starter — a pod restart would strand every in-flight saga with no idea what to compensate. Three real options. A DB-backed state machine: one row per saga instance holding its status and a context blob; you own the transitions — simplest, and great for most cases. Event-sourced: append each step as an event and rebuild state by replay — full audit history, fits naturally with the Kafka log. A workflow engine like Temporal: durable execution with retries and timers built in — most power, least code, but a new dependency to run. Example 17 runs the first option, and this appendix sets its code beside Temporal. The cross-cutting rule on screen: the state transition and the outbound command must commit together (the outbox pattern again), or you get lost or duplicated steps.</a:t>
            </a:r>
            <a:endParaRPr/>
          </a:p>
        </p:txBody>
      </p:sp>
      <p:sp>
        <p:nvSpPr>
          <p:cNvPr id="1329" name="Google Shape;1329;g3e54846f4b4_0_1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e54846f4b4_0_1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g3e54846f4b4_0_1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DB-backed option made concrete with Spring Data JPA, and the default choice when the team wants to own the transitions. Key ideas: one Saga entity row, loaded via EntityManager with a PESSIMISTIC_WRITE lock so two workers can't advance the same saga concurrently. The status guard makes advance() idempotent — calling it on a finished saga is a no-op, which matters because retries and redeliveries will call it again. Each successful step accumulates its result into the context map (the data-dependency pattern depends on it) and bumps the step index; @Transactional makes the save durable after every step, atomic with the work record. Recovery needs no special path: a Spring @Scheduled sweeper (with ShedLock so only one node runs it) loads RUNNING sagas and calls advance() again. Temporal, in this appendix, solves the same problem at a different point on the build-vs-buy spectrum; Example 17 runs the hand-rolled version with JdbcClient.</a:t>
            </a:r>
            <a:endParaRPr/>
          </a:p>
        </p:txBody>
      </p:sp>
      <p:sp>
        <p:nvSpPr>
          <p:cNvPr id="1340" name="Google Shape;1340;g3e54846f4b4_0_1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e54846f4b4_0_1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g3e54846f4b4_0_1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Compensation is how a saga 'rolls back' when there's no actual rollback available across services. Each forward step that committed (payment.charge, inventory.reserve) has a defined semantic inverse: payment.refund, inventory.release. When book_shipping fails, you don't undo a database transaction (the payment has already happened at the provider); you run the compensations for the already-committed steps, in reverse order, newest first. Two things that bite people, both on screen: compensations must themselves be idempotent and durable, because a crash mid-unwind has to resume cleanly; and a compensation can itself fail, so it needs its own retries. The saga ends in a persisted COMPENSATED state with a full audit trail of what was done and undone.</a:t>
            </a:r>
            <a:endParaRPr/>
          </a:p>
        </p:txBody>
      </p:sp>
      <p:sp>
        <p:nvSpPr>
          <p:cNvPr id="1353" name="Google Shape;1353;g3e54846f4b4_0_1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e54846f4b4_0_1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g3e54846f4b4_0_1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compensation logic. A simple Map gives each forward step its inverse. We iterate the completed steps (subList up to stepIndex) in reverse, newest first, and invoke each compensation. The idempotency key built from sagaId plus step is the line that prevents the nightmare scenario: a retry double-refunding a customer. The compensating service dedupes on that key. In production you'd track per-step compensation status too, so if compensation itself crashes halfway you resume from the right place — but the idempotency key makes even naive re-runs safe. This is why compensations are designed up front, as part of each step, not bolted on after. If you use Temporal instead, its Saga utility (Workflow.newSaga(...).addCompensation(...)) drives the unwind for you with the same guarantees; the Temporal slides in this appendix show it.</a:t>
            </a:r>
            <a:endParaRPr/>
          </a:p>
        </p:txBody>
      </p:sp>
      <p:sp>
        <p:nvSpPr>
          <p:cNvPr id="1364" name="Google Shape;1364;g3e54846f4b4_0_1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e54846f4b4_0_1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6" name="Google Shape;1376;g3e54846f4b4_0_1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case is a common source of bad designs. The orchestrator calls service A, then service B — but B needs a value that only A produced (say A returns a reservation_id and a warehouse region that B requires to proceed). The tempting wrong answer is to have B call A directly — now you've created a hidden synchronous dependency between B and A, exactly the chatty coupling the whole architecture fights. The right answer is on screen: the orchestrator owns a saga context (a 'blackboard'), persists A's output into it after step A, and passes the needed values into B's call. B never knows A exists. And note this is already in our state-machine code — that 's.getContext().put(step, result)' line is exactly this. Temporal does the same through its workflow input/output passing, and Example 17 stores each step's result in the saga's JSONB context under the step name.</a:t>
            </a:r>
            <a:endParaRPr/>
          </a:p>
        </p:txBody>
      </p:sp>
      <p:sp>
        <p:nvSpPr>
          <p:cNvPr id="1377" name="Google Shape;1377;g3e54846f4b4_0_1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e54846f4b4_0_1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7" name="Google Shape;1387;g3e54846f4b4_0_1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choice as owning the transitions against buying durable execution. Both are open source and both survive a pod crash mid-flow.</a:t>
            </a:r>
            <a:endParaRPr/>
          </a:p>
          <a:p>
            <a:pPr indent="0" lvl="0" marL="0" rtl="0" algn="l">
              <a:spcBef>
                <a:spcPts val="0"/>
              </a:spcBef>
              <a:spcAft>
                <a:spcPts val="0"/>
              </a:spcAft>
              <a:buNone/>
            </a:pPr>
            <a:r>
              <a:rPr lang="en-US"/>
              <a:t>The hand-rolled orchestrator is what Example 17 runs: a sagas table with one row per saga holding status, step_index and a JSONB context, and a saga_log table that records every execute, failed and compensate action. Each step runs in its own transaction that locks the row, runs the step and commits the new context and step index together. On startup the service resumes every saga still marked RUNNING. Nothing new to operate.</a:t>
            </a:r>
            <a:endParaRPr/>
          </a:p>
          <a:p>
            <a:pPr indent="0" lvl="0" marL="0" rtl="0" algn="l">
              <a:spcBef>
                <a:spcPts val="0"/>
              </a:spcBef>
              <a:spcAft>
                <a:spcPts val="0"/>
              </a:spcAft>
              <a:buNone/>
            </a:pPr>
            <a:r>
              <a:rPr lang="en-US"/>
              <a:t>Temporal: founded by the original Cadence team, MIT-licensed Server and Apache-2.0 Java SDK, actively maintained. It adds durable execution, deterministic replay, automatic retries with backoff, timers, a Saga compensation utility, child workflows, and a CLI and UI to inspect runs. The cost is operating a Temporal cluster, which runs on your own Kubernetes with no SaaS required.</a:t>
            </a:r>
            <a:endParaRPr/>
          </a:p>
          <a:p>
            <a:pPr indent="0" lvl="0" marL="0" rtl="0" algn="l">
              <a:spcBef>
                <a:spcPts val="0"/>
              </a:spcBef>
              <a:spcAft>
                <a:spcPts val="0"/>
              </a:spcAft>
              <a:buNone/>
            </a:pPr>
            <a:r>
              <a:rPr lang="en-US"/>
              <a:t>Spring Statemachine is archived upstream: github.com/spring-projects/spring-statemachine is a read-only archive whose README says the project is no longer maintained (last release 4.0.2, June 2026), and the spring.io announcement of 21 April 2025 made 4.0.x the last open-source line, with later releases for commercial Tanzu Spring customers only. That conflicts with the open-source-only rule, so the deck does not offer it.</a:t>
            </a:r>
            <a:endParaRPr/>
          </a:p>
          <a:p>
            <a:pPr indent="0" lvl="0" marL="0" rtl="0" algn="l">
              <a:spcBef>
                <a:spcPts val="0"/>
              </a:spcBef>
              <a:spcAft>
                <a:spcPts val="0"/>
              </a:spcAft>
              <a:buNone/>
            </a:pPr>
            <a:r>
              <a:rPr lang="en-US"/>
              <a:t>The decision rule to leave with the audience: the question is how much engine this saga needs.</a:t>
            </a:r>
            <a:endParaRPr/>
          </a:p>
        </p:txBody>
      </p:sp>
      <p:sp>
        <p:nvSpPr>
          <p:cNvPr id="1388" name="Google Shape;1388;g3e54846f4b4_0_1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3e54846f4b4_0_1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7" name="Google Shape;1397;g3e54846f4b4_0_12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picture. Three boxes. On the left, your client, a REST handler in a Spring Boot app, calls WorkflowClient.start(...) to kick off a workflow. In the middle, the Temporal Server: a cluster of Frontend, Matching and History services backed by Postgres (or MySQL / Cassandra) that persists every workflow event (every activity invocation, every result, every timer firing), so the workflow can be reconstructed from scratch by replay. On the right, the Worker: another Spring Boot app where you implement the workflow as a regular Java class (FulfillmentWorkflowImpl with @WorkflowMethod) and the activities as regular Spring beans. The worker polls a task queue, gets the next workflow task, executes the next deterministic step. Crash the worker mid-flow and Temporal reissues the task to another worker, which replays history and resumes exactly where you were — no lost steps, no double-charges. That's durable execution. The bottom captions hammer the open-source posture: Temporal Server is MIT, the Java SDK is Apache 2.0, both running on your Kubernetes if you want, no SaaS lock-in.</a:t>
            </a:r>
            <a:endParaRPr/>
          </a:p>
        </p:txBody>
      </p:sp>
      <p:sp>
        <p:nvSpPr>
          <p:cNvPr id="1398" name="Google Shape;1398;g3e54846f4b4_0_12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3e54846f4b4_0_1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8" name="Google Shape;1408;g3e54846f4b4_0_1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whole story on one slide. ActivityInterfaces are plain Spring beans annotated @ActivityInterface, registered with the worker at startup. The Workflow interface is annotated @WorkflowInterface with one @WorkflowMethod entry point; the impl is plain Java that looks synchronous but every activity call goes through Temporal's task queue and is durably scheduled, retried (configurable retry policy on the stub), and timed-out on the Server. The output of each activity (paymentId, reservationId) is captured in a workflow-local variable and in Temporal's event history; if the worker dies between charge and reserve, a replacement worker replays history, recovers paymentId, and continues at reserve without re-running charge. Note the Saga utility from the Temporal SDK: addCompensation registers an undo for each completed step, and saga.compensate() runs them in reverse on failure — the same compensation discipline from earlier, but built into the SDK. Bootstrapping in Spring Boot: define a WorkflowServiceStubs bean (pointing at your Temporal Server), a WorkflowClient bean, and a WorkerFactory that starts a Worker, registering activity beans and workflow implementation types. The temporal-spring-boot-autoconfigure project does most of that wiring for you.</a:t>
            </a:r>
            <a:endParaRPr/>
          </a:p>
        </p:txBody>
      </p:sp>
      <p:sp>
        <p:nvSpPr>
          <p:cNvPr id="1409" name="Google Shape;1409;g3e54846f4b4_0_1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e54846f4b4_0_1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g3e54846f4b4_0_12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picture: the saga-orchestrator service of Example 17. POST /sagas creates a sagas row (status RUNNING, step_index 0, the order in a JSONB context) and runs the steps in order: charge_payment, reserve_stock, book_shipping. Postgres holds two tables: sagas, one row per saga, and saga_log, one row per execute, failed or compensate action.</a:t>
            </a:r>
            <a:endParaRPr/>
          </a:p>
          <a:p>
            <a:pPr indent="0" lvl="0" marL="0" rtl="0" algn="l">
              <a:spcBef>
                <a:spcPts val="0"/>
              </a:spcBef>
              <a:spcAft>
                <a:spcPts val="0"/>
              </a:spcAft>
              <a:buNone/>
            </a:pPr>
            <a:r>
              <a:rPr lang="en-US"/>
              <a:t>Each step runs in its own transaction. The orchestrator locks the row with SELECT ... FOR UPDATE, returns at once unless the status is RUNNING (a repeated call is a no-op), runs the step, writes its output into the context and the log, and moves step_index forward, all in one commit. When the index passes the last step the status becomes COMPLETED.</a:t>
            </a:r>
            <a:endParaRPr/>
          </a:p>
          <a:p>
            <a:pPr indent="0" lvl="0" marL="0" rtl="0" algn="l">
              <a:spcBef>
                <a:spcPts val="0"/>
              </a:spcBef>
              <a:spcAft>
                <a:spcPts val="0"/>
              </a:spcAft>
              <a:buNone/>
            </a:pPr>
            <a:r>
              <a:rPr lang="en-US"/>
              <a:t>When a step throws, the same transaction logs the failure and sets COMPENSATING; the compensation pass then walks the completed steps in reverse (release_stock, then refund_payment) and ends in COMPENSATED. The dashed path in the picture is that unwind.</a:t>
            </a:r>
            <a:endParaRPr/>
          </a:p>
          <a:p>
            <a:pPr indent="0" lvl="0" marL="0" rtl="0" algn="l">
              <a:spcBef>
                <a:spcPts val="0"/>
              </a:spcBef>
              <a:spcAft>
                <a:spcPts val="0"/>
              </a:spcAft>
              <a:buNone/>
            </a:pPr>
            <a:r>
              <a:rPr lang="en-US"/>
              <a:t>Recovery is a StartupRunner: on boot it advances every saga still marked RUNNING. Everything runs in-process in the Spring Boot app, on the Postgres you already operate.</a:t>
            </a:r>
            <a:endParaRPr/>
          </a:p>
        </p:txBody>
      </p:sp>
      <p:sp>
        <p:nvSpPr>
          <p:cNvPr id="1422" name="Google Shape;1422;g3e54846f4b4_0_12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e54846f4b4_0_1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e54846f4b4_0_1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excerpt is advanceOnce() from SagaEngine in Example 17: one transaction per step, with the log row for a failed step left out.</a:t>
            </a:r>
            <a:endParaRPr/>
          </a:p>
          <a:p>
            <a:pPr indent="0" lvl="0" marL="0" rtl="0" algn="l">
              <a:spcBef>
                <a:spcPts val="0"/>
              </a:spcBef>
              <a:spcAft>
                <a:spcPts val="0"/>
              </a:spcAft>
              <a:buNone/>
            </a:pPr>
            <a:r>
              <a:rPr lang="en-US"/>
              <a:t>STEPS is a list of SagaStep records pairing each forward step with its compensation (charge_payment with refund_payment, reserve_stock with release_stock, book_shipping with cancel_shipping), so the unwind order is data. advanceOnce() is @Transactional and loads the saga through lockById, a repository query annotated @Lock(PESSIMISTIC_WRITE) that Hibernate runs as SELECT ... FOR UPDATE. It returns at once unless the status is RUNNING, so a redelivered request or a second worker finds a finished saga and does nothing.</a:t>
            </a:r>
            <a:endParaRPr/>
          </a:p>
          <a:p>
            <a:pPr indent="0" lvl="0" marL="0" rtl="0" algn="l">
              <a:spcBef>
                <a:spcPts val="0"/>
              </a:spcBef>
              <a:spcAft>
                <a:spcPts val="0"/>
              </a:spcAft>
              <a:buNone/>
            </a:pPr>
            <a:r>
              <a:rPr lang="en-US"/>
              <a:t>Inside the transaction the step runs, its result goes into the JSONB context under the step's name (this is how book_shipping can read what reserve_stock produced), the log row is saved, and step_index moves forward. The entity is managed, so Hibernate writes the changes when the transaction commits: the lock, the log and the new state commit together, the same rule as the outbox.</a:t>
            </a:r>
            <a:endParaRPr/>
          </a:p>
          <a:p>
            <a:pPr indent="0" lvl="0" marL="0" rtl="0" algn="l">
              <a:spcBef>
                <a:spcPts val="0"/>
              </a:spcBef>
              <a:spcAft>
                <a:spcPts val="0"/>
              </a:spcAft>
              <a:buNone/>
            </a:pPr>
            <a:r>
              <a:rPr lang="en-US"/>
              <a:t>SagaService.advance() calls advanceOnce() in a loop, each call in a new transaction, until the status is no longer RUNNING. A crash rolls back at most the step in flight, which runs again on resume, so every step must be idempotent. A thrown exception marks the saga COMPENSATING, and compensate() runs the completed steps' compensations in reverse before setting COMPENSATED. The transaction boundary lives in SagaEngine, a separate bean, because a @Transactional method called from inside its own class would bypass the proxy.</a:t>
            </a:r>
            <a:endParaRPr/>
          </a:p>
          <a:p>
            <a:pPr indent="0" lvl="0" marL="0" rtl="0" algn="l">
              <a:spcBef>
                <a:spcPts val="0"/>
              </a:spcBef>
              <a:spcAft>
                <a:spcPts val="0"/>
              </a:spcAft>
              <a:buNone/>
            </a:pPr>
            <a:r>
              <a:rPr lang="en-US"/>
              <a:t>Compared with Temporal: no extra server, but no built-in retries, timers or replay; the retry and resume logic is yours. The step executor in the example simulates the three services.</a:t>
            </a:r>
            <a:endParaRPr/>
          </a:p>
        </p:txBody>
      </p:sp>
      <p:sp>
        <p:nvSpPr>
          <p:cNvPr id="1433" name="Google Shape;1433;g3e54846f4b4_0_1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e54846f4b4_0_1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g3e54846f4b4_0_1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E. Error handling is where cloud-native systems fall apart, more often than the happy path. The thesis: agree one error contract (a stable machine code, a safe human message, a correlation id, a retryable flag, field details) and then map that same model onto REST, gRPC, Kafka and GraphQL. We finish on the failure mode that turns a blip into an outage, the retry storm, and the handful of controls that prevent it.</a:t>
            </a:r>
            <a:endParaRPr/>
          </a:p>
        </p:txBody>
      </p:sp>
      <p:sp>
        <p:nvSpPr>
          <p:cNvPr id="1446" name="Google Shape;1446;g3e54846f4b4_0_1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e54846f4b4_0_1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5" name="Google Shape;1455;g3e54846f4b4_0_1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what every error must carry, regardless of protocol: a stable machine-readable code clients can branch on (not a localized string), a human-readable message safe to show, a correlation/trace id that ties the error to the distributed trace from section 11, a retryable flag (with retry-after when known), and structured field-level details. The four protocols just encode those same five facts differently — REST as problem+json, gRPC as status+details, Kafka via headers and a DLQ record, GraphQL as an errors[] entry with extensions. Agree this once as a shared contract; never leak stack traces or internal type names to callers.</a:t>
            </a:r>
            <a:endParaRPr/>
          </a:p>
        </p:txBody>
      </p:sp>
      <p:sp>
        <p:nvSpPr>
          <p:cNvPr id="1456" name="Google Shape;1456;g3e54846f4b4_0_1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e54846f4b4_0_1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6" name="Google Shape;1466;g3e54846f4b4_0_1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has two layers. First the HTTP status class, which is the category and drives client behaviour: 4xx means the client must fix the request and should not blindly retry; 429 and 503 mean 'busy' and must be paired with a Retry-After header so clients back off; 5xx means a server fault that idempotent calls may retry with backoff. Second, the body: RFC 9457 Problem Details (application/problem+json, which superseded RFC 7807) gives a standard envelope (type, title, status, detail, instance), and you extend it with your stable code and the traceId. Status for the category, body for the specifics.</a:t>
            </a:r>
            <a:endParaRPr/>
          </a:p>
        </p:txBody>
      </p:sp>
      <p:sp>
        <p:nvSpPr>
          <p:cNvPr id="1467" name="Google Shape;1467;g3e54846f4b4_0_1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3e54846f4b4_0_1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7" name="Google Shape;1477;g3e54846f4b4_0_13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Spring Framework 6 introduced ProblemDetail and ErrorResponseException; Spring 7 (Boot 4) leans on them as the default. Two complementary patterns. (1) A @RestControllerAdvice that extends ResponseEntityExceptionHandler is the central mapping point — domain code throws typed exceptions, one @ExceptionHandler per family builds a ProblemDetail, and Spring sets the Content-Type to application/problem+json automatically. Use setType for the URI, setTitle for the human label, setProperty for the extensions (machine code, traceId, anything else). (2) For checked, well-known errors, subclass ErrorResponseException and just throw — Spring's built-in handler picks it up. What the body leaves out: any stack trace, exception class name or SQL; those leak internals and are an attack surface. You can also opt in to Spring Boot's default ProblemDetailsExceptionHandler with spring.mvc.problemdetails=true if you want all framework exceptions returned as ProblemDetail too.</a:t>
            </a:r>
            <a:endParaRPr/>
          </a:p>
        </p:txBody>
      </p:sp>
      <p:sp>
        <p:nvSpPr>
          <p:cNvPr id="1478" name="Google Shape;1478;g3e54846f4b4_0_13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e54846f4b4_0_1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0" name="Google Shape;1490;g3e54846f4b4_0_13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gives you a small, fixed set of canonical status codes, and the code you choose is part of the contract, because clients (and the Istio mesh) decide retry behaviour from it. INVALID_ARGUMENT and NOT_FOUND are client bugs: don't retry. FAILED_PRECONDITION and ALREADY_EXISTS are state issues: don't retry. UNAVAILABLE and ABORTED are transient: retry with backoff. RESOURCE_EXHAUSTED means you're being rate-limited — honour the RetryInfo delay. DEADLINE_EXCEEDED means tune the timeout. Beyond the code, attach a google.rpc.Status in the trailers with rich details, ErrorInfo (machine reason + domain) and RetryInfo (how long to wait), so the client gets the same five facts as everywhere else.</a:t>
            </a:r>
            <a:endParaRPr/>
          </a:p>
        </p:txBody>
      </p:sp>
      <p:sp>
        <p:nvSpPr>
          <p:cNvPr id="1491" name="Google Shape;1491;g3e54846f4b4_0_13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3e54846f4b4_0_1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1" name="Google Shape;1501;g3e54846f4b4_0_13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grpc-java's standard rich-error model via StatusProto — the same API surface whether you're on Spring Boot or any other JVM stack. The canonical code UNAVAILABLE tells the client and the mesh this is transient and retryable; the google.rpc.Status carries structured details — ErrorInfo with a machine reason and domain, and RetryInfo telling the client exactly how long to wait. StatusProto.toStatusRuntimeException packs it into the trailers, and responseObserver.onError signals the failure. The key discipline: don't overload a generic INTERNAL code for everything — the code is how automated clients and Istio decide whether and when to retry, so getting it right is what prevents both lost work and retry storms.</a:t>
            </a:r>
            <a:endParaRPr/>
          </a:p>
        </p:txBody>
      </p:sp>
      <p:sp>
        <p:nvSpPr>
          <p:cNvPr id="1502" name="Google Shape;1502;g3e54846f4b4_0_13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e54846f4b4_0_13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4" name="Google Shape;1514;g3e54846f4b4_0_13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 error handling has a failure mode unique to logs: a single poison record can block the whole partition forever if you keep retrying it in place, because the offset never advances — head-of-line blocking that stalls every record behind it. The fix is to move failures aside: try a bounded number of in-place retries, then route the record to a delayed-retry topic (reprocessed after a delay without blocking the live stream), and after N attempts send it to a dead-letter queue for humans or tooling. You commit the offset either way, so the main consumer keeps making progress. With Spring Kafka this is configuration (DefaultErrorHandler + DeadLetterPublishingRecoverer, or RetryTopicConfigurationBuilder for delayed-retry topics), not hand-rolled plumbing.</a:t>
            </a:r>
            <a:endParaRPr/>
          </a:p>
        </p:txBody>
      </p:sp>
      <p:sp>
        <p:nvSpPr>
          <p:cNvPr id="1515" name="Google Shape;1515;g3e54846f4b4_0_13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e54846f4b4_0_13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5" name="Google Shape;1525;g3e54846f4b4_0_13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Spring Kafka wires this up declaratively. DefaultErrorHandler is the SeekToCurrentErrorHandler successor that gives bounded in-place retries with ExponentialBackOffWithMaxRetries (200ms initial, 2x multiplier, capped at 5s, 3 attempts). When retries are exhausted the DeadLetterPublishingRecoverer writes the record to a sibling DLQ topic and commits the offset, so the consumer keeps making progress — a poison record never causes head-of-line blocking. The non-retryable list short-circuits validation errors straight to DLQ (no point retrying a 4xx). For multi-topic retry-with-delay flows, RetryTopicConfigurationBuilder lets you declare 5s/30s/5m retry topics fluently (analogous to SmallRye's delayed-retry-topic). Make handle() idempotent — at-least-once delivery means retried records may have partially applied. The error handler is registered on your ConcurrentKafkaListenerContainerFactory so all @KafkaListener methods inherit it.</a:t>
            </a:r>
            <a:endParaRPr/>
          </a:p>
        </p:txBody>
      </p:sp>
      <p:sp>
        <p:nvSpPr>
          <p:cNvPr id="1526" name="Google Shape;1526;g3e54846f4b4_0_13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e54846f4b4_0_1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8" name="Google Shape;1538;g3e54846f4b4_0_13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breaks the one-request-one-status assumption: a single query can touch many resolvers, so the response is almost always HTTP 200 and carries both a data object and an errors array. When one field fails (say stock can't reach inventory), that field is set to null, an entry is added to errors[] with a message and the path to the failed field, and the machine code goes in extensions.code along with retryable and traceId. The rest of the data still returns. The anti-pattern to call out: blanket-failing the whole query (or returning a 500) when only one field broke — that throws away useful data the client already asked for. Partial success is a feature; let the client decide whether to retry just the failed field.</a:t>
            </a:r>
            <a:endParaRPr/>
          </a:p>
        </p:txBody>
      </p:sp>
      <p:sp>
        <p:nvSpPr>
          <p:cNvPr id="1539" name="Google Shape;1539;g3e54846f4b4_0_13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3e54846f4b4_0_13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9" name="Google Shape;1549;g3e54846f4b4_0_13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Throwing from a single field's resolver is exactly right: Spring for GraphQL's exception-resolution chain catches it, sets that field to null, and appends an entry to errors[] with the message and path — while every other field resolves and returns normally. The DataFetcherExceptionResolver (or its convenience adapter DataFetcherExceptionResolverAdapter) is the central mapping point — one @Component, one method per exception family, return a GraphQLError built via GraphqlErrorBuilder, and the framework places it in the response correctly. ErrorType gives you the standard categories (NOT_FOUND, UNAUTHORIZED, FORBIDDEN, BAD_REQUEST, INTERNAL_ERROR, UNAVAILABLE) that map sensibly across clients; extensions carries the machine code, retryable flag, and traceId — the same five facts as everywhere else. Resist letting the exception bubble to the top and fail the whole operation — that's the blanket-failure anti-pattern. The client sees the order and total, sees stock is null, reads extensions.code, and decides whether to retry just stock.</a:t>
            </a:r>
            <a:endParaRPr/>
          </a:p>
        </p:txBody>
      </p:sp>
      <p:sp>
        <p:nvSpPr>
          <p:cNvPr id="1550" name="Google Shape;1550;g3e54846f4b4_0_13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3e54846f4b4_0_1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2" name="Google Shape;1562;g3e54846f4b4_0_1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failure mode that turns a brief blip into a full outage. The loop: a service slows, calls start timing out, clients retry (often 3x), which triples the load on the already-struggling service, causing more timeouts, causing more retries. It's a positive feedback loop, and naive retry logic is the amplifier. The controls that break it, bottom of the slide: bound every call with a timeout; cap retries to a small number and only for idempotent calls; space them with exponential backoff plus jitter (so clients don't retry in lockstep); add a circuit breaker to fail fast while the dependency is down; enforce a retry budget (cap retries as a percentage of traffic); and shed load early with 429/UNAVAILABLE rather than queueing work you can't do. In Spring Boot 4, the built-in retry API in spring-core (with @Retryable / RetryTemplate, supporting backoff and jitter) plus Resilience4j for circuit breakers and bulkheads, plus the Istio config from section 2, give you these at both the code and mesh layers.</a:t>
            </a:r>
            <a:endParaRPr/>
          </a:p>
        </p:txBody>
      </p:sp>
      <p:sp>
        <p:nvSpPr>
          <p:cNvPr id="1563" name="Google Shape;1563;g3e54846f4b4_0_1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3e54846f4b4_0_14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3" name="Google Shape;1573;g3e54846f4b4_0_14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cross-cutting checklist to leave on screen. One contract expressed four ways — the same five facts whether it's problem+json, google.rpc.Status, a GraphQL extensions object, or a Kafka DLQ header. Let each protocol carry the category natively rather than inventing your own. Make retryability explicit and machine-readable so clients and the mesh back off correctly instead of guessing. Never leak internals — that's both a security issue and a coupling issue. And the bold line is the one that prevents outages: every retry is bounded and spaced (Spring Boot 4's built-in retry API gives you @Retryable with exponential backoff + jitter, and Resilience4j adds @CircuitBreaker and @TimeLimiter declaratively), protected by a retry budget, and every handler idempotent so a redelivered or retried request is safe. Get these right and your failure paths become as boring as your happy paths.</a:t>
            </a:r>
            <a:endParaRPr/>
          </a:p>
        </p:txBody>
      </p:sp>
      <p:sp>
        <p:nvSpPr>
          <p:cNvPr id="1574" name="Google Shape;1574;g3e54846f4b4_0_14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3e54846f4b4_0_14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3" name="Google Shape;1583;g3e54846f4b4_0_14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F. The whole talk assumes you've drawn good service boundaries and know what each API should say — this is where those come from. Domain-Driven Design gives you the strategic tools to place boundaries (subdomains, bounded contexts) and the tactical tools to model what's inside (aggregates, domain events); hexagonal architecture keeps the four protocols we've discussed as mere adapters around a clean domain core. Together they answer: where does an API boundary go, what should its contract say, and how do I keep REST/gRPC/GraphQL/Kafka out of my business logic. The reference is Vlad Khononov's Learning Domain-Driven Design.</a:t>
            </a:r>
            <a:endParaRPr/>
          </a:p>
        </p:txBody>
      </p:sp>
      <p:sp>
        <p:nvSpPr>
          <p:cNvPr id="1584" name="Google Shape;1584;g3e54846f4b4_0_14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e54846f4b4_0_14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3" name="Google Shape;1593;g3e54846f4b4_0_14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why a DDD appendix belongs in an API talk. The throughline: an API is the contract between two bounded contexts, so the hardest API questions (where to split, what the contract should contain, what stays private) are boundary questions, and DDD is the discipline for boundaries. Distinguish strategic DDD (where the lines go) from tactical DDD (how you model inside a line), and preview that hexagonal architecture is what stops the four protocols from contaminating the domain. The closing line is the one to land: boundaries dominate outcomes far more than protocol polish.</a:t>
            </a:r>
            <a:endParaRPr/>
          </a:p>
        </p:txBody>
      </p:sp>
      <p:sp>
        <p:nvSpPr>
          <p:cNvPr id="1594" name="Google Shape;1594;g3e54846f4b4_0_14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e54846f4b4_0_14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3" name="Google Shape;1603;g3e54846f4b4_0_14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Strategic DDD first. Classify the business into subdomains by value and volatility: core subdomains are your competitive edge, complex and fast-changing, where your best people belong; supporting subdomains are necessary but not differentiating, so build them cheaply; generic subdomains are solved problems you buy or adopt (auth, notifications). Each subdomain becomes one or more bounded contexts — a boundary inside which one model and one ubiquitous language are consistent. The punchline here is the bottom box: that boundary is exactly where the API sits, and the contract translates between two contexts' models rather than sharing internals. Map it to our system: order and pricing are core, inventory and shipping supporting, auth and notification generic.</a:t>
            </a:r>
            <a:endParaRPr/>
          </a:p>
        </p:txBody>
      </p:sp>
      <p:sp>
        <p:nvSpPr>
          <p:cNvPr id="1604" name="Google Shape;1604;g3e54846f4b4_0_14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g3e54846f4b4_0_1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4" name="Google Shape;1614;g3e54846f4b4_0_1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bounded context concrete as the service/API boundary. The vivid example is the word 'order' meaning different things in fulfillment and in billing: that is why a single shared canonical model across the whole company fails, and why each context exposes its own model through an API instead. Tie back explicitly to the anti-patterns section: 'no leaky internal models' is just 'keep the bounded context's internals private.' And invoke Conway's law: boundaries that don't match team ownership generate constant cross-team coordination.</a:t>
            </a:r>
            <a:endParaRPr/>
          </a:p>
        </p:txBody>
      </p:sp>
      <p:sp>
        <p:nvSpPr>
          <p:cNvPr id="1615" name="Google Shape;1615;g3e54846f4b4_0_14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e54846f4b4_0_14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g3e54846f4b4_0_14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Context mapping catalogues the ways two contexts relate. Walk the starred ones because they're what APIs implement: an Open-Host Service is a context that, because many others integrate with it, publishes a stable public API; the Published Language is the shared, versioned schema that API speaks; and an Anticorruption Layer is the translation you build when consuming someone else's context so their model doesn't leak into yours. The others are trade-offs: Conformist means you just accept the upstream model; Shared Kernel means you share a model and therefore change in lockstep — high coupling, use sparingly; Partnership means two contexts co-evolve; Separate Ways means don't integrate. The starred three are the ones to design explicitly.</a:t>
            </a:r>
            <a:endParaRPr/>
          </a:p>
        </p:txBody>
      </p:sp>
      <p:sp>
        <p:nvSpPr>
          <p:cNvPr id="1625" name="Google Shape;1625;g3e54846f4b4_0_14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g3e54846f4b4_0_14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5" name="Google Shape;1635;g3e54846f4b4_0_14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DDD vocabulary connects to the platform we built. Open-Host Service = the public API; Published Language = the schema in the registry; Anticorruption Layer = the translation at your edge. The bold line is the payoff: the audience has already built these things in sections 9 and 8 without the names; now they have the names and the theory. Emphasize the ACL-vs-Conformist choice as a real decision: conform when the upstream is clean and stable, build an ACL when it's messy or changes a lot, because the ACL localizes the blast radius of their changes to one translation layer.</a:t>
            </a:r>
            <a:endParaRPr/>
          </a:p>
        </p:txBody>
      </p:sp>
      <p:sp>
        <p:nvSpPr>
          <p:cNvPr id="1636" name="Google Shape;1636;g3e54846f4b4_0_14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3e54846f4b4_0_1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5" name="Google Shape;1645;g3e54846f4b4_0_14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architectural payoff of the whole protocols discussion. The domain core in the middle holds entities, aggregates and domain logic and depends on nothing — no framework, no I/O. It declares ports: inbound ports (what it can be asked to do) and outbound ports (what it needs from the world). Driving adapters on the left (REST, gRPC, GraphQL) translate an incoming protocol into a call on an inbound port. Driven adapters on the right (a Postgres repository, a Kafka publisher) implement the outbound ports. The arrows all point inward: adapters depend on the domain, never the reverse. The consequence we care about: the four protocols we spent the talk on are interchangeable adapters; you can add gRPC alongside REST, or a Kafka consumer, without touching a line of domain logic.</a:t>
            </a:r>
            <a:endParaRPr/>
          </a:p>
        </p:txBody>
      </p:sp>
      <p:sp>
        <p:nvSpPr>
          <p:cNvPr id="1646" name="Google Shape;1646;g3e54846f4b4_0_14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3e54846f4b4_0_14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6" name="Google Shape;1656;g3e54846f4b4_0_14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three blocks. Ports: the domain declares plain Java interfaces (a repository and an event publisher) and depends on nothing else (no Spring imports anywhere in the domain package). The application service PlaceOrder is pure logic: it creates the aggregate, saves via the port, publishes a domain event via the port, and never references Spring Web, JPA or Kafka types directly. Constructor injection is the key Spring-friendly choice: fields can be final, the bean is immutable and unit-testable with mocks, and there's no @Autowired anywhere in the domain core (Spring's only mark is @Service, which a @Configuration can replace if you want zero framework annotations in the domain). The REST controller is a thin driving adapter — turn the HTTP body into a command and call the use case; a gRPC or GraphQL adapter is the same shape. The outbound ports are implemented by adapters (a Spring Data JPA OrderRepository, a Spring Kafka EventPublisher) and Spring injects them at startup. That's dependency inversion serving the boundary: protocols are replaceable, the domain stays stable.</a:t>
            </a:r>
            <a:endParaRPr/>
          </a:p>
        </p:txBody>
      </p:sp>
      <p:sp>
        <p:nvSpPr>
          <p:cNvPr id="1657" name="Google Shape;1657;g3e54846f4b4_0_14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g3e54846f4b4_0_14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9" name="Google Shape;1669;g3e54846f4b4_0_14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Tactical DDD, and it ties three earlier sections together. The aggregate is the consistency boundary: invariants hold within it and one transaction commits it, and it typically maps to a single API resource. Because it's the transaction boundary, it's also the outbox boundary from section 4: state plus event commit atomically. Domain events are the DDD concept that becomes your Kafka topic payloads, enabling choreography across contexts (section 5). And the small-aggregate rule (one per transaction, reference others by id, connect via events) is precisely why cross-aggregate consistency needs a saga (Appendix D). This is where DDD stops being abstract and visibly underpins the data, event and saga designs.</a:t>
            </a:r>
            <a:endParaRPr/>
          </a:p>
        </p:txBody>
      </p:sp>
      <p:sp>
        <p:nvSpPr>
          <p:cNvPr id="1670" name="Google Shape;1670;g3e54846f4b4_0_14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e54846f4b4_0_15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9" name="Google Shape;1679;g3e54846f4b4_0_15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summary map — leave it up while you recap. Every DDD concept on the left has shown up concretely on the right somewhere in the talk: contexts are services, the OHS/Published Language is the registry-backed contract, the ACL is edge translation, aggregates are resources and outbox boundaries, domain events are Kafka events. The message: DDD is the naming and reasoning behind the boundaries the whole architecture already relies on, not a separate methodology bolted on. Point people to Khononov's Learning Domain-Driven Design for the full treatment.</a:t>
            </a:r>
            <a:endParaRPr/>
          </a:p>
        </p:txBody>
      </p:sp>
      <p:sp>
        <p:nvSpPr>
          <p:cNvPr id="1680" name="Google Shape;1680;g3e54846f4b4_0_15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g3e54846f4b4_0_15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9" name="Google Shape;1689;g3e54846f4b4_0_15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G. We've thrown around “coupled” and “decoupled” throughout as if loose is always better. This sharpens it, using Vlad Khononov's Balancing Coupling model. The reframe: coupling is necessary, since a system with zero coupling does nothing, so the goal is to balance it, not eliminate it. Coupling has three dimensions (integration strength, distance and volatility), and a coupling only hurts when all three are high together. This gives precise language for why a shared database is bad but a registry-backed API contract is fine, and it ties every anti-pattern from section 12 back to one model.</a:t>
            </a:r>
            <a:endParaRPr/>
          </a:p>
        </p:txBody>
      </p:sp>
      <p:sp>
        <p:nvSpPr>
          <p:cNvPr id="1690" name="Google Shape;1690;g3e54846f4b4_0_15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g3e54846f4b4_0_15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g3e54846f4b4_0_15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appendix. The central, slightly contrarian idea: coupling is not a defect to be driven to zero — it's necessary, and the real skill is balancing it. Credit Khononov's Balancing Coupling model and stress that it measures the connection between components, not the components, along three dimensions. The headline sentence is the whole model in one line — pain needs all three of strength, distance and volatility to be high. The bold line is the cautionary tale that resonates with anyone burned by microservices: splitting strongly- and volatile-coupled code across a network doesn't remove the coupling, it just adds distance to it — the distributed monolith.</a:t>
            </a:r>
            <a:endParaRPr/>
          </a:p>
        </p:txBody>
      </p:sp>
      <p:sp>
        <p:nvSpPr>
          <p:cNvPr id="1700" name="Google Shape;1700;g3e54846f4b4_0_15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3e54846f4b4_0_1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9" name="Google Shape;1709;g3e54846f4b4_0_15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in one picture. Integration strength is how much knowledge two parts share — the more they share, the more likely a change in one forces a change in the other. Distance is how far apart they sit (same method, class, module, service, or system), and it sets the cost of a change that has to cross the boundary. Volatility is how often the coupled thing changes. The cost box at the bottom is the key relationship: strong plus distant is global complexity (the distributed monolith), but it only bites when the code is volatile. A strong, distant coupling on something that never changes costs you nothing. That's why all three dimensions have to be considered together rather than chasing “lose coupling” in the abstract.</a:t>
            </a:r>
            <a:endParaRPr/>
          </a:p>
        </p:txBody>
      </p:sp>
      <p:sp>
        <p:nvSpPr>
          <p:cNvPr id="1710" name="Google Shape;1710;g3e54846f4b4_0_15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3e54846f4b4_0_15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0" name="Google Shape;1720;g3e54846f4b4_0_15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Unpack each dimension with a concrete handle. Strength is a ladder (intrusive to contract). Distance is intuitive — the further apart, the more it costs to change across the seam. Volatility is the clever part of the model: you can't know the future, but you can predict change-rate from DDD subdomain type (core changes a lot, generic barely changes), which connects this appendix straight back to Appendix F. The bold line is Khononov's modularity rule rendered as a slogan, strength XOR distance: you want exactly one of them, not both; strong-and-local (a cohesive module) is fine, weak-and-distant (microservices via contracts) is fine, strong-and-distant is the distributed monolith.</a:t>
            </a:r>
            <a:endParaRPr/>
          </a:p>
        </p:txBody>
      </p:sp>
      <p:sp>
        <p:nvSpPr>
          <p:cNvPr id="1721" name="Google Shape;1721;g3e54846f4b4_0_15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g3e54846f4b4_0_15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0" name="Google Shape;1730;g3e54846f4b4_0_15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Integration strength has four levels, worst to best. Intrusive coupling: one component reaches into another's private internals — the classic case is two services on one database, where either can break the other invisibly. Functional coupling: they share business logic or rules and must change together for functional reasons. Model coupling: they share a data model or DTOs — a shared library of types. Contract coupling: they integrate only through an explicit, stable, versioned contract — and that's our REST, gRPC, GraphQL and Kafka schemas in the registry. Lower on the ladder means less shared knowledge and looser coupling. The rule that matters: the greater the distance between two components, the further down this ladder you need to be.</a:t>
            </a:r>
            <a:endParaRPr/>
          </a:p>
        </p:txBody>
      </p:sp>
      <p:sp>
        <p:nvSpPr>
          <p:cNvPr id="1731" name="Google Shape;1731;g3e54846f4b4_0_15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g3e54846f4b4_0_15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1" name="Google Shape;1741;g3e54846f4b4_0_15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the ladder onto decisions in our system. The shared database is intrusive coupling and it's the worst precisely because the integration strength is maximal and invisible — neither side knows what the other depends on. Shared libraries are model/functional coupling: perfectly fine inside one bounded context or team, dangerous when they force two independently-deployed teams to release together. Contract coupling (APIs and event schemas in the registry) is the only strength level appropriate across service distance. The bold rule is the actionable takeaway and it's exactly why every cross-service integration in the talk went through a registered contract rather than a shared table.</a:t>
            </a:r>
            <a:endParaRPr/>
          </a:p>
        </p:txBody>
      </p:sp>
      <p:sp>
        <p:nvSpPr>
          <p:cNvPr id="1742" name="Google Shape;1742;g3e54846f4b4_0_15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3e54846f4b4_0_15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1" name="Google Shape;1751;g3e54846f4b4_0_15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brings strength and distance together into the design rule. Read the quadrants: high strength and close together is a cohesive module — perfectly healthy, keep it local. Low strength and distant is healthy microservices — services integrating through contracts. Low strength and close is needless indirection — you've split things that could just be merged. And the danger quadrant, top-right, is high strength at high distance: the distributed monolith, global complexity, where one change ripples across services and teams. The right-hand panel adds the third dimension: even a top-right coupling is tolerable if it never changes, but on volatile core-domain code it's where slow delivery and outages come from. So the formula: balance equals strength-XOR-distance, OR low volatility.</a:t>
            </a:r>
            <a:endParaRPr/>
          </a:p>
        </p:txBody>
      </p:sp>
      <p:sp>
        <p:nvSpPr>
          <p:cNvPr id="1752" name="Google Shape;1752;g3e54846f4b4_0_15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g3e54846f4b4_0_15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2" name="Google Shape;1762;g3e54846f4b4_0_15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Deepen distance and volatility. Distance is why the same logical change can be a one-line edit or a multi-team, multi-deploy project — it multiplies cost. Volatility decides whether a less-than-ideal coupling matters: a textbook-ugly coupling on frozen code is a non-problem; a textbook-fine coupling on hot, ever-changing core code can still hurt. The DDD connection (from Appendix F) is the practical tool: subdomain type predicts volatility, so you route your strongest couplings away from core and toward stable, generic areas. The bold formula is Khononov's balance condition — worth writing on a whiteboard in a design review.</a:t>
            </a:r>
            <a:endParaRPr/>
          </a:p>
        </p:txBody>
      </p:sp>
      <p:sp>
        <p:nvSpPr>
          <p:cNvPr id="1763" name="Google Shape;1763;g3e54846f4b4_0_15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g3e54846f4b4_0_15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2" name="Google Shape;1772;g3e54846f4b4_0_15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Bring it home to the talk's content. The reframe to offer: every protocol decision was secretly a coupling decision, and we kept choosing contract coupling because it's the loosest that still works across distance. The registry's compatibility gate is, in this language, a guard against a producer silently increasing integration strength on consumers — that's what a breaking change is. Mention connascence as the finer-grained classical model (Page-Jones) that versioning manages — protobuf field numbers are connascence of position made explicit and stable. The bold line re-diagnoses the anti-patterns section through the coupling model, which is a satisfying way to show these aren't separate lists of rules but one underlying principle.</a:t>
            </a:r>
            <a:endParaRPr/>
          </a:p>
        </p:txBody>
      </p:sp>
      <p:sp>
        <p:nvSpPr>
          <p:cNvPr id="1773" name="Google Shape;1773;g3e54846f4b4_0_15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g3e54846f4b4_0_1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2" name="Google Shape;1782;g3e54846f4b4_0_15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closing heuristics — the slide to leave up. Don't eliminate coupling, balance it; lower strength as distance rises; keep strong-and-volatile couplings local (inside an aggregate or context); and use subdomain types to predict volatility so your loosest seams are around your most-changing code. These five lines are a usable design-review checklist. Close by pointing to both Khononov books, Learning Domain-Driven Design for the boundary tools in Appendix F and Balancing Coupling in Software Design for this model, as the two references that underpin both of these appendices.</a:t>
            </a:r>
            <a:endParaRPr/>
          </a:p>
        </p:txBody>
      </p:sp>
      <p:sp>
        <p:nvSpPr>
          <p:cNvPr id="1783" name="Google Shape;1783;g3e54846f4b4_0_15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3e54846f4b4_0_16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2" name="Google Shape;1792;g3e54846f4b4_0_16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H. This is the operational flip side of factor 9 (disposability) and the cloud-native pillars: pods are killed and replaced constantly, so a service has to be able to go away cleanly. Ungraceful exits are the source of the 5xx blips users see during otherwise-healthy rolling deploys. The thesis: graceful shutdown isn't one setting, it's a short protocol between your app and Kubernetes — stop new traffic, finish in-flight work, drain consumers and sockets, then exit before the grace period runs out.</a:t>
            </a:r>
            <a:endParaRPr/>
          </a:p>
        </p:txBody>
      </p:sp>
      <p:sp>
        <p:nvSpPr>
          <p:cNvPr id="1793" name="Google Shape;1793;g3e54846f4b4_0_16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g3e54846f4b4_0_16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2" name="Google Shape;1802;g3e54846f4b4_0_16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appendix by connecting it to two earlier ideas: factor 9 (disposability) from the twelve-factor arc, and the resilience pillar. The motivating story is the one every team has lived: a rolling deploy that looks healthy in tests but throws a scatter of 5xx errors in production because pods were torn down mid-request. Stress that this is not about a magic flag — it's a sequence the app and Kubernetes perform together, on a clock. This appendix walks that sequence, then shows the code on both sides of it.</a:t>
            </a:r>
            <a:endParaRPr/>
          </a:p>
        </p:txBody>
      </p:sp>
      <p:sp>
        <p:nvSpPr>
          <p:cNvPr id="1803" name="Google Shape;1803;g3e54846f4b4_0_16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e54846f4b4_0_1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2" name="Google Shape;1812;g3e54846f4b4_0_16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two lanes. Top, Kubernetes: it sends SIGTERM to PID 1, starts the terminationGracePeriodSeconds clock, and will SIGKILL you if you overrun. The catch is the red box — removing the pod from the Service endpoints is asynchronous (kube-proxy, kubelet, the mesh all have to catch up), so for a moment after SIGTERM traffic can still arrive. Bottom, your pod: the response is to flip readiness DOWN immediately (which starts the deregistration) and run a short preStop sleep to cover the lag, then stop accepting, drain in-flight work, stop consumers and close resources, and exit — ideally well before the grace period ends. The red arrows are the whole point: readiness + preStop are what keep new traffic off your dying pod during the race.</a:t>
            </a:r>
            <a:endParaRPr/>
          </a:p>
        </p:txBody>
      </p:sp>
      <p:sp>
        <p:nvSpPr>
          <p:cNvPr id="1813" name="Google Shape;1813;g3e54846f4b4_0_16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3e54846f4b4_0_16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3" name="Google Shape;1823;g3e54846f4b4_0_16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five points are the rules of the protocol. The distinction that trips people up is readiness vs liveness during shutdown: readiness should fail (it stops new traffic), but liveness must not fail (the kubelet would restart a pod that is draining). The asynchronous-deregistration race is the subtle one — it's why a preStop sleep exists at all; it's not about doing work, it's about waiting for the rest of the cluster to stop routing to you. And the sizing rule on the grace period is the practical lever: it must exceed your real worst-case in-flight operation, with headroom, or you'll be SIGKILLed mid-request.</a:t>
            </a:r>
            <a:endParaRPr/>
          </a:p>
        </p:txBody>
      </p:sp>
      <p:sp>
        <p:nvSpPr>
          <p:cNvPr id="1824" name="Google Shape;1824;g3e54846f4b4_0_16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3e54846f4b4_0_1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3" name="Google Shape;1833;g3e54846f4b4_0_16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trap is assuming 'graceful shutdown' is one thing. Only HTTP request draining tends to be automatic (the server stops accepting and finishes in-flight). Everything else you wire up yourself in your shutdown hook. Kafka consumers: stop polling, finish the records already in hand, commit offsets, and leave the group so the rebalance is clean. WebSockets (from Appendix C): you can't finish a long-lived connection, so send a close/go-away and rely on client reconnection plus the per-connection seq and backplane. Jobs and schedulers: stop starting new work and either let running jobs finish or checkpoint so they resume after restart. The green footer is the safety net under all of it — because a hard SIGKILL is always possible, idempotent handlers make a redelivered request or message harmless.</a:t>
            </a:r>
            <a:endParaRPr/>
          </a:p>
        </p:txBody>
      </p:sp>
      <p:sp>
        <p:nvSpPr>
          <p:cNvPr id="1834" name="Google Shape;1834;g3e54846f4b4_0_16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3e54846f4b4_0_16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4" name="Google Shape;1844;g3e54846f4b4_0_16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21 lets Spring Boot's lifecycle carry the whole sequence. On SIGTERM the JVM's shutdown hook closes the application context, and Spring stops SmartLifecycle beans from the highest phase down. DrainLifecycle runs at DEFAULT_PHASE minus 512, a higher phase than the web server's graceful-shutdown phase, so it stops first. One SIGTERM, the only signal Kubernetes sends before SIGKILL, drives everything: the bean flips ShutdownState and publishes ReadinessState.REFUSING_TRAFFIC through an AvailabilityChangeEvent, so /readyz answers 503 and the Service stops routing, and it then keeps the service serving for DRAIN_DELAY_SECONDS (5 s; it plays the part of a preStop sleep) while the endpoint removal propagates.</a:t>
            </a:r>
            <a:endParaRPr/>
          </a:p>
          <a:p>
            <a:pPr indent="0" lvl="0" marL="0" rtl="0" algn="l">
              <a:spcBef>
                <a:spcPts val="0"/>
              </a:spcBef>
              <a:spcAft>
                <a:spcPts val="0"/>
              </a:spcAft>
              <a:buNone/>
            </a:pPr>
            <a:r>
              <a:rPr lang="en-US"/>
              <a:t>A drain HealthIndicator is part of the readiness group and reports DOWN with the reason shutting down, which the 503 body shows; the liveness group does not include it, so /healthz stays 200. Then, with server.shutdown=graceful, the embedded Tomcat, Jetty or Reactor Netty stops accepting new connections and finishes in-flight HTTP, bounded by spring.lifecycle.timeout-per-shutdown-phase (20 s here; the default is 30 s), the context closes the pool, and the process ends inside the 30-second grace period. The JVM exits with 143 (128 + SIGTERM) after a clean shutdown, which Kubernetes and the verify script treat as success.</a:t>
            </a:r>
            <a:endParaRPr/>
          </a:p>
          <a:p>
            <a:pPr indent="0" lvl="0" marL="0" rtl="0" algn="l">
              <a:spcBef>
                <a:spcPts val="0"/>
              </a:spcBef>
              <a:spcAft>
                <a:spcPts val="0"/>
              </a:spcAft>
              <a:buNone/>
            </a:pPr>
            <a:r>
              <a:rPr lang="en-US"/>
              <a:t>Use @EventListener(ContextClosedEvent.class), @PreDestroy or SmartLifecycle to drain what Spring does not drain for you: Kafka consumers (consumer.wakeup() then commit on close), the scheduler (stop accepting new triggers), WebSockets (send a close frame so clients reconnect elsewhere). In a real cluster the drain delay is usually a preStop sleep in the pod spec; the lifecycle bean keeps the example self-contained on compose. Pair it with the Kubernetes settings: readiness, preStop and the grace period.</a:t>
            </a:r>
            <a:endParaRPr/>
          </a:p>
        </p:txBody>
      </p:sp>
      <p:sp>
        <p:nvSpPr>
          <p:cNvPr id="1845" name="Google Shape;1845;g3e54846f4b4_0_16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g3e54846f4b4_0_16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7" name="Google Shape;1857;g3e54846f4b4_0_16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platform half of the contract, the same in every language. terminationGracePeriodSeconds is the total budget: it must exceed the preStop sleep plus the worst-case drain plus a buffer. The readiness probe's periodSeconds times failureThreshold sets how fast Kubernetes stops routing after the service reports not ready, about ten seconds here, which the preStop sleep should cover.</a:t>
            </a:r>
            <a:endParaRPr/>
          </a:p>
          <a:p>
            <a:pPr indent="0" lvl="0" marL="0" rtl="0" algn="l">
              <a:spcBef>
                <a:spcPts val="0"/>
              </a:spcBef>
              <a:spcAft>
                <a:spcPts val="0"/>
              </a:spcAft>
              <a:buNone/>
            </a:pPr>
            <a:r>
              <a:rPr lang="en-US"/>
              <a:t>Readiness points at /readyz, which returns 503 from the moment SIGTERM arrives. Liveness points at /healthz, which keeps answering during the drain, so the kubelet does not restart a pod that is shutting down cleanly. The examples expose both endpoints in all six languages.</a:t>
            </a:r>
            <a:endParaRPr/>
          </a:p>
          <a:p>
            <a:pPr indent="0" lvl="0" marL="0" rtl="0" algn="l">
              <a:spcBef>
                <a:spcPts val="0"/>
              </a:spcBef>
              <a:spcAft>
                <a:spcPts val="0"/>
              </a:spcAft>
              <a:buNone/>
            </a:pPr>
            <a:r>
              <a:rPr lang="en-US"/>
              <a:t>The preStop sleep looks crude, but it is the practical fix for the asynchronous-deregistration race: align it with the probe timing rather than picking an arbitrary number.</a:t>
            </a:r>
            <a:endParaRPr/>
          </a:p>
        </p:txBody>
      </p:sp>
      <p:sp>
        <p:nvSpPr>
          <p:cNvPr id="1858" name="Google Shape;1858;g3e54846f4b4_0_16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8" name="Shape 1868"/>
        <p:cNvGrpSpPr/>
        <p:nvPr/>
      </p:nvGrpSpPr>
      <p:grpSpPr>
        <a:xfrm>
          <a:off x="0" y="0"/>
          <a:ext cx="0" cy="0"/>
          <a:chOff x="0" y="0"/>
          <a:chExt cx="0" cy="0"/>
        </a:xfrm>
      </p:grpSpPr>
      <p:sp>
        <p:nvSpPr>
          <p:cNvPr id="1869" name="Google Shape;1869;g3e54846f4b4_0_16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0" name="Google Shape;1870;g3e54846f4b4_0_16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Reinforce the per-workload point from the diagram with the concrete drain steps. The Kafka sequence is the one to emphasize because it connects to the at-least-once delivery discussion from the Event-Driven section: committing offsets on the way out minimizes redelivery, and leaving the group makes the rebalance fast. WebSockets can't be 'finished,' so graceful there means handing the client off, which is exactly what the Appendix C reconnection design enables. The closing bold point anchors the whole appendix: you cannot guarantee a graceful exit, because the kubelet will sometimes SIGKILL you, so idempotency is what makes the system safe, and graceful shutdown makes the unsafe window rare.</a:t>
            </a:r>
            <a:endParaRPr/>
          </a:p>
        </p:txBody>
      </p:sp>
      <p:sp>
        <p:nvSpPr>
          <p:cNvPr id="1871" name="Google Shape;1871;g3e54846f4b4_0_16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3e54846f4b4_0_1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0" name="Google Shape;1880;g3e54846f4b4_0_1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leave-up summary. Read it as an ordered runbook: readiness first, preStop to cover the race, then the actual drains, all inside the grace budget. The fourth point turns shutdown from fragile to safe: with idempotency, the occasional hard kill is a non-event. And the bold final point is the one teams skip: graceful shutdown that's never tested under a real SIGTERM during a rollout is just hopeful configuration. Encourage a small script (or a chaos test) that kills a pod mid-request and asserts the client still got an answer — exactly how Spring Boot's reference docs recommend you validate your shutdown configuration.</a:t>
            </a:r>
            <a:endParaRPr/>
          </a:p>
        </p:txBody>
      </p:sp>
      <p:sp>
        <p:nvSpPr>
          <p:cNvPr id="1881" name="Google Shape;1881;g3e54846f4b4_0_1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3e54846f4b4_0_1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0" name="Google Shape;1890;g3e54846f4b4_0_16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I. This one is large enough to be its own talk — the user explicitly suggested it could be cut later for that. The thesis: L7 routing isn't one box in a rack any more; it's a four-layer stack of software (edge, gateway, mesh, in-app) that makes decisions on every HTTP and gRPC envelope crossing the network, north/south and east/west. We'll walk what each layer can see and decide, show real config in HAProxy/Nginx/Istio, cover sticky sessions, traffic steering, payload modifications and latency, then go inside the app for rule-based routing with Spring Boot + Apache Camel + Drools, then circle back to east/west, where most routing decisions happen.</a:t>
            </a:r>
            <a:endParaRPr/>
          </a:p>
        </p:txBody>
      </p:sp>
      <p:sp>
        <p:nvSpPr>
          <p:cNvPr id="1891" name="Google Shape;1891;g3e54846f4b4_0_16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g3e54846f4b4_0_1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0" name="Google Shape;1900;g3e54846f4b4_0_17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appendix by reframing what L7 routing is in 2026: not an appliance, but layered software that runs inside Kubernetes alongside everything else. The four-layer mental model (edge, gateway, mesh, in-app) is the backbone of the whole appendix — we'll touch each layer in turn. Stress north/south plus east/west early; people default to thinking about ingress, but inside a microservices system the volume of east/west calls dwarfs north/south, and that's where mTLS, retries and locality routing earn their keep. Name the open-source pieces explicitly so the audience knows the talk is about real, free, runnable software.</a:t>
            </a:r>
            <a:endParaRPr/>
          </a:p>
        </p:txBody>
      </p:sp>
      <p:sp>
        <p:nvSpPr>
          <p:cNvPr id="1901" name="Google Shape;1901;g3e54846f4b4_0_17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g3e54846f4b4_0_17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0" name="Google Shape;1910;g3e54846f4b4_0_17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the discussion in the OSI model just enough to be useful. L4 is the layer of IPs, ports and TCP — a classic load balancer can pick a backend by 5-tuple and hash-balance traffic, but it cannot read URLs, headers, cookies, methods or gRPC metadata. L7 sees the full HTTP/gRPC envelope: host, path, headers, cookies, JWT claims, query parameters, methods, and the gRPC service.method pair. That's the entire menu of inputs every later example will use to make routing decisions. The TLS SNI line in both columns matters: L4 LBs can route by SNI without terminating TLS (cheap, opaque), while L7 LBs typically terminate TLS so they can see everything else (richer, slightly slower).</a:t>
            </a:r>
            <a:endParaRPr/>
          </a:p>
        </p:txBody>
      </p:sp>
      <p:sp>
        <p:nvSpPr>
          <p:cNvPr id="1911" name="Google Shape;1911;g3e54846f4b4_0_17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3e54846f4b4_0_1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1" name="Google Shape;1921;g3e54846f4b4_0_17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as the menu of L7 features you can mix and match across layers. The bold last point is the operational payoff: every L7 router emits traces and metrics, which is how you see what is happening across the four layers, and it ties back to the observability section. Most of these features used to be hardware appliances; now they're an annotation or a YAML block away. The resilience capabilities (timeouts, retries, circuit breakers) overlap with what Appendix E said about avoiding retry storms: the mesh implements many of them by default, but you still need bounded retries and budgets to prevent amplification.</a:t>
            </a:r>
            <a:endParaRPr/>
          </a:p>
        </p:txBody>
      </p:sp>
      <p:sp>
        <p:nvSpPr>
          <p:cNvPr id="1922" name="Google Shape;1922;g3e54846f4b4_0_17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e54846f4b4_0_1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g3e54846f4b4_0_1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backbone diagram for the whole appendix. North/south traffic (clients into the system) enters through the edge/ingress layer (HAProxy, Nginx, Envoy, Traefik), where TLS terminates and coarse host/path routing happens, then through the API gateway (Kong, Istio gateway, Spring Cloud Gateway), which handles product-level concerns like auth, rate limiting and transformation. Once inside the cluster, east/west traffic is governed by the service mesh (Istio + Envoy sidecars, or Linkerd) — every internal call gets mTLS, retries, outlier detection and locality-aware load balancing. Finally, when L7 decisions need to consider business rules the platform doesn't know about, you push routing into the app itself (Spring Boot + Apache Camel + Drools + Kogito DMN). Each layer is the right place for a different type of decision; every topic in this appendix maps to one of them.</a:t>
            </a:r>
            <a:endParaRPr/>
          </a:p>
        </p:txBody>
      </p:sp>
      <p:sp>
        <p:nvSpPr>
          <p:cNvPr id="1932" name="Google Shape;1932;g3e54846f4b4_0_17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g3e54846f4b4_0_1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2" name="Google Shape;1942;g3e54846f4b4_0_1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a single request left to right. It starts at the client — say a browser or another service. The edge load balancer terminates TLS, does host/path routing and maybe WAF; the API gateway authenticates the caller, applies rate limits and may transform; the mesh sidecar adds mTLS for the cluster's internal hop, applies retries and locality routing; and finally the service can do its own in-app routing if the business rules demand it. Each box can refuse, transform or branch the request, and each emits a trace span, so the full path is observable end to end. This is the request lifecycle from section 11, viewed through the L7 lens.</a:t>
            </a:r>
            <a:endParaRPr/>
          </a:p>
        </p:txBody>
      </p:sp>
      <p:sp>
        <p:nvSpPr>
          <p:cNvPr id="1943" name="Google Shape;1943;g3e54846f4b4_0_1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1" name="Shape 1951"/>
        <p:cNvGrpSpPr/>
        <p:nvPr/>
      </p:nvGrpSpPr>
      <p:grpSpPr>
        <a:xfrm>
          <a:off x="0" y="0"/>
          <a:ext cx="0" cy="0"/>
          <a:chOff x="0" y="0"/>
          <a:chExt cx="0" cy="0"/>
        </a:xfrm>
      </p:grpSpPr>
      <p:sp>
        <p:nvSpPr>
          <p:cNvPr id="1952" name="Google Shape;1952;g3e54846f4b4_0_17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3" name="Google Shape;1953;g3e54846f4b4_0_17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Differentiate the pieces so the audience knows when to reach for which. HAProxy and Nginx are the workhorses of the edge — mature, fast, predictable. Envoy is the modern choice for sidecars because it speaks HTTP/2 and gRPC natively and supports dynamic configuration via xDS. Istio (and Linkerd) wrap Envoy in a control plane and give you the mesh CRDs (VirtualService, DestinationRule). Kong, Traefik and Spring Cloud Gateway are API gateways with plugin ecosystems and a more product-aware feature set. The bold last point introduces the rule-based routing material: when the decision is 'route based on a business rule a non-developer needs to change weekly,' the right place is a rule engine inside the app, not a YAML file in the cluster.</a:t>
            </a:r>
            <a:endParaRPr/>
          </a:p>
        </p:txBody>
      </p:sp>
      <p:sp>
        <p:nvSpPr>
          <p:cNvPr id="1954" name="Google Shape;1954;g3e54846f4b4_0_17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3e54846f4b4_0_1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3" name="Google Shape;1963;g3e54846f4b4_0_17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HAProxy is the lingua franca of L7 LBs. The pattern is always the same: declare ACLs that read parts of the L7 envelope (path_beg for URL prefixes, hdr/req.hdr for headers, content-type for the body type), then use_backend dispatches based on those ACLs in order. This single frontend shows four different content-based routing decisions — by content-type (gRPC traffic goes to a gRPC pool), by cookie (canary users), by header (internal users), by path. Notice TLS terminates at this frontend; everything inside is plaintext within the cluster (or re-encrypted via mTLS at the mesh layer). HAProxy's reload semantics are graceful by default — it can drain old workers while new ones take traffic, which matters for Appendix H's shutdown discipline.</a:t>
            </a:r>
            <a:endParaRPr/>
          </a:p>
        </p:txBody>
      </p:sp>
      <p:sp>
        <p:nvSpPr>
          <p:cNvPr id="1964" name="Google Shape;1964;g3e54846f4b4_0_17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g3e54846f4b4_0_1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6" name="Google Shape;1976;g3e54846f4b4_0_17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Nginx's content-based routing is built around location blocks and the map directive. The map is the elegant bit: it converts a header value into a variable, which then drives proxy_pass — you express the routing table declaratively, then point a single location at the variable. Location blocks split HTTP from gRPC (grpc_pass) so you can run both protocols through one server. The X-Request-Id injection is a tiny example of payload modification — the L7 router can inject correlation headers so downstream traces can be stitched together. Nginx as an ingress controller in Kubernetes (the ingress-nginx project) is one of the most-deployed L7 routers in the world.</a:t>
            </a:r>
            <a:endParaRPr/>
          </a:p>
        </p:txBody>
      </p:sp>
      <p:sp>
        <p:nvSpPr>
          <p:cNvPr id="1977" name="Google Shape;1977;g3e54846f4b4_0_17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g3e54846f4b4_0_17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9" name="Google Shape;1989;g3e54846f4b4_0_17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content-based routing primitives, but expressed as Kubernetes CRDs that the mesh control plane (Istio) compiles down to Envoy sidecar configuration. Three match rules, each sending to a different DestinationRule subset: by URI prefix (which is how you route on gRPC service.method, since gRPC paths look like /package.Service/Method), by header, and by cookie. The default route at the bottom is critical; without it, unmatched requests have nowhere to go. The CRD lives in Git, gets reviewed like any other change, and Istio reconfigures every sidecar in the cluster within seconds. This is the modern face of L7 routing — declarative, GitOps-managed, distributed across thousands of pods.</a:t>
            </a:r>
            <a:endParaRPr/>
          </a:p>
        </p:txBody>
      </p:sp>
      <p:sp>
        <p:nvSpPr>
          <p:cNvPr id="1990" name="Google Shape;1990;g3e54846f4b4_0_17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g3e54846f4b4_0_17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2" name="Google Shape;2002;g3e54846f4b4_0_17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the three modes of TLS at the edge: terminate-and-decrypt (the common case, lets you do L7 things), terminate-and-re-encrypt (most secure default in a mesh, since mTLS inside is automatic), and passthrough (when you must not see the payload, e.g. client mTLS for regulated traffic — route by SNI only). cert-manager is the standard cluster-side answer for public certificates; SPIFFE-style identity and Envoy's SDS handle service-to-service certs automatically inside the mesh. Mention the CPU cost briefly so the L7 latency budget makes sense — a TLS handshake is milliseconds, and you want to amortise it via session resumption, TLS 1.3 and HTTP/2 multiplexing.</a:t>
            </a:r>
            <a:endParaRPr/>
          </a:p>
        </p:txBody>
      </p:sp>
      <p:sp>
        <p:nvSpPr>
          <p:cNvPr id="2003" name="Google Shape;2003;g3e54846f4b4_0_17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3e54846f4b4_0_1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2" name="Google Shape;2012;g3e54846f4b4_0_18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modes worth knowing about. No affinity is the default and what you want — any pod gets any request, load is even, and client state lives somewhere else (Redis, the JWT, the database). Cookie-based stickiness is what you fall back to when something stateful (a shopping cart in memory, a legacy session) has to stay with one pod; the LB sets a cookie on the first response and uses it to route subsequent requests to the same pod. It works behind any L7 LB but ties the user's session to one pod's lifetime — restart that pod, lose the session. IP-hash hashes the source IP to a pod; it needs no cookies but is fragile to NAT and mobile networks where many users share an IP, leading to skewed load. The red footer is the real cost: stickiness fights elastic scaling, hurts pod restarts and breaks scale-to-zero. Use it only for a known constraint, never as a default.</a:t>
            </a:r>
            <a:endParaRPr/>
          </a:p>
        </p:txBody>
      </p:sp>
      <p:sp>
        <p:nvSpPr>
          <p:cNvPr id="2013" name="Google Shape;2013;g3e54846f4b4_0_18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g3e54846f4b4_0_18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3" name="Google Shape;2023;g3e54846f4b4_0_18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stickiness a last resort, not a first reach. Cookie-based affinity is the safer of the two stickiness options because clients can drop the cookie and NAT doesn't break it. The list of things stickiness breaks is the real argument against it: it actively fights the entire cloud-native delivery model — elastic scaling, fast restarts, graceful shutdown. The bold final point is the architectural fix: externalise the state. Redis for session data, JWT claims for user identity, the WebSocket backplane from Appendix C for fan-out. With that done, your LB is back to no-affinity and the platform works the way it wants to.</a:t>
            </a:r>
            <a:endParaRPr/>
          </a:p>
        </p:txBody>
      </p:sp>
      <p:sp>
        <p:nvSpPr>
          <p:cNvPr id="2024" name="Google Shape;2024;g3e54846f4b4_0_18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3e54846f4b4_0_1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3" name="Google Shape;2033;g3e54846f4b4_0_1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patterns that all share the same L7 primitives. Canary: 90/10 weighted routing to a new version, watching metrics and ramping. Blue/green: two identical environments, traffic flipped atomically (and rolled back atomically). A/B test: a stable cohort maps to a variant via a user identifier so the same user always sees the same variant — critical for valid measurement. Header-based: dark launches and internal-only previews by routing on x-internal or similar. Geo / latency: send EU users to EU pods for RTT and data residency. Shadow / mirror: copy a percentage of real traffic to a new version, observe its behaviour, but don't return its responses to the client; this tests the new version under realistic load. The point is they're not different things mechanically; they're the same routing rule expressed with different inputs and weights. The difficult part is the deploy discipline around them: alerts that trigger an automatic rollback, gradual ramps, and the metrics that tell you the canary is bad before users do.</a:t>
            </a:r>
            <a:endParaRPr/>
          </a:p>
        </p:txBody>
      </p:sp>
      <p:sp>
        <p:nvSpPr>
          <p:cNvPr id="2034" name="Google Shape;2034;g3e54846f4b4_0_18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g3e54846f4b4_0_18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4" name="Google Shape;2044;g3e54846f4b4_0_18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canonical Istio canary. Two CRDs working together: DestinationRule defines subsets by pod label (version=v1 and version=v2), and VirtualService routes by weight to those subsets. Changing the weights in Git and reconciling the cluster ramps the canary — typically through 10%, 25%, 50%, 100% over hours or days, with metric gates between each step. If error rate or latency on v2 crosses a threshold, an automated controller (Flagger, Argo Rollouts) flips the weights back to 100/0 in seconds. The same weighted-routing primitive does shadow traffic, geo balance, and blue/green flips — the only thing that changes is which subsets you target and what the weights are.</a:t>
            </a:r>
            <a:endParaRPr/>
          </a:p>
        </p:txBody>
      </p:sp>
      <p:sp>
        <p:nvSpPr>
          <p:cNvPr id="2045" name="Google Shape;2045;g3e54846f4b4_0_18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3e54846f4b4_0_18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7" name="Google Shape;2057;g3e54846f4b4_0_18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Header-based steering is how you do dark launches and betas safely. An upstream identity proxy sets an x-acme-beta header for opted-in users, and the VirtualService routes those users to v2 — in real production traffic, on real data, but with zero exposure to anyone outside the beta. First match wins, so order the rules from most-specific to least, ending with the catch-all default. This is also how you do internal-only previews (route by an internal user-agent string) and per-tenant feature gates (route by an x-tenant-id). Combined with weighted routing, you can do 'roll the canary forward only for the beta cohort,' which is the most surgical release pattern in the toolbox.</a:t>
            </a:r>
            <a:endParaRPr/>
          </a:p>
        </p:txBody>
      </p:sp>
      <p:sp>
        <p:nvSpPr>
          <p:cNvPr id="2058" name="Google Shape;2058;g3e54846f4b4_0_18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g3e54846f4b4_0_18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0" name="Google Shape;2070;g3e54846f4b4_0_18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Distinguish the cheap modifications from the expensive ones. Header inject/strip and URL rewrites cost almost nothing: the router is already parsing the HTTP line and headers. Body transformation is the expensive one because it forces the router to buffer the full payload, which kills streaming, blows memory on large requests and can become a bottleneck under load. Two examples: trace context propagation (the W3C traceparent header is how the spans from earlier in the request path stitch together with the spans downstream, which is why the request-id injection in the Nginx example mattered), and identity propagation (the auth proxy validates a JWT once at the edge and injects validated claims as headers so downstream services don't each re-validate). The bold point is the practical advice: if you can do it in the headers, do it in the headers.</a:t>
            </a:r>
            <a:endParaRPr/>
          </a:p>
        </p:txBody>
      </p:sp>
      <p:sp>
        <p:nvSpPr>
          <p:cNvPr id="2071" name="Google Shape;2071;g3e54846f4b4_0_18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g3e54846f4b4_0_18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0" name="Google Shape;2080;g3e54846f4b4_0_18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Payload modification as configuration, not code. The URL rewrite cleans up the path before forwarding: public /api/v1/orders becomes internal /orders.</a:t>
            </a:r>
            <a:endParaRPr/>
          </a:p>
          <a:p>
            <a:pPr indent="0" lvl="0" marL="0" rtl="0" algn="l">
              <a:spcBef>
                <a:spcPts val="0"/>
              </a:spcBef>
              <a:spcAft>
                <a:spcPts val="0"/>
              </a:spcAft>
              <a:buNone/>
            </a:pPr>
            <a:r>
              <a:rPr lang="en-US"/>
              <a:t>The request header set adds the caller's address and the identity from the client's mTLS certificate (its URI SAN, which is the SPIFFE ID inside the mesh), so identity arrives at the network layer. Envoy creates an x-request-id itself when a request has none.</a:t>
            </a:r>
            <a:endParaRPr/>
          </a:p>
          <a:p>
            <a:pPr indent="0" lvl="0" marL="0" rtl="0" algn="l">
              <a:spcBef>
                <a:spcPts val="0"/>
              </a:spcBef>
              <a:spcAft>
                <a:spcPts val="0"/>
              </a:spcAft>
              <a:buNone/>
            </a:pPr>
            <a:r>
              <a:rPr lang="en-US"/>
              <a:t>The request header remove strips Authorization and Cookie before the request reaches the backend, after the gateway has validated the token and turned it into trusted claims. The response header remove drops Server and X-Powered-By so responses do not reveal the stack. All of it is declarative and reconciled from Git; no service code is involved.</a:t>
            </a:r>
            <a:endParaRPr/>
          </a:p>
        </p:txBody>
      </p:sp>
      <p:sp>
        <p:nvSpPr>
          <p:cNvPr id="2081" name="Google Shape;2081;g3e54846f4b4_0_18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g3e54846f4b4_0_18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3" name="Google Shape;2093;g3e54846f4b4_0_18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Pivot from network-layer routing to in-app routing. The threshold is roughly: if the decision can be expressed in a few YAML lines and depends only on the envelope, do it at the mesh. If it depends on the payload, requires a decision table that domain experts edit, or involves complex conditions, push it into the app. The classic example (and the one the code models) is HL7 healthcare messages: route by patient class, encounter type, message subtype — dozens of intersecting conditions a non-developer needs to maintain. That belongs in a rule engine, not a VirtualService. Stress that this isn't an alternative to the mesh; it sits behind the mesh, complementing it.</a:t>
            </a:r>
            <a:endParaRPr/>
          </a:p>
        </p:txBody>
      </p:sp>
      <p:sp>
        <p:nvSpPr>
          <p:cNvPr id="2094" name="Google Shape;2094;g3e54846f4b4_0_18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g3e54846f4b4_0_18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3" name="Google Shape;2103;g3e54846f4b4_0_18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canonical Java pattern, identical in Spring Boot to any other JVM stack — Apache Camel's DSL is framework-neutral. Inputs arrive over REST, gRPC or Kafka. They land in an Apache Camel route, which is a fluent DSL for Enterprise Integration Patterns: from(...) declares the source, .enrich() gathers any context needed for the decision, .process(rulesEvaluator) calls into Drools (rules) or Kogito DMN (decision tables), which sets a 'whereTo' header on the message. Then .routingSlip(header("whereTo")) dynamically dispatches to one or more destinations based on that header. The Drools rule unit is a separate, version-controlled artefact — .drl rules or DMN decision tables that domain experts can edit independently of the Camel route. The result: the routing logic is data, not code; reroutes don't need redeploys; and the heavy network plumbing stays in the mesh.</a:t>
            </a:r>
            <a:endParaRPr/>
          </a:p>
        </p:txBody>
      </p:sp>
      <p:sp>
        <p:nvSpPr>
          <p:cNvPr id="2104" name="Google Shape;2104;g3e54846f4b4_0_18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3e54846f4b4_0_19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4" name="Google Shape;2114;g3e54846f4b4_0_19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structure used in the official Camel + Drools content-based-routing examples. The Camel DSL is identical across JVM frameworks, so a Quarkus implementation and a Spring Boot one differ only in dependency choice and DI style. camel-spring-boot-starter auto-configures the CamelContext and registers any @Component RouteBuilder beans: no manual XML, no Java config. Constructor injection brings in the rules evaluator. from() picks up Kafka messages via camel-kafka-starter. enrich() makes an HTTP call to a customer service to gather additional context and aggregates it onto the exchange. process(rules::evaluate) hands the enriched message to the rule engine, which fires .drl rules against the facts and sets a 'whereTo' header listing one or more destination URIs. routingSlip then dispatches the message to each of those destinations in sequence. The whole pattern is 15 lines of fluent Java; the actual routing logic lives in the .drl rules, owned by domain experts and editable without a Spring Boot rebuild.</a:t>
            </a:r>
            <a:endParaRPr/>
          </a:p>
        </p:txBody>
      </p:sp>
      <p:sp>
        <p:nvSpPr>
          <p:cNvPr id="2115" name="Google Shape;2115;g3e54846f4b4_0_19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3e54846f4b4_0_19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g3e54846f4b4_0_19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Drools rules are 'when ... then ...' statements. The 'when' is a pattern match against facts in the working memory (here, OrderFact). The 'then' is the action — in our case, setting the whereTo header that the Camel routingSlip will consume. Two real rules and a default with low salience (so it fires last if nothing else matched). The point isn't the syntax; it's that this file is owned by domain experts (the people who decide what 'VIP' or 'high-value' means) and can be redeployed without a developer touching Camel or Spring Boot code. When the rules get complex, Drools/Kogito has a DMN (Decision Model and Notation) flavour with decision tables in a spreadsheet form that non-developers find easier still.</a:t>
            </a:r>
            <a:endParaRPr/>
          </a:p>
        </p:txBody>
      </p:sp>
      <p:sp>
        <p:nvSpPr>
          <p:cNvPr id="2128" name="Google Shape;2128;g3e54846f4b4_0_19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g3e54846f4b4_0_19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0" name="Google Shape;2140;g3e54846f4b4_0_19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expectations with the numbers. Each L7 capability has a typical cost: TLS termination is sub-2ms, path/header routing is sub-1ms, auth/JWT validation is a few ms, WAF a few more, mesh sidecar another millisecond per hop, rate-limit Redis lookup is a couple of ms. Body inspection is the outlier — it can be 5 to 50 ms depending on size, which is why we say to use it sparingly. The numbers are typical, not authoritative; profile your own stack. The right-side card has the working heuristic: stay under ~10ms total L7 on hot paths. With four layers (edge, gateway, mesh sidecar in, mesh sidecar out), every layer must be lean and justify its latency. The retry-storm discipline from Appendix E applies here too — timeouts must account for the total L7 budget plus the service's own work, or retries will pile up.</a:t>
            </a:r>
            <a:endParaRPr/>
          </a:p>
        </p:txBody>
      </p:sp>
      <p:sp>
        <p:nvSpPr>
          <p:cNvPr id="2141" name="Google Shape;2141;g3e54846f4b4_0_19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9" name="Shape 2149"/>
        <p:cNvGrpSpPr/>
        <p:nvPr/>
      </p:nvGrpSpPr>
      <p:grpSpPr>
        <a:xfrm>
          <a:off x="0" y="0"/>
          <a:ext cx="0" cy="0"/>
          <a:chOff x="0" y="0"/>
          <a:chExt cx="0" cy="0"/>
        </a:xfrm>
      </p:grpSpPr>
      <p:sp>
        <p:nvSpPr>
          <p:cNvPr id="2150" name="Google Shape;2150;g3e54846f4b4_0_19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1" name="Google Shape;2151;g3e54846f4b4_0_19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quickly through the failure modes. The hop-count one is the most common: every layer feels free until you measure p99 — then you realise the request crossed seven proxies. The regex point is a perf footgun many people miss. The sticky-session one ties back to the session-affinity trade-off. Body inspection is the latency-budget killer. The auth-lookup one is the most common cause of cascading slowdowns under load. And the timeout-misalignment is the gateway-to-mesh-to-service version of the retry storm we covered in Appendix E — the lesson is identical: bound retries, align timeouts top-down, give the deepest layer the strictest budget.</a:t>
            </a:r>
            <a:endParaRPr/>
          </a:p>
        </p:txBody>
      </p:sp>
      <p:sp>
        <p:nvSpPr>
          <p:cNvPr id="2152" name="Google Shape;2152;g3e54846f4b4_0_19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g3e54846f4b4_0_19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1" name="Google Shape;2161;g3e54846f4b4_0_19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L7 decisions in a microservices system don't happen at the edge — they happen east/west, between services, every time service A calls service B. The mesh's sidecar pair handles that traffic: mTLS between services (encryption and identity), HTTP/2 multiplexing, native gRPC support, retries with backoff and jitter, outlier detection (eject misbehaving pods automatically), locality-aware load balancing (prefer same-zone pods to keep RTT low), header-based routing and canary weights for east/west versions, plus rich per-call traces and metrics. The headline is the second box: all of that, per call, with no app code. Application services keep talking plain HTTP or gRPC; the sidecars make it secure, reliable and observable in flight. This is the modern answer to 'how do you build a microservices system that works in production.'</a:t>
            </a:r>
            <a:endParaRPr/>
          </a:p>
        </p:txBody>
      </p:sp>
      <p:sp>
        <p:nvSpPr>
          <p:cNvPr id="2162" name="Google Shape;2162;g3e54846f4b4_0_19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0" name="Shape 2170"/>
        <p:cNvGrpSpPr/>
        <p:nvPr/>
      </p:nvGrpSpPr>
      <p:grpSpPr>
        <a:xfrm>
          <a:off x="0" y="0"/>
          <a:ext cx="0" cy="0"/>
          <a:chOff x="0" y="0"/>
          <a:chExt cx="0" cy="0"/>
        </a:xfrm>
      </p:grpSpPr>
      <p:sp>
        <p:nvSpPr>
          <p:cNvPr id="2171" name="Google Shape;2171;g3e54846f4b4_0_19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2" name="Google Shape;2172;g3e54846f4b4_0_19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Hammer the volume point first: most production L7 routing happens between services, not at the edge. The security argument is the one that justifies the mesh on its own — mTLS everywhere is otherwise hard to retrofit. The resilience and observability arguments are the operational ones; you stop writing the same boilerplate in every service. Locality is the perf argument: with the right Istio config, two pods in the same zone talk over a few milliseconds; cross-region traffic gets degraded gracefully. And the last point is non-obvious but important: canary releases of a deeply internal service (say, a payments calculation engine that no client touches directly) are possible because the mesh can split east/west traffic by weight — you cannot canary internal services through an edge LB.</a:t>
            </a:r>
            <a:endParaRPr/>
          </a:p>
        </p:txBody>
      </p:sp>
      <p:sp>
        <p:nvSpPr>
          <p:cNvPr id="2173" name="Google Shape;2173;g3e54846f4b4_0_19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g3e54846f4b4_0_1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2" name="Google Shape;2182;g3e54846f4b4_0_19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Istio primitives as the weighted canary, but applied to an internal service (note the cluster.local host). DestinationRule sets up the connection pool (HTTP/2 multiplexing for gRPC), enables outlier detection (5 consecutive 5xxs in 30s ejects the pod), enables locality-aware load balancing (same-zone preferred), and defines version subsets. VirtualService weights east/west traffic 95/5 between v1 and v2 — a canary release of a backend service that no external client knows exists. This is what the 'mesh' is: the same routing CRDs the edge uses, applied everywhere, between every pair of services, configured centrally and enforced by the sidecars.</a:t>
            </a:r>
            <a:endParaRPr/>
          </a:p>
        </p:txBody>
      </p:sp>
      <p:sp>
        <p:nvSpPr>
          <p:cNvPr id="2183" name="Google Shape;2183;g3e54846f4b4_0_19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3" name="Shape 2193"/>
        <p:cNvGrpSpPr/>
        <p:nvPr/>
      </p:nvGrpSpPr>
      <p:grpSpPr>
        <a:xfrm>
          <a:off x="0" y="0"/>
          <a:ext cx="0" cy="0"/>
          <a:chOff x="0" y="0"/>
          <a:chExt cx="0" cy="0"/>
        </a:xfrm>
      </p:grpSpPr>
      <p:sp>
        <p:nvSpPr>
          <p:cNvPr id="2194" name="Google Shape;2194;g3e54846f4b4_0_19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5" name="Google Shape;2195;g3e54846f4b4_0_19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has a few sharp edges of its own. Route on the gRPC URI prefix to do per-method canaries. Use least-request (or random-3-choices) load balancing instead of round-robin because gRPC connections are long-lived — a few long-running streams can starve other backends if you round-robin connections instead of requests. Be careful with retries on streaming RPCs: the mesh can retry a UNARY call safely if it's idempotent, but retrying a half-completed streaming RPC will replay half the work — Istio lets you scope retries to specific gRPC status codes and request kinds. And the trailer point is subtle: gRPC returns its real status in HTTP trailers (a 200 with a non-OK gRPC status is a failure), so outlier detection has to know to read those, or it will think a failing service is healthy.</a:t>
            </a:r>
            <a:endParaRPr/>
          </a:p>
        </p:txBody>
      </p:sp>
      <p:sp>
        <p:nvSpPr>
          <p:cNvPr id="2196" name="Google Shape;2196;g3e54846f4b4_0_19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g3e54846f4b4_0_19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5" name="Google Shape;2205;g3e54846f4b4_0_19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decision guide to leave on screen for a beat. The mental model: each layer has a job it's good at, and pushing work to the wrong layer is where complexity comes from. Edge/ingress for the things every client crosses. API gateway for product-shaped policy. Mesh for east/west and everything internal. In-app for business rules. The bold rule of thumb prevents the common antipattern of growing increasingly baroque Istio VirtualService configs to encode rules that domain experts need to maintain — if it's a business rule, it belongs in a rule engine inside a service, not in a network CRD.</a:t>
            </a:r>
            <a:endParaRPr/>
          </a:p>
        </p:txBody>
      </p:sp>
      <p:sp>
        <p:nvSpPr>
          <p:cNvPr id="2206" name="Google Shape;2206;g3e54846f4b4_0_19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3e54846f4b4_0_19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5" name="Google Shape;2215;g3e54846f4b4_0_19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the checklist up at the end. The first point is the most common organisational failure — a cluster ends up running three ingress controllers because three teams each picked one. Pick one and standardise. The cert-rotation point is the one teams underestimate — expired certs are still a top-3 outage cause in many shops. GitOps for routing is the operational discipline that makes the whole thing reviewable. Observability and the load/failure-test point are non-negotiable. The references sub-bullet is the reading list: official docs for each piece and the Camel/KIE content-based routing example (the canonical demo for the Camel + Apache Drools pattern shown — wired here with camel-spring-boot-starter).</a:t>
            </a:r>
            <a:endParaRPr/>
          </a:p>
        </p:txBody>
      </p:sp>
      <p:sp>
        <p:nvSpPr>
          <p:cNvPr id="2216" name="Google Shape;2216;g3e54846f4b4_0_19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3e54846f4b4_0_20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5" name="Google Shape;2225;g3e54846f4b4_0_20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K covers the migration patterns. The thesis: you don't decompose a monolith by stopping it and rewriting; you decompose it incrementally, one bounded asset at a time, with the system serving users the whole way through. We'll walk through the monolith as the starting point, modular monoliths as a frequently-correct destination, the strangler-fig family for progressive extraction, content-based routing for fine-grained cutover, and the decorating collaborator for wrapping legacy code you can't touch. Code in this appendix uses Spring Web + RestClient + Spring Kafka + Spring Data Redis, but the patterns are language-neutral.</a:t>
            </a:r>
            <a:endParaRPr/>
          </a:p>
        </p:txBody>
      </p:sp>
      <p:sp>
        <p:nvSpPr>
          <p:cNvPr id="2226" name="Google Shape;2226;g3e54846f4b4_0_20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g3e54846f4b4_0_20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5" name="Google Shape;2235;g3e54846f4b4_0_20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term before fixing it. A monolith is not a code-organisation problem — it's a deployment-organisation property. Even a well-organised Spring Boot codebase with clear @Service layers, @RestController boundaries, and 1000 unit tests is a monolith if it ships as one fat JAR on one heartbeat. The defining property: change anywhere, redeploy everything; a bug in Reporting can take down Payments; one scaling unit for workloads that scale differently. But the second italic line is what to leave audience with: monoliths are not always wrong. For new products, small teams, or anything that fits in one team's head, they're often the simplest and fastest path to value. Premature decomposition is its own anti-pattern.</a:t>
            </a:r>
            <a:endParaRPr/>
          </a:p>
        </p:txBody>
      </p:sp>
      <p:sp>
        <p:nvSpPr>
          <p:cNvPr id="2236" name="Google Shape;2236;g3e54846f4b4_0_20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g3e54846f4b4_0_20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6" name="Google Shape;2246;g3e54846f4b4_0_20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intermediate pattern that's often the right destination, not a stepping stone. Modules within one Spring Boot process have clear public APIs and private internals that other modules cannot reach. Enforcement is the key bit: Spring Modulith (org.springframework.modulith:spring-modulith-starter-core, GA since the Spring Boot 3 line and supported on Spring Boot 4.1.1) gives you first-class module boundaries with @ApplicationModule, package-private internals, and ApplicationModuleListener for cross-module events. ArchUnit in CI is the testing-time enforcement. Modules can share a database, but each owns a schema and no cross-schema joins are allowed. Spring Modulith specifically anticipates this — each @ApplicationModule documents itself as a candidate service.</a:t>
            </a:r>
            <a:endParaRPr/>
          </a:p>
        </p:txBody>
      </p:sp>
      <p:sp>
        <p:nvSpPr>
          <p:cNvPr id="2247" name="Google Shape;2247;g3e54846f4b4_0_20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g3e54846f4b4_0_2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7" name="Google Shape;2257;g3e54846f4b4_0_20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Splitting the database is the hard part of decomposition. The insight of this pattern: do that work while you're still one Spring Boot process. Each module gets its own DataSource bean, its own JpaRepository, its own Liquibase or Flyway migration history. Spring Boot makes this clean — multiple @ConfigurationProperties-bound DataSource beans, with @Primary marking the default, and module-scoped @EnableJpaRepositories pointing at the right one. Cross-module data is now async or event-driven (typically via ApplicationModuleListener for in-process events, or KafkaTemplate for cross-service). Once this is done, promoting a module to a separate service is a refactor of the deployment topology, not a data-migration project.</a:t>
            </a:r>
            <a:endParaRPr/>
          </a:p>
        </p:txBody>
      </p:sp>
      <p:sp>
        <p:nvSpPr>
          <p:cNvPr id="2258" name="Google Shape;2258;g3e54846f4b4_0_20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6" name="Shape 2266"/>
        <p:cNvGrpSpPr/>
        <p:nvPr/>
      </p:nvGrpSpPr>
      <p:grpSpPr>
        <a:xfrm>
          <a:off x="0" y="0"/>
          <a:ext cx="0" cy="0"/>
          <a:chOff x="0" y="0"/>
          <a:chExt cx="0" cy="0"/>
        </a:xfrm>
      </p:grpSpPr>
      <p:sp>
        <p:nvSpPr>
          <p:cNvPr id="2267" name="Google Shape;2267;g3e54846f4b4_0_20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8" name="Google Shape;2268;g3e54846f4b4_0_20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Martin Fowler strangler-fig pattern. The three steps you repeat. Identify: pick a bounded asset — 'order creation' or 'order status query' specifically. The smaller the better. Move: build the new Spring Boot service alongside the monolith, replicate the behaviour, test it in parallel without production traffic (often by shadowing reads through the new service and comparing outputs). REDIRECT: switch callers to the new service. Each cycle is independently reversible — if the new service is wrong, redirect back.</a:t>
            </a:r>
            <a:endParaRPr/>
          </a:p>
        </p:txBody>
      </p:sp>
      <p:sp>
        <p:nvSpPr>
          <p:cNvPr id="2269" name="Google Shape;2269;g3e54846f4b4_0_20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g3e54846f4b4_0_20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9" name="Google Shape;2279;g3e54846f4b4_0_20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pre-condition for incremental migration: clients hit the proxy, the proxy forwards to the monolith. Day zero, behaviour is unchanged. But you now have the lever — the proxy is where you'll later route 1% of /orders/* traffic to the extracted Spring Boot service, then 5%, then 100%. Without this step, every cutover is a coordinated client release. With it, every cutover is a proxy config change. For Spring Boot deployments this is typically nginx, Envoy, or Istio gateway as a Kubernetes Service ahead of your application Pods — or Spring Cloud Gateway as an in-app gateway if you prefer code-level routing control.</a:t>
            </a:r>
            <a:endParaRPr/>
          </a:p>
        </p:txBody>
      </p:sp>
      <p:sp>
        <p:nvSpPr>
          <p:cNvPr id="2280" name="Google Shape;2280;g3e54846f4b4_0_20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8" name="Shape 2288"/>
        <p:cNvGrpSpPr/>
        <p:nvPr/>
      </p:nvGrpSpPr>
      <p:grpSpPr>
        <a:xfrm>
          <a:off x="0" y="0"/>
          <a:ext cx="0" cy="0"/>
          <a:chOff x="0" y="0"/>
          <a:chExt cx="0" cy="0"/>
        </a:xfrm>
      </p:grpSpPr>
      <p:sp>
        <p:nvSpPr>
          <p:cNvPr id="2289" name="Google Shape;2289;g3e54846f4b4_0_20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0" name="Google Shape;2290;g3e54846f4b4_0_20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proxy routes by path, by header (X-Tenant: acme), by percentage (1% canary), or by feature flag. The new Spring Boot service handles its slice; the monolith handles everything else. Clients still see one URL. Roll forward by widening; roll back by narrowing. The new service can fail completely and the monolith picks up — bounded blast radius is the whole point. Instrument both paths in Micrometer so you can verify the new service produces the same outcomes as the monolith before widening.</a:t>
            </a:r>
            <a:endParaRPr/>
          </a:p>
        </p:txBody>
      </p:sp>
      <p:sp>
        <p:nvSpPr>
          <p:cNvPr id="2291" name="Google Shape;2291;g3e54846f4b4_0_20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g3e54846f4b4_0_20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1" name="Google Shape;2301;g3e54846f4b4_0_20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Sometimes the data split is too risky to do at the same time as the process split. The new Spring Boot service and the monolith share a database for a while. Both apps read and write the same tables; the new service owns the API but not the data. Useful for extracting reads first, or as a stepping stone. It is not a destination: every Liquibase / Flyway change now needs both apps to agree. The next step is to give the new service its own store: CDC out of the monolith's DB via Debezium, or dual-writing during a sync window, or event-sourcing via Spring Modulith ApplicationModuleListener feeding the new service's DB.</a:t>
            </a:r>
            <a:endParaRPr/>
          </a:p>
        </p:txBody>
      </p:sp>
      <p:sp>
        <p:nvSpPr>
          <p:cNvPr id="2302" name="Google Shape;2302;g3e54846f4b4_0_20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3e54846f4b4_0_20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2" name="Google Shape;2312;g3e54846f4b4_0_20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Spring shape. Proxy is a Spring REST controller that reads the body and decides which downstream to call via RestClient. Constructor injection brings in a RestClient.Builder; we build three typed clients, one per backend. Decision is by payload content: tenant, region, feature flag — not URL pattern. The pattern goes further than path-based proxying: you can roll out the new service to one tenant at a time, observe real-traffic behaviour, then widen. For Spring deployments running behind a real proxy (nginx, Envoy, Istio, Spring Cloud Gateway), express the same logic in Lua / WASM filters or RoutePredicateFactories at the gateway. The CPU cost of body parsing is the only real downside.</a:t>
            </a:r>
            <a:endParaRPr/>
          </a:p>
        </p:txBody>
      </p:sp>
      <p:sp>
        <p:nvSpPr>
          <p:cNvPr id="2313" name="Google Shape;2313;g3e54846f4b4_0_20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3" name="Shape 2323"/>
        <p:cNvGrpSpPr/>
        <p:nvPr/>
      </p:nvGrpSpPr>
      <p:grpSpPr>
        <a:xfrm>
          <a:off x="0" y="0"/>
          <a:ext cx="0" cy="0"/>
          <a:chOff x="0" y="0"/>
          <a:chExt cx="0" cy="0"/>
        </a:xfrm>
      </p:grpSpPr>
      <p:sp>
        <p:nvSpPr>
          <p:cNvPr id="2324" name="Google Shape;2324;g3e54846f4b4_0_20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5" name="Google Shape;2325;g3e54846f4b4_0_20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 from the proxy patterns: the decorator owns behaviour, not just routing. The new Spring Boot service sits in front of the legacy API and adds cross-cutting capability: Redis caching, Kafka event emission, audit logging, validation, enrichment, rate-limiting, metrics via Micrometer. Legacy service unaware. Clients now talk to the decorator's API, which delegates for the underlying work but contributes everything else. Particularly useful when the legacy system is a 3rd-party product, a vendor system, or fragile code that touching is forbidden. Common implementation: Spring Boot + RestClient + Spring Data Redis + KafkaTemplate.</a:t>
            </a:r>
            <a:endParaRPr/>
          </a:p>
        </p:txBody>
      </p:sp>
      <p:sp>
        <p:nvSpPr>
          <p:cNvPr id="2326" name="Google Shape;2326;g3e54846f4b4_0_20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g3e54846f4b4_0_2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6" name="Google Shape;2336;g3e54846f4b4_0_2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Spring decorator is a clean @RestController. Three injected collaborators: RestClient pointed at the legacy service, RedisTemplate&lt;String, Order&gt; for the cache, KafkaTemplate&lt;String, Order&gt; for the event stream. The GET path uses cache-aside semantics. The POST path delegates to legacy (still source of truth), emits a Kafka event so downstream systems can subscribe to the new event stream, invalidates the cache. Legacy service has no idea it's been wrapped. Over time you can move more behaviour into the decorator: validation, idempotency keys, dedup. When you're ready to retire the legacy service, you implement the storage inside the decorator (or in a clean new service it calls) and stop forwarding — the API stays the same for clients.</a:t>
            </a:r>
            <a:endParaRPr/>
          </a:p>
        </p:txBody>
      </p:sp>
      <p:sp>
        <p:nvSpPr>
          <p:cNvPr id="2337" name="Google Shape;2337;g3e54846f4b4_0_2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7" name="Shape 2347"/>
        <p:cNvGrpSpPr/>
        <p:nvPr/>
      </p:nvGrpSpPr>
      <p:grpSpPr>
        <a:xfrm>
          <a:off x="0" y="0"/>
          <a:ext cx="0" cy="0"/>
          <a:chOff x="0" y="0"/>
          <a:chExt cx="0" cy="0"/>
        </a:xfrm>
      </p:grpSpPr>
      <p:sp>
        <p:nvSpPr>
          <p:cNvPr id="2348" name="Google Shape;2348;g3e54846f4b4_0_2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9" name="Google Shape;2349;g3e54846f4b4_0_2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with the decision rules. First point is the most important and most often skipped — with Spring Modulith especially, a modular monolith is frequently a fine destination. Second point is the most underrated: the database split is where projects get stuck for years; do it early, while still one Spring Boot process. Third point: no proxy, no incremental migration. Fourth point is the schedule discipline. The bold final line is the architectural take-home: design for reversibility, so every step is a config change you can undo without coordinating a release.</a:t>
            </a:r>
            <a:endParaRPr/>
          </a:p>
        </p:txBody>
      </p:sp>
      <p:sp>
        <p:nvSpPr>
          <p:cNvPr id="2350" name="Google Shape;2350;g3e54846f4b4_0_2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7" name="Shape 2357"/>
        <p:cNvGrpSpPr/>
        <p:nvPr/>
      </p:nvGrpSpPr>
      <p:grpSpPr>
        <a:xfrm>
          <a:off x="0" y="0"/>
          <a:ext cx="0" cy="0"/>
          <a:chOff x="0" y="0"/>
          <a:chExt cx="0" cy="0"/>
        </a:xfrm>
      </p:grpSpPr>
      <p:sp>
        <p:nvSpPr>
          <p:cNvPr id="2358" name="Google Shape;2358;g3e54846f4b4_0_2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9" name="Google Shape;2359;g3e54846f4b4_0_2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L is the caching reference. Five reasons to cache and six patterns to do it well. The patterns differ in who reads/writes the cache, when, and who owns the consistency story. We use Redis as the canonical cache because it's the default open-source choice on Kubernetes; same patterns apply to in-memory caches or any KV store. Code uses Spring Data Redis (RedisTemplate) for explicit patterns and Spring Cache abstraction (@Cacheable) where idiomatic.</a:t>
            </a:r>
            <a:endParaRPr/>
          </a:p>
        </p:txBody>
      </p:sp>
      <p:sp>
        <p:nvSpPr>
          <p:cNvPr id="2360" name="Google Shape;2360;g3e54846f4b4_0_2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g3e54846f4b4_0_2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9" name="Google Shape;2369;g3e54846f4b4_0_2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concrete reasons that justify the caching investment. Application performance is the user-facing win. Backend load matters more in steady state. Throughput follows from both. Predictable performance flattens p99. Database cost often pays for the caching infrastructure. The sub-bullet is what trips teams up: every cache adds complexity; pick the pattern that matches the consistency you need.</a:t>
            </a:r>
            <a:endParaRPr/>
          </a:p>
        </p:txBody>
      </p:sp>
      <p:sp>
        <p:nvSpPr>
          <p:cNvPr id="2370" name="Google Shape;2370;g3e54846f4b4_0_2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7" name="Shape 2377"/>
        <p:cNvGrpSpPr/>
        <p:nvPr/>
      </p:nvGrpSpPr>
      <p:grpSpPr>
        <a:xfrm>
          <a:off x="0" y="0"/>
          <a:ext cx="0" cy="0"/>
          <a:chOff x="0" y="0"/>
          <a:chExt cx="0" cy="0"/>
        </a:xfrm>
      </p:grpSpPr>
      <p:sp>
        <p:nvSpPr>
          <p:cNvPr id="2378" name="Google Shape;2378;g3e54846f4b4_0_2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9" name="Google Shape;2379;g3e54846f4b4_0_2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everyone starts with. The Spring Boot application is in charge: try the cache first via RedisTemplate, on a miss query JPA, populate the cache on the way back, return. Every other pattern differs in who does the work. Pros: explicit, debuggable, no magic. Cons: every read has the if/else; cache miss costs two round trips; cache logic is repeated across services if you don't extract it (which is what @Cacheable read-through does for you, next pattern). TTL is the consistency knob.</a:t>
            </a:r>
            <a:endParaRPr/>
          </a:p>
        </p:txBody>
      </p:sp>
      <p:sp>
        <p:nvSpPr>
          <p:cNvPr id="2380" name="Google Shape;2380;g3e54846f4b4_0_2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8" name="Shape 2388"/>
        <p:cNvGrpSpPr/>
        <p:nvPr/>
      </p:nvGrpSpPr>
      <p:grpSpPr>
        <a:xfrm>
          <a:off x="0" y="0"/>
          <a:ext cx="0" cy="0"/>
          <a:chOff x="0" y="0"/>
          <a:chExt cx="0" cy="0"/>
        </a:xfrm>
      </p:grpSpPr>
      <p:sp>
        <p:nvSpPr>
          <p:cNvPr id="2389" name="Google Shape;2389;g3e54846f4b4_0_2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0" name="Google Shape;2390;g3e54846f4b4_0_2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Minimal cache-aside in Spring Boot. RedisTemplate&lt;String, Product&gt; is the typed Spring Data Redis client. The @Transactional on update() so the DB write is transactional; cache invalidation is outside the transaction. Key convention: 'product:{id}'. Invalidate-on-write step: if you don't invalidate, stale reads for the full TTL. Choose: invalidate (this code) or set the new value directly (write-through). For Redis failures, wrap the cache.opsForValue().get() in try/catch (or use a Resilience4j CircuitBreaker around RedisTemplate) so an outage falls back to JPA.</a:t>
            </a:r>
            <a:endParaRPr/>
          </a:p>
        </p:txBody>
      </p:sp>
      <p:sp>
        <p:nvSpPr>
          <p:cNvPr id="2391" name="Google Shape;2391;g3e54846f4b4_0_2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g3e54846f4b4_0_2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3" name="Google Shape;2403;g3e54846f4b4_0_2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variation where the cache abstraction, not the application, calls the database on a miss. The Spring app calls productService.findById(id) and gets the value back. For Spring, the cleanest expression is the Spring Cache abstraction with @Cacheable. Pros: cleaner application code, declarative TTL. Cons: less control over what triggers a DB hit. Use when read paths are repetitive and you want declarative caching.</a:t>
            </a:r>
            <a:endParaRPr/>
          </a:p>
        </p:txBody>
      </p:sp>
      <p:sp>
        <p:nvSpPr>
          <p:cNvPr id="2404" name="Google Shape;2404;g3e54846f4b4_0_2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2" name="Shape 2412"/>
        <p:cNvGrpSpPr/>
        <p:nvPr/>
      </p:nvGrpSpPr>
      <p:grpSpPr>
        <a:xfrm>
          <a:off x="0" y="0"/>
          <a:ext cx="0" cy="0"/>
          <a:chOff x="0" y="0"/>
          <a:chExt cx="0" cy="0"/>
        </a:xfrm>
      </p:grpSpPr>
      <p:sp>
        <p:nvSpPr>
          <p:cNvPr id="2413" name="Google Shape;2413;g3e54846f4b4_0_2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4" name="Google Shape;2414;g3e54846f4b4_0_2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Idiomatic Spring read-through. The Cache abstraction is the library's read-through interface: cache.get(key, loader) returns the cached value, or calls the loader on a miss and stores the result. RedisCacheManager configures Redis as the backing store with a TTL from configuration, keys prefixed rt:product: and plain JSON values (JacksonJsonRedisSerializer on Jackson 3), so non-Java readers can parse them. Example 25 calls the Cache directly instead of using @Cacheable because the endpoint reports where the answer came from: a flag set inside the loader becomes the source field, db on a miss and cache on a hit. The loader throws when the product does not exist, which keeps null out of the cache and becomes a 404. If Redis is down, the call fails and the endpoint falls back to the database. The annotation form, @Cacheable on a service method with @CacheEvict on update(), gives the same behavior declaratively; it requires the service layer (Spring AOP proxies don't catch self-calls), which is also good architecture. Trade vs explicit cache-aside: explicit if/else replaced by declarative annotations. SpEL: key = "#order.id + ':' + #user", condition = "#qty &gt; 100": flexible but harder to debug.</a:t>
            </a:r>
            <a:endParaRPr/>
          </a:p>
        </p:txBody>
      </p:sp>
      <p:sp>
        <p:nvSpPr>
          <p:cNvPr id="2415" name="Google Shape;2415;g3e54846f4b4_0_2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5" name="Shape 2425"/>
        <p:cNvGrpSpPr/>
        <p:nvPr/>
      </p:nvGrpSpPr>
      <p:grpSpPr>
        <a:xfrm>
          <a:off x="0" y="0"/>
          <a:ext cx="0" cy="0"/>
          <a:chOff x="0" y="0"/>
          <a:chExt cx="0" cy="0"/>
        </a:xfrm>
      </p:grpSpPr>
      <p:sp>
        <p:nvSpPr>
          <p:cNvPr id="2426" name="Google Shape;2426;g3e54846f4b4_0_2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7" name="Google Shape;2427;g3e54846f4b4_0_2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stale reads are not acceptable, write-through forces every write to update both stores. The Spring app calls repo.save(...) and cache.opsForValue().set(...) and both must succeed. Pros: a read immediately after a write sees the new value. Cons: write latency is the sum of both stores. Spring's @CachePut annotation is the idiomatic shortcut — always invokes the method and writes the return value to the cache.</a:t>
            </a:r>
            <a:endParaRPr/>
          </a:p>
        </p:txBody>
      </p:sp>
      <p:sp>
        <p:nvSpPr>
          <p:cNvPr id="2428" name="Google Shape;2428;g3e54846f4b4_0_2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6" name="Shape 2436"/>
        <p:cNvGrpSpPr/>
        <p:nvPr/>
      </p:nvGrpSpPr>
      <p:grpSpPr>
        <a:xfrm>
          <a:off x="0" y="0"/>
          <a:ext cx="0" cy="0"/>
          <a:chOff x="0" y="0"/>
          <a:chExt cx="0" cy="0"/>
        </a:xfrm>
      </p:grpSpPr>
      <p:sp>
        <p:nvSpPr>
          <p:cNvPr id="2437" name="Google Shape;2437;g3e54846f4b4_0_2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8" name="Google Shape;2438;g3e54846f4b4_0_2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write-through flavours. First uses @CachePut — the most concise Spring idiom. The second shows the more careful @TransactionalEventListener approach: publish an event inside the transaction, @TransactionalEventListener with phase=AFTER_COMMIT writes the cache only after the DB transaction commits. Critical when the DB transaction might roll back. Either way, DB write goes first because DB is the source of truth. Short TTL self-heals any cache/DB divergence.</a:t>
            </a:r>
            <a:endParaRPr/>
          </a:p>
        </p:txBody>
      </p:sp>
      <p:sp>
        <p:nvSpPr>
          <p:cNvPr id="2439" name="Google Shape;2439;g3e54846f4b4_0_2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9" name="Shape 2449"/>
        <p:cNvGrpSpPr/>
        <p:nvPr/>
      </p:nvGrpSpPr>
      <p:grpSpPr>
        <a:xfrm>
          <a:off x="0" y="0"/>
          <a:ext cx="0" cy="0"/>
          <a:chOff x="0" y="0"/>
          <a:chExt cx="0" cy="0"/>
        </a:xfrm>
      </p:grpSpPr>
      <p:sp>
        <p:nvSpPr>
          <p:cNvPr id="2450" name="Google Shape;2450;g3e54846f4b4_0_2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1" name="Google Shape;2451;g3e54846f4b4_0_2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data is written far more often than it's read (audit logs, event records, telemetry), caching every write is wasteful. Write-around: write the DB, leave the cache alone. The next reader pays the cache-miss cost and populates the cache. Pros: no cache pollution by write-only data. Cons: the first read after every write is slow. Pair with cache-aside or @Cacheable on the read side. Common use: any 'append-only' or 'mostly-written' workload.</a:t>
            </a:r>
            <a:endParaRPr/>
          </a:p>
        </p:txBody>
      </p:sp>
      <p:sp>
        <p:nvSpPr>
          <p:cNvPr id="2452" name="Google Shape;2452;g3e54846f4b4_0_2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0" name="Shape 2460"/>
        <p:cNvGrpSpPr/>
        <p:nvPr/>
      </p:nvGrpSpPr>
      <p:grpSpPr>
        <a:xfrm>
          <a:off x="0" y="0"/>
          <a:ext cx="0" cy="0"/>
          <a:chOff x="0" y="0"/>
          <a:chExt cx="0" cy="0"/>
        </a:xfrm>
      </p:grpSpPr>
      <p:sp>
        <p:nvSpPr>
          <p:cNvPr id="2461" name="Google Shape;2461;g3e54846f4b4_0_2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2" name="Google Shape;2462;g3e54846f4b4_0_2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write path and a @Cacheable read. The write just calls repo.save(): the cache is not touched. The read side is @Cacheable, which populates lazily on the first read of each id.</a:t>
            </a:r>
            <a:endParaRPr/>
          </a:p>
          <a:p>
            <a:pPr indent="0" lvl="0" marL="0" rtl="0" algn="l">
              <a:spcBef>
                <a:spcPts val="0"/>
              </a:spcBef>
              <a:spcAft>
                <a:spcPts val="0"/>
              </a:spcAft>
              <a:buNone/>
            </a:pPr>
            <a:r>
              <a:rPr lang="en-US"/>
              <a:t>The pattern pays off when most written records are rarely or never read again: security event logs, telemetry, audit entries. If a stale cached copy could exist for a rewritten id, delete that key after the save. Compare with a product catalog, where every read is a probable cache hit; there @CachePut write-through makes more sense.</a:t>
            </a:r>
            <a:endParaRPr/>
          </a:p>
        </p:txBody>
      </p:sp>
      <p:sp>
        <p:nvSpPr>
          <p:cNvPr id="2463" name="Google Shape;2463;g3e54846f4b4_0_2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3" name="Shape 2473"/>
        <p:cNvGrpSpPr/>
        <p:nvPr/>
      </p:nvGrpSpPr>
      <p:grpSpPr>
        <a:xfrm>
          <a:off x="0" y="0"/>
          <a:ext cx="0" cy="0"/>
          <a:chOff x="0" y="0"/>
          <a:chExt cx="0" cy="0"/>
        </a:xfrm>
      </p:grpSpPr>
      <p:sp>
        <p:nvSpPr>
          <p:cNvPr id="2474" name="Google Shape;2474;g3e54846f4b4_0_2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5" name="Google Shape;2475;g3e54846f4b4_0_2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fastest-write pattern, with the most caveats. The Spring app writes to the cache, returns an immediate ack — the cache is the source of truth for that window. A @Scheduled background task drains the cache to the DB. Pros: write latency equals cache latency — microseconds. Cons: a cache crash before the flusher catches up loses unflushed writes; Redis must be configured for persistence (AOF or RDB). Use only when extreme write throughput is the constraint, eventual durability is acceptable and you've thought about what 'lost the last 5 seconds of writes' means.</a:t>
            </a:r>
            <a:endParaRPr/>
          </a:p>
        </p:txBody>
      </p:sp>
      <p:sp>
        <p:nvSpPr>
          <p:cNvPr id="2476" name="Google Shape;2476;g3e54846f4b4_0_2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g3e54846f4b4_0_2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6" name="Google Shape;2486;g3e54846f4b4_0_2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Spring's @Scheduled drives write-back in Example 25. (1) PUT /write-back/metrics/{mid} writes the metric to a Redis hash, adds the id to a 'dirty set', which tells the flusher what still has to reach the database, and answers 202 Accepted: the value is queued, not yet durable. (2) @Scheduled(fixedDelayString = ...) runs every second, SPOPs up to FLUSH_BATCH dirty ids and upserts each one through a Spring Data repository method, a @Modifying native INSERT ... ON CONFLICT (id) DO UPDATE, so an id flushed twice stays one row. SPOP is atomic, so two replicas each get a distinct subset of ids and no lock is needed to scale out. (3) An id whose upsert fails is re-queued: its count in the metric:attempts hash goes up and it goes back on the dirty set, or, after five attempts, onto metric:failed with its value still in the cache and the failure in the log. After a failed run the flusher skips runs for two seconds, then four, then eight. Caveats: this is only safe with Redis persistence (AOF, appendonly yes); without it a Redis crash loses unflushed writes. For data that must not be lost, use write-through. For high-throughput telemetry where losing the last second is acceptable, write-back is what lets the service scale.</a:t>
            </a:r>
            <a:endParaRPr/>
          </a:p>
        </p:txBody>
      </p:sp>
      <p:sp>
        <p:nvSpPr>
          <p:cNvPr id="2487" name="Google Shape;2487;g3e54846f4b4_0_2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7" name="Shape 2497"/>
        <p:cNvGrpSpPr/>
        <p:nvPr/>
      </p:nvGrpSpPr>
      <p:grpSpPr>
        <a:xfrm>
          <a:off x="0" y="0"/>
          <a:ext cx="0" cy="0"/>
          <a:chOff x="0" y="0"/>
          <a:chExt cx="0" cy="0"/>
        </a:xfrm>
      </p:grpSpPr>
      <p:sp>
        <p:nvSpPr>
          <p:cNvPr id="2498" name="Google Shape;2498;g3e54846f4b4_0_2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9" name="Google Shape;2499;g3e54846f4b4_0_22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pattern for eliminating the cache-miss latency cliff on popular keys. Plain cache-aside has sharp behaviour: while a key is cached, reads are fast; the moment its TTL expires, the next reader pays the slow DB-fetch path. Refresh-ahead pre-empts this: a @Scheduled task watches the cache (or maintains a Redis sorted set of 'hot' keys) and refreshes their values from the DB before the TTL fires. Users always read warm cache. Pros: no user-visible misses on hot keys. Cons: extra DB load for keys that may not be requested again.</a:t>
            </a:r>
            <a:endParaRPr/>
          </a:p>
        </p:txBody>
      </p:sp>
      <p:sp>
        <p:nvSpPr>
          <p:cNvPr id="2500" name="Google Shape;2500;g3e54846f4b4_0_22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8" name="Shape 2508"/>
        <p:cNvGrpSpPr/>
        <p:nvPr/>
      </p:nvGrpSpPr>
      <p:grpSpPr>
        <a:xfrm>
          <a:off x="0" y="0"/>
          <a:ext cx="0" cy="0"/>
          <a:chOff x="0" y="0"/>
          <a:chExt cx="0" cy="0"/>
        </a:xfrm>
      </p:grpSpPr>
      <p:sp>
        <p:nvSpPr>
          <p:cNvPr id="2509" name="Google Shape;2509;g3e54846f4b4_0_2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0" name="Google Shape;2510;g3e54846f4b4_0_2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Spring implementation. Redis sorted set (ZADD) tracks 'hot' keys scored by last-access timestamp. findById touches the hot-set on every read. @Scheduled runs every 5s: removes keys not accessed in 5 minutes (removeRangeByScore), then for each remaining hot key checks its TTL via getExpire and refreshes it when the TTL drops under REFRESH_BEFORE_S. ShedLock ensures only one instance refreshes — otherwise N instances do the same DB reads. Pattern shines for read-heavy workloads where a small set of keys serves most traffic — 80/20 product pages, top tweets, trending articles.</a:t>
            </a:r>
            <a:endParaRPr/>
          </a:p>
        </p:txBody>
      </p:sp>
      <p:sp>
        <p:nvSpPr>
          <p:cNvPr id="2511" name="Google Shape;2511;g3e54846f4b4_0_2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g3e54846f4b4_0_2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3" name="Google Shape;2523;g3e54846f4b4_0_22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things that go wrong with caching. First point is the most important. Second is the write-around lesson — Spring Boot Actuator's CacheMetrics gives you hit/miss ratios. Third is operational. Fourth is the cache stampede problem; mitigations include Redisson RLock per key, refresh-ahead, TTL jitter. Fifth is the most common stale-data bug. The bold final line: the cache is never the source of truth. If Redis dies, you must serve slower reads, not return errors. Test this by killing Redis in staging.</a:t>
            </a:r>
            <a:endParaRPr/>
          </a:p>
        </p:txBody>
      </p:sp>
      <p:sp>
        <p:nvSpPr>
          <p:cNvPr id="2524" name="Google Shape;2524;g3e54846f4b4_0_22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1" name="Shape 2531"/>
        <p:cNvGrpSpPr/>
        <p:nvPr/>
      </p:nvGrpSpPr>
      <p:grpSpPr>
        <a:xfrm>
          <a:off x="0" y="0"/>
          <a:ext cx="0" cy="0"/>
          <a:chOff x="0" y="0"/>
          <a:chExt cx="0" cy="0"/>
        </a:xfrm>
      </p:grpSpPr>
      <p:sp>
        <p:nvSpPr>
          <p:cNvPr id="2532" name="Google Shape;2532;g3e54846f4b4_0_2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3" name="Google Shape;2533;g3e54846f4b4_0_22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Decision rules. @Cacheable (read-through) is the default. @CachePut (write-through) for read-consistency-after-write. Write-around for telemetry. Write-back is the niche extreme-throughput pattern. Refresh-ahead is the hot-key pattern. Bold final line: don't pick one pattern as 'the' cache strategy. Mix patterns by workload.</a:t>
            </a:r>
            <a:endParaRPr/>
          </a:p>
        </p:txBody>
      </p:sp>
      <p:sp>
        <p:nvSpPr>
          <p:cNvPr id="2534" name="Google Shape;2534;g3e54846f4b4_0_22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1" name="Shape 2541"/>
        <p:cNvGrpSpPr/>
        <p:nvPr/>
      </p:nvGrpSpPr>
      <p:grpSpPr>
        <a:xfrm>
          <a:off x="0" y="0"/>
          <a:ext cx="0" cy="0"/>
          <a:chOff x="0" y="0"/>
          <a:chExt cx="0" cy="0"/>
        </a:xfrm>
      </p:grpSpPr>
      <p:sp>
        <p:nvSpPr>
          <p:cNvPr id="2542" name="Google Shape;2542;g3e54846f4b4_0_2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3" name="Google Shape;2543;g3e54846f4b4_0_2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M is the synthesis appendix — it brings together error handling, graceful shutdown, observability and the resilience patterns from across the deck, and points them at the specific ways distributed systems fail. If you can only take one slide from this appendix, take the matrix at the end: it maps each failure mode to the patterns that address it. This appendix references section 11 (Observability), section 12 (Security — bulkheads), and Appendix H (Graceful shutdown); it is the place where those threads are tied together. If this runs long in your session, it stands alone and can be presented on its own.</a:t>
            </a:r>
            <a:endParaRPr/>
          </a:p>
        </p:txBody>
      </p:sp>
      <p:sp>
        <p:nvSpPr>
          <p:cNvPr id="2544" name="Google Shape;2544;g3e54846f4b4_0_2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1" name="Shape 2551"/>
        <p:cNvGrpSpPr/>
        <p:nvPr/>
      </p:nvGrpSpPr>
      <p:grpSpPr>
        <a:xfrm>
          <a:off x="0" y="0"/>
          <a:ext cx="0" cy="0"/>
          <a:chOff x="0" y="0"/>
          <a:chExt cx="0" cy="0"/>
        </a:xfrm>
      </p:grpSpPr>
      <p:sp>
        <p:nvSpPr>
          <p:cNvPr id="2552" name="Google Shape;2552;g3e54846f4b4_0_2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3" name="Google Shape;2553;g3e54846f4b4_0_23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frame. The single most important conceptual shift for developers moving from monoliths is partial failure: in a monolith a function call either returns or throws, synchronously, in-process. Across a network there is a whole spectrum of failure, including the worst kind — the call that hangs, or the one that succeeded on the server but whose response was lost, leaving the client unsure whether to retry. Emphasise that failures are correlated (one failure causes others) and that some failures are actively deceptive (gray failures). Land the bold point hard: we are not trying to prevent failure, we are trying to bound it and recover. This reframes everything that follows from 'how do we stop failures' to 'how do we contain and survive them.'</a:t>
            </a:r>
            <a:endParaRPr/>
          </a:p>
        </p:txBody>
      </p:sp>
      <p:sp>
        <p:nvSpPr>
          <p:cNvPr id="2554" name="Google Shape;2554;g3e54846f4b4_0_23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g3e54846f4b4_0_2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3" name="Google Shape;2563;g3e54846f4b4_0_23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map for the appendix. Three families. NETWORK failures: partition (nodes alive but unreachable) and split-brain (both sides act as leader). COMPONENT failures: partial (some deps fail) and gray (some degrade and are perceived differently by different observers). LOAD failures: amplification (a failure feeds on itself) and cascading (failure spreads to neighbours). Underneath sits the defensive toolkit — timeouts and deadlines, retry with backoff and jitter, circuit breakers, bulkheads (section 12), load shedding, fallback/degradation, quorum/consensus, Istio mesh policies, graceful shutdown (Appendix H), and observability (section 11). Every pattern addresses specific failure modes; the closing matrix maps which to which. Reconnect to the section-1 maxim: all management is risk management — you manage the distribution of failures, not their existence.</a:t>
            </a:r>
            <a:endParaRPr/>
          </a:p>
        </p:txBody>
      </p:sp>
      <p:sp>
        <p:nvSpPr>
          <p:cNvPr id="2564" name="Google Shape;2564;g3e54846f4b4_0_23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2" name="Shape 2572"/>
        <p:cNvGrpSpPr/>
        <p:nvPr/>
      </p:nvGrpSpPr>
      <p:grpSpPr>
        <a:xfrm>
          <a:off x="0" y="0"/>
          <a:ext cx="0" cy="0"/>
          <a:chOff x="0" y="0"/>
          <a:chExt cx="0" cy="0"/>
        </a:xfrm>
      </p:grpSpPr>
      <p:sp>
        <p:nvSpPr>
          <p:cNvPr id="2573" name="Google Shape;2573;g3e54846f4b4_0_23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4" name="Google Shape;2574;g3e54846f4b4_0_23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key teaching point: a partition is not a crash. Every node is healthy and running; the network between them is the thing that failed. This is what makes partitions so confusing to debug — every individual component looks fine. CAP theorem becomes concrete here: while partitioned, you choose to stay consistent (the minority side refuses writes, sacrificing availability) or available (both sides accept writes, sacrificing consistency, reconciling later). Most data systems let you tune this. Kubernetes itself uses etcd, which chooses consistency (the minority side of a control-plane partition stops accepting writes). Address with quorum/consensus, idempotent writes (so a retried write after heal is safe), and partition-tolerant design.</a:t>
            </a:r>
            <a:endParaRPr/>
          </a:p>
        </p:txBody>
      </p:sp>
      <p:sp>
        <p:nvSpPr>
          <p:cNvPr id="2575" name="Google Shape;2575;g3e54846f4b4_0_23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g3e54846f4b4_0_2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5" name="Google Shape;2585;g3e54846f4b4_0_2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Split-brain is the specific catastrophic outcome of a partition in a system that elects a leader or primary. Both sides lose contact, each assumes the other died, each promotes itself, and now you have two primaries accepting conflicting writes. On heal you have divergent state and no clean way to merge. The prevention is quorum: an action requires a majority (N/2 + 1) of nodes to agree, so a minority partition mathematically cannot act — it knows it is the minority and steps down. This is why cluster sizes are odd (3, 5, 7): to always have a clear majority. Fencing tokens (monotonically increasing IDs that let resources reject a stale leader's writes) and leases are complementary. etcd/Raft give the Kubernetes control plane this property out of the box.</a:t>
            </a:r>
            <a:endParaRPr/>
          </a:p>
        </p:txBody>
      </p:sp>
      <p:sp>
        <p:nvSpPr>
          <p:cNvPr id="2586" name="Google Shape;2586;g3e54846f4b4_0_2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g3e54846f4b4_0_2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6" name="Google Shape;2596;g3e54846f4b4_0_23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This is the slide for developers moving from monoliths. In a monolith, the order service and the inventory service are function calls in the same process — if one is 'down' the whole process is down. Distributed, the order service calls inventory (healthy), payment (down), and shipping (slow) and must make a per-dependency decision for each: use the healthy result, fall back or fail for the down one, time out and fall back for the slow one. The mistake that causes most production incidents is treating a remote call like a local one, with no timeout, no fallback and no circuit breaker, so a single down dependency hangs the caller. Address with per-call timeouts, per-dependency circuit breakers, fallbacks, and bulkheads. The next several slides are exactly these patterns, with code.</a:t>
            </a:r>
            <a:endParaRPr/>
          </a:p>
        </p:txBody>
      </p:sp>
      <p:sp>
        <p:nvSpPr>
          <p:cNvPr id="2597" name="Google Shape;2597;g3e54846f4b4_0_23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5" name="Shape 2605"/>
        <p:cNvGrpSpPr/>
        <p:nvPr/>
      </p:nvGrpSpPr>
      <p:grpSpPr>
        <a:xfrm>
          <a:off x="0" y="0"/>
          <a:ext cx="0" cy="0"/>
          <a:chOff x="0" y="0"/>
          <a:chExt cx="0" cy="0"/>
        </a:xfrm>
      </p:grpSpPr>
      <p:sp>
        <p:nvSpPr>
          <p:cNvPr id="2606" name="Google Shape;2606;g3e54846f4b4_0_2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7" name="Google Shape;2607;g3e54846f4b4_0_2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Gray failure is the failure mode that defeats naive health checking. The classic shape: a node is slow or dropping a fraction of requests, but its liveness probe (GET /healthz returning 200 from a trivial handler) still passes, so Kubernetes keeps it in rotation and the load balancer keeps sending it traffic. The system believes it is healthy; users experience errors and latency. This is 'differential observability' — the observer that matters (the client) sees something different from the observer that decides (the probe). The fixes are all about observing from the right vantage point: deep health checks that exercise real dependencies, RED metrics measured on live traffic, SLO burn-rate alerts, and, most important, Istio outlier detection, which ejects a host from the pool when it returns consecutive errors, regardless of what its health check claims. This ties directly to section 11.</a:t>
            </a:r>
            <a:endParaRPr/>
          </a:p>
        </p:txBody>
      </p:sp>
      <p:sp>
        <p:nvSpPr>
          <p:cNvPr id="2608" name="Google Shape;2608;g3e54846f4b4_0_23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g3e54846f4b4_0_2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8" name="Google Shape;2618;g3e54846f4b4_0_2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Amplification is a positive feedback loop: the system's own defensive behaviour (retrying) becomes the attack. Two compounding effects. First, retry multiplication across layers: if the gateway retries 3x, and it calls a service that retries 3x, which calls a service that retries 3x, one user request becomes 27 requests to the bottom of the stack. Second, synchronisation: every client that failed at the same moment retries at the same moment, creating a thundering herd. The result can be metastable — the system stays collapsed even after the original trigger is gone, because the retry load alone sustains the failure. Breaking it: exponential backoff with jitter (de-synchronise), retry budgets (cap retries to a small percentage of live traffic so they can never multiply unboundedly), retry at exactly one layer, and circuit breakers to stop the doomed calls entirely. This is the failure mode most often caused by well-intentioned resilience code.</a:t>
            </a:r>
            <a:endParaRPr/>
          </a:p>
        </p:txBody>
      </p:sp>
      <p:sp>
        <p:nvSpPr>
          <p:cNvPr id="2619" name="Google Shape;2619;g3e54846f4b4_0_23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7" name="Shape 2627"/>
        <p:cNvGrpSpPr/>
        <p:nvPr/>
      </p:nvGrpSpPr>
      <p:grpSpPr>
        <a:xfrm>
          <a:off x="0" y="0"/>
          <a:ext cx="0" cy="0"/>
          <a:chOff x="0" y="0"/>
          <a:chExt cx="0" cy="0"/>
        </a:xfrm>
      </p:grpSpPr>
      <p:sp>
        <p:nvSpPr>
          <p:cNvPr id="2628" name="Google Shape;2628;g3e54846f4b4_0_2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9" name="Google Shape;2629;g3e54846f4b4_0_23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Cascading failure is how a single slow dependency takes down an entire system. The mechanism: a slow database causes the calling service's request threads (or async tasks, or connection pool) to fill up waiting; with its resources exhausted, that service now fails or slows for all callers, not just the ones touching the database; its callers' resources then fill up waiting on it; and so on up the graph until the user-facing edge is down. The amplifiers are synchronous call chains and unbounded resources (unbounded queues, unbounded thread pools, no timeouts). Each defensive pattern breaks one link: timeouts stop threads blocking forever; bulkheads isolate the pool so the database calls can't consume all of it; circuit breakers stop calling the slow dependency entirely; load shedding rejects excess work at the edge before it propagates. This is the failure mode bulkheads (section 12) were invented for.</a:t>
            </a:r>
            <a:endParaRPr/>
          </a:p>
        </p:txBody>
      </p:sp>
      <p:sp>
        <p:nvSpPr>
          <p:cNvPr id="2630" name="Google Shape;2630;g3e54846f4b4_0_23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g3e54846f4b4_0_2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0" name="Google Shape;2640;g3e54846f4b4_0_23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toolkit overview before the deep dives. Each line names a pattern and the failure modes it defends against — this is the verbal version of the closing matrix. The thing to stress: no pattern is sufficient alone, and several patterns interact (retry without a circuit breaker amplifies; a circuit breaker without a fallback just fails faster; bulkheads without timeouts still let threads block within a pool). Production resilience is the composition of several of these, tuned together. What follows gives each its own diagram and per-language code so developers can implement them; the bold line flags that the platform-level pieces (Istio, shutdown, observability) sit underneath the application-level patterns.</a:t>
            </a:r>
            <a:endParaRPr/>
          </a:p>
        </p:txBody>
      </p:sp>
      <p:sp>
        <p:nvSpPr>
          <p:cNvPr id="2641" name="Google Shape;2641;g3e54846f4b4_0_23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g3e54846f4b4_0_2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0" name="Google Shape;2650;g3e54846f4b4_0_23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Two ideas. First, every remote call must have a timeout — the default in many HTTP clients is infinite, which is how a single slow dependency hangs a whole service. Second, deadline propagation: the original deadline (say 1000ms) travels with the request, and each hop subtracts the time it has used and passes the remainder downstream. When the remaining budget is too small to plausibly finish, the downstream fails immediately rather than starting work that will be thrown away. gRPC does this natively with deadlines; for HTTP you pass a deadline header and honour it. The waste this prevents is real: without it, your database spends 500ms on a query for a request the user abandoned 450ms ago, and that wasted work is exactly what tips an overloaded system over. The code that follows shows the language-specific mechanics.</a:t>
            </a:r>
            <a:endParaRPr/>
          </a:p>
        </p:txBody>
      </p:sp>
      <p:sp>
        <p:nvSpPr>
          <p:cNvPr id="2651" name="Google Shape;2651;g3e54846f4b4_0_23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g3e54846f4b4_0_2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1" name="Google Shape;2661;g3e54846f4b4_0_2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layers, from examples/26. The shared RestClient's request factory sets a 2-second connect and read timeout, so no call through it can hang. The deadline endpoint subtracts the edge's own overhead from the caller's budget, refuses at once when too little is left, and otherwise calls the backend with a client bounded by the remaining budget and the same number in the X-Deadline-Ms header, so the backend can refuse work it cannot finish.</a:t>
            </a:r>
            <a:endParaRPr/>
          </a:p>
        </p:txBody>
      </p:sp>
      <p:sp>
        <p:nvSpPr>
          <p:cNvPr id="2662" name="Google Shape;2662;g3e54846f4b4_0_23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1" name="Shape 2671"/>
        <p:cNvGrpSpPr/>
        <p:nvPr/>
      </p:nvGrpSpPr>
      <p:grpSpPr>
        <a:xfrm>
          <a:off x="0" y="0"/>
          <a:ext cx="0" cy="0"/>
          <a:chOff x="0" y="0"/>
          <a:chExt cx="0" cy="0"/>
        </a:xfrm>
      </p:grpSpPr>
      <p:sp>
        <p:nvSpPr>
          <p:cNvPr id="2672" name="Google Shape;2672;g3e54846f4b4_0_24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3" name="Google Shape;2673;g3e54846f4b4_0_24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Retry is the most abused resilience pattern because the naive version (retry immediately, a fixed number of times, at every layer) is precisely how you build the amplification storm described earlier. The correct version has four properties: exponential backoff (each retry waits longer: 100ms, 200ms, 400ms), jitter (add randomness so clients don't synchronise), a cap on both attempts and total time, and a retry budget (retries may never exceed, say, 10% of live traffic). And it only applies to idempotent operations — retrying a non-idempotent POST without an idempotency key can double-charge a customer. Always pair retry with a circuit breaker so that once a dependency is clearly down, you stop retrying entirely. The code that follows shows the idiomatic library for each language.</a:t>
            </a:r>
            <a:endParaRPr/>
          </a:p>
        </p:txBody>
      </p:sp>
      <p:sp>
        <p:nvSpPr>
          <p:cNvPr id="2674" name="Google Shape;2674;g3e54846f4b4_0_24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2" name="Shape 2682"/>
        <p:cNvGrpSpPr/>
        <p:nvPr/>
      </p:nvGrpSpPr>
      <p:grpSpPr>
        <a:xfrm>
          <a:off x="0" y="0"/>
          <a:ext cx="0" cy="0"/>
          <a:chOff x="0" y="0"/>
          <a:chExt cx="0" cy="0"/>
        </a:xfrm>
      </p:grpSpPr>
      <p:sp>
        <p:nvSpPr>
          <p:cNvPr id="2683" name="Google Shape;2683;g3e54846f4b4_0_2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4" name="Google Shape;2684;g3e54846f4b4_0_2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Resilience4j keeps the annotation on the method and the policy in application.properties: three attempts, waits starting at 100 ms and doubling up to 2 s, each randomised by up to half for jitter, and only a 5xx or an I/O failure is retried. The method counts its own invocations, which is how the example reports the number of attempts. Retry only idempotent calls, and pair the retry with a circuit breaker so a dependency that is clearly down stops receiving retries.</a:t>
            </a:r>
            <a:endParaRPr/>
          </a:p>
        </p:txBody>
      </p:sp>
      <p:sp>
        <p:nvSpPr>
          <p:cNvPr id="2685" name="Google Shape;2685;g3e54846f4b4_0_2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4" name="Shape 2694"/>
        <p:cNvGrpSpPr/>
        <p:nvPr/>
      </p:nvGrpSpPr>
      <p:grpSpPr>
        <a:xfrm>
          <a:off x="0" y="0"/>
          <a:ext cx="0" cy="0"/>
          <a:chOff x="0" y="0"/>
          <a:chExt cx="0" cy="0"/>
        </a:xfrm>
      </p:grpSpPr>
      <p:sp>
        <p:nvSpPr>
          <p:cNvPr id="2695" name="Google Shape;2695;g3e54846f4b4_0_2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6" name="Google Shape;2696;g3e54846f4b4_0_24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circuit breaker is the pattern that most directly stops cascading and amplification. Three states. CLOSED: calls pass through, failures are counted over a rolling window. When the failure ratio crosses the threshold, the breaker trips to OPEN: calls fail immediately without even attempting the downstream, which both gives a fast answer to the caller and gives the struggling dependency room to recover instead of being hammered. After a reset timeout the breaker goes HALF-OPEN: it allows a few trial calls; if they succeed it closes (recovered), if they fail it re-opens. Crucial details: one breaker per dependency (never a single global breaker), and pair it with a fallback so that an open breaker degrades gracefully rather than just erroring faster. Libraries differ per language; we show each next.</a:t>
            </a:r>
            <a:endParaRPr/>
          </a:p>
        </p:txBody>
      </p:sp>
      <p:sp>
        <p:nvSpPr>
          <p:cNvPr id="2697" name="Google Shape;2697;g3e54846f4b4_0_24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5" name="Shape 2705"/>
        <p:cNvGrpSpPr/>
        <p:nvPr/>
      </p:nvGrpSpPr>
      <p:grpSpPr>
        <a:xfrm>
          <a:off x="0" y="0"/>
          <a:ext cx="0" cy="0"/>
          <a:chOff x="0" y="0"/>
          <a:chExt cx="0" cy="0"/>
        </a:xfrm>
      </p:grpSpPr>
      <p:sp>
        <p:nvSpPr>
          <p:cNvPr id="2706" name="Google Shape;2706;g3e54846f4b4_0_24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7" name="Google Shape;2707;g3e54846f4b4_0_24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Resilience4j's @CircuitBreaker with a fallback method that receives the cause, so the response says why it fell back: circuit_open when the breaker refused the call without touching the backend, upstream_&lt;status&gt; or upstream_unreachable when the call itself failed. The breaker counts the last five calls; five failures out of five open it for ten seconds, after which two trial calls decide whether it closes. Use one named instance per dependency and never share a breaker between dependencies.</a:t>
            </a:r>
            <a:endParaRPr/>
          </a:p>
        </p:txBody>
      </p:sp>
      <p:sp>
        <p:nvSpPr>
          <p:cNvPr id="2708" name="Google Shape;2708;g3e54846f4b4_0_24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7" name="Shape 2717"/>
        <p:cNvGrpSpPr/>
        <p:nvPr/>
      </p:nvGrpSpPr>
      <p:grpSpPr>
        <a:xfrm>
          <a:off x="0" y="0"/>
          <a:ext cx="0" cy="0"/>
          <a:chOff x="0" y="0"/>
          <a:chExt cx="0" cy="0"/>
        </a:xfrm>
      </p:grpSpPr>
      <p:sp>
        <p:nvSpPr>
          <p:cNvPr id="2718" name="Google Shape;2718;g3e54846f4b4_0_24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9" name="Google Shape;2719;g3e54846f4b4_0_24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got full treatment in section 12, so here we just re-frame it in the failure-mode context and cross-reference. The key insight to land: a bulkhead bounds concurrency, but concurrency-bounding alone doesn't help if the bounded calls block forever — you must combine bulkhead (limit how many) with timeout (limit how long). Point back to section 12 for the per-language code (we don't repeat it here to save slides), and forward to the Istio slide for mesh-level bulkheading via connectionPool limits.</a:t>
            </a:r>
            <a:endParaRPr/>
          </a:p>
        </p:txBody>
      </p:sp>
      <p:sp>
        <p:nvSpPr>
          <p:cNvPr id="2720" name="Google Shape;2720;g3e54846f4b4_0_24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7" name="Shape 2727"/>
        <p:cNvGrpSpPr/>
        <p:nvPr/>
      </p:nvGrpSpPr>
      <p:grpSpPr>
        <a:xfrm>
          <a:off x="0" y="0"/>
          <a:ext cx="0" cy="0"/>
          <a:chOff x="0" y="0"/>
          <a:chExt cx="0" cy="0"/>
        </a:xfrm>
      </p:grpSpPr>
      <p:sp>
        <p:nvSpPr>
          <p:cNvPr id="2728" name="Google Shape;2728;g3e54846f4b4_0_2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9" name="Google Shape;2729;g3e54846f4b4_0_24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related patterns that often get skipped. Load shedding is counter-intuitive to engineers, because rejecting requests feels like giving up, but it is the difference between a system that degrades and one that collapses. The maths is simple: if you are at 120% of capacity and accept everything, everything is slow and timing out (0% goodput); if you shed the excess 20%, the 80% you accept is served well. Adaptive limiters do this automatically based on latency. Graceful degradation is the product-level decision about what to return when you can't return everything — it requires the product/design team's input on what's essential vs nice-to-have. The bold line ties shedding, breakers and fallback together as a system: stop accepting (shed), stop calling (break), return something useful (fall back).</a:t>
            </a:r>
            <a:endParaRPr/>
          </a:p>
        </p:txBody>
      </p:sp>
      <p:sp>
        <p:nvSpPr>
          <p:cNvPr id="2730" name="Google Shape;2730;g3e54846f4b4_0_24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g3e54846f4b4_0_24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9" name="Google Shape;2739;g3e54846f4b4_0_24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 the diagram notes. The service mesh gives you a large slice of the resilience toolkit without writing code in every service, in every language. VirtualService configures per-route timeouts and retries (with Envoy adding backoff and jitter automatically, and retryOn conditions controlling which failures are retried). DestinationRule configures connectionPool limits (mesh-level bulkheading) and outlierDetection — which is the mesh's answer to gray failure: it watches each host, and when one returns consecutive errors it ejects that host from the load-balancing pool for a cooldown period, regardless of what the host's own health check claims. That is exactly the gray-failure defence the health-check can't provide. The important discipline: don't double up. If Istio is retrying, don't also retry in the app (that's amplification). Decide where each concern lives — typically: timeouts and outlier detection at the mesh, business-aware retries and fallbacks in the app.</a:t>
            </a:r>
            <a:endParaRPr/>
          </a:p>
        </p:txBody>
      </p:sp>
      <p:sp>
        <p:nvSpPr>
          <p:cNvPr id="2740" name="Google Shape;2740;g3e54846f4b4_0_24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g3e54846f4b4_0_2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0" name="Google Shape;2750;g3e54846f4b4_0_24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21 lets Spring Boot's lifecycle carry the drain. A SmartLifecycle bean (DrainLifecycle) stops before the web server on the single SIGTERM: (1) it flips ShutdownState and publishes REFUSING_TRAFFIC, so the readiness group, which includes a drain HealthIndicator, answers /readyz with 503 and the Kubernetes readiness probe sees the pod go not-ready and stops routing, while /healthz stays 200; (2) it keeps the service serving for DRAIN_DELAY_SECONDS so the load balancer's removal propagates; (3) the web server's graceful shutdown stops accepting and drains in-flight HTTP within timeout-per-shutdown-phase (20 s); (4) the context closes the pool and the JVM exits with 143 (128 + SIGTERM). Appendix H covers the Kubernetes preStop + terminationGracePeriodSeconds side.</a:t>
            </a:r>
            <a:endParaRPr/>
          </a:p>
        </p:txBody>
      </p:sp>
      <p:sp>
        <p:nvSpPr>
          <p:cNvPr id="2751" name="Google Shape;2751;g3e54846f4b4_0_24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g3e54846f4b4_0_2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2" name="Google Shape;2762;g3e54846f4b4_0_2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 the appendix back to section 11. Each failure mode has characteristic signals, and you must instrument for them explicitly: a default dashboard of CPU and memory will not show you a gray failure or an amplification loop. The most important specific guidance: measure RED per dependency (so partial failures are visible), compare health-check status to real-traffic SLOs (so gray failures are visible), and watch request-rate vs user-action-rate (so amplification is visible). The sub-bullet is the workflow: the trace_id is what lets you pivot from 'something is wrong' (a metric) to 'here is the request that shows it' (a trace) to 'here is what failed' (the logs on that trace), the correlation story from section 11 applied to incident response.</a:t>
            </a:r>
            <a:endParaRPr/>
          </a:p>
        </p:txBody>
      </p:sp>
      <p:sp>
        <p:nvSpPr>
          <p:cNvPr id="2763" name="Google Shape;2763;g3e54846f4b4_0_2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0" name="Shape 2770"/>
        <p:cNvGrpSpPr/>
        <p:nvPr/>
      </p:nvGrpSpPr>
      <p:grpSpPr>
        <a:xfrm>
          <a:off x="0" y="0"/>
          <a:ext cx="0" cy="0"/>
          <a:chOff x="0" y="0"/>
          <a:chExt cx="0" cy="0"/>
        </a:xfrm>
      </p:grpSpPr>
      <p:sp>
        <p:nvSpPr>
          <p:cNvPr id="2771" name="Google Shape;2771;g3e54846f4b4_0_2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2" name="Google Shape;2772;g3e54846f4b4_0_2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synthesis slide — if the audience keeps one thing, keep this. Reading across a row tells you the portfolio of patterns that defend a given failure mode (e.g. cascading failure is addressed by timeouts, circuit breakers, bulkheads, load shedding, and graceful shutdown together). Reading down a column tells you what a given pattern buys you across failure modes. Two observations: first, quorum/consensus is the only real answer to split-brain; no amount of retrying or circuit-breaking helps when the problem is two leaders, so you need a majority rule. Second, almost every other cell is about assembling a portfolio — there is no single pattern that handles partial, gray, amplification and cascading failures; you layer timeouts, retries-with-budget, breakers, bulkheads, shedding and fallbacks, and you observe the result. Defence in depth, exactly as in the security section, applied to reliability.</a:t>
            </a:r>
            <a:endParaRPr/>
          </a:p>
        </p:txBody>
      </p:sp>
      <p:sp>
        <p:nvSpPr>
          <p:cNvPr id="2773" name="Google Shape;2773;g3e54846f4b4_0_2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1" name="Shape 2781"/>
        <p:cNvGrpSpPr/>
        <p:nvPr/>
      </p:nvGrpSpPr>
      <p:grpSpPr>
        <a:xfrm>
          <a:off x="0" y="0"/>
          <a:ext cx="0" cy="0"/>
          <a:chOff x="0" y="0"/>
          <a:chExt cx="0" cy="0"/>
        </a:xfrm>
      </p:grpSpPr>
      <p:sp>
        <p:nvSpPr>
          <p:cNvPr id="2782" name="Google Shape;2782;g3e54846f4b4_0_2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3" name="Google Shape;2783;g3e54846f4b4_0_2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appendix and, since it's the last appendix, effectively close the deck's technical content. The take-aways are the imperatives: design for partial failure, timeout everything, retry carefully, bound the blast radius, use quorum for consensus, split concerns between mesh and app, and observe from the client's perspective. The references are the canonical sources: the Google SRE book's cascading-failures and overload chapters are the single best free resource; Michael Nygard's 'Release It!' is where the circuit breaker and bulkhead patterns were named for software; the gRPC retry design (gRFC A6) writes retry policy, backoff with jitter and retry throttling down as a protocol; and the metastable failures paper (Bronson et al.) is the modern formalisation of amplification loops. Encourage the audience to read the SRE cascading-failures chapter as the next step.</a:t>
            </a:r>
            <a:endParaRPr/>
          </a:p>
        </p:txBody>
      </p:sp>
      <p:sp>
        <p:nvSpPr>
          <p:cNvPr id="2784" name="Google Shape;2784;g3e54846f4b4_0_2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adds the runtime switch that separates shipping code from releasing a feature. It is a deep-dive you keep open when you are about to roll something out gradually. The whole section is built on two CNCF, open-source projects - OpenFeature for the vendor-neutral SDK and flagd for the backend - so it runs on plain Kubernetes with no managed SaaS, like every other example in the book. The arc: why deploy is not release, the four kinds of flag, how evaluation works, the code to evaluate and target and roll out, flags as a control plane over patterns we already covered, and the lifecycle discipline that keeps flags from becoming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everything else work: deploying an artifact and releasing a feature are different events, and a flag is what splits them. The artifact ships to production with the new path turned off - a non-event, visible only in the deploy log. Releasing is then a runtime flag flip: on for one percent, then a wider cohort, then everyone, each step reversible by narrowing the flag rather than rolling back a deployment. This is what lets a team merge to main many times a day yet release on its own cadence, and it is the mechanism behind every canary and every safe cutover in the book. Rollback stops being a redeploy and becomes a config change measured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 covers four different tools, and conflating them is the root of most flag messes. They differ along two axes - how long the flag lives, and who decides to flip it. Release flags are temporary and developer-owned: they ship new code dark, ramp it, and are then removed. Experiment or A/B flags are temporary and data-owned: they split traffic across variants so a metric can be measured, and they require sticky assignment. Ops or kill-switch flags are long-lived and SRE-owned: a permanent control to disable a feature or dependency fast under load or incident. Permission or entitlement flags are long-lived and product-owned: they gate functionality by plan, tier, or region. The defaults differ too - a release flag fails off, so half-shipped code stays dark, while a kill-switch usually fails on, so the feature survives a flag-system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couple your code to a vendor. OpenFeature is the CNCF vendor-neutral API standard - one SDK surface across languages - and flagd is its lightweight open-source backend that evaluates flags from a file, ConfigMap, or synced source, in-cluster. Together they keep the whole feature-flag story open-source and running on plain Kubernetes, with no managed SaaS, and swapping flagd for another provider later is a configuration change, not a code change. Two properties matter most. First, evaluation returns the default if the provider is unreachable - a flag-system outage must never take the application down. Second, the SDK is vendor-neutral: the app calls getBooleanValue with a flag key, a default, and an evaluation context, and never names the backend. The context carries the targeting inputs - a stable key plus attributes like plan and region - that the rules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registered once at startup; from then on the application asks the client for a value. The crucial thing to notice is that the application code is the same one line regardless of whether the flag is a simple on/off, a per-plan entitlement, or a 5 percent rollout. All of that lives in the flag's configuration, not the code. The default is what gets returned if flagd is unreachable, so the new path stays dark on a flag-system outage rather than erroring. The targeting key is the user id, which is what makes a percentage rollout sticky. Across every language the shape is identical: register a flagd provider, get a client, build an evaluation context with a targeting key and attributes, and call getBooleanValue with a safe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live in flagd, changing who sees a feature never touches the application. A flag definition is a set of variants, a default, and a targeting expression. Two operators do most of the work: a conditional for segmentation - here, the enterprise plan always gets the new checkout, an entitlement - and the fractional operator for percentage rollouts, here splitting everyone else 25/75. The fractional operator buckets on the targeting key, which is what gives sticky assignment: the same user hashes to the same bucket every time. Ramping the rollout is editing the 25 upward; rolling back is editing it down - both take effect in the running fleet within flagd's sync interval, with no redeploy. A kill switch is the same file: set a flag's state to DISABLED and it stops evaluating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bucketing matters for two reasons. For a rollout, it prevents flicker - a user who got the new checkout on their first visit keeps getting it, rather than bouncing between variants on refresh. For an experiment, it is a correctness requirement: a user must stay in one arm of the test for the measurement to mean anything. The mechanism is simple - hash a stable key, the user id, into a bucket from 0 to 99, and compare it to the rollout threshold. Because the hash is stable, the same user always lands in the same bucket. Ramping the rollout is moving the threshold up; rolling back is moving it down, and both take effect in the running fleet within the sync interval with no deploy on the path of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the operational flag you reach for during an incident: wrap a risky or expensive dependency in a flag so it can be disabled instantly without a deploy. It is the human-driven complement to the circuit breaker from the Failure Modes appendix - the breaker trips automatically on errors; an operator flips the kill switch by hand. The default flips with the flag type: a release flag defaults off so half-shipped code stays dark, while this kill switch defaults true, fail-open, so the feature survives a flag-system outage and only an explicit flip removes it. When it is killed, the page still renders - just without the recommendations - which is graceful degradation, the same idea as the load-shedding discussion in the Failure Modes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are not a new subsystem so much as a runtime control plane over patterns already in this book. A canary is a percentage flag deciding which build a request exercises, often paired with the L7 routing from the routing appendix. A strangler-fig cutover is a flag, or the proxy's percentage, steering a widening slice from the monolith to the extracted service. A saga step can be guarded by a flag to switch a new compensation path on cautiously. And an experiment is a sticky-bucketed variant flag with a metric attached. Recognising flags as the control surface for all of these keeps you from building a bespoke mechanism for each - the same decoupling, expressed four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feature flags is not technical, it is organisational: flags that are never removed. Every flag is a branch in your code and a dimension in your test matrix, and a stale one is dead code, a hidden conditional, and a live risk surface that nobody remembers the meaning of. The discipline that keeps it healthy: give every release flag an owner and an expiry from the moment it is created, and treat removing it as part of finishing the feature, not optional cleanup. Long-lived ops and entitlement flags are exempt - they are permanent by design - which is exactly why distinguishing the four types matters. A short-lived flag that has been at 100 percent for two weeks should be deleted along with the branch it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multiplies the states your system can be in, so test both sides of every flag you depend on; a test suite that only exercises the default path will not catch a bug behind the flag. Keep the number of simultaneously interacting flags small, and default flags off in test environments unless a test sets them explicitly. Observability ties flags back to the Observability section: record the resolved variant as a span attribute and a metric label, so a latency or error change can be attributed to a specific flag and cohort. The recurring anti-patterns: using flags as a general configuration store - they are for release control, not for tuning timeouts; letting release flags become permanent; stacking many flags whose combinations no one reasons about; running experiments without sticky assignment, which makes the data meaningless; and putting real business logic inside flag rules instead of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Decouple deploy from release: ship dark, release gradually, roll back by narrowing a flag. Distinguish the four flag types, because they want different owners, defaults, and lifecycles. Evaluate through a vendor-neutral SDK against an open-source backend, always with a safe default so a flag outage cannot take the app down. Keep targeting and rollout rules in configuration, not code, and make percentage rollouts sticky. Treat release flags as debt with a removal ticket attached, and put the resolved variant on your telemetry so you can attribute a regression to a cohort. The canonical references are the OpenFeature specification and the flagd documentation, Pete Hodgson's Feature Toggles article for the taxonomy of flag types, and the Accelerate and DORA research for the deploy-versus-release distinction; Unleash is a capable open-source alternative backend behind the same OpenFeature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turns the Postman collections the team already pokes at by hand into an automated test gate, using Newman, Postman's command-line runner. It is a deep-dive you keep open when you are wiring API tests into CI. The key idea that makes it cheap: Newman tests the API as a black box over HTTP, so one collection is the conformance suite for every implementation in the book, and the only language-specific step is bringing the service under test up. The arc: why Newman, the anatomy of a collection, one collection against six backends, running it and shaping the output, data-driven cases, the CI gate on Docker Engine, and where Newman sits in the test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Postman collection is an executable contract, not just a saved list of requests. Newman runs it without the GUI and emits machine-readable results: a cli reporter for a human watching, a junit reporter that CI turns into a test report, and an html reporter to share. There is no new test framework to learn - the tests are the JavaScript assertions already supported inside Postman, and Newman is the bridge from works-when-I-click-it to verified-on-every-pull-request. The same file serves three audiences: a developer in Postman, a reviewer reading the tests, and a pipeline failing the build when an assertion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nests folders and requests; each request can carry a pre-request script, the HTTP call itself, and a block of tests that run against the response. The tests are small JavaScript blocks using Postman's pm API - asserting the status, the response time, the shape of the body. Environment variables supply the parts that change between runs, like the base URL and an auth token, resolved at run time. Storing a value from one response - a new order id - in a variable lets a later request chain off it, which is how a collection models a whole flow rather than isolated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request that creates an order and asserts on the result. The test block asserts a 201 Created, parses the body, asserts it carries an id, and stores that id in a collection variable so a later request - fetch, cancel, or pay for the order - can use it. Beyond status codes, a test can validate the response shape against a JSON Schema, which is how you turn the metadata and error-format work from earlier appendices into an enforced contract: assert that an error body matches the Problem Details schema rather than checking exact strings, so the test stays stable as data changes but still catches a removed field or a wrong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Newman exercises the API as a black box over HTTP, the collection does not know or care which language implements the service. The same collection is the conformance suite for every implementation in this book - point it at whichever service is running and the assertions are identical. The collection is the API specification made executable. Bringing the service under test up is the only language-specific step; the Newman command that follows is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per-language step is starting the service. Each implementation exposes the same HTTP API on the same port, so the base URL in the environment file is identical and the Newman command that follows does not change. That is the point of black-box testing: bring up Spring Boot, Quarkus, .NET, Python, C++ or Go, and run the same collection against it. In CI the services start with docker compose up -d --build --wait instead of a foreground command; locally, a background process and a newman run is the fastest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takes the collection and an environment file, and you choose reporters for the audience: cli for a human, junit for the XML CI turns into a report, htmlextra for a shareable page. --bail stops at the first failed assertion, which is what you usually want in a gate; drop it to see every failure in one run. A single set of requests can be run repeatedly over a table of inputs with --iteration-data, which is how you cover boundary values, bad input, and edge cases without duplicating requests - and the expected status can travel in the data too, so one request becomes a table of positive and negative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testing runs the same requests once per row of a CSV. The columns become variables in the requests, and a column can carry the expected status so a single assertion checks status against the row's expectation. This is how a handful of requests becomes broad coverage: the happy path, a zero-quantity order that must be rejected with a 422, an over-stock order that must also be rejected - all without copy-pasting requests. Keeping the cases in data rather than in duplicated requests is what makes the suite maintainable as the API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exits non-zero when any assertion fails, which is all a pipeline needs to gate a merge. The services come up on Docker Engine as they do locally, with no managed cloud, and Newman runs against them. The readiness poll matters: start testing only once the services report ready, using the readiness endpoint from the Observability and Graceful Shutdown material, or the first requests race the boot and fail spuriously. Upload the junit report as an artifact even on failure so the failing assertion is visible 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a pull request builds the image, docker compose brings the order, payment, and inventory services up, Newman runs the collection against them, and the result gates the merge: pass merges, fail blocks. The important property is parity: the stack in CI is the stack you run locally, on the same Docker Engine, so a green run in CI means the contract holds against the running services rather than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does not replace unit tests; it is the layer on top of them. It owns the API/contract tier: real HTTP against a running service, fast enough to run on every pull request. Keep the base of fast unit tests broad, use Newman for the contract and integration behaviour that only shows up over real HTTP, and reserve a thin layer of full end-to-end tests for the few user flows that need the whole system. Pushing everything into Newman makes a slow, brittle suite; ignoring it leaves the contract untested. Test the failure paths as carefully as the happy path: a 401 with WWW-Authenticate, a 403, a 409 or 422 on a business rule, a 429 with RateLimit headers, and idempotency by sending the same key twice. Those cases tie this appendix back to the error-format, security, idempotency, and rate-limiting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Treat the Postman collection as the executable specification of your API, and let Newman run it headlessly so the same assertions guard every change. Because Newman tests over HTTP, one collection is the conformance suite for all six implementations. Validate response shape against a schema, not just status codes; drive edge cases from data rather than duplicated requests; and assert the failure paths as carefully as the happy path. Wire it into CI on plain Docker Engine so the build fails on a broken contract, and keep Newman in its lane: the API/contract tier, on top of unit tests and under a thin end-to-end layer. The references are the Postman documentation and the Newman command-line documentation, and the Postman Learning Center guides on writing tests with the pm API and on JSON-schema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 takes Example 05, the event-driven fan-out, from docker compose to a single-node Kubernetes cluster on minikube, in all six languages, and records what changed. Compose proves the code; a cluster adds questions compose never asks: where configuration and credentials live, how a service finds a broker that an operator manages, what restarts a process that exits, and how a request from the host reaches a pod.</a:t>
            </a:r>
            <a:endParaRPr lang="en-US" dirty="0"/>
          </a:p>
          <a:p>
            <a:r>
              <a:rPr lang="en-US" dirty="0"/>
              <a:t>The arc: the runtime, the topology, the compose-to-Kubernetes mapping, one overlay per language, how images get into the node, how to run it, and the recorded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appendix covers and what it leaves out. The scope is one example on one node: one Kafka broker, one Postgres instance, no service mesh. High availability, network policy and autoscaling are outside it.</a:t>
            </a:r>
            <a:endParaRPr lang="en-US" dirty="0"/>
          </a:p>
          <a:p>
            <a:r>
              <a:rPr lang="en-US" dirty="0"/>
              <a:t>What it fixes is the contract between an application and its platform: the Service names, the Secret that holds the database credential, the environment variables each language reads, and the health endpoint. That contract is what carries over to any conformant Kubernetes cluster, and it is why the application code is unchanged.</a:t>
            </a:r>
            <a:endParaRPr lang="en-US" dirty="0"/>
          </a:p>
          <a:p>
            <a:r>
              <a:rPr lang="en-US" dirty="0"/>
              <a:t>The test is the one compose uses: verify.sh, ten checks, with its container operations switched to kubectl exec.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minikube runs the control plane and the workload in one container on Docker Engine, the same engine compose uses, with containerd as the container runtime inside the node. Kubernetes v1.36.5 matches the pinned kubectl, so client and server are the same version.</a:t>
            </a:r>
            <a:endParaRPr lang="en-US" dirty="0"/>
          </a:p>
          <a:p>
            <a:r>
              <a:rPr lang="en-US" dirty="0"/>
              <a:t>Host access uses two NodePorts published on the loopback address when the profile is created. Port-forwarding, minikube tunnel and minikube service are not used: forwarded connections drop under load and on idle, and a drop looks like a broken service. setup-profile.sh checks with docker port that both ports bind to 127.0.0.1.</a:t>
            </a:r>
            <a:endParaRPr lang="en-US" dirty="0"/>
          </a:p>
          <a:p>
            <a:r>
              <a:rPr lang="en-US" dirty="0"/>
              <a:t>The kubectl context never changes: every command names --context cndp-k8s, minikube start runs with --keep-context, and setup-profile.sh restores the prior context because minikube's restart path can override that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topology. The node container cndp-k8s holds two namespaces: strimzi runs the Strimzi operator, and cndp-05 runs order-service, the shipping and notification consumers, a single-node KRaft Kafka cluster, Postgres 18, the LGTM stack and the Postgres Secret.</a:t>
            </a:r>
            <a:endParaRPr lang="en-US" dirty="0"/>
          </a:p>
          <a:p>
            <a:r>
              <a:rPr lang="en-US" dirty="0"/>
              <a:t>From the host, curl and verify.sh reach order-service on 127.0.0.1:30080, a browser reaches Grafana on 127.0.0.1:30300, and kubectl exec runs the Kafka and Postgres checks inside their pods. Other minikube profiles stay stopped while this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compose element has a Kubernetes counterpart, and each counterpart changes something. Kafka becomes a Kafka resource that the Strimzi operator turns into a broker; the plain listener on port 9092 is in-cluster only. Postgres becomes a StatefulSet that mounts the same schema file compose mounts.</a:t>
            </a:r>
            <a:endParaRPr lang="en-US" dirty="0"/>
          </a:p>
          <a:p>
            <a:r>
              <a:rPr lang="en-US" dirty="0"/>
              <a:t>The demo credential moves out of every service's environment into one Secret. Only order-service has an HTTP surface, so it alone has startup and readiness probes, with a 150-second startup window for the JVM and .NET images. The consumers have no HTTP surface: the cluster restarts them if they exit, and they start from the earliest offset, so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Spring Boot overlay. The base Deployments are language-neutral: they run with a restricted security context (non-root, no privilege escalation, all capabilities dropped, RuntimeDefault seccomp, no fixed user ID), read PG_USER and PG_PASSWORD from the Secret, and point OTEL_EXPORTER_OTLP_ENDPOINT at the LGTM Service.</a:t>
            </a:r>
            <a:endParaRPr lang="en-US" dirty="0"/>
          </a:p>
          <a:p>
            <a:r>
              <a:rPr lang="en-US" dirty="0"/>
              <a:t>Each overlay maps the three image names to localhost/cndp-05/&lt;language&gt;-&lt;service&gt;:v1 and appends the variables that language already reads in compose, so the application code is untouched. Kubernetes expands $(PG_PASSWORD) only if PG_PASSWORD is defined earlier in the list, which is why the credential variables sit in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does not build images. Each service is built on the host with docker build, which keeps the host's BuildKit caches (a cold C++ build takes about half an hour), then copied into the node's containerd store with minikube image load.</a:t>
            </a:r>
            <a:endParaRPr lang="en-US" dirty="0"/>
          </a:p>
          <a:p>
            <a:r>
              <a:rPr lang="en-US" dirty="0"/>
              <a:t>The Deployments set imagePullPolicy: Never, so a missing image fails fast with ErrImageNeverPull instead of trying a registry that does not have it. Tags are always v1; nothing uses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from the example directory. setup-profile.sh creates the profile and refuses to start while another profile or a container is running. build-images.sh builds and loads the three Spring Boot images, and deploy.sh installs Strimzi, then Kafka, Postgres and LGTM, then the overlay.</a:t>
            </a:r>
            <a:endParaRPr lang="en-US" dirty="0"/>
          </a:p>
          <a:p>
            <a:r>
              <a:rPr lang="en-US" dirty="0"/>
              <a:t>verify.sh is the file compose uses. Its container operations go through helper functions, and RUNTIME=kubernetes swaps them: the Kafka checks run in pod cndp-dual-role-0 and the Postgres checks in cndp-postgres-0.</a:t>
            </a:r>
            <a:endParaRPr lang="en-US" dirty="0"/>
          </a:p>
          <a:p>
            <a:r>
              <a:rPr lang="en-US" dirty="0"/>
              <a:t>What to show: the ten check marks and the Results line, then Grafana on 127.0.0.1:30300. Fallback: the recorded results. teardown.sh never deletes the profile; minikube stop frees the memory and keeps the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2026-10-11: every language passed all ten checks with a fresh namespace per language. After each run, verify-matrix.sh asked Tempo through the lgtm pod which services had sent traces, and all three services reported in every language.</a:t>
            </a:r>
            <a:endParaRPr lang="en-US" dirty="0"/>
          </a:p>
          <a:p>
            <a:r>
              <a:rPr lang="en-US" dirty="0"/>
              <a:t>The scale-down check was run by hand: with the shipping consumer at zero replicas a new order produces no shipment; scaled back to one, the consumer group resumes from its last committed offset and the shipment appears. That is the event-driven contract from the Event-Driven section, observed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1.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4" Type="http://schemas.openxmlformats.org/officeDocument/2006/relationships/image" Target="../media/image1.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4" Type="http://schemas.openxmlformats.org/officeDocument/2006/relationships/image" Target="../media/image1.png"/><Relationship Id="rId5"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9.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4" Type="http://schemas.openxmlformats.org/officeDocument/2006/relationships/image" Target="../media/image1.png"/><Relationship Id="rId5"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9.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4" Type="http://schemas.openxmlformats.org/officeDocument/2006/relationships/image" Target="../media/image1.png"/><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4" Type="http://schemas.openxmlformats.org/officeDocument/2006/relationships/image" Target="../media/image1.png"/><Relationship Id="rId5"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5.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9.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7.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6.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4" Type="http://schemas.openxmlformats.org/officeDocument/2006/relationships/image" Target="../media/image1.png"/><Relationship Id="rId5"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4" Type="http://schemas.openxmlformats.org/officeDocument/2006/relationships/image" Target="../media/image1.png"/><Relationship Id="rId5"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8.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09.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4.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4" Type="http://schemas.openxmlformats.org/officeDocument/2006/relationships/image" Target="../media/image1.png"/><Relationship Id="rId5"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09.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97.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7.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09.png"/><Relationship Id="rId4"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92.pn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09.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75.png"/><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09.png"/><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51.png"/><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09.png"/><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86.png"/><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85.png"/><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1.png"/><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03.png"/><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9.png"/><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09.png"/><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06.png"/><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10.png"/><Relationship Id="rId4"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4" Type="http://schemas.openxmlformats.org/officeDocument/2006/relationships/image" Target="../media/image1.png"/><Relationship Id="rId5"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4" Type="http://schemas.openxmlformats.org/officeDocument/2006/relationships/image" Target="../media/image1.png"/><Relationship Id="rId5" Type="http://schemas.openxmlformats.org/officeDocument/2006/relationships/image" Target="../media/image2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22.png"/><Relationship Id="rId4"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30.png"/><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27.png"/><Relationship Id="rId4"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09.png"/><Relationship Id="rId4" Type="http://schemas.openxmlformats.org/officeDocument/2006/relationships/image" Target="../media/image1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4" Type="http://schemas.openxmlformats.org/officeDocument/2006/relationships/image" Target="../media/image1.png"/><Relationship Id="rId5" Type="http://schemas.openxmlformats.org/officeDocument/2006/relationships/image" Target="../media/image1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09.png"/><Relationship Id="rId4" Type="http://schemas.openxmlformats.org/officeDocument/2006/relationships/image" Target="../media/image1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09.png"/><Relationship Id="rId4" Type="http://schemas.openxmlformats.org/officeDocument/2006/relationships/image" Target="../media/image1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64.png"/><Relationship Id="rId4"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67.png"/><Relationship Id="rId4"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53.png"/><Relationship Id="rId4"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09.png"/><Relationship Id="rId4" Type="http://schemas.openxmlformats.org/officeDocument/2006/relationships/image" Target="../media/image1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61.png"/><Relationship Id="rId4"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76.png"/><Relationship Id="rId4"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89.png"/><Relationship Id="rId4"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09.png"/><Relationship Id="rId4" Type="http://schemas.openxmlformats.org/officeDocument/2006/relationships/image" Target="../media/image1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72.png"/><Relationship Id="rId4"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91.png"/><Relationship Id="rId4"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74.png"/><Relationship Id="rId4"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09.png"/><Relationship Id="rId4" Type="http://schemas.openxmlformats.org/officeDocument/2006/relationships/image" Target="../media/image10.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4" Type="http://schemas.openxmlformats.org/officeDocument/2006/relationships/image" Target="../media/image1.png"/><Relationship Id="rId5" Type="http://schemas.openxmlformats.org/officeDocument/2006/relationships/image" Target="../media/image2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98.png"/><Relationship Id="rId4"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201.png"/><Relationship Id="rId4"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86.png"/><Relationship Id="rId4"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4" Type="http://schemas.openxmlformats.org/officeDocument/2006/relationships/image" Target="../media/image1.png"/><Relationship Id="rId5" Type="http://schemas.openxmlformats.org/officeDocument/2006/relationships/image" Target="../media/image2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09.png"/><Relationship Id="rId4" Type="http://schemas.openxmlformats.org/officeDocument/2006/relationships/image" Target="../media/image1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214.png"/><Relationship Id="rId4"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95.png"/><Relationship Id="rId4"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200.png"/><Relationship Id="rId4"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07.png"/><Relationship Id="rId4"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209.png"/><Relationship Id="rId4"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211.png"/><Relationship Id="rId4"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09.png"/><Relationship Id="rId4" Type="http://schemas.openxmlformats.org/officeDocument/2006/relationships/image" Target="../media/image10.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18.png"/><Relationship Id="rId4"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219.png"/><Relationship Id="rId4"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225.png"/><Relationship Id="rId4"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09.png"/><Relationship Id="rId4" Type="http://schemas.openxmlformats.org/officeDocument/2006/relationships/image" Target="../media/image10.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231.png"/><Relationship Id="rId4"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234.png"/><Relationship Id="rId4"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4" Type="http://schemas.openxmlformats.org/officeDocument/2006/relationships/image" Target="../media/image1.png"/><Relationship Id="rId5" Type="http://schemas.openxmlformats.org/officeDocument/2006/relationships/image" Target="../media/image3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109.png"/><Relationship Id="rId4" Type="http://schemas.openxmlformats.org/officeDocument/2006/relationships/image" Target="../media/image10.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281.png"/><Relationship Id="rId4"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56.png"/><Relationship Id="rId4"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09.png"/><Relationship Id="rId4" Type="http://schemas.openxmlformats.org/officeDocument/2006/relationships/image" Target="../media/image10.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255.png"/><Relationship Id="rId4"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4" Type="http://schemas.openxmlformats.org/officeDocument/2006/relationships/image" Target="../media/image1.png"/><Relationship Id="rId5" Type="http://schemas.openxmlformats.org/officeDocument/2006/relationships/image" Target="../media/image27.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4" Type="http://schemas.openxmlformats.org/officeDocument/2006/relationships/image" Target="../media/image1.png"/><Relationship Id="rId5" Type="http://schemas.openxmlformats.org/officeDocument/2006/relationships/image" Target="../media/image15.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268.png"/><Relationship Id="rId4"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270.png"/><Relationship Id="rId4"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278.png"/><Relationship Id="rId4"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37.png"/><Relationship Id="rId4"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4" Type="http://schemas.openxmlformats.org/officeDocument/2006/relationships/image" Target="../media/image1.png"/><Relationship Id="rId5" Type="http://schemas.openxmlformats.org/officeDocument/2006/relationships/image" Target="../media/image17.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09.png"/><Relationship Id="rId4" Type="http://schemas.openxmlformats.org/officeDocument/2006/relationships/image" Target="../media/image10.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05.png"/><Relationship Id="rId4"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297.png"/><Relationship Id="rId4"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298.png"/><Relationship Id="rId4"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301.png"/><Relationship Id="rId4"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09.png"/><Relationship Id="rId4"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306.png"/><Relationship Id="rId4"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4" Type="http://schemas.openxmlformats.org/officeDocument/2006/relationships/image" Target="../media/image1.png"/><Relationship Id="rId5" Type="http://schemas.openxmlformats.org/officeDocument/2006/relationships/image" Target="../media/image19.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320.png"/><Relationship Id="rId4"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109.png"/><Relationship Id="rId4" Type="http://schemas.openxmlformats.org/officeDocument/2006/relationships/image" Target="../media/image10.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328.png"/><Relationship Id="rId4"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22.png"/><Relationship Id="rId4"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25.png"/><Relationship Id="rId4"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327.png"/><Relationship Id="rId4"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330.png"/><Relationship Id="rId4"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374.png"/><Relationship Id="rId4"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3"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109.png"/><Relationship Id="rId4" Type="http://schemas.openxmlformats.org/officeDocument/2006/relationships/image" Target="../media/image10.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4" Type="http://schemas.openxmlformats.org/officeDocument/2006/relationships/image" Target="../media/image1.png"/><Relationship Id="rId5" Type="http://schemas.openxmlformats.org/officeDocument/2006/relationships/image" Target="../media/image20.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344.png"/><Relationship Id="rId4"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342.png"/><Relationship Id="rId4"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346.png"/><Relationship Id="rId4"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4" Type="http://schemas.openxmlformats.org/officeDocument/2006/relationships/image" Target="../media/image1.png"/><Relationship Id="rId5" Type="http://schemas.openxmlformats.org/officeDocument/2006/relationships/image" Target="../media/image30.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355.png"/><Relationship Id="rId4"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376.png"/><Relationship Id="rId4"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353.png"/><Relationship Id="rId4"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359.png"/><Relationship Id="rId4"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363.png"/><Relationship Id="rId4"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368.png"/><Relationship Id="rId4"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 Id="rId3"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 Id="rId3"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 Id="rId3" Type="http://schemas.openxmlformats.org/officeDocument/2006/relationships/image" Target="../media/image371.png"/><Relationship Id="rId4"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 Id="rId3"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image" Target="../media/image377.png"/><Relationship Id="rId2" Type="http://schemas.openxmlformats.org/officeDocument/2006/relationships/image" Target="../media/image378.png"/><Relationship Id="rId3" Type="http://schemas.openxmlformats.org/officeDocument/2006/relationships/slideLayout" Target="../slideLayouts/slideLayout1.xml"/><Relationship Id="rId4"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379.png"/><Relationship Id="rId2" Type="http://schemas.openxmlformats.org/officeDocument/2006/relationships/image" Target="../media/image380.png"/><Relationship Id="rId3" Type="http://schemas.openxmlformats.org/officeDocument/2006/relationships/slideLayout" Target="../slideLayouts/slideLayout1.xml"/><Relationship Id="rId4"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383.png"/><Relationship Id="rId2" Type="http://schemas.openxmlformats.org/officeDocument/2006/relationships/image" Target="../media/image384.png"/><Relationship Id="rId3" Type="http://schemas.openxmlformats.org/officeDocument/2006/relationships/slideLayout" Target="../slideLayouts/slideLayout1.xml"/><Relationship Id="rId4"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385.png"/><Relationship Id="rId2" Type="http://schemas.openxmlformats.org/officeDocument/2006/relationships/slideLayout" Target="../slideLayouts/slideLayout1.xml"/><Relationship Id="rId3"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386.png"/><Relationship Id="rId2" Type="http://schemas.openxmlformats.org/officeDocument/2006/relationships/slideLayout" Target="../slideLayouts/slideLayout1.xml"/><Relationship Id="rId3"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387.png"/><Relationship Id="rId2" Type="http://schemas.openxmlformats.org/officeDocument/2006/relationships/image" Target="../media/image388.png"/><Relationship Id="rId3" Type="http://schemas.openxmlformats.org/officeDocument/2006/relationships/slideLayout" Target="../slideLayouts/slideLayout1.xml"/><Relationship Id="rId4"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389.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390.png"/><Relationship Id="rId2"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392.png"/><Relationship Id="rId2" Type="http://schemas.openxmlformats.org/officeDocument/2006/relationships/image" Target="../media/image393.png"/><Relationship Id="rId3" Type="http://schemas.openxmlformats.org/officeDocument/2006/relationships/slideLayout" Target="../slideLayouts/slideLayout1.xml"/><Relationship Id="rId4"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394.png"/><Relationship Id="rId2" Type="http://schemas.openxmlformats.org/officeDocument/2006/relationships/slideLayout" Target="../slideLayouts/slideLayout1.xml"/><Relationship Id="rId3"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395.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396.png"/><Relationship Id="rId2" Type="http://schemas.openxmlformats.org/officeDocument/2006/relationships/image" Target="../media/image397.png"/><Relationship Id="rId3" Type="http://schemas.openxmlformats.org/officeDocument/2006/relationships/slideLayout" Target="../slideLayouts/slideLayout1.xml"/><Relationship Id="rId4"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image" Target="../media/image398.png"/><Relationship Id="rId2" Type="http://schemas.openxmlformats.org/officeDocument/2006/relationships/image" Target="../media/image399.png"/><Relationship Id="rId3" Type="http://schemas.openxmlformats.org/officeDocument/2006/relationships/slideLayout" Target="../slideLayouts/slideLayout1.xml"/><Relationship Id="rId4"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400.png"/><Relationship Id="rId2"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402.png"/><Relationship Id="rId2" Type="http://schemas.openxmlformats.org/officeDocument/2006/relationships/slideLayout" Target="../slideLayouts/slideLayout1.xml"/><Relationship Id="rId3"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403.png"/><Relationship Id="rId3" Type="http://schemas.openxmlformats.org/officeDocument/2006/relationships/slideLayout" Target="../slideLayouts/slideLayout1.xml"/><Relationship Id="rId4" Type="http://schemas.openxmlformats.org/officeDocument/2006/relationships/notesSlide" Target="../notesSlides/notesSlide269.xml"/><Relationship Id="rId5" Type="http://schemas.openxmlformats.org/officeDocument/2006/relationships/image" Target="../media/image2.png"/></Relationships>
</file>

<file path=ppt/slides/_rels/slide270.xml.rels><?xml version='1.0' encoding='UTF-8' standalone='yes'?>
<Relationships xmlns="http://schemas.openxmlformats.org/package/2006/relationships"><Relationship Id="rId1" Type="http://schemas.openxmlformats.org/officeDocument/2006/relationships/image" Target="../media/image405.png"/><Relationship Id="rId2" Type="http://schemas.openxmlformats.org/officeDocument/2006/relationships/slideLayout" Target="../slideLayouts/slideLayout1.xml"/><Relationship Id="rId3"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image" Target="../media/image406.png"/><Relationship Id="rId2" Type="http://schemas.openxmlformats.org/officeDocument/2006/relationships/slideLayout" Target="../slideLayouts/slideLayout1.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407.png"/><Relationship Id="rId2" Type="http://schemas.openxmlformats.org/officeDocument/2006/relationships/image" Target="../media/image408.png"/><Relationship Id="rId3" Type="http://schemas.openxmlformats.org/officeDocument/2006/relationships/slideLayout" Target="../slideLayouts/slideLayout1.xml"/><Relationship Id="rId4"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image" Target="../media/image409.png"/><Relationship Id="rId2" Type="http://schemas.openxmlformats.org/officeDocument/2006/relationships/slideLayout" Target="../slideLayouts/slideLayout1.xml"/><Relationship Id="rId3"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image" Target="../media/image410.png"/><Relationship Id="rId3" Type="http://schemas.openxmlformats.org/officeDocument/2006/relationships/slideLayout" Target="../slideLayouts/slideLayout1.xml"/><Relationship Id="rId4" Type="http://schemas.openxmlformats.org/officeDocument/2006/relationships/notesSlide" Target="../notesSlides/notesSlide274.xml"/><Relationship Id="rId5" Type="http://schemas.openxmlformats.org/officeDocument/2006/relationships/image" Target="../media/image3.png"/></Relationships>
</file>

<file path=ppt/slides/_rels/slide275.xml.rels><?xml version='1.0' encoding='UTF-8' standalone='yes'?>
<Relationships xmlns="http://schemas.openxmlformats.org/package/2006/relationships"><Relationship Id="rId1" Type="http://schemas.openxmlformats.org/officeDocument/2006/relationships/image" Target="../media/image412.png"/><Relationship Id="rId2" Type="http://schemas.openxmlformats.org/officeDocument/2006/relationships/image" Target="../media/image413.png"/><Relationship Id="rId3" Type="http://schemas.openxmlformats.org/officeDocument/2006/relationships/slideLayout" Target="../slideLayouts/slideLayout1.xml"/><Relationship Id="rId4"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image" Target="../media/image414.png"/><Relationship Id="rId2" Type="http://schemas.openxmlformats.org/officeDocument/2006/relationships/slideLayout" Target="../slideLayouts/slideLayout1.xml"/><Relationship Id="rId3"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6.png"/><Relationship Id="rId3" Type="http://schemas.openxmlformats.org/officeDocument/2006/relationships/image" Target="../media/image397.png"/><Relationship Id="rId4"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4.png"/><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4.png"/><Relationship Id="rId3"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0.png"/><Relationship Id="rId4" Type="http://schemas.openxmlformats.org/officeDocument/2006/relationships/notesSlide" Target="../notesSlides/notesSlide280.xml"/><Relationship Id="rId5" Type="http://schemas.openxmlformats.org/officeDocument/2006/relationships/image" Target="../media/image28.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4.png"/><Relationship Id="rId3"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5.png"/><Relationship Id="rId3"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0.png"/><Relationship Id="rId4" Type="http://schemas.openxmlformats.org/officeDocument/2006/relationships/notesSlide" Target="../notesSlides/notesSlide283.xml"/><Relationship Id="rId5" Type="http://schemas.openxmlformats.org/officeDocument/2006/relationships/image" Target="../media/image29.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5.png"/><Relationship Id="rId3"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4.png"/><Relationship Id="rId3" Type="http://schemas.openxmlformats.org/officeDocument/2006/relationships/notesSlide" Target="../notesSlides/notesSlide28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home/claude/work/assets/rh-title-bg.png" id="16" name="Google Shape;16;p3"/>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17" name="Google Shape;17;p3"/>
          <p:cNvSpPr/>
          <p:nvPr/>
        </p:nvSpPr>
        <p:spPr>
          <a:xfrm>
            <a:off x="5486400" y="1810512"/>
            <a:ext cx="63093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300"/>
              <a:buFont typeface="Red Hat Text"/>
              <a:buNone/>
            </a:pPr>
            <a:r>
              <a:rPr b="1" i="0" lang="en-US" sz="1300" u="none" cap="none" strike="noStrike">
                <a:solidFill>
                  <a:srgbClr val="EE0000"/>
                </a:solidFill>
                <a:latin typeface="Red Hat Text"/>
                <a:ea typeface="Red Hat Text"/>
                <a:cs typeface="Red Hat Text"/>
                <a:sym typeface="Red Hat Text"/>
              </a:rPr>
              <a:t>CLOUD-NATIVE ARCHITECTURE</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40680" y="2212848"/>
            <a:ext cx="6355200" cy="1691700"/>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Designing</a:t>
            </a:r>
            <a:endParaRPr b="0" i="0" sz="44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Cloud-Native APIs</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486400" y="4023360"/>
            <a:ext cx="6126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500"/>
              <a:buFont typeface="Red Hat Text"/>
              <a:buNone/>
            </a:pPr>
            <a:r>
              <a:rPr b="0" i="1" lang="en-US" sz="1500" u="none" cap="none" strike="noStrike">
                <a:solidFill>
                  <a:srgbClr val="5A5A5A"/>
                </a:solidFill>
                <a:latin typeface="Red Hat Text"/>
                <a:ea typeface="Red Hat Text"/>
                <a:cs typeface="Red Hat Text"/>
                <a:sym typeface="Red Hat Text"/>
              </a:rPr>
              <a:t>From principles to a running system on Kubernetes — communication, composition, data, events, and the platform that governs them.</a:t>
            </a:r>
            <a:endParaRPr b="0" i="0" sz="1500" u="none" cap="none" strike="noStrike">
              <a:solidFill>
                <a:schemeClr val="dk1"/>
              </a:solidFill>
              <a:latin typeface="Calibri"/>
              <a:ea typeface="Calibri"/>
              <a:cs typeface="Calibri"/>
              <a:sym typeface="Calibri"/>
            </a:endParaRPr>
          </a:p>
        </p:txBody>
      </p:sp>
      <p:pic>
        <p:nvPicPr>
          <p:cNvPr descr="/home/claude/work/assets/rh-logo.png" id="20" name="Google Shape;20;p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
        <p:nvSpPr>
          <p:cNvPr id="21" name="Google Shape;21;p3"/>
          <p:cNvSpPr/>
          <p:nvPr/>
        </p:nvSpPr>
        <p:spPr>
          <a:xfrm>
            <a:off x="5558082" y="5103435"/>
            <a:ext cx="64005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51515"/>
              </a:buClr>
              <a:buSzPts val="1300"/>
              <a:buFont typeface="Red Hat Text"/>
              <a:buNone/>
            </a:pPr>
            <a:r>
              <a:rPr b="1" lang="en-US" sz="1300">
                <a:solidFill>
                  <a:srgbClr val="151515"/>
                </a:solidFill>
                <a:latin typeface="Red Hat Text"/>
                <a:ea typeface="Red Hat Text"/>
                <a:cs typeface="Red Hat Text"/>
                <a:sym typeface="Red Hat Text"/>
              </a:rPr>
              <a:t>Robert Sedor</a:t>
            </a:r>
            <a:endParaRPr sz="1300">
              <a:solidFill>
                <a:srgbClr val="000000"/>
              </a:solidFill>
              <a:latin typeface="Calibri"/>
              <a:ea typeface="Calibri"/>
              <a:cs typeface="Calibri"/>
              <a:sym typeface="Calibri"/>
            </a:endParaRPr>
          </a:p>
          <a:p>
            <a:pPr indent="0" lvl="0" marL="0" rtl="0" algn="l">
              <a:spcBef>
                <a:spcPts val="0"/>
              </a:spcBef>
              <a:spcAft>
                <a:spcPts val="0"/>
              </a:spcAft>
              <a:buClr>
                <a:srgbClr val="5A5A5A"/>
              </a:buClr>
              <a:buSzPts val="1150"/>
              <a:buFont typeface="Red Hat Text"/>
              <a:buNone/>
            </a:pPr>
            <a:r>
              <a:rPr lang="en-US" sz="1150">
                <a:solidFill>
                  <a:srgbClr val="5A5A5A"/>
                </a:solidFill>
                <a:latin typeface="Red Hat Text"/>
                <a:ea typeface="Red Hat Text"/>
                <a:cs typeface="Red Hat Text"/>
                <a:sym typeface="Red Hat Text"/>
              </a:rPr>
              <a:t>Chief Architect, Application Development</a:t>
            </a:r>
            <a:endParaRPr b="1" sz="1500">
              <a:solidFill>
                <a:srgbClr val="151515"/>
              </a:solidFill>
              <a:latin typeface="Red Hat Text"/>
              <a:ea typeface="Red Hat Text"/>
              <a:cs typeface="Red Hat Text"/>
              <a:sym typeface="Red Hat Tex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AGENDA</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Agenda</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66928" y="1600200"/>
            <a:ext cx="54864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Setting up · Patterns in the age of AI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01 · Cloud-Native Principles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02 · Communications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03 · Composition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04 ·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05 ·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06 · Stream Processing</a:t>
            </a:r>
            <a:endParaRPr b="0" i="0" sz="1700" u="none" cap="none" strike="noStrike">
              <a:solidFill>
                <a:schemeClr val="dk1"/>
              </a:solidFill>
              <a:latin typeface="Calibri"/>
              <a:ea typeface="Calibri"/>
              <a:cs typeface="Calibri"/>
              <a:sym typeface="Calibri"/>
            </a:endParaRPr>
          </a:p>
        </p:txBody>
      </p:sp>
      <p:sp>
        <p:nvSpPr>
          <p:cNvPr id="30" name="Google Shape;30;p4"/>
          <p:cNvSpPr/>
          <p:nvPr/>
        </p:nvSpPr>
        <p:spPr>
          <a:xfrm>
            <a:off x="6419088" y="1589592"/>
            <a:ext cx="5486400" cy="468878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07 · Workflows &amp; Jobs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08 · API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09 · API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10 · API Metadata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11 ·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12 · Security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13 · Anti-Patterns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A–D · Protocols, Versioning, WebSockets,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E–I · Errors, DDD, Coupling, Shutdown, L7 Routing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K–L · Monolith → Microservices, Caching 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M–O · Failure modes, Feature Flags, API Testing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Appendix R · Example 05 on minikube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Glossary of acronyms</a:t>
            </a:r>
            <a:endParaRPr b="0" i="0" sz="1700" u="none" cap="none" strike="noStrike">
              <a:solidFill>
                <a:schemeClr val="dk1"/>
              </a:solidFill>
              <a:latin typeface="Calibri"/>
              <a:ea typeface="Calibri"/>
              <a:cs typeface="Calibri"/>
              <a:sym typeface="Calibri"/>
            </a:endParaRPr>
          </a:p>
        </p:txBody>
      </p:sp>
      <p:sp>
        <p:nvSpPr>
          <p:cNvPr id="31" name="Google Shape;31;p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a:t>
            </a:r>
            <a:endParaRPr b="0" i="0" sz="1000" u="none" cap="none" strike="noStrike">
              <a:solidFill>
                <a:schemeClr val="dk1"/>
              </a:solidFill>
              <a:latin typeface="Calibri"/>
              <a:ea typeface="Calibri"/>
              <a:cs typeface="Calibri"/>
              <a:sym typeface="Calibri"/>
            </a:endParaRPr>
          </a:p>
        </p:txBody>
      </p:sp>
      <p:pic>
        <p:nvPicPr>
          <p:cNvPr descr="/home/claude/work/assets/rh-logo.png" id="32" name="Google Shape;32;p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OVERVIEW</a:t>
            </a:r>
            <a:endParaRPr b="0" i="0" sz="1200" u="none" cap="none" strike="noStrike">
              <a:solidFill>
                <a:schemeClr val="dk1"/>
              </a:solidFill>
              <a:latin typeface="Calibri"/>
              <a:ea typeface="Calibri"/>
              <a:cs typeface="Calibri"/>
              <a:sym typeface="Calibri"/>
            </a:endParaRPr>
          </a:p>
        </p:txBody>
      </p:sp>
      <p:sp>
        <p:nvSpPr>
          <p:cNvPr id="39" name="Google Shape;39;p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we'll build, and the order we'll build it</a:t>
            </a:r>
            <a:endParaRPr b="0" i="0" sz="3000" u="none" cap="none" strike="noStrike">
              <a:solidFill>
                <a:schemeClr val="dk1"/>
              </a:solidFill>
              <a:latin typeface="Calibri"/>
              <a:ea typeface="Calibri"/>
              <a:cs typeface="Calibri"/>
              <a:sym typeface="Calibri"/>
            </a:endParaRPr>
          </a:p>
        </p:txBody>
      </p:sp>
      <p:sp>
        <p:nvSpPr>
          <p:cNvPr id="40" name="Google Shape;40;p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Foundations — cloud-native principles and the canonical system we carry throughout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Communications — REST, gRPC, GraphQL, and synchronous vs. asynchronous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Composition &amp; Data — gateways, federation, database-per-service, outbox,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Event-driven &amp; Stream processing — the log, schemas, derived streams, KEDA scaling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Workflows &amp; Jobs — orchestration, choreography, batch and scheduled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API platform — gateway, registry (Apicurio), metadata (OpenMetadata),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Anti-patterns — and the heuristics that keep you out of them</a:t>
            </a:r>
            <a:endParaRPr b="0" i="0" sz="1700" u="none" cap="none" strike="noStrike">
              <a:solidFill>
                <a:schemeClr val="dk1"/>
              </a:solidFill>
              <a:latin typeface="Calibri"/>
              <a:ea typeface="Calibri"/>
              <a:cs typeface="Calibri"/>
              <a:sym typeface="Calibri"/>
            </a:endParaRPr>
          </a:p>
        </p:txBody>
      </p:sp>
      <p:sp>
        <p:nvSpPr>
          <p:cNvPr id="41" name="Google Shape;41;p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home/claude/work/assets/rh-logo.png" id="42" name="Google Shape;42;p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49" name="Google Shape;49;p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patterns matter more in the age of AI</a:t>
            </a:r>
            <a:endParaRPr b="0" i="0" sz="3000" u="none" cap="none" strike="noStrike">
              <a:solidFill>
                <a:schemeClr val="dk1"/>
              </a:solidFill>
              <a:latin typeface="Calibri"/>
              <a:ea typeface="Calibri"/>
              <a:cs typeface="Calibri"/>
              <a:sym typeface="Calibri"/>
            </a:endParaRPr>
          </a:p>
        </p:txBody>
      </p:sp>
      <p:sp>
        <p:nvSpPr>
          <p:cNvPr id="50" name="Google Shape;50;p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AI tooling (Claude, Claude Code, frontier models) turns intent into code at a rate that was not possible before. The bottleneck shifted: it's no longer typing, it's knowing what to ask for and what to accept.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Patterns are your vocabulary at three layers: design patterns (factory, strategy, observer), architecture patterns (hexagonal, microservices, event-driven), system design patterns (sagas, caching, strangler fig — the scope of this deck).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Without that vocabulary you can't specify precisely, can't evaluate what comes back, can't tell good code from plausible-looking code, or notice when an anti-pattern is dressed as a solution. The AI is fluent; you still need to be literate.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architecture is the least-worst decision — every choice trades something away.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management is risk management — you manage the distribution of failures, not their existence.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such thing as a free lunch — every pattern has a cost; ask whether you can afford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problem which cannot be made worse — the wrong fix amplifies the original pain.</a:t>
            </a:r>
            <a:endParaRPr b="0" i="0" sz="1700" u="none" cap="none" strike="noStrike">
              <a:solidFill>
                <a:schemeClr val="dk1"/>
              </a:solidFill>
              <a:latin typeface="Calibri"/>
              <a:ea typeface="Calibri"/>
              <a:cs typeface="Calibri"/>
              <a:sym typeface="Calibri"/>
            </a:endParaRPr>
          </a:p>
        </p:txBody>
      </p:sp>
      <p:sp>
        <p:nvSpPr>
          <p:cNvPr id="51" name="Google Shape;51;p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home/claude/work/assets/rh-logo.png" id="52" name="Google Shape;52;p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layers of patterns literacy</a:t>
            </a:r>
            <a:endParaRPr b="0" i="0" sz="3000" u="none" cap="none" strike="noStrike">
              <a:solidFill>
                <a:schemeClr val="dk1"/>
              </a:solidFill>
              <a:latin typeface="Calibri"/>
              <a:ea typeface="Calibri"/>
              <a:cs typeface="Calibri"/>
              <a:sym typeface="Calibri"/>
            </a:endParaRPr>
          </a:p>
        </p:txBody>
      </p:sp>
      <p:pic>
        <p:nvPicPr>
          <p:cNvPr descr="/home/claude/work/png-sb/00-patterns-literacy-stack.png" id="60" name="Google Shape;60;p7"/>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61" name="Google Shape;61;p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home/claude/work/assets/rh-logo.png" id="62" name="Google Shape;62;p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THE RUNNING EXAMPLE</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system, carried end to end</a:t>
            </a:r>
            <a:endParaRPr b="0" i="0" sz="3000" u="none" cap="none" strike="noStrike">
              <a:solidFill>
                <a:schemeClr val="dk1"/>
              </a:solidFill>
              <a:latin typeface="Calibri"/>
              <a:ea typeface="Calibri"/>
              <a:cs typeface="Calibri"/>
              <a:sym typeface="Calibri"/>
            </a:endParaRPr>
          </a:p>
        </p:txBody>
      </p:sp>
      <p:pic>
        <p:nvPicPr>
          <p:cNvPr descr="/home/claude/work/png-sb/02-canonical-system.png" id="70" name="Google Shape;70;p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71" name="Google Shape;71;p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We will design every concern against these five services and a gateway — the same example, re-examined from each angle.</a:t>
            </a:r>
            <a:endParaRPr b="0" i="0" sz="1200" u="none" cap="none" strike="noStrike">
              <a:solidFill>
                <a:schemeClr val="dk1"/>
              </a:solidFill>
              <a:latin typeface="Calibri"/>
              <a:ea typeface="Calibri"/>
              <a:cs typeface="Calibri"/>
              <a:sym typeface="Calibri"/>
            </a:endParaRPr>
          </a:p>
        </p:txBody>
      </p:sp>
      <p:sp>
        <p:nvSpPr>
          <p:cNvPr id="72" name="Google Shape;72;p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home/claude/work/assets/rh-logo.png" id="73" name="Google Shape;73;p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8" name="Shape 78"/>
        <p:cNvGrpSpPr/>
        <p:nvPr/>
      </p:nvGrpSpPr>
      <p:grpSpPr>
        <a:xfrm>
          <a:off x="0" y="0"/>
          <a:ext cx="0" cy="0"/>
          <a:chOff x="0" y="0"/>
          <a:chExt cx="0" cy="0"/>
        </a:xfrm>
      </p:grpSpPr>
      <p:pic>
        <p:nvPicPr>
          <p:cNvPr descr="/home/claude/work/assets/rh-divider-bg.png" id="79" name="Google Shape;79;p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80" name="Google Shape;80;p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01</a:t>
            </a:r>
            <a:endParaRPr b="0" i="0" sz="2200" u="none" cap="none" strike="noStrike">
              <a:solidFill>
                <a:schemeClr val="dk1"/>
              </a:solidFill>
              <a:latin typeface="Calibri"/>
              <a:ea typeface="Calibri"/>
              <a:cs typeface="Calibri"/>
              <a:sym typeface="Calibri"/>
            </a:endParaRPr>
          </a:p>
        </p:txBody>
      </p:sp>
      <p:sp>
        <p:nvSpPr>
          <p:cNvPr id="81" name="Google Shape;81;p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Cloud-Native Principles</a:t>
            </a:r>
            <a:endParaRPr b="0" i="0" sz="4000" u="none" cap="none" strike="noStrike">
              <a:solidFill>
                <a:schemeClr val="dk1"/>
              </a:solidFill>
              <a:latin typeface="Calibri"/>
              <a:ea typeface="Calibri"/>
              <a:cs typeface="Calibri"/>
              <a:sym typeface="Calibri"/>
            </a:endParaRPr>
          </a:p>
        </p:txBody>
      </p:sp>
      <p:sp>
        <p:nvSpPr>
          <p:cNvPr id="82" name="Google Shape;82;p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Properties first, tools second.</a:t>
            </a:r>
            <a:endParaRPr b="0" i="0" sz="1500" u="none" cap="none" strike="noStrike">
              <a:solidFill>
                <a:schemeClr val="dk1"/>
              </a:solidFill>
              <a:latin typeface="Calibri"/>
              <a:ea typeface="Calibri"/>
              <a:cs typeface="Calibri"/>
              <a:sym typeface="Calibri"/>
            </a:endParaRPr>
          </a:p>
        </p:txBody>
      </p:sp>
      <p:pic>
        <p:nvPicPr>
          <p:cNvPr descr="/home/claude/work/assets/rh-logo-white.png" id="83" name="Google Shape;83;p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Cloud-native is a set of runtime properties</a:t>
            </a:r>
            <a:endParaRPr b="0" i="0" sz="3000" u="none" cap="none" strike="noStrike">
              <a:solidFill>
                <a:schemeClr val="dk1"/>
              </a:solidFill>
              <a:latin typeface="Calibri"/>
              <a:ea typeface="Calibri"/>
              <a:cs typeface="Calibri"/>
              <a:sym typeface="Calibri"/>
            </a:endParaRPr>
          </a:p>
        </p:txBody>
      </p:sp>
      <p:pic>
        <p:nvPicPr>
          <p:cNvPr descr="/home/claude/work/png-sb/01-cloud-native-pillars.png" id="91" name="Google Shape;91;p10"/>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92" name="Google Shape;92;p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If your API isn't disposable, observable, resilient, elastic, automatable and loosely coupled, the platform can't help it.</a:t>
            </a:r>
            <a:endParaRPr b="0" i="0" sz="1200" u="none" cap="none" strike="noStrike">
              <a:solidFill>
                <a:schemeClr val="dk1"/>
              </a:solidFill>
              <a:latin typeface="Calibri"/>
              <a:ea typeface="Calibri"/>
              <a:cs typeface="Calibri"/>
              <a:sym typeface="Calibri"/>
            </a:endParaRPr>
          </a:p>
        </p:txBody>
      </p:sp>
      <p:sp>
        <p:nvSpPr>
          <p:cNvPr id="93" name="Google Shape;93;p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home/claude/work/assets/rh-logo.png" id="94" name="Google Shape;94;p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platform makes the properties the default</a:t>
            </a:r>
            <a:endParaRPr b="0" i="0" sz="3000" u="none" cap="none" strike="noStrike">
              <a:solidFill>
                <a:schemeClr val="dk1"/>
              </a:solidFill>
              <a:latin typeface="Calibri"/>
              <a:ea typeface="Calibri"/>
              <a:cs typeface="Calibri"/>
              <a:sym typeface="Calibri"/>
            </a:endParaRPr>
          </a:p>
        </p:txBody>
      </p:sp>
      <p:sp>
        <p:nvSpPr>
          <p:cNvPr id="102" name="Google Shape;102;p1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Kubernetes gives you the disposable process model: liveness/readiness probes, rolling deploys, self-healing.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KEDA (and the http-add-on) make elasticity real — scale on lag or RPS, all the way to zero.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supplies resilience and security at the wire: timeouts, retries, circuit breaking, mTLS.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OpenTelemetry + Tempo / Mimir / Prometheus / Grafana / Kiali make every request observable.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Your job is to write services that lean on these — not to reimplement them per service.</a:t>
            </a:r>
            <a:endParaRPr b="0" i="0" sz="1700" u="none" cap="none" strike="noStrike">
              <a:solidFill>
                <a:schemeClr val="dk1"/>
              </a:solidFill>
              <a:latin typeface="Calibri"/>
              <a:ea typeface="Calibri"/>
              <a:cs typeface="Calibri"/>
              <a:sym typeface="Calibri"/>
            </a:endParaRPr>
          </a:p>
        </p:txBody>
      </p:sp>
      <p:sp>
        <p:nvSpPr>
          <p:cNvPr id="103" name="Google Shape;103;p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home/claude/work/assets/rh-logo.png" id="104" name="Google Shape;104;p1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11" name="Google Shape;111;p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Design-first: the contract precedes the code</a:t>
            </a:r>
            <a:endParaRPr b="0" i="0" sz="3000" u="none" cap="none" strike="noStrike">
              <a:solidFill>
                <a:schemeClr val="dk1"/>
              </a:solidFill>
              <a:latin typeface="Calibri"/>
              <a:ea typeface="Calibri"/>
              <a:cs typeface="Calibri"/>
              <a:sym typeface="Calibri"/>
            </a:endParaRPr>
          </a:p>
        </p:txBody>
      </p:sp>
      <p:sp>
        <p:nvSpPr>
          <p:cNvPr id="112" name="Google Shape;112;p1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Agree the interface before implementing it — OpenAPI for REST, .proto for gRPC, AsyncAPI for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contract is a versioned artifact in the registry, gated in CI, owned by the producing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Consumers code against the contract and generated stubs, never against your database or internals.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what makes services independently deployable — the promise the contract encodes is the boundary.</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Tooling: Maven with spring-boot-starter-parent for reproducible builds; springdoc-openapi emits the OpenAPI spec; buf / protoc for gRPC; Spring for GraphQL exports SDL from .graphqls files.</a:t>
            </a:r>
            <a:endParaRPr b="0" i="0" sz="1700" u="none" cap="none" strike="noStrike">
              <a:solidFill>
                <a:schemeClr val="dk1"/>
              </a:solidFill>
              <a:latin typeface="Calibri"/>
              <a:ea typeface="Calibri"/>
              <a:cs typeface="Calibri"/>
              <a:sym typeface="Calibri"/>
            </a:endParaRPr>
          </a:p>
        </p:txBody>
      </p:sp>
      <p:sp>
        <p:nvSpPr>
          <p:cNvPr id="113" name="Google Shape;113;p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home/claude/work/assets/rh-logo.png" id="114" name="Google Shape;114;p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21" name="Google Shape;121;p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twelve-factor app, revisited</a:t>
            </a:r>
            <a:endParaRPr b="0" i="0" sz="3000" u="none" cap="none" strike="noStrike">
              <a:solidFill>
                <a:schemeClr val="dk1"/>
              </a:solidFill>
              <a:latin typeface="Calibri"/>
              <a:ea typeface="Calibri"/>
              <a:cs typeface="Calibri"/>
              <a:sym typeface="Calibri"/>
            </a:endParaRPr>
          </a:p>
        </p:txBody>
      </p:sp>
      <p:sp>
        <p:nvSpPr>
          <p:cNvPr id="122" name="Google Shape;122;p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twelve-factor app (2011) is the original recipe for software that's disposable, scalable and portable — the discipline beneath the runtime properties we just saw.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predates Kubernetes but maps onto it almost one-to-one: most factors are now things the platform provides, not code you write.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 read the factors by ownership — a few you still author (config from the environment, statelessness, clean start/stop, logs as streams) and the rest the platform hands you (scaling, build/release/run, attached backing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microservices, event-driven system they get richer: “backing services” means Postgres, Kafka and the schema registry as swappable URLs; “logs” becomes correlated traces, metrics and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it as a pre-flight check (“will this survive the platform?”): we list the twelve factors and map each to where it lives in our architecture.</a:t>
            </a:r>
            <a:endParaRPr b="0" i="0" sz="1700" u="none" cap="none" strike="noStrike">
              <a:solidFill>
                <a:schemeClr val="dk1"/>
              </a:solidFill>
              <a:latin typeface="Calibri"/>
              <a:ea typeface="Calibri"/>
              <a:cs typeface="Calibri"/>
              <a:sym typeface="Calibri"/>
            </a:endParaRPr>
          </a:p>
        </p:txBody>
      </p:sp>
      <p:sp>
        <p:nvSpPr>
          <p:cNvPr id="123" name="Google Shape;123;p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home/claude/work/assets/rh-logo.png" id="124" name="Google Shape;124;p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31" name="Google Shape;131;p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twelve factors are</a:t>
            </a:r>
            <a:endParaRPr b="0" i="0" sz="3000" u="none" cap="none" strike="noStrike">
              <a:solidFill>
                <a:schemeClr val="dk1"/>
              </a:solidFill>
              <a:latin typeface="Calibri"/>
              <a:ea typeface="Calibri"/>
              <a:cs typeface="Calibri"/>
              <a:sym typeface="Calibri"/>
            </a:endParaRPr>
          </a:p>
        </p:txBody>
      </p:sp>
      <p:pic>
        <p:nvPicPr>
          <p:cNvPr descr="/home/claude/work/png-sb/44-twelve-factor-list.png" id="132" name="Google Shape;132;p14"/>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33" name="Google Shape;133;p1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original 2011 checklist — most are now platform concerns; only a few are yours to write.</a:t>
            </a:r>
            <a:endParaRPr b="0" i="0" sz="1200" u="none" cap="none" strike="noStrike">
              <a:solidFill>
                <a:schemeClr val="dk1"/>
              </a:solidFill>
              <a:latin typeface="Calibri"/>
              <a:ea typeface="Calibri"/>
              <a:cs typeface="Calibri"/>
              <a:sym typeface="Calibri"/>
            </a:endParaRPr>
          </a:p>
        </p:txBody>
      </p:sp>
      <p:sp>
        <p:nvSpPr>
          <p:cNvPr id="134" name="Google Shape;134;p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home/claude/work/assets/rh-logo.png" id="135" name="Google Shape;135;p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42" name="Google Shape;142;p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Twelve factors, mapped to our system</a:t>
            </a:r>
            <a:endParaRPr b="0" i="0" sz="3000" u="none" cap="none" strike="noStrike">
              <a:solidFill>
                <a:schemeClr val="dk1"/>
              </a:solidFill>
              <a:latin typeface="Calibri"/>
              <a:ea typeface="Calibri"/>
              <a:cs typeface="Calibri"/>
              <a:sym typeface="Calibri"/>
            </a:endParaRPr>
          </a:p>
        </p:txBody>
      </p:sp>
      <p:pic>
        <p:nvPicPr>
          <p:cNvPr descr="/home/claude/work/png-sb/42-twelve-factor-map-sb.png" id="143" name="Google Shape;143;p15"/>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44" name="Google Shape;144;p1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Most factors are now platform defaults you adopt; a few are discipline you still write.</a:t>
            </a:r>
            <a:endParaRPr b="0" i="0" sz="1200" u="none" cap="none" strike="noStrike">
              <a:solidFill>
                <a:schemeClr val="dk1"/>
              </a:solidFill>
              <a:latin typeface="Calibri"/>
              <a:ea typeface="Calibri"/>
              <a:cs typeface="Calibri"/>
              <a:sym typeface="Calibri"/>
            </a:endParaRPr>
          </a:p>
        </p:txBody>
      </p:sp>
      <p:sp>
        <p:nvSpPr>
          <p:cNvPr id="145" name="Google Shape;145;p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home/claude/work/assets/rh-logo.png" id="146" name="Google Shape;146;p1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53" name="Google Shape;153;p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12-factor Spring Boot service, ready for the platform</a:t>
            </a:r>
            <a:endParaRPr b="0" i="0" sz="3000" u="none" cap="none" strike="noStrike">
              <a:solidFill>
                <a:schemeClr val="dk1"/>
              </a:solidFill>
              <a:latin typeface="Calibri"/>
              <a:ea typeface="Calibri"/>
              <a:cs typeface="Calibri"/>
              <a:sym typeface="Calibri"/>
            </a:endParaRPr>
          </a:p>
        </p:txBody>
      </p:sp>
      <p:sp>
        <p:nvSpPr>
          <p:cNvPr id="154" name="Google Shape;154;p1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Actuator</a:t>
            </a:r>
            <a:endParaRPr b="0" i="0" sz="1000" u="none" cap="none" strike="noStrike">
              <a:solidFill>
                <a:schemeClr val="dk1"/>
              </a:solidFill>
              <a:latin typeface="Calibri"/>
              <a:ea typeface="Calibri"/>
              <a:cs typeface="Calibri"/>
              <a:sym typeface="Calibri"/>
            </a:endParaRPr>
          </a:p>
        </p:txBody>
      </p:sp>
      <p:sp>
        <p:nvSpPr>
          <p:cNvPr id="156" name="Google Shape;156;p1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application.yaml + OrderController (excerpt), examples/01-cloud-native-principles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config from env (factor III): SPRING_DATASOURCE_URL, SERVICE_VERSION -&gt; service.version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management.endpoint.health: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probes.enabled: true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group: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liveness:                        # liveness: the process is up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include: livenessState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additional-path: "server:/healthz"</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readiness:                       # readiness: a pooled connection answers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include: readinessState,db</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additional-path: "server:/readyz"   # DOWN: 503, the pod leaves the 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OrderController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OrderRepository orders;     // Spring Data JPA over the orders table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String serviceVersion;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OrderController(OrderRepository 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@Value("${service.version}") String serviceVersion)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this.orders = 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this.serviceVersion = serviceVersion;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@GetMapping("/orders")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List&lt;OrderResponse&gt; listOrders()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orders.findAll(Sort.by("id")).stream().map(OrderResponse::of).toList();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7" name="Google Shape;157;p1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Probes, env-config and an explicit application name are the price of admission for a Kubernetes Deployment.</a:t>
            </a:r>
            <a:endParaRPr b="0" i="0" sz="1300" u="none" cap="none" strike="noStrike">
              <a:solidFill>
                <a:schemeClr val="dk1"/>
              </a:solidFill>
              <a:latin typeface="Calibri"/>
              <a:ea typeface="Calibri"/>
              <a:cs typeface="Calibri"/>
              <a:sym typeface="Calibri"/>
            </a:endParaRPr>
          </a:p>
        </p:txBody>
      </p:sp>
      <p:sp>
        <p:nvSpPr>
          <p:cNvPr id="158" name="Google Shape;158;p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a:t>
            </a:r>
            <a:endParaRPr b="0" i="0" sz="1000" u="none" cap="none" strike="noStrike">
              <a:solidFill>
                <a:schemeClr val="dk1"/>
              </a:solidFill>
              <a:latin typeface="Calibri"/>
              <a:ea typeface="Calibri"/>
              <a:cs typeface="Calibri"/>
              <a:sym typeface="Calibri"/>
            </a:endParaRPr>
          </a:p>
        </p:txBody>
      </p:sp>
      <p:pic>
        <p:nvPicPr>
          <p:cNvPr descr="/home/claude/work/assets/rh-logo.png" id="159" name="Google Shape;159;p1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4" name="Shape 164"/>
        <p:cNvGrpSpPr/>
        <p:nvPr/>
      </p:nvGrpSpPr>
      <p:grpSpPr>
        <a:xfrm>
          <a:off x="0" y="0"/>
          <a:ext cx="0" cy="0"/>
          <a:chOff x="0" y="0"/>
          <a:chExt cx="0" cy="0"/>
        </a:xfrm>
      </p:grpSpPr>
      <p:pic>
        <p:nvPicPr>
          <p:cNvPr descr="/home/claude/work/assets/rh-divider-bg.png" id="165" name="Google Shape;165;p1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6" name="Google Shape;166;p17"/>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02</a:t>
            </a:r>
            <a:endParaRPr b="0" i="0" sz="2200" u="none" cap="none" strike="noStrike">
              <a:solidFill>
                <a:schemeClr val="dk1"/>
              </a:solidFill>
              <a:latin typeface="Calibri"/>
              <a:ea typeface="Calibri"/>
              <a:cs typeface="Calibri"/>
              <a:sym typeface="Calibri"/>
            </a:endParaRPr>
          </a:p>
        </p:txBody>
      </p:sp>
      <p:sp>
        <p:nvSpPr>
          <p:cNvPr id="167" name="Google Shape;167;p17"/>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Communications</a:t>
            </a:r>
            <a:endParaRPr b="0" i="0" sz="4000" u="none" cap="none" strike="noStrike">
              <a:solidFill>
                <a:schemeClr val="dk1"/>
              </a:solidFill>
              <a:latin typeface="Calibri"/>
              <a:ea typeface="Calibri"/>
              <a:cs typeface="Calibri"/>
              <a:sym typeface="Calibri"/>
            </a:endParaRPr>
          </a:p>
        </p:txBody>
      </p:sp>
      <p:sp>
        <p:nvSpPr>
          <p:cNvPr id="168" name="Google Shape;168;p17"/>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Match the interaction style to the call.</a:t>
            </a:r>
            <a:endParaRPr b="0" i="0" sz="1500" u="none" cap="none" strike="noStrike">
              <a:solidFill>
                <a:schemeClr val="dk1"/>
              </a:solidFill>
              <a:latin typeface="Calibri"/>
              <a:ea typeface="Calibri"/>
              <a:cs typeface="Calibri"/>
              <a:sym typeface="Calibri"/>
            </a:endParaRPr>
          </a:p>
        </p:txBody>
      </p:sp>
      <p:pic>
        <p:nvPicPr>
          <p:cNvPr descr="/home/claude/work/assets/rh-logo-white.png" id="169" name="Google Shape;169;p1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76" name="Google Shape;176;p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Pick the protocol for the interaction</a:t>
            </a:r>
            <a:endParaRPr b="0" i="0" sz="3000" u="none" cap="none" strike="noStrike">
              <a:solidFill>
                <a:schemeClr val="dk1"/>
              </a:solidFill>
              <a:latin typeface="Calibri"/>
              <a:ea typeface="Calibri"/>
              <a:cs typeface="Calibri"/>
              <a:sym typeface="Calibri"/>
            </a:endParaRPr>
          </a:p>
        </p:txBody>
      </p:sp>
      <p:pic>
        <p:nvPicPr>
          <p:cNvPr descr="/home/claude/work/png-sb/03-comm-protocol-matrix.png" id="177" name="Google Shape;177;p18"/>
          <p:cNvPicPr preferRelativeResize="0"/>
          <p:nvPr/>
        </p:nvPicPr>
        <p:blipFill rotWithShape="1">
          <a:blip r:embed="rId5">
            <a:alphaModFix/>
          </a:blip>
          <a:stretch/>
        </p:blipFill>
        <p:spPr>
          <a:xfrm>
            <a:off x="1327421" y="2112646"/>
            <a:ext cx="9536855" cy="3501388"/>
          </a:xfrm>
          <a:prstGeom prst="rect">
            <a:avLst/>
          </a:prstGeom>
          <a:noFill/>
          <a:ln>
            <a:noFill/>
          </a:ln>
        </p:spPr>
      </p:pic>
      <p:sp>
        <p:nvSpPr>
          <p:cNvPr id="178" name="Google Shape;178;p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for reach, gRPC for internal speed, GraphQL for client-driven reads, async for decoupled facts.</a:t>
            </a:r>
            <a:endParaRPr b="0" i="0" sz="1200" u="none" cap="none" strike="noStrike">
              <a:solidFill>
                <a:schemeClr val="dk1"/>
              </a:solidFill>
              <a:latin typeface="Calibri"/>
              <a:ea typeface="Calibri"/>
              <a:cs typeface="Calibri"/>
              <a:sym typeface="Calibri"/>
            </a:endParaRPr>
          </a:p>
        </p:txBody>
      </p:sp>
      <p:sp>
        <p:nvSpPr>
          <p:cNvPr id="179" name="Google Shape;179;p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a:t>
            </a:r>
            <a:endParaRPr b="0" i="0" sz="1000" u="none" cap="none" strike="noStrike">
              <a:solidFill>
                <a:schemeClr val="dk1"/>
              </a:solidFill>
              <a:latin typeface="Calibri"/>
              <a:ea typeface="Calibri"/>
              <a:cs typeface="Calibri"/>
              <a:sym typeface="Calibri"/>
            </a:endParaRPr>
          </a:p>
        </p:txBody>
      </p:sp>
      <p:pic>
        <p:nvPicPr>
          <p:cNvPr descr="/home/claude/work/assets/rh-logo.png" id="180" name="Google Shape;180;p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87" name="Google Shape;187;p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at the edge with Spring Web</a:t>
            </a:r>
            <a:endParaRPr b="0" i="0" sz="3000" u="none" cap="none" strike="noStrike">
              <a:solidFill>
                <a:schemeClr val="dk1"/>
              </a:solidFill>
              <a:latin typeface="Calibri"/>
              <a:ea typeface="Calibri"/>
              <a:cs typeface="Calibri"/>
              <a:sym typeface="Calibri"/>
            </a:endParaRPr>
          </a:p>
        </p:txBody>
      </p:sp>
      <p:sp>
        <p:nvSpPr>
          <p:cNvPr id="188" name="Google Shape;188;p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Web</a:t>
            </a:r>
            <a:endParaRPr b="0" i="0" sz="1000" u="none" cap="none" strike="noStrike">
              <a:solidFill>
                <a:schemeClr val="dk1"/>
              </a:solidFill>
              <a:latin typeface="Calibri"/>
              <a:ea typeface="Calibri"/>
              <a:cs typeface="Calibri"/>
              <a:sym typeface="Calibri"/>
            </a:endParaRPr>
          </a:p>
        </p:txBody>
      </p:sp>
      <p:sp>
        <p:nvSpPr>
          <p:cNvPr id="190" name="Google Shape;190;p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@RequestMapping("/orders")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OrderController {                // Spring Web MVC (or WebFlux)</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OrderService 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EventPublisher events;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OrderController(OrderService orders, EventPublisher events)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this.orders = orders; this.events = events;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record OrderIn(@NotBlank String sku, @Positive int quantity) {}  // validated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@PostMapping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@ResponseStatus(HttpStatus.CREATED)       // correct status, not 200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place(@Valid @RequestBody OrderIn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 = orders.create(body);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events.publish("order.placed", o);    // emit the fact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@GetMapping                                // cursor pagination, not offset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Page&lt;Order&gt; list(@RequestParam(required = false) String after,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@RequestParam(defaultValue = "50") int limit)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orders.page(after, limit);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91" name="Google Shape;191;p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Resource-shaped URLs, Bean-Validation contracts, correct status codes, cursor pagination — the edge surface other teams depend on.</a:t>
            </a:r>
            <a:endParaRPr b="0" i="0" sz="1300" u="none" cap="none" strike="noStrike">
              <a:solidFill>
                <a:schemeClr val="dk1"/>
              </a:solidFill>
              <a:latin typeface="Calibri"/>
              <a:ea typeface="Calibri"/>
              <a:cs typeface="Calibri"/>
              <a:sym typeface="Calibri"/>
            </a:endParaRPr>
          </a:p>
        </p:txBody>
      </p:sp>
      <p:sp>
        <p:nvSpPr>
          <p:cNvPr id="192" name="Google Shape;192;p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a:t>
            </a:r>
            <a:endParaRPr b="0" i="0" sz="1000" u="none" cap="none" strike="noStrike">
              <a:solidFill>
                <a:schemeClr val="dk1"/>
              </a:solidFill>
              <a:latin typeface="Calibri"/>
              <a:ea typeface="Calibri"/>
              <a:cs typeface="Calibri"/>
              <a:sym typeface="Calibri"/>
            </a:endParaRPr>
          </a:p>
        </p:txBody>
      </p:sp>
      <p:pic>
        <p:nvPicPr>
          <p:cNvPr descr="/home/claude/work/assets/rh-logo.png" id="193" name="Google Shape;193;p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00" name="Google Shape;200;p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for internal service-to-service calls</a:t>
            </a:r>
            <a:endParaRPr b="0" i="0" sz="3000" u="none" cap="none" strike="noStrike">
              <a:solidFill>
                <a:schemeClr val="dk1"/>
              </a:solidFill>
              <a:latin typeface="Calibri"/>
              <a:ea typeface="Calibri"/>
              <a:cs typeface="Calibri"/>
              <a:sym typeface="Calibri"/>
            </a:endParaRPr>
          </a:p>
        </p:txBody>
      </p:sp>
      <p:sp>
        <p:nvSpPr>
          <p:cNvPr id="201" name="Google Shape;201;p2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8023017" y="1700784"/>
            <a:ext cx="3510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java · Spring gRPC</a:t>
            </a:r>
            <a:endParaRPr b="0" i="0" sz="1000" u="none" cap="none" strike="noStrike">
              <a:solidFill>
                <a:schemeClr val="dk1"/>
              </a:solidFill>
              <a:latin typeface="Calibri"/>
              <a:ea typeface="Calibri"/>
              <a:cs typeface="Calibri"/>
              <a:sym typeface="Calibri"/>
            </a:endParaRPr>
          </a:p>
        </p:txBody>
      </p:sp>
      <p:sp>
        <p:nvSpPr>
          <p:cNvPr id="203" name="Google Shape;203;p2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inventory.proto — the contract, registered in Apicurio</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syntax = "proto3";</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service Inventory { rpc ReserveStock (ReserveRequest) returns (ReserveReply);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message ReserveRequest { string sku = 1; int32 quantity = 2;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message ReserveReply   { bool reserved = 1; int32 remaining = 2;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inventory-service (excerpt): Spring gRPC serves this bean on spring.grpc.server.port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@GrpcService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InventoryService extends InventoryGrpc.InventoryImplBase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@Override public void reserveStock(ReserveRequest req, StreamObserver&lt;ReserveReply&gt; obs)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stock.putIfAbsent(req.getSku(), initialStock);</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int remaining = stock.get(req.getSku()) - req.getQuantity();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if (remaining &gt;= 0) stock.put(req.getSku(), remaining);      // reserve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obs.onNext(ReserveReply.newBuilder().setReserved(remaining &gt;= 0)</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.setRemaining(stock.get(req.getSku())).build());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obs.onCompleted();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order-service: the channel comes from spring.grpc.client.channel.inventory.target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@Bean InventoryGrpc.InventoryBlockingStub inventoryStub(GrpcChannelFactory channels)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InventoryGrpc.newBlockingStub(channels.createChannel("inventory"));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204" name="Google Shape;204;p2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Schema-first, binary, multiplexed over HTTP/2 — the right default for chatty internal paths. Test with ghz.</a:t>
            </a:r>
            <a:endParaRPr b="0" i="0" sz="1300" u="none" cap="none" strike="noStrike">
              <a:solidFill>
                <a:schemeClr val="dk1"/>
              </a:solidFill>
              <a:latin typeface="Calibri"/>
              <a:ea typeface="Calibri"/>
              <a:cs typeface="Calibri"/>
              <a:sym typeface="Calibri"/>
            </a:endParaRPr>
          </a:p>
        </p:txBody>
      </p:sp>
      <p:sp>
        <p:nvSpPr>
          <p:cNvPr id="205" name="Google Shape;205;p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a:t>
            </a:r>
            <a:endParaRPr b="0" i="0" sz="1000" u="none" cap="none" strike="noStrike">
              <a:solidFill>
                <a:schemeClr val="dk1"/>
              </a:solidFill>
              <a:latin typeface="Calibri"/>
              <a:ea typeface="Calibri"/>
              <a:cs typeface="Calibri"/>
              <a:sym typeface="Calibri"/>
            </a:endParaRPr>
          </a:p>
        </p:txBody>
      </p:sp>
      <p:pic>
        <p:nvPicPr>
          <p:cNvPr descr="/home/claude/work/assets/rh-logo.png" id="206" name="Google Shape;206;p2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13" name="Google Shape;213;p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Synchronous coupling vs. asynchronous facts</a:t>
            </a:r>
            <a:endParaRPr b="0" i="0" sz="3000" u="none" cap="none" strike="noStrike">
              <a:solidFill>
                <a:schemeClr val="dk1"/>
              </a:solidFill>
              <a:latin typeface="Calibri"/>
              <a:ea typeface="Calibri"/>
              <a:cs typeface="Calibri"/>
              <a:sym typeface="Calibri"/>
            </a:endParaRPr>
          </a:p>
        </p:txBody>
      </p:sp>
      <p:pic>
        <p:nvPicPr>
          <p:cNvPr descr="/home/claude/work/png-sb/04-comm-sync-async.png" id="214" name="Google Shape;214;p2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15" name="Google Shape;215;p2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synchronous call shares fate; an event shares a fact. Reach for async wherever immediacy isn't required.</a:t>
            </a:r>
            <a:endParaRPr b="0" i="0" sz="1200" u="none" cap="none" strike="noStrike">
              <a:solidFill>
                <a:schemeClr val="dk1"/>
              </a:solidFill>
              <a:latin typeface="Calibri"/>
              <a:ea typeface="Calibri"/>
              <a:cs typeface="Calibri"/>
              <a:sym typeface="Calibri"/>
            </a:endParaRPr>
          </a:p>
        </p:txBody>
      </p:sp>
      <p:sp>
        <p:nvSpPr>
          <p:cNvPr id="216" name="Google Shape;216;p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a:t>
            </a:r>
            <a:endParaRPr b="0" i="0" sz="1000" u="none" cap="none" strike="noStrike">
              <a:solidFill>
                <a:schemeClr val="dk1"/>
              </a:solidFill>
              <a:latin typeface="Calibri"/>
              <a:ea typeface="Calibri"/>
              <a:cs typeface="Calibri"/>
              <a:sym typeface="Calibri"/>
            </a:endParaRPr>
          </a:p>
        </p:txBody>
      </p:sp>
      <p:pic>
        <p:nvPicPr>
          <p:cNvPr descr="/home/claude/work/assets/rh-logo.png" id="217" name="Google Shape;217;p2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24" name="Google Shape;224;p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handles the wire, not your code</a:t>
            </a:r>
            <a:endParaRPr b="0" i="0" sz="3000" u="none" cap="none" strike="noStrike">
              <a:solidFill>
                <a:schemeClr val="dk1"/>
              </a:solidFill>
              <a:latin typeface="Calibri"/>
              <a:ea typeface="Calibri"/>
              <a:cs typeface="Calibri"/>
              <a:sym typeface="Calibri"/>
            </a:endParaRPr>
          </a:p>
        </p:txBody>
      </p:sp>
      <p:pic>
        <p:nvPicPr>
          <p:cNvPr descr="/home/claude/work/png-sb/05-comm-service-mesh.png" id="225" name="Google Shape;225;p22"/>
          <p:cNvPicPr preferRelativeResize="0"/>
          <p:nvPr/>
        </p:nvPicPr>
        <p:blipFill rotWithShape="1">
          <a:blip r:embed="rId5">
            <a:alphaModFix/>
          </a:blip>
          <a:stretch/>
        </p:blipFill>
        <p:spPr>
          <a:xfrm>
            <a:off x="1327421" y="2245481"/>
            <a:ext cx="9536855" cy="3235718"/>
          </a:xfrm>
          <a:prstGeom prst="rect">
            <a:avLst/>
          </a:prstGeom>
          <a:noFill/>
          <a:ln>
            <a:noFill/>
          </a:ln>
        </p:spPr>
      </p:pic>
      <p:sp>
        <p:nvSpPr>
          <p:cNvPr id="226" name="Google Shape;226;p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Istio sidecars give you mTLS, retries, timeouts and telemetry — uniformly, without per-service code.</a:t>
            </a:r>
            <a:endParaRPr b="0" i="0" sz="1200" u="none" cap="none" strike="noStrike">
              <a:solidFill>
                <a:schemeClr val="dk1"/>
              </a:solidFill>
              <a:latin typeface="Calibri"/>
              <a:ea typeface="Calibri"/>
              <a:cs typeface="Calibri"/>
              <a:sym typeface="Calibri"/>
            </a:endParaRPr>
          </a:p>
        </p:txBody>
      </p:sp>
      <p:sp>
        <p:nvSpPr>
          <p:cNvPr id="227" name="Google Shape;227;p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a:t>
            </a:r>
            <a:endParaRPr b="0" i="0" sz="1000" u="none" cap="none" strike="noStrike">
              <a:solidFill>
                <a:schemeClr val="dk1"/>
              </a:solidFill>
              <a:latin typeface="Calibri"/>
              <a:ea typeface="Calibri"/>
              <a:cs typeface="Calibri"/>
              <a:sym typeface="Calibri"/>
            </a:endParaRPr>
          </a:p>
        </p:txBody>
      </p:sp>
      <p:pic>
        <p:nvPicPr>
          <p:cNvPr descr="/home/claude/work/assets/rh-logo.png" id="228" name="Google Shape;228;p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35" name="Google Shape;235;p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 as configuration, not per-call code</a:t>
            </a:r>
            <a:endParaRPr b="0" i="0" sz="3000" u="none" cap="none" strike="noStrike">
              <a:solidFill>
                <a:schemeClr val="dk1"/>
              </a:solidFill>
              <a:latin typeface="Calibri"/>
              <a:ea typeface="Calibri"/>
              <a:cs typeface="Calibri"/>
              <a:sym typeface="Calibri"/>
            </a:endParaRPr>
          </a:p>
        </p:txBody>
      </p:sp>
      <p:sp>
        <p:nvSpPr>
          <p:cNvPr id="236" name="Google Shape;236;p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a:t>
            </a:r>
            <a:endParaRPr b="0" i="0" sz="1000" u="none" cap="none" strike="noStrike">
              <a:solidFill>
                <a:schemeClr val="dk1"/>
              </a:solidFill>
              <a:latin typeface="Calibri"/>
              <a:ea typeface="Calibri"/>
              <a:cs typeface="Calibri"/>
              <a:sym typeface="Calibri"/>
            </a:endParaRPr>
          </a:p>
        </p:txBody>
      </p:sp>
      <p:sp>
        <p:nvSpPr>
          <p:cNvPr id="238" name="Google Shape;238;p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Istio: bounded retries and timeout for inventory-service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inventory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[inventory]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timeout: 2s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retries: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attempts: 2                 </a:t>
            </a:r>
            <a:r>
              <a:rPr b="0" i="0" lang="en-US" sz="1300" u="none" cap="none" strike="noStrike">
                <a:solidFill>
                  <a:srgbClr val="8FB98F"/>
                </a:solidFill>
                <a:latin typeface="Red Hat Mono"/>
                <a:ea typeface="Red Hat Mono"/>
                <a:cs typeface="Red Hat Mono"/>
                <a:sym typeface="Red Hat Mono"/>
              </a:rPr>
              <a:t># bounded — never an unbounded retry storm</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perTryTimeout: 800ms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retryOn: connect-failure,unavailable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destination: { host: inventory }</a:t>
            </a:r>
            <a:endParaRPr b="0" i="0" sz="1300" u="none" cap="none" strike="noStrike">
              <a:solidFill>
                <a:schemeClr val="dk1"/>
              </a:solidFill>
              <a:latin typeface="Calibri"/>
              <a:ea typeface="Calibri"/>
              <a:cs typeface="Calibri"/>
              <a:sym typeface="Calibri"/>
            </a:endParaRPr>
          </a:p>
        </p:txBody>
      </p:sp>
      <p:sp>
        <p:nvSpPr>
          <p:cNvPr id="239" name="Google Shape;239;p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retries with backoff live in the mesh. Unbounded client retries are how an incident becomes an outage.</a:t>
            </a:r>
            <a:endParaRPr b="0" i="0" sz="1300" u="none" cap="none" strike="noStrike">
              <a:solidFill>
                <a:schemeClr val="dk1"/>
              </a:solidFill>
              <a:latin typeface="Calibri"/>
              <a:ea typeface="Calibri"/>
              <a:cs typeface="Calibri"/>
              <a:sym typeface="Calibri"/>
            </a:endParaRPr>
          </a:p>
        </p:txBody>
      </p:sp>
      <p:sp>
        <p:nvSpPr>
          <p:cNvPr id="240" name="Google Shape;240;p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a:t>
            </a:r>
            <a:endParaRPr b="0" i="0" sz="1000" u="none" cap="none" strike="noStrike">
              <a:solidFill>
                <a:schemeClr val="dk1"/>
              </a:solidFill>
              <a:latin typeface="Calibri"/>
              <a:ea typeface="Calibri"/>
              <a:cs typeface="Calibri"/>
              <a:sym typeface="Calibri"/>
            </a:endParaRPr>
          </a:p>
        </p:txBody>
      </p:sp>
      <p:pic>
        <p:nvPicPr>
          <p:cNvPr descr="/home/claude/work/assets/rh-logo.png" id="241" name="Google Shape;241;p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46" name="Shape 246"/>
        <p:cNvGrpSpPr/>
        <p:nvPr/>
      </p:nvGrpSpPr>
      <p:grpSpPr>
        <a:xfrm>
          <a:off x="0" y="0"/>
          <a:ext cx="0" cy="0"/>
          <a:chOff x="0" y="0"/>
          <a:chExt cx="0" cy="0"/>
        </a:xfrm>
      </p:grpSpPr>
      <p:pic>
        <p:nvPicPr>
          <p:cNvPr descr="/home/claude/work/assets/rh-divider-bg.png" id="247" name="Google Shape;247;p2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48" name="Google Shape;248;p2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03</a:t>
            </a:r>
            <a:endParaRPr b="0" i="0" sz="2200" u="none" cap="none" strike="noStrike">
              <a:solidFill>
                <a:schemeClr val="dk1"/>
              </a:solidFill>
              <a:latin typeface="Calibri"/>
              <a:ea typeface="Calibri"/>
              <a:cs typeface="Calibri"/>
              <a:sym typeface="Calibri"/>
            </a:endParaRPr>
          </a:p>
        </p:txBody>
      </p:sp>
      <p:sp>
        <p:nvSpPr>
          <p:cNvPr id="249" name="Google Shape;249;p2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Composition</a:t>
            </a:r>
            <a:endParaRPr b="0" i="0" sz="4000" u="none" cap="none" strike="noStrike">
              <a:solidFill>
                <a:schemeClr val="dk1"/>
              </a:solidFill>
              <a:latin typeface="Calibri"/>
              <a:ea typeface="Calibri"/>
              <a:cs typeface="Calibri"/>
              <a:sym typeface="Calibri"/>
            </a:endParaRPr>
          </a:p>
        </p:txBody>
      </p:sp>
      <p:sp>
        <p:nvSpPr>
          <p:cNvPr id="250" name="Google Shape;250;p2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Aggregate at the edge, not inside services.</a:t>
            </a:r>
            <a:endParaRPr b="0" i="0" sz="1500" u="none" cap="none" strike="noStrike">
              <a:solidFill>
                <a:schemeClr val="dk1"/>
              </a:solidFill>
              <a:latin typeface="Calibri"/>
              <a:ea typeface="Calibri"/>
              <a:cs typeface="Calibri"/>
              <a:sym typeface="Calibri"/>
            </a:endParaRPr>
          </a:p>
        </p:txBody>
      </p:sp>
      <p:pic>
        <p:nvPicPr>
          <p:cNvPr descr="/home/claude/work/assets/rh-logo-white.png" id="251" name="Google Shape;251;p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58" name="Google Shape;258;p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query, many services</a:t>
            </a:r>
            <a:endParaRPr b="0" i="0" sz="3000" u="none" cap="none" strike="noStrike">
              <a:solidFill>
                <a:schemeClr val="dk1"/>
              </a:solidFill>
              <a:latin typeface="Calibri"/>
              <a:ea typeface="Calibri"/>
              <a:cs typeface="Calibri"/>
              <a:sym typeface="Calibri"/>
            </a:endParaRPr>
          </a:p>
        </p:txBody>
      </p:sp>
      <p:pic>
        <p:nvPicPr>
          <p:cNvPr descr="/home/claude/work/png-sb/06-composition-federation.png" id="259" name="Google Shape;259;p25"/>
          <p:cNvPicPr preferRelativeResize="0"/>
          <p:nvPr/>
        </p:nvPicPr>
        <p:blipFill rotWithShape="1">
          <a:blip r:embed="rId5">
            <a:alphaModFix/>
          </a:blip>
          <a:stretch/>
        </p:blipFill>
        <p:spPr>
          <a:xfrm>
            <a:off x="1322510" y="2029015"/>
            <a:ext cx="9546675" cy="3668650"/>
          </a:xfrm>
          <a:prstGeom prst="rect">
            <a:avLst/>
          </a:prstGeom>
          <a:noFill/>
          <a:ln>
            <a:noFill/>
          </a:ln>
        </p:spPr>
      </p:pic>
      <p:sp>
        <p:nvSpPr>
          <p:cNvPr id="260" name="Google Shape;260;p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gateway presents one schema and fans out to REST and gRPC back-ends, then joins and shapes the result.</a:t>
            </a:r>
            <a:endParaRPr b="0" i="0" sz="1200" u="none" cap="none" strike="noStrike">
              <a:solidFill>
                <a:schemeClr val="dk1"/>
              </a:solidFill>
              <a:latin typeface="Calibri"/>
              <a:ea typeface="Calibri"/>
              <a:cs typeface="Calibri"/>
              <a:sym typeface="Calibri"/>
            </a:endParaRPr>
          </a:p>
        </p:txBody>
      </p:sp>
      <p:sp>
        <p:nvSpPr>
          <p:cNvPr id="261" name="Google Shape;261;p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a:t>
            </a:r>
            <a:endParaRPr b="0" i="0" sz="1000" u="none" cap="none" strike="noStrike">
              <a:solidFill>
                <a:schemeClr val="dk1"/>
              </a:solidFill>
              <a:latin typeface="Calibri"/>
              <a:ea typeface="Calibri"/>
              <a:cs typeface="Calibri"/>
              <a:sym typeface="Calibri"/>
            </a:endParaRPr>
          </a:p>
        </p:txBody>
      </p:sp>
      <p:pic>
        <p:nvPicPr>
          <p:cNvPr descr="/home/claude/work/assets/rh-logo.png" id="262" name="Google Shape;262;p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69" name="Google Shape;269;p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composing resolver in Spring for GraphQL</a:t>
            </a:r>
            <a:endParaRPr b="0" i="0" sz="3000" u="none" cap="none" strike="noStrike">
              <a:solidFill>
                <a:schemeClr val="dk1"/>
              </a:solidFill>
              <a:latin typeface="Calibri"/>
              <a:ea typeface="Calibri"/>
              <a:cs typeface="Calibri"/>
              <a:sym typeface="Calibri"/>
            </a:endParaRPr>
          </a:p>
        </p:txBody>
      </p:sp>
      <p:sp>
        <p:nvSpPr>
          <p:cNvPr id="270" name="Google Shape;270;p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for GraphQL</a:t>
            </a:r>
            <a:endParaRPr b="0" i="0" sz="1000" u="none" cap="none" strike="noStrike">
              <a:solidFill>
                <a:schemeClr val="dk1"/>
              </a:solidFill>
              <a:latin typeface="Calibri"/>
              <a:ea typeface="Calibri"/>
              <a:cs typeface="Calibri"/>
              <a:sym typeface="Calibri"/>
            </a:endParaRPr>
          </a:p>
        </p:txBody>
      </p:sp>
      <p:sp>
        <p:nvSpPr>
          <p:cNvPr id="272" name="Google Shape;272;p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@Controller                                   // spring-boot-starter-graphql</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class OrderGraphQLController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private final OrderClient orderClient;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private final InventoryGrpc.InventoryBlockingStub inventory;   // Spring gRPC channel bean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OrderGraphQLController(OrderClient o, InventoryGrpc.InventoryBlockingStub i)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this.orderClient = o; this.inventory = i;</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@QueryMapping                              // REST call to order-service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Order order(@Argument String id)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orderClient.get(id);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@SchemaMapping(typeName = "Order", field = "stock")   // resolved on demand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public Integer stock(Order order) {                   // via gRPC</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inventory.getStock(GetStockRequest.newBuilder().setSku(order.sku()).build())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.getAvailable();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 @BatchMapping("stock") batches N orders into one gRPC call: no N+1</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p:txBody>
      </p:sp>
      <p:sp>
        <p:nvSpPr>
          <p:cNvPr id="273" name="Google Shape;273;p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owns aggregation; each field resolves against the owning service. @SchemaMapping attaches a field fetched from elsewhere.</a:t>
            </a:r>
            <a:endParaRPr b="0" i="0" sz="1300" u="none" cap="none" strike="noStrike">
              <a:solidFill>
                <a:schemeClr val="dk1"/>
              </a:solidFill>
              <a:latin typeface="Calibri"/>
              <a:ea typeface="Calibri"/>
              <a:cs typeface="Calibri"/>
              <a:sym typeface="Calibri"/>
            </a:endParaRPr>
          </a:p>
        </p:txBody>
      </p:sp>
      <p:sp>
        <p:nvSpPr>
          <p:cNvPr id="274" name="Google Shape;274;p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a:t>
            </a:r>
            <a:endParaRPr b="0" i="0" sz="1000" u="none" cap="none" strike="noStrike">
              <a:solidFill>
                <a:schemeClr val="dk1"/>
              </a:solidFill>
              <a:latin typeface="Calibri"/>
              <a:ea typeface="Calibri"/>
              <a:cs typeface="Calibri"/>
              <a:sym typeface="Calibri"/>
            </a:endParaRPr>
          </a:p>
        </p:txBody>
      </p:sp>
      <p:pic>
        <p:nvPicPr>
          <p:cNvPr descr="/home/claude/work/assets/rh-logo.png" id="275" name="Google Shape;275;p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82" name="Google Shape;282;p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ways to compose — and where each belongs</a:t>
            </a:r>
            <a:endParaRPr b="0" i="0" sz="3000" u="none" cap="none" strike="noStrike">
              <a:solidFill>
                <a:schemeClr val="dk1"/>
              </a:solidFill>
              <a:latin typeface="Calibri"/>
              <a:ea typeface="Calibri"/>
              <a:cs typeface="Calibri"/>
              <a:sym typeface="Calibri"/>
            </a:endParaRPr>
          </a:p>
        </p:txBody>
      </p:sp>
      <p:pic>
        <p:nvPicPr>
          <p:cNvPr descr="/home/claude/work/png-sb/07-composition-patterns.png" id="283" name="Google Shape;283;p2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84" name="Google Shape;284;p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Push aggregation to a gateway or BFF. Chaining calls inside services rebuilds the monolith over the network.</a:t>
            </a:r>
            <a:endParaRPr b="0" i="0" sz="1200" u="none" cap="none" strike="noStrike">
              <a:solidFill>
                <a:schemeClr val="dk1"/>
              </a:solidFill>
              <a:latin typeface="Calibri"/>
              <a:ea typeface="Calibri"/>
              <a:cs typeface="Calibri"/>
              <a:sym typeface="Calibri"/>
            </a:endParaRPr>
          </a:p>
        </p:txBody>
      </p:sp>
      <p:sp>
        <p:nvSpPr>
          <p:cNvPr id="285" name="Google Shape;285;p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a:t>
            </a:r>
            <a:endParaRPr b="0" i="0" sz="1000" u="none" cap="none" strike="noStrike">
              <a:solidFill>
                <a:schemeClr val="dk1"/>
              </a:solidFill>
              <a:latin typeface="Calibri"/>
              <a:ea typeface="Calibri"/>
              <a:cs typeface="Calibri"/>
              <a:sym typeface="Calibri"/>
            </a:endParaRPr>
          </a:p>
        </p:txBody>
      </p:sp>
      <p:pic>
        <p:nvPicPr>
          <p:cNvPr descr="/home/claude/work/assets/rh-logo.png" id="286" name="Google Shape;286;p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91" name="Shape 291"/>
        <p:cNvGrpSpPr/>
        <p:nvPr/>
      </p:nvGrpSpPr>
      <p:grpSpPr>
        <a:xfrm>
          <a:off x="0" y="0"/>
          <a:ext cx="0" cy="0"/>
          <a:chOff x="0" y="0"/>
          <a:chExt cx="0" cy="0"/>
        </a:xfrm>
      </p:grpSpPr>
      <p:pic>
        <p:nvPicPr>
          <p:cNvPr descr="/home/claude/work/assets/rh-divider-bg.png" id="292" name="Google Shape;292;p2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93" name="Google Shape;293;p2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04</a:t>
            </a:r>
            <a:endParaRPr b="0" i="0" sz="2200" u="none" cap="none" strike="noStrike">
              <a:solidFill>
                <a:schemeClr val="dk1"/>
              </a:solidFill>
              <a:latin typeface="Calibri"/>
              <a:ea typeface="Calibri"/>
              <a:cs typeface="Calibri"/>
              <a:sym typeface="Calibri"/>
            </a:endParaRPr>
          </a:p>
        </p:txBody>
      </p:sp>
      <p:sp>
        <p:nvSpPr>
          <p:cNvPr id="294" name="Google Shape;294;p2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Data</a:t>
            </a:r>
            <a:endParaRPr b="0" i="0" sz="4000" u="none" cap="none" strike="noStrike">
              <a:solidFill>
                <a:schemeClr val="dk1"/>
              </a:solidFill>
              <a:latin typeface="Calibri"/>
              <a:ea typeface="Calibri"/>
              <a:cs typeface="Calibri"/>
              <a:sym typeface="Calibri"/>
            </a:endParaRPr>
          </a:p>
        </p:txBody>
      </p:sp>
      <p:sp>
        <p:nvSpPr>
          <p:cNvPr id="295" name="Google Shape;295;p2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Own your data; share it through contracts.</a:t>
            </a:r>
            <a:endParaRPr b="0" i="0" sz="1500" u="none" cap="none" strike="noStrike">
              <a:solidFill>
                <a:schemeClr val="dk1"/>
              </a:solidFill>
              <a:latin typeface="Calibri"/>
              <a:ea typeface="Calibri"/>
              <a:cs typeface="Calibri"/>
              <a:sym typeface="Calibri"/>
            </a:endParaRPr>
          </a:p>
        </p:txBody>
      </p:sp>
      <p:pic>
        <p:nvPicPr>
          <p:cNvPr descr="/home/claude/work/assets/rh-logo-white.png" id="296" name="Google Shape;296;p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03" name="Google Shape;303;p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database per service</a:t>
            </a:r>
            <a:endParaRPr b="0" i="0" sz="3000" u="none" cap="none" strike="noStrike">
              <a:solidFill>
                <a:schemeClr val="dk1"/>
              </a:solidFill>
              <a:latin typeface="Calibri"/>
              <a:ea typeface="Calibri"/>
              <a:cs typeface="Calibri"/>
              <a:sym typeface="Calibri"/>
            </a:endParaRPr>
          </a:p>
        </p:txBody>
      </p:sp>
      <p:pic>
        <p:nvPicPr>
          <p:cNvPr descr="/home/claude/work/png-sb/08-data-per-service-db.png" id="304" name="Google Shape;304;p2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05" name="Google Shape;305;p2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service owns its schema and storage engine; no other service touches its tables directly.</a:t>
            </a:r>
            <a:endParaRPr b="0" i="0" sz="1200" u="none" cap="none" strike="noStrike">
              <a:solidFill>
                <a:schemeClr val="dk1"/>
              </a:solidFill>
              <a:latin typeface="Calibri"/>
              <a:ea typeface="Calibri"/>
              <a:cs typeface="Calibri"/>
              <a:sym typeface="Calibri"/>
            </a:endParaRPr>
          </a:p>
        </p:txBody>
      </p:sp>
      <p:sp>
        <p:nvSpPr>
          <p:cNvPr id="306" name="Google Shape;306;p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a:t>
            </a:r>
            <a:endParaRPr b="0" i="0" sz="1000" u="none" cap="none" strike="noStrike">
              <a:solidFill>
                <a:schemeClr val="dk1"/>
              </a:solidFill>
              <a:latin typeface="Calibri"/>
              <a:ea typeface="Calibri"/>
              <a:cs typeface="Calibri"/>
              <a:sym typeface="Calibri"/>
            </a:endParaRPr>
          </a:p>
        </p:txBody>
      </p:sp>
      <p:pic>
        <p:nvPicPr>
          <p:cNvPr descr="/home/claude/work/assets/rh-logo.png" id="307" name="Google Shape;307;p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14" name="Google Shape;314;p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 Command Query Responsibility Segregation</a:t>
            </a:r>
            <a:endParaRPr b="0" i="0" sz="3000" u="none" cap="none" strike="noStrike">
              <a:solidFill>
                <a:schemeClr val="dk1"/>
              </a:solidFill>
              <a:latin typeface="Calibri"/>
              <a:ea typeface="Calibri"/>
              <a:cs typeface="Calibri"/>
              <a:sym typeface="Calibri"/>
            </a:endParaRPr>
          </a:p>
        </p:txBody>
      </p:sp>
      <p:pic>
        <p:nvPicPr>
          <p:cNvPr descr="/home/claude/work/png-sb/08b-data-cqrs.png" id="315" name="Google Shape;315;p30"/>
          <p:cNvPicPr preferRelativeResize="0"/>
          <p:nvPr/>
        </p:nvPicPr>
        <p:blipFill rotWithShape="1">
          <a:blip r:embed="rId5">
            <a:alphaModFix/>
          </a:blip>
          <a:stretch/>
        </p:blipFill>
        <p:spPr>
          <a:xfrm>
            <a:off x="1493156" y="2206371"/>
            <a:ext cx="9205386" cy="3313938"/>
          </a:xfrm>
          <a:prstGeom prst="rect">
            <a:avLst/>
          </a:prstGeom>
          <a:noFill/>
          <a:ln>
            <a:noFill/>
          </a:ln>
        </p:spPr>
      </p:pic>
      <p:sp>
        <p:nvSpPr>
          <p:cNvPr id="316" name="Google Shape;316;p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Separate the write model from the read model. They have different shapes, scales and even different stores.</a:t>
            </a:r>
            <a:endParaRPr b="0" i="0" sz="1200" u="none" cap="none" strike="noStrike">
              <a:solidFill>
                <a:schemeClr val="dk1"/>
              </a:solidFill>
              <a:latin typeface="Calibri"/>
              <a:ea typeface="Calibri"/>
              <a:cs typeface="Calibri"/>
              <a:sym typeface="Calibri"/>
            </a:endParaRPr>
          </a:p>
        </p:txBody>
      </p:sp>
      <p:sp>
        <p:nvSpPr>
          <p:cNvPr id="317" name="Google Shape;317;p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a:t>
            </a:r>
            <a:endParaRPr b="0" i="0" sz="1000" u="none" cap="none" strike="noStrike">
              <a:solidFill>
                <a:schemeClr val="dk1"/>
              </a:solidFill>
              <a:latin typeface="Calibri"/>
              <a:ea typeface="Calibri"/>
              <a:cs typeface="Calibri"/>
              <a:sym typeface="Calibri"/>
            </a:endParaRPr>
          </a:p>
        </p:txBody>
      </p:sp>
      <p:pic>
        <p:nvPicPr>
          <p:cNvPr descr="/home/claude/work/assets/rh-logo.png" id="318" name="Google Shape;318;p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25" name="Google Shape;325;p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in practice</a:t>
            </a:r>
            <a:endParaRPr b="0" i="0" sz="3000" u="none" cap="none" strike="noStrike">
              <a:solidFill>
                <a:schemeClr val="dk1"/>
              </a:solidFill>
              <a:latin typeface="Calibri"/>
              <a:ea typeface="Calibri"/>
              <a:cs typeface="Calibri"/>
              <a:sym typeface="Calibri"/>
            </a:endParaRPr>
          </a:p>
        </p:txBody>
      </p:sp>
      <p:sp>
        <p:nvSpPr>
          <p:cNvPr id="326" name="Google Shape;326;p3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1"/>
          <p:cNvSpPr/>
          <p:nvPr/>
        </p:nvSpPr>
        <p:spPr>
          <a:xfrm>
            <a:off x="7261017" y="1700784"/>
            <a:ext cx="4272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Data JPA + Spring Kafka</a:t>
            </a:r>
            <a:endParaRPr b="0" i="0" sz="1000" u="none" cap="none" strike="noStrike">
              <a:solidFill>
                <a:schemeClr val="dk1"/>
              </a:solidFill>
              <a:latin typeface="Calibri"/>
              <a:ea typeface="Calibri"/>
              <a:cs typeface="Calibri"/>
              <a:sym typeface="Calibri"/>
            </a:endParaRPr>
          </a:p>
        </p:txBody>
      </p:sp>
      <p:sp>
        <p:nvSpPr>
          <p:cNvPr id="328" name="Google Shape;328;p3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 @RequestMapping("/orders")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OrderWriteController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final fields: OrderRepository writes, KafkaTemplate kafka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@PostMapping @Transactional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create(@RequestBody OrderIn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writes.save(new Order(body));            // write model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kafka.send("order.placed", order.id(),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OrderCreatedEvent(order));                     // → projection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 @RequestMapping("/orders")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OrderReadController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OrderSummaryRepository reads;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@GetMapping("/{id}/summary")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OrderSummary summary(@PathVariable String id)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reads.findById(id)                              // read store only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.orElseThrow(() -&gt; new ResponseStatusException(NOT_FOUND));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OrderSummaryProjection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OrderSummaryRepository reads;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@KafkaListener(topics = "order.placed", groupId = "order-summary")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@Transactional("readDbTxManager")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on(OrderCreatedEvent ev) { reads.save(OrderSummary.from(ev));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329" name="Google Shape;329;p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24</a:t>
            </a:r>
            <a:endParaRPr b="0" i="0" sz="1000" u="none" cap="none" strike="noStrike">
              <a:solidFill>
                <a:schemeClr val="dk1"/>
              </a:solidFill>
              <a:latin typeface="Calibri"/>
              <a:ea typeface="Calibri"/>
              <a:cs typeface="Calibri"/>
              <a:sym typeface="Calibri"/>
            </a:endParaRPr>
          </a:p>
        </p:txBody>
      </p:sp>
      <p:pic>
        <p:nvPicPr>
          <p:cNvPr descr="/home/claude/work/assets/rh-logo.png" id="330" name="Google Shape;330;p3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37" name="Google Shape;337;p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Log tailing — the database commit log is the event stream</a:t>
            </a:r>
            <a:endParaRPr b="0" i="0" sz="3000" u="none" cap="none" strike="noStrike">
              <a:solidFill>
                <a:schemeClr val="dk1"/>
              </a:solidFill>
              <a:latin typeface="Calibri"/>
              <a:ea typeface="Calibri"/>
              <a:cs typeface="Calibri"/>
              <a:sym typeface="Calibri"/>
            </a:endParaRPr>
          </a:p>
        </p:txBody>
      </p:sp>
      <p:pic>
        <p:nvPicPr>
          <p:cNvPr descr="/home/claude/work/png-sb/08c-data-log-tailing.png" id="338" name="Google Shape;338;p32"/>
          <p:cNvPicPr preferRelativeResize="0"/>
          <p:nvPr/>
        </p:nvPicPr>
        <p:blipFill rotWithShape="1">
          <a:blip r:embed="rId5">
            <a:alphaModFix/>
          </a:blip>
          <a:stretch/>
        </p:blipFill>
        <p:spPr>
          <a:xfrm>
            <a:off x="1149305" y="2241580"/>
            <a:ext cx="9893084" cy="3243518"/>
          </a:xfrm>
          <a:prstGeom prst="rect">
            <a:avLst/>
          </a:prstGeom>
          <a:noFill/>
          <a:ln>
            <a:noFill/>
          </a:ln>
        </p:spPr>
      </p:pic>
      <p:sp>
        <p:nvSpPr>
          <p:cNvPr id="339" name="Google Shape;339;p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Debezium tails the WAL and publishes every committed row as a Kafka event. No dual-write.</a:t>
            </a:r>
            <a:endParaRPr b="0" i="0" sz="1200" u="none" cap="none" strike="noStrike">
              <a:solidFill>
                <a:schemeClr val="dk1"/>
              </a:solidFill>
              <a:latin typeface="Calibri"/>
              <a:ea typeface="Calibri"/>
              <a:cs typeface="Calibri"/>
              <a:sym typeface="Calibri"/>
            </a:endParaRPr>
          </a:p>
        </p:txBody>
      </p:sp>
      <p:sp>
        <p:nvSpPr>
          <p:cNvPr id="340" name="Google Shape;340;p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25</a:t>
            </a:r>
            <a:endParaRPr b="0" i="0" sz="1000" u="none" cap="none" strike="noStrike">
              <a:solidFill>
                <a:schemeClr val="dk1"/>
              </a:solidFill>
              <a:latin typeface="Calibri"/>
              <a:ea typeface="Calibri"/>
              <a:cs typeface="Calibri"/>
              <a:sym typeface="Calibri"/>
            </a:endParaRPr>
          </a:p>
        </p:txBody>
      </p:sp>
      <p:pic>
        <p:nvPicPr>
          <p:cNvPr descr="/home/claude/work/assets/rh-logo.png" id="341" name="Google Shape;341;p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48" name="Google Shape;348;p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Dual-write is unsafe — use the outbox</a:t>
            </a:r>
            <a:endParaRPr b="0" i="0" sz="3000" u="none" cap="none" strike="noStrike">
              <a:solidFill>
                <a:schemeClr val="dk1"/>
              </a:solidFill>
              <a:latin typeface="Calibri"/>
              <a:ea typeface="Calibri"/>
              <a:cs typeface="Calibri"/>
              <a:sym typeface="Calibri"/>
            </a:endParaRPr>
          </a:p>
        </p:txBody>
      </p:sp>
      <p:pic>
        <p:nvPicPr>
          <p:cNvPr descr="/home/claude/work/png-sb/09-data-outbox-cdc.png" id="349" name="Google Shape;349;p33"/>
          <p:cNvPicPr preferRelativeResize="0"/>
          <p:nvPr/>
        </p:nvPicPr>
        <p:blipFill rotWithShape="1">
          <a:blip r:embed="rId3">
            <a:alphaModFix/>
          </a:blip>
          <a:stretch/>
        </p:blipFill>
        <p:spPr>
          <a:xfrm>
            <a:off x="1327422" y="1600200"/>
            <a:ext cx="9536853" cy="4526280"/>
          </a:xfrm>
          <a:prstGeom prst="rect">
            <a:avLst/>
          </a:prstGeom>
          <a:noFill/>
          <a:ln>
            <a:noFill/>
          </a:ln>
        </p:spPr>
      </p:pic>
      <p:sp>
        <p:nvSpPr>
          <p:cNvPr id="350" name="Google Shape;350;p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 state and the outbox row in one transaction; CDC relays the committed fact to Kafka.</a:t>
            </a:r>
            <a:endParaRPr b="0" i="0" sz="1200" u="none" cap="none" strike="noStrike">
              <a:solidFill>
                <a:schemeClr val="dk1"/>
              </a:solidFill>
              <a:latin typeface="Calibri"/>
              <a:ea typeface="Calibri"/>
              <a:cs typeface="Calibri"/>
              <a:sym typeface="Calibri"/>
            </a:endParaRPr>
          </a:p>
        </p:txBody>
      </p:sp>
      <p:sp>
        <p:nvSpPr>
          <p:cNvPr id="351" name="Google Shape;351;p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26</a:t>
            </a:r>
            <a:endParaRPr b="0" i="0" sz="1000" u="none" cap="none" strike="noStrike">
              <a:solidFill>
                <a:schemeClr val="dk1"/>
              </a:solidFill>
              <a:latin typeface="Calibri"/>
              <a:ea typeface="Calibri"/>
              <a:cs typeface="Calibri"/>
              <a:sym typeface="Calibri"/>
            </a:endParaRPr>
          </a:p>
        </p:txBody>
      </p:sp>
      <p:pic>
        <p:nvPicPr>
          <p:cNvPr descr="/home/claude/work/assets/rh-logo.png" id="352" name="Google Shape;352;p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59" name="Google Shape;359;p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outbox write — one transaction, no lost events</a:t>
            </a:r>
            <a:endParaRPr b="0" i="0" sz="3000" u="none" cap="none" strike="noStrike">
              <a:solidFill>
                <a:schemeClr val="dk1"/>
              </a:solidFill>
              <a:latin typeface="Calibri"/>
              <a:ea typeface="Calibri"/>
              <a:cs typeface="Calibri"/>
              <a:sym typeface="Calibri"/>
            </a:endParaRPr>
          </a:p>
        </p:txBody>
      </p:sp>
      <p:sp>
        <p:nvSpPr>
          <p:cNvPr id="360" name="Google Shape;360;p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4"/>
          <p:cNvSpPr/>
          <p:nvPr/>
        </p:nvSpPr>
        <p:spPr>
          <a:xfrm>
            <a:off x="7642017" y="1700784"/>
            <a:ext cx="3891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JPA + Debezium CDC</a:t>
            </a:r>
            <a:endParaRPr b="0" i="0" sz="1000" u="none" cap="none" strike="noStrike">
              <a:solidFill>
                <a:schemeClr val="dk1"/>
              </a:solidFill>
              <a:latin typeface="Calibri"/>
              <a:ea typeface="Calibri"/>
              <a:cs typeface="Calibri"/>
              <a:sym typeface="Calibri"/>
            </a:endParaRPr>
          </a:p>
        </p:txBody>
      </p:sp>
      <p:sp>
        <p:nvSpPr>
          <p:cNvPr id="362" name="Google Shape;362;p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OrderService.java (excerpt): order row and outbox row, one transaction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@Transactional                                   // single local transaction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OrderView placeOrder(String sku, int quantity)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var order = orders.save(new Order(sku, quantity, "confirmed"));     // state change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var view = order.toView();</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outbox.save(new OutboxEvent(order.getId(), "order.placed", Map.of(  // same transaction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"id", view.id(), "sku", view.sku(),</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"quantity", view.quantity(), "status", view.status())));</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return view;        // OutboxEvent.payload: a JSONB column (@JdbcTypeCode(SqlTypes.JSON))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No Kafka call on the request path: Debezium tails the WAL and publishes order.placed.</a:t>
            </a:r>
            <a:endParaRPr b="0" i="0" sz="1150" u="none" cap="none" strike="noStrike">
              <a:solidFill>
                <a:schemeClr val="dk1"/>
              </a:solidFill>
              <a:latin typeface="Calibri"/>
              <a:ea typeface="Calibri"/>
              <a:cs typeface="Calibri"/>
              <a:sym typeface="Calibri"/>
            </a:endParaRPr>
          </a:p>
        </p:txBody>
      </p:sp>
      <p:sp>
        <p:nvSpPr>
          <p:cNvPr id="363" name="Google Shape;363;p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database commit is the source of truth. The outbox + CDC turns it into a guaranteed, ordered event.</a:t>
            </a:r>
            <a:endParaRPr b="0" i="0" sz="1300" u="none" cap="none" strike="noStrike">
              <a:solidFill>
                <a:schemeClr val="dk1"/>
              </a:solidFill>
              <a:latin typeface="Calibri"/>
              <a:ea typeface="Calibri"/>
              <a:cs typeface="Calibri"/>
              <a:sym typeface="Calibri"/>
            </a:endParaRPr>
          </a:p>
        </p:txBody>
      </p:sp>
      <p:sp>
        <p:nvSpPr>
          <p:cNvPr id="364" name="Google Shape;364;p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27</a:t>
            </a:r>
            <a:endParaRPr b="0" i="0" sz="1000" u="none" cap="none" strike="noStrike">
              <a:solidFill>
                <a:schemeClr val="dk1"/>
              </a:solidFill>
              <a:latin typeface="Calibri"/>
              <a:ea typeface="Calibri"/>
              <a:cs typeface="Calibri"/>
              <a:sym typeface="Calibri"/>
            </a:endParaRPr>
          </a:p>
        </p:txBody>
      </p:sp>
      <p:pic>
        <p:nvPicPr>
          <p:cNvPr descr="/home/claude/work/assets/rh-logo.png" id="365" name="Google Shape;365;p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Consistency without distributed transactions: the saga</a:t>
            </a:r>
            <a:endParaRPr b="0" i="0" sz="3000" u="none" cap="none" strike="noStrike">
              <a:solidFill>
                <a:schemeClr val="dk1"/>
              </a:solidFill>
              <a:latin typeface="Calibri"/>
              <a:ea typeface="Calibri"/>
              <a:cs typeface="Calibri"/>
              <a:sym typeface="Calibri"/>
            </a:endParaRPr>
          </a:p>
        </p:txBody>
      </p:sp>
      <p:pic>
        <p:nvPicPr>
          <p:cNvPr descr="/home/claude/work/png-sb/10-data-saga.png" id="373" name="Google Shape;373;p3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74" name="Google Shape;374;p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chain of local transactions; failures trigger compensating actions, never a cross-service rollback.</a:t>
            </a:r>
            <a:endParaRPr b="0" i="0" sz="1200" u="none" cap="none" strike="noStrike">
              <a:solidFill>
                <a:schemeClr val="dk1"/>
              </a:solidFill>
              <a:latin typeface="Calibri"/>
              <a:ea typeface="Calibri"/>
              <a:cs typeface="Calibri"/>
              <a:sym typeface="Calibri"/>
            </a:endParaRPr>
          </a:p>
        </p:txBody>
      </p:sp>
      <p:sp>
        <p:nvSpPr>
          <p:cNvPr id="375" name="Google Shape;375;p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28</a:t>
            </a:r>
            <a:endParaRPr b="0" i="0" sz="1000" u="none" cap="none" strike="noStrike">
              <a:solidFill>
                <a:schemeClr val="dk1"/>
              </a:solidFill>
              <a:latin typeface="Calibri"/>
              <a:ea typeface="Calibri"/>
              <a:cs typeface="Calibri"/>
              <a:sym typeface="Calibri"/>
            </a:endParaRPr>
          </a:p>
        </p:txBody>
      </p:sp>
      <p:pic>
        <p:nvPicPr>
          <p:cNvPr descr="/home/claude/work/assets/rh-logo.png" id="376" name="Google Shape;376;p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381" name="Shape 381"/>
        <p:cNvGrpSpPr/>
        <p:nvPr/>
      </p:nvGrpSpPr>
      <p:grpSpPr>
        <a:xfrm>
          <a:off x="0" y="0"/>
          <a:ext cx="0" cy="0"/>
          <a:chOff x="0" y="0"/>
          <a:chExt cx="0" cy="0"/>
        </a:xfrm>
      </p:grpSpPr>
      <p:pic>
        <p:nvPicPr>
          <p:cNvPr descr="/home/claude/work/assets/rh-divider-bg.png" id="382" name="Google Shape;382;p3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383" name="Google Shape;383;p3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05</a:t>
            </a:r>
            <a:endParaRPr b="0" i="0" sz="2200" u="none" cap="none" strike="noStrike">
              <a:solidFill>
                <a:schemeClr val="dk1"/>
              </a:solidFill>
              <a:latin typeface="Calibri"/>
              <a:ea typeface="Calibri"/>
              <a:cs typeface="Calibri"/>
              <a:sym typeface="Calibri"/>
            </a:endParaRPr>
          </a:p>
        </p:txBody>
      </p:sp>
      <p:sp>
        <p:nvSpPr>
          <p:cNvPr id="384" name="Google Shape;384;p3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Event-Driven</a:t>
            </a:r>
            <a:endParaRPr b="0" i="0" sz="4000" u="none" cap="none" strike="noStrike">
              <a:solidFill>
                <a:schemeClr val="dk1"/>
              </a:solidFill>
              <a:latin typeface="Calibri"/>
              <a:ea typeface="Calibri"/>
              <a:cs typeface="Calibri"/>
              <a:sym typeface="Calibri"/>
            </a:endParaRPr>
          </a:p>
        </p:txBody>
      </p:sp>
      <p:sp>
        <p:nvSpPr>
          <p:cNvPr id="385" name="Google Shape;385;p3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Emit facts; let consumers decide.</a:t>
            </a:r>
            <a:endParaRPr b="0" i="0" sz="1500" u="none" cap="none" strike="noStrike">
              <a:solidFill>
                <a:schemeClr val="dk1"/>
              </a:solidFill>
              <a:latin typeface="Calibri"/>
              <a:ea typeface="Calibri"/>
              <a:cs typeface="Calibri"/>
              <a:sym typeface="Calibri"/>
            </a:endParaRPr>
          </a:p>
        </p:txBody>
      </p:sp>
      <p:pic>
        <p:nvPicPr>
          <p:cNvPr descr="/home/claude/work/assets/rh-logo-white.png" id="386" name="Google Shape;386;p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393" name="Google Shape;393;p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event backbone — one fact, many reactions</a:t>
            </a:r>
            <a:endParaRPr b="0" i="0" sz="3000" u="none" cap="none" strike="noStrike">
              <a:solidFill>
                <a:schemeClr val="dk1"/>
              </a:solidFill>
              <a:latin typeface="Calibri"/>
              <a:ea typeface="Calibri"/>
              <a:cs typeface="Calibri"/>
              <a:sym typeface="Calibri"/>
            </a:endParaRPr>
          </a:p>
        </p:txBody>
      </p:sp>
      <p:pic>
        <p:nvPicPr>
          <p:cNvPr descr="/home/claude/work/png-sb/11-event-topology.png" id="394" name="Google Shape;394;p3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395" name="Google Shape;395;p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order.placed fans out to consumers the producer never names. Add a consumer without touching the producer.</a:t>
            </a:r>
            <a:endParaRPr b="0" i="0" sz="1200" u="none" cap="none" strike="noStrike">
              <a:solidFill>
                <a:schemeClr val="dk1"/>
              </a:solidFill>
              <a:latin typeface="Calibri"/>
              <a:ea typeface="Calibri"/>
              <a:cs typeface="Calibri"/>
              <a:sym typeface="Calibri"/>
            </a:endParaRPr>
          </a:p>
        </p:txBody>
      </p:sp>
      <p:sp>
        <p:nvSpPr>
          <p:cNvPr id="396" name="Google Shape;396;p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29</a:t>
            </a:r>
            <a:endParaRPr b="0" i="0" sz="1000" u="none" cap="none" strike="noStrike">
              <a:solidFill>
                <a:schemeClr val="dk1"/>
              </a:solidFill>
              <a:latin typeface="Calibri"/>
              <a:ea typeface="Calibri"/>
              <a:cs typeface="Calibri"/>
              <a:sym typeface="Calibri"/>
            </a:endParaRPr>
          </a:p>
        </p:txBody>
      </p:sp>
      <p:pic>
        <p:nvPicPr>
          <p:cNvPr descr="/home/claude/work/assets/rh-logo.png" id="397" name="Google Shape;397;p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04" name="Google Shape;404;p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Producing and consuming with Spring Kafka</a:t>
            </a:r>
            <a:endParaRPr b="0" i="0" sz="3000" u="none" cap="none" strike="noStrike">
              <a:solidFill>
                <a:schemeClr val="dk1"/>
              </a:solidFill>
              <a:latin typeface="Calibri"/>
              <a:ea typeface="Calibri"/>
              <a:cs typeface="Calibri"/>
              <a:sym typeface="Calibri"/>
            </a:endParaRPr>
          </a:p>
        </p:txBody>
      </p:sp>
      <p:sp>
        <p:nvSpPr>
          <p:cNvPr id="405" name="Google Shape;405;p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8"/>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Kafka</a:t>
            </a:r>
            <a:endParaRPr b="0" i="0" sz="1000" u="none" cap="none" strike="noStrike">
              <a:solidFill>
                <a:schemeClr val="dk1"/>
              </a:solidFill>
              <a:latin typeface="Calibri"/>
              <a:ea typeface="Calibri"/>
              <a:cs typeface="Calibri"/>
              <a:sym typeface="Calibri"/>
            </a:endParaRPr>
          </a:p>
        </p:txBody>
      </p:sp>
      <p:sp>
        <p:nvSpPr>
          <p:cNvPr id="407" name="Google Shape;407;p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producer — order-service (or the Debezium relay) emits the fact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@Service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OrderEvents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private final KafkaTemplate&lt;String, Order&gt; kafka;</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OrderEvents(KafkaTemplate&lt;String, Order&gt; k) { this.kafka = k;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void publish(Order o)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kafka.send("order.placed", o.id(), o);     // keyed; schema-aware serde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consumer — notification-service, Kafka-only by design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@Service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Notifier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@KafkaListener(topics = "order.placed",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containerFactory = "manualAckFactory")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void onOrder(ConsumerRecord&lt;String, Order&gt; rec, Acknowledgment ack)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sendEmail(rec.value());                    // do the work first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ack.acknowledge();                         // ack after — at-least-once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408" name="Google Shape;408;p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Ack after the side-effect, and make handlers idempotent — at-least-once delivery is the contract.</a:t>
            </a:r>
            <a:endParaRPr b="0" i="0" sz="1300" u="none" cap="none" strike="noStrike">
              <a:solidFill>
                <a:schemeClr val="dk1"/>
              </a:solidFill>
              <a:latin typeface="Calibri"/>
              <a:ea typeface="Calibri"/>
              <a:cs typeface="Calibri"/>
              <a:sym typeface="Calibri"/>
            </a:endParaRPr>
          </a:p>
        </p:txBody>
      </p:sp>
      <p:sp>
        <p:nvSpPr>
          <p:cNvPr id="409" name="Google Shape;409;p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30</a:t>
            </a:r>
            <a:endParaRPr b="0" i="0" sz="1000" u="none" cap="none" strike="noStrike">
              <a:solidFill>
                <a:schemeClr val="dk1"/>
              </a:solidFill>
              <a:latin typeface="Calibri"/>
              <a:ea typeface="Calibri"/>
              <a:cs typeface="Calibri"/>
              <a:sym typeface="Calibri"/>
            </a:endParaRPr>
          </a:p>
        </p:txBody>
      </p:sp>
      <p:pic>
        <p:nvPicPr>
          <p:cNvPr descr="/home/claude/work/assets/rh-logo.png" id="410" name="Google Shape;410;p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17" name="Google Shape;417;p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Schemas are the contract — the registry enforces them</a:t>
            </a:r>
            <a:endParaRPr b="0" i="0" sz="3000" u="none" cap="none" strike="noStrike">
              <a:solidFill>
                <a:schemeClr val="dk1"/>
              </a:solidFill>
              <a:latin typeface="Calibri"/>
              <a:ea typeface="Calibri"/>
              <a:cs typeface="Calibri"/>
              <a:sym typeface="Calibri"/>
            </a:endParaRPr>
          </a:p>
        </p:txBody>
      </p:sp>
      <p:pic>
        <p:nvPicPr>
          <p:cNvPr descr="/home/claude/work/png-sb/12-event-schema-registry.png" id="418" name="Google Shape;418;p3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419" name="Google Shape;419;p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Apicurio holds versioned schemas; compatibility is checked at publish time so breaking changes are rejected early.</a:t>
            </a:r>
            <a:endParaRPr b="0" i="0" sz="1200" u="none" cap="none" strike="noStrike">
              <a:solidFill>
                <a:schemeClr val="dk1"/>
              </a:solidFill>
              <a:latin typeface="Calibri"/>
              <a:ea typeface="Calibri"/>
              <a:cs typeface="Calibri"/>
              <a:sym typeface="Calibri"/>
            </a:endParaRPr>
          </a:p>
        </p:txBody>
      </p:sp>
      <p:sp>
        <p:nvSpPr>
          <p:cNvPr id="420" name="Google Shape;420;p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31</a:t>
            </a:r>
            <a:endParaRPr b="0" i="0" sz="1000" u="none" cap="none" strike="noStrike">
              <a:solidFill>
                <a:schemeClr val="dk1"/>
              </a:solidFill>
              <a:latin typeface="Calibri"/>
              <a:ea typeface="Calibri"/>
              <a:cs typeface="Calibri"/>
              <a:sym typeface="Calibri"/>
            </a:endParaRPr>
          </a:p>
        </p:txBody>
      </p:sp>
      <p:pic>
        <p:nvPicPr>
          <p:cNvPr descr="/home/claude/work/assets/rh-logo.png" id="421" name="Google Shape;421;p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28" name="Google Shape;428;p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 sourcing vs. event streaming</a:t>
            </a:r>
            <a:endParaRPr b="0" i="0" sz="3000" u="none" cap="none" strike="noStrike">
              <a:solidFill>
                <a:schemeClr val="dk1"/>
              </a:solidFill>
              <a:latin typeface="Calibri"/>
              <a:ea typeface="Calibri"/>
              <a:cs typeface="Calibri"/>
              <a:sym typeface="Calibri"/>
            </a:endParaRPr>
          </a:p>
        </p:txBody>
      </p:sp>
      <p:pic>
        <p:nvPicPr>
          <p:cNvPr descr="/home/claude/work/png-sb/11b-event-sourcing-vs-streaming.png" id="429" name="Google Shape;429;p40"/>
          <p:cNvPicPr preferRelativeResize="0"/>
          <p:nvPr/>
        </p:nvPicPr>
        <p:blipFill rotWithShape="1">
          <a:blip r:embed="rId5">
            <a:alphaModFix/>
          </a:blip>
          <a:stretch/>
        </p:blipFill>
        <p:spPr>
          <a:xfrm>
            <a:off x="1493156" y="1884183"/>
            <a:ext cx="9205386" cy="3958315"/>
          </a:xfrm>
          <a:prstGeom prst="rect">
            <a:avLst/>
          </a:prstGeom>
          <a:noFill/>
          <a:ln>
            <a:noFill/>
          </a:ln>
        </p:spPr>
      </p:pic>
      <p:sp>
        <p:nvSpPr>
          <p:cNvPr id="430" name="Google Shape;430;p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Two patterns, often confused. Sourcing: the events are the state. Streaming: events are the transport.</a:t>
            </a:r>
            <a:endParaRPr b="0" i="0" sz="1200" u="none" cap="none" strike="noStrike">
              <a:solidFill>
                <a:schemeClr val="dk1"/>
              </a:solidFill>
              <a:latin typeface="Calibri"/>
              <a:ea typeface="Calibri"/>
              <a:cs typeface="Calibri"/>
              <a:sym typeface="Calibri"/>
            </a:endParaRPr>
          </a:p>
        </p:txBody>
      </p:sp>
      <p:sp>
        <p:nvSpPr>
          <p:cNvPr id="431" name="Google Shape;431;p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32</a:t>
            </a:r>
            <a:endParaRPr b="0" i="0" sz="1000" u="none" cap="none" strike="noStrike">
              <a:solidFill>
                <a:schemeClr val="dk1"/>
              </a:solidFill>
              <a:latin typeface="Calibri"/>
              <a:ea typeface="Calibri"/>
              <a:cs typeface="Calibri"/>
              <a:sym typeface="Calibri"/>
            </a:endParaRPr>
          </a:p>
        </p:txBody>
      </p:sp>
      <p:pic>
        <p:nvPicPr>
          <p:cNvPr descr="/home/claude/work/assets/rh-logo.png" id="432" name="Google Shape;432;p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39" name="Google Shape;439;p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Event-driven tools landscape — Kafka, Pulsar, Flink, NiFi</a:t>
            </a:r>
            <a:endParaRPr b="0" i="0" sz="3000" u="none" cap="none" strike="noStrike">
              <a:solidFill>
                <a:schemeClr val="dk1"/>
              </a:solidFill>
              <a:latin typeface="Calibri"/>
              <a:ea typeface="Calibri"/>
              <a:cs typeface="Calibri"/>
              <a:sym typeface="Calibri"/>
            </a:endParaRPr>
          </a:p>
        </p:txBody>
      </p:sp>
      <p:pic>
        <p:nvPicPr>
          <p:cNvPr descr="/home/claude/work/png-sb/11c-event-tooling-landscape.png" id="440" name="Google Shape;440;p41"/>
          <p:cNvPicPr preferRelativeResize="0"/>
          <p:nvPr/>
        </p:nvPicPr>
        <p:blipFill rotWithShape="1">
          <a:blip r:embed="rId5">
            <a:alphaModFix/>
          </a:blip>
          <a:stretch/>
        </p:blipFill>
        <p:spPr>
          <a:xfrm>
            <a:off x="1788310" y="2081865"/>
            <a:ext cx="8615076" cy="3562949"/>
          </a:xfrm>
          <a:prstGeom prst="rect">
            <a:avLst/>
          </a:prstGeom>
          <a:noFill/>
          <a:ln>
            <a:noFill/>
          </a:ln>
        </p:spPr>
      </p:pic>
      <p:sp>
        <p:nvSpPr>
          <p:cNvPr id="441" name="Google Shape;441;p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Different jobs, often together: substrate (Kafka, Pulsar), compute (Flink), movement (NiFi, Debezium).</a:t>
            </a:r>
            <a:endParaRPr b="0" i="0" sz="1200" u="none" cap="none" strike="noStrike">
              <a:solidFill>
                <a:schemeClr val="dk1"/>
              </a:solidFill>
              <a:latin typeface="Calibri"/>
              <a:ea typeface="Calibri"/>
              <a:cs typeface="Calibri"/>
              <a:sym typeface="Calibri"/>
            </a:endParaRPr>
          </a:p>
        </p:txBody>
      </p:sp>
      <p:sp>
        <p:nvSpPr>
          <p:cNvPr id="442" name="Google Shape;442;p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33</a:t>
            </a:r>
            <a:endParaRPr b="0" i="0" sz="1000" u="none" cap="none" strike="noStrike">
              <a:solidFill>
                <a:schemeClr val="dk1"/>
              </a:solidFill>
              <a:latin typeface="Calibri"/>
              <a:ea typeface="Calibri"/>
              <a:cs typeface="Calibri"/>
              <a:sym typeface="Calibri"/>
            </a:endParaRPr>
          </a:p>
        </p:txBody>
      </p:sp>
      <p:pic>
        <p:nvPicPr>
          <p:cNvPr descr="/home/claude/work/assets/rh-logo.png" id="443" name="Google Shape;443;p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50" name="Google Shape;450;p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log is the source of truth</a:t>
            </a:r>
            <a:endParaRPr b="0" i="0" sz="3000" u="none" cap="none" strike="noStrike">
              <a:solidFill>
                <a:schemeClr val="dk1"/>
              </a:solidFill>
              <a:latin typeface="Calibri"/>
              <a:ea typeface="Calibri"/>
              <a:cs typeface="Calibri"/>
              <a:sym typeface="Calibri"/>
            </a:endParaRPr>
          </a:p>
        </p:txBody>
      </p:sp>
      <p:pic>
        <p:nvPicPr>
          <p:cNvPr descr="/home/claude/work/png-sb/13-event-log-replay.png" id="451" name="Google Shape;451;p4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52" name="Google Shape;452;p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Consumers track their own offset; replay is just rewinding. Kafka (Strimzi) and Pulsar are logs, not queues.</a:t>
            </a:r>
            <a:endParaRPr b="0" i="0" sz="1200" u="none" cap="none" strike="noStrike">
              <a:solidFill>
                <a:schemeClr val="dk1"/>
              </a:solidFill>
              <a:latin typeface="Calibri"/>
              <a:ea typeface="Calibri"/>
              <a:cs typeface="Calibri"/>
              <a:sym typeface="Calibri"/>
            </a:endParaRPr>
          </a:p>
        </p:txBody>
      </p:sp>
      <p:sp>
        <p:nvSpPr>
          <p:cNvPr id="453" name="Google Shape;453;p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34</a:t>
            </a:r>
            <a:endParaRPr b="0" i="0" sz="1000" u="none" cap="none" strike="noStrike">
              <a:solidFill>
                <a:schemeClr val="dk1"/>
              </a:solidFill>
              <a:latin typeface="Calibri"/>
              <a:ea typeface="Calibri"/>
              <a:cs typeface="Calibri"/>
              <a:sym typeface="Calibri"/>
            </a:endParaRPr>
          </a:p>
        </p:txBody>
      </p:sp>
      <p:pic>
        <p:nvPicPr>
          <p:cNvPr descr="/home/claude/work/assets/rh-logo.png" id="454" name="Google Shape;454;p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459" name="Shape 459"/>
        <p:cNvGrpSpPr/>
        <p:nvPr/>
      </p:nvGrpSpPr>
      <p:grpSpPr>
        <a:xfrm>
          <a:off x="0" y="0"/>
          <a:ext cx="0" cy="0"/>
          <a:chOff x="0" y="0"/>
          <a:chExt cx="0" cy="0"/>
        </a:xfrm>
      </p:grpSpPr>
      <p:pic>
        <p:nvPicPr>
          <p:cNvPr descr="/home/claude/work/assets/rh-divider-bg.png" id="460" name="Google Shape;460;p4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461" name="Google Shape;461;p4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06</a:t>
            </a:r>
            <a:endParaRPr b="0" i="0" sz="2200" u="none" cap="none" strike="noStrike">
              <a:solidFill>
                <a:schemeClr val="dk1"/>
              </a:solidFill>
              <a:latin typeface="Calibri"/>
              <a:ea typeface="Calibri"/>
              <a:cs typeface="Calibri"/>
              <a:sym typeface="Calibri"/>
            </a:endParaRPr>
          </a:p>
        </p:txBody>
      </p:sp>
      <p:sp>
        <p:nvSpPr>
          <p:cNvPr id="462" name="Google Shape;462;p4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Stream Processing</a:t>
            </a:r>
            <a:endParaRPr b="0" i="0" sz="4000" u="none" cap="none" strike="noStrike">
              <a:solidFill>
                <a:schemeClr val="dk1"/>
              </a:solidFill>
              <a:latin typeface="Calibri"/>
              <a:ea typeface="Calibri"/>
              <a:cs typeface="Calibri"/>
              <a:sym typeface="Calibri"/>
            </a:endParaRPr>
          </a:p>
        </p:txBody>
      </p:sp>
      <p:sp>
        <p:nvSpPr>
          <p:cNvPr id="463" name="Google Shape;463;p4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Streams in, derived streams out.</a:t>
            </a:r>
            <a:endParaRPr b="0" i="0" sz="1500" u="none" cap="none" strike="noStrike">
              <a:solidFill>
                <a:schemeClr val="dk1"/>
              </a:solidFill>
              <a:latin typeface="Calibri"/>
              <a:ea typeface="Calibri"/>
              <a:cs typeface="Calibri"/>
              <a:sym typeface="Calibri"/>
            </a:endParaRPr>
          </a:p>
        </p:txBody>
      </p:sp>
      <p:pic>
        <p:nvPicPr>
          <p:cNvPr descr="/home/claude/work/assets/rh-logo-white.png" id="464" name="Google Shape;464;p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71" name="Google Shape;471;p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Derive new streams from streams</a:t>
            </a:r>
            <a:endParaRPr b="0" i="0" sz="3000" u="none" cap="none" strike="noStrike">
              <a:solidFill>
                <a:schemeClr val="dk1"/>
              </a:solidFill>
              <a:latin typeface="Calibri"/>
              <a:ea typeface="Calibri"/>
              <a:cs typeface="Calibri"/>
              <a:sym typeface="Calibri"/>
            </a:endParaRPr>
          </a:p>
        </p:txBody>
      </p:sp>
      <p:pic>
        <p:nvPicPr>
          <p:cNvPr descr="/home/claude/work/png-sb/14-stream-topology.png" id="472" name="Google Shape;472;p4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73" name="Google Shape;473;p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streaming app is a topology of sources, stateful processors and sinks — joins, windows and aggregates.</a:t>
            </a:r>
            <a:endParaRPr b="0" i="0" sz="1200" u="none" cap="none" strike="noStrike">
              <a:solidFill>
                <a:schemeClr val="dk1"/>
              </a:solidFill>
              <a:latin typeface="Calibri"/>
              <a:ea typeface="Calibri"/>
              <a:cs typeface="Calibri"/>
              <a:sym typeface="Calibri"/>
            </a:endParaRPr>
          </a:p>
        </p:txBody>
      </p:sp>
      <p:sp>
        <p:nvSpPr>
          <p:cNvPr id="474" name="Google Shape;474;p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35</a:t>
            </a:r>
            <a:endParaRPr b="0" i="0" sz="1000" u="none" cap="none" strike="noStrike">
              <a:solidFill>
                <a:schemeClr val="dk1"/>
              </a:solidFill>
              <a:latin typeface="Calibri"/>
              <a:ea typeface="Calibri"/>
              <a:cs typeface="Calibri"/>
              <a:sym typeface="Calibri"/>
            </a:endParaRPr>
          </a:p>
        </p:txBody>
      </p:sp>
      <p:pic>
        <p:nvPicPr>
          <p:cNvPr descr="/home/claude/work/assets/rh-logo.png" id="475" name="Google Shape;475;p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82" name="Google Shape;482;p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windowed aggregation with Kafka Streams</a:t>
            </a:r>
            <a:endParaRPr b="0" i="0" sz="3000" u="none" cap="none" strike="noStrike">
              <a:solidFill>
                <a:schemeClr val="dk1"/>
              </a:solidFill>
              <a:latin typeface="Calibri"/>
              <a:ea typeface="Calibri"/>
              <a:cs typeface="Calibri"/>
              <a:sym typeface="Calibri"/>
            </a:endParaRPr>
          </a:p>
        </p:txBody>
      </p:sp>
      <p:sp>
        <p:nvSpPr>
          <p:cNvPr id="483" name="Google Shape;483;p4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5"/>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Kafka Streams</a:t>
            </a:r>
            <a:endParaRPr b="0" i="0" sz="1000" u="none" cap="none" strike="noStrike">
              <a:solidFill>
                <a:schemeClr val="dk1"/>
              </a:solidFill>
              <a:latin typeface="Calibri"/>
              <a:ea typeface="Calibri"/>
              <a:cs typeface="Calibri"/>
              <a:sym typeface="Calibri"/>
            </a:endParaRPr>
          </a:p>
        </p:txBody>
      </p:sp>
      <p:sp>
        <p:nvSpPr>
          <p:cNvPr id="485" name="Google Shape;485;p4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stream-processor RevenueTopology.java (excerpt): order.placed -&gt; revenue.by-merchant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@Configuration @EnableKafkaStreams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RevenueTopology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@Bean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KStream&lt;String, MerchantRevenue&gt; revenueStream(StreamsBuilder builder)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orderSerde = new JacksonJsonSerde&lt;&gt;(OrderPlaced.class)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.ignoreTypeHeaders().noTypeInfo();</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accSerde = new JacksonJsonSerde&lt;&gt;(Acc.class).noTypeInfo();   // revenueSerde alike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revenue = builder.stream(ORDERS, Consumed.with(Serdes.String(), orderSerde))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.filter((key, order) -&gt; order != null &amp;&amp; order.merchantId() != null)</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.selectKey((key, order) -&gt; order.merchantId())     // re-key by merchant_id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.groupByKey(Grouped.with(Serdes.String(), orderSerde))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.windowedBy(TimeWindows.ofSizeWithNoGrace(Duration.ofSeconds(windowSeconds)))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.aggregate(() -&gt; new Acc(0, BigDecimal.ZERO),  // local, changelog-backed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(merchant, order, acc) -&gt; acc.add(order.total()),</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Materialized.with(Serdes.String(), accSerde))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.toStream()</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.map((window, acc) -&gt; KeyValue.pair(window.key(), toRevenue(window, acc)));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revenue.to(REVENUE, Produced.with(Serdes.String(), revenueSerde));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revenue;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486" name="Google Shape;486;p4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Local state + a changelog topic gives fault-tolerant aggregation. The output is itself a stream other services can consume.</a:t>
            </a:r>
            <a:endParaRPr b="0" i="0" sz="1300" u="none" cap="none" strike="noStrike">
              <a:solidFill>
                <a:schemeClr val="dk1"/>
              </a:solidFill>
              <a:latin typeface="Calibri"/>
              <a:ea typeface="Calibri"/>
              <a:cs typeface="Calibri"/>
              <a:sym typeface="Calibri"/>
            </a:endParaRPr>
          </a:p>
        </p:txBody>
      </p:sp>
      <p:sp>
        <p:nvSpPr>
          <p:cNvPr id="487" name="Google Shape;487;p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36</a:t>
            </a:r>
            <a:endParaRPr b="0" i="0" sz="1000" u="none" cap="none" strike="noStrike">
              <a:solidFill>
                <a:schemeClr val="dk1"/>
              </a:solidFill>
              <a:latin typeface="Calibri"/>
              <a:ea typeface="Calibri"/>
              <a:cs typeface="Calibri"/>
              <a:sym typeface="Calibri"/>
            </a:endParaRPr>
          </a:p>
        </p:txBody>
      </p:sp>
      <p:pic>
        <p:nvPicPr>
          <p:cNvPr descr="/home/claude/work/assets/rh-logo.png" id="488" name="Google Shape;488;p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95" name="Google Shape;495;p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KEDA scales workers on the signal that matters</a:t>
            </a:r>
            <a:endParaRPr b="0" i="0" sz="3000" u="none" cap="none" strike="noStrike">
              <a:solidFill>
                <a:schemeClr val="dk1"/>
              </a:solidFill>
              <a:latin typeface="Calibri"/>
              <a:ea typeface="Calibri"/>
              <a:cs typeface="Calibri"/>
              <a:sym typeface="Calibri"/>
            </a:endParaRPr>
          </a:p>
        </p:txBody>
      </p:sp>
      <p:pic>
        <p:nvPicPr>
          <p:cNvPr descr="/home/claude/work/png-sb/15-stream-keda-scaling.png" id="496" name="Google Shape;496;p46"/>
          <p:cNvPicPr preferRelativeResize="0"/>
          <p:nvPr/>
        </p:nvPicPr>
        <p:blipFill rotWithShape="1">
          <a:blip r:embed="rId5">
            <a:alphaModFix/>
          </a:blip>
          <a:stretch/>
        </p:blipFill>
        <p:spPr>
          <a:xfrm>
            <a:off x="1493156" y="2311575"/>
            <a:ext cx="9205386" cy="3103530"/>
          </a:xfrm>
          <a:prstGeom prst="rect">
            <a:avLst/>
          </a:prstGeom>
          <a:noFill/>
          <a:ln>
            <a:noFill/>
          </a:ln>
        </p:spPr>
      </p:pic>
      <p:sp>
        <p:nvSpPr>
          <p:cNvPr id="497" name="Google Shape;497;p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Scale Kafka workers on consumer lag and HTTP services on request rate — both down to zero when idle.</a:t>
            </a:r>
            <a:endParaRPr b="0" i="0" sz="1200" u="none" cap="none" strike="noStrike">
              <a:solidFill>
                <a:schemeClr val="dk1"/>
              </a:solidFill>
              <a:latin typeface="Calibri"/>
              <a:ea typeface="Calibri"/>
              <a:cs typeface="Calibri"/>
              <a:sym typeface="Calibri"/>
            </a:endParaRPr>
          </a:p>
        </p:txBody>
      </p:sp>
      <p:sp>
        <p:nvSpPr>
          <p:cNvPr id="498" name="Google Shape;498;p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37</a:t>
            </a:r>
            <a:endParaRPr b="0" i="0" sz="1000" u="none" cap="none" strike="noStrike">
              <a:solidFill>
                <a:schemeClr val="dk1"/>
              </a:solidFill>
              <a:latin typeface="Calibri"/>
              <a:ea typeface="Calibri"/>
              <a:cs typeface="Calibri"/>
              <a:sym typeface="Calibri"/>
            </a:endParaRPr>
          </a:p>
        </p:txBody>
      </p:sp>
      <p:pic>
        <p:nvPicPr>
          <p:cNvPr descr="/home/claude/work/assets/rh-logo.png" id="499" name="Google Shape;499;p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06" name="Google Shape;506;p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Scale on lag (events) and on RPS (HTTP)</a:t>
            </a:r>
            <a:endParaRPr b="0" i="0" sz="3000" u="none" cap="none" strike="noStrike">
              <a:solidFill>
                <a:schemeClr val="dk1"/>
              </a:solidFill>
              <a:latin typeface="Calibri"/>
              <a:ea typeface="Calibri"/>
              <a:cs typeface="Calibri"/>
              <a:sym typeface="Calibri"/>
            </a:endParaRPr>
          </a:p>
        </p:txBody>
      </p:sp>
      <p:sp>
        <p:nvSpPr>
          <p:cNvPr id="507" name="Google Shape;507;p4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7"/>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KEDA</a:t>
            </a:r>
            <a:endParaRPr b="0" i="0" sz="1000" u="none" cap="none" strike="noStrike">
              <a:solidFill>
                <a:schemeClr val="dk1"/>
              </a:solidFill>
              <a:latin typeface="Calibri"/>
              <a:ea typeface="Calibri"/>
              <a:cs typeface="Calibri"/>
              <a:sym typeface="Calibri"/>
            </a:endParaRPr>
          </a:p>
        </p:txBody>
      </p:sp>
      <p:sp>
        <p:nvSpPr>
          <p:cNvPr id="509" name="Google Shape;509;p4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minReplicaCount: 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maxReplicaCount: 20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triggers: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type: kafka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metadata: { bootstrapServers: "cndp-kafka-bootstrap:9092", topic: order.placed,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consumerGroup: payment, lagThreshold: "100"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HTTP: scale the Spring Boot service on concurrent requests (KEDA http-add-on)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http.keda.sh/v1alpha1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HTTPScaledObject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[orders.example.com]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order-service, service: order-service,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replicas: { min: 0, max: 30 }</a:t>
            </a:r>
            <a:endParaRPr b="0" i="0" sz="1100" u="none" cap="none" strike="noStrike">
              <a:solidFill>
                <a:schemeClr val="dk1"/>
              </a:solidFill>
              <a:latin typeface="Calibri"/>
              <a:ea typeface="Calibri"/>
              <a:cs typeface="Calibri"/>
              <a:sym typeface="Calibri"/>
            </a:endParaRPr>
          </a:p>
        </p:txBody>
      </p:sp>
      <p:sp>
        <p:nvSpPr>
          <p:cNvPr id="510" name="Google Shape;510;p4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mechanism, two signals: queue depth for async workers, concurrency for synchronous APIs.</a:t>
            </a:r>
            <a:endParaRPr b="0" i="0" sz="1300" u="none" cap="none" strike="noStrike">
              <a:solidFill>
                <a:schemeClr val="dk1"/>
              </a:solidFill>
              <a:latin typeface="Calibri"/>
              <a:ea typeface="Calibri"/>
              <a:cs typeface="Calibri"/>
              <a:sym typeface="Calibri"/>
            </a:endParaRPr>
          </a:p>
        </p:txBody>
      </p:sp>
      <p:sp>
        <p:nvSpPr>
          <p:cNvPr id="511" name="Google Shape;511;p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38</a:t>
            </a:r>
            <a:endParaRPr b="0" i="0" sz="1000" u="none" cap="none" strike="noStrike">
              <a:solidFill>
                <a:schemeClr val="dk1"/>
              </a:solidFill>
              <a:latin typeface="Calibri"/>
              <a:ea typeface="Calibri"/>
              <a:cs typeface="Calibri"/>
              <a:sym typeface="Calibri"/>
            </a:endParaRPr>
          </a:p>
        </p:txBody>
      </p:sp>
      <p:pic>
        <p:nvPicPr>
          <p:cNvPr descr="/home/claude/work/assets/rh-logo.png" id="512" name="Google Shape;512;p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17" name="Shape 517"/>
        <p:cNvGrpSpPr/>
        <p:nvPr/>
      </p:nvGrpSpPr>
      <p:grpSpPr>
        <a:xfrm>
          <a:off x="0" y="0"/>
          <a:ext cx="0" cy="0"/>
          <a:chOff x="0" y="0"/>
          <a:chExt cx="0" cy="0"/>
        </a:xfrm>
      </p:grpSpPr>
      <p:pic>
        <p:nvPicPr>
          <p:cNvPr descr="/home/claude/work/assets/rh-divider-bg.png" id="518" name="Google Shape;518;p4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19" name="Google Shape;519;p4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07</a:t>
            </a:r>
            <a:endParaRPr b="0" i="0" sz="2200" u="none" cap="none" strike="noStrike">
              <a:solidFill>
                <a:schemeClr val="dk1"/>
              </a:solidFill>
              <a:latin typeface="Calibri"/>
              <a:ea typeface="Calibri"/>
              <a:cs typeface="Calibri"/>
              <a:sym typeface="Calibri"/>
            </a:endParaRPr>
          </a:p>
        </p:txBody>
      </p:sp>
      <p:sp>
        <p:nvSpPr>
          <p:cNvPr id="520" name="Google Shape;520;p4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Workflows and Jobs</a:t>
            </a:r>
            <a:endParaRPr b="0" i="0" sz="4000" u="none" cap="none" strike="noStrike">
              <a:solidFill>
                <a:schemeClr val="dk1"/>
              </a:solidFill>
              <a:latin typeface="Calibri"/>
              <a:ea typeface="Calibri"/>
              <a:cs typeface="Calibri"/>
              <a:sym typeface="Calibri"/>
            </a:endParaRPr>
          </a:p>
        </p:txBody>
      </p:sp>
      <p:sp>
        <p:nvSpPr>
          <p:cNvPr id="521" name="Google Shape;521;p4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Not every unit of work is a request.</a:t>
            </a:r>
            <a:endParaRPr b="0" i="0" sz="1500" u="none" cap="none" strike="noStrike">
              <a:solidFill>
                <a:schemeClr val="dk1"/>
              </a:solidFill>
              <a:latin typeface="Calibri"/>
              <a:ea typeface="Calibri"/>
              <a:cs typeface="Calibri"/>
              <a:sym typeface="Calibri"/>
            </a:endParaRPr>
          </a:p>
        </p:txBody>
      </p:sp>
      <p:pic>
        <p:nvPicPr>
          <p:cNvPr descr="/home/claude/work/assets/rh-logo-white.png" id="522" name="Google Shape;522;p4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29" name="Google Shape;529;p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Orchestration vs. choreography</a:t>
            </a:r>
            <a:endParaRPr b="0" i="0" sz="3000" u="none" cap="none" strike="noStrike">
              <a:solidFill>
                <a:schemeClr val="dk1"/>
              </a:solidFill>
              <a:latin typeface="Calibri"/>
              <a:ea typeface="Calibri"/>
              <a:cs typeface="Calibri"/>
              <a:sym typeface="Calibri"/>
            </a:endParaRPr>
          </a:p>
        </p:txBody>
      </p:sp>
      <p:pic>
        <p:nvPicPr>
          <p:cNvPr descr="/home/claude/work/png-sb/16-workflows-orchestration.png" id="530" name="Google Shape;530;p4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31" name="Google Shape;531;p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coordinator that commands keeps the flow in one place; events that trigger each other decouple but hide the flow.</a:t>
            </a:r>
            <a:endParaRPr b="0" i="0" sz="1200" u="none" cap="none" strike="noStrike">
              <a:solidFill>
                <a:schemeClr val="dk1"/>
              </a:solidFill>
              <a:latin typeface="Calibri"/>
              <a:ea typeface="Calibri"/>
              <a:cs typeface="Calibri"/>
              <a:sym typeface="Calibri"/>
            </a:endParaRPr>
          </a:p>
        </p:txBody>
      </p:sp>
      <p:sp>
        <p:nvSpPr>
          <p:cNvPr id="532" name="Google Shape;532;p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39</a:t>
            </a:r>
            <a:endParaRPr b="0" i="0" sz="1000" u="none" cap="none" strike="noStrike">
              <a:solidFill>
                <a:schemeClr val="dk1"/>
              </a:solidFill>
              <a:latin typeface="Calibri"/>
              <a:ea typeface="Calibri"/>
              <a:cs typeface="Calibri"/>
              <a:sym typeface="Calibri"/>
            </a:endParaRPr>
          </a:p>
        </p:txBody>
      </p:sp>
      <p:pic>
        <p:nvPicPr>
          <p:cNvPr descr="/home/claude/work/assets/rh-logo.png" id="533" name="Google Shape;533;p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40" name="Google Shape;540;p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 two</a:t>
            </a:r>
            <a:endParaRPr b="0" i="0" sz="3000" u="none" cap="none" strike="noStrike">
              <a:solidFill>
                <a:schemeClr val="dk1"/>
              </a:solidFill>
              <a:latin typeface="Calibri"/>
              <a:ea typeface="Calibri"/>
              <a:cs typeface="Calibri"/>
              <a:sym typeface="Calibri"/>
            </a:endParaRPr>
          </a:p>
        </p:txBody>
      </p:sp>
      <p:sp>
        <p:nvSpPr>
          <p:cNvPr id="541" name="Google Shape;541;p50"/>
          <p:cNvSpPr/>
          <p:nvPr/>
        </p:nvSpPr>
        <p:spPr>
          <a:xfrm>
            <a:off x="566928" y="1645920"/>
            <a:ext cx="5300400" cy="4297800"/>
          </a:xfrm>
          <a:prstGeom prst="roundRect">
            <a:avLst>
              <a:gd fmla="val 1277" name="adj"/>
            </a:avLst>
          </a:prstGeom>
          <a:solidFill>
            <a:srgbClr val="E8EEF7"/>
          </a:solidFill>
          <a:ln cap="flat" cmpd="sng" w="12700">
            <a:solidFill>
              <a:srgbClr val="1A3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0"/>
          <p:cNvSpPr/>
          <p:nvPr/>
        </p:nvSpPr>
        <p:spPr>
          <a:xfrm>
            <a:off x="84124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6A"/>
              </a:buClr>
              <a:buSzPts val="1900"/>
              <a:buFont typeface="Overpass SemiBold"/>
              <a:buNone/>
            </a:pPr>
            <a:r>
              <a:rPr b="1" i="0" lang="en-US" sz="1900" u="none" cap="none" strike="noStrike">
                <a:solidFill>
                  <a:srgbClr val="1A3A6A"/>
                </a:solidFill>
                <a:latin typeface="Overpass SemiBold"/>
                <a:ea typeface="Overpass SemiBold"/>
                <a:cs typeface="Overpass SemiBold"/>
                <a:sym typeface="Overpass SemiBold"/>
              </a:rPr>
              <a:t>Orchestration</a:t>
            </a:r>
            <a:endParaRPr b="0" i="0" sz="1900" u="none" cap="none" strike="noStrike">
              <a:solidFill>
                <a:schemeClr val="dk1"/>
              </a:solidFill>
              <a:latin typeface="Calibri"/>
              <a:ea typeface="Calibri"/>
              <a:cs typeface="Calibri"/>
              <a:sym typeface="Calibri"/>
            </a:endParaRPr>
          </a:p>
        </p:txBody>
      </p:sp>
      <p:sp>
        <p:nvSpPr>
          <p:cNvPr id="543" name="Google Shape;543;p50"/>
          <p:cNvSpPr/>
          <p:nvPr/>
        </p:nvSpPr>
        <p:spPr>
          <a:xfrm>
            <a:off x="84124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coordinator owns the saga and its state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explicit and centrally observable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place to reason about, change and audit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the orchestrator becomes a god-service</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complex, long-lived business processes</a:t>
            </a:r>
            <a:endParaRPr b="0" i="0" sz="1500" u="none" cap="none" strike="noStrike">
              <a:solidFill>
                <a:schemeClr val="dk1"/>
              </a:solidFill>
              <a:latin typeface="Calibri"/>
              <a:ea typeface="Calibri"/>
              <a:cs typeface="Calibri"/>
              <a:sym typeface="Calibri"/>
            </a:endParaRPr>
          </a:p>
        </p:txBody>
      </p:sp>
      <p:sp>
        <p:nvSpPr>
          <p:cNvPr id="544" name="Google Shape;544;p50"/>
          <p:cNvSpPr/>
          <p:nvPr/>
        </p:nvSpPr>
        <p:spPr>
          <a:xfrm>
            <a:off x="6324448" y="1645920"/>
            <a:ext cx="5300400" cy="4297800"/>
          </a:xfrm>
          <a:prstGeom prst="roundRect">
            <a:avLst>
              <a:gd fmla="val 1277" name="adj"/>
            </a:avLst>
          </a:prstGeom>
          <a:solidFill>
            <a:srgbClr val="F9E3E3"/>
          </a:solidFill>
          <a:ln cap="flat" cmpd="sng" w="12700">
            <a:solidFill>
              <a:srgbClr val="8A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0"/>
          <p:cNvSpPr/>
          <p:nvPr/>
        </p:nvSpPr>
        <p:spPr>
          <a:xfrm>
            <a:off x="659876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2424"/>
              </a:buClr>
              <a:buSzPts val="1900"/>
              <a:buFont typeface="Overpass SemiBold"/>
              <a:buNone/>
            </a:pPr>
            <a:r>
              <a:rPr b="1" i="0" lang="en-US" sz="1900" u="none" cap="none" strike="noStrike">
                <a:solidFill>
                  <a:srgbClr val="8A2424"/>
                </a:solidFill>
                <a:latin typeface="Overpass SemiBold"/>
                <a:ea typeface="Overpass SemiBold"/>
                <a:cs typeface="Overpass SemiBold"/>
                <a:sym typeface="Overpass SemiBold"/>
              </a:rPr>
              <a:t>Choreography</a:t>
            </a:r>
            <a:endParaRPr b="0" i="0" sz="1900" u="none" cap="none" strike="noStrike">
              <a:solidFill>
                <a:schemeClr val="dk1"/>
              </a:solidFill>
              <a:latin typeface="Calibri"/>
              <a:ea typeface="Calibri"/>
              <a:cs typeface="Calibri"/>
              <a:sym typeface="Calibri"/>
            </a:endParaRPr>
          </a:p>
        </p:txBody>
      </p:sp>
      <p:sp>
        <p:nvSpPr>
          <p:cNvPr id="546" name="Google Shape;546;p50"/>
          <p:cNvSpPr/>
          <p:nvPr/>
        </p:nvSpPr>
        <p:spPr>
          <a:xfrm>
            <a:off x="659876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Each service reacts to the previous event</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Maximally decoupled; no central bottleneck</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emergent — harder to see end-to-end</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nobody owns the overall process</a:t>
            </a:r>
            <a:endParaRPr b="0" i="0" sz="15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simple, additive event reactions</a:t>
            </a:r>
            <a:endParaRPr b="0" i="0" sz="1500" u="none" cap="none" strike="noStrike">
              <a:solidFill>
                <a:schemeClr val="dk1"/>
              </a:solidFill>
              <a:latin typeface="Calibri"/>
              <a:ea typeface="Calibri"/>
              <a:cs typeface="Calibri"/>
              <a:sym typeface="Calibri"/>
            </a:endParaRPr>
          </a:p>
        </p:txBody>
      </p:sp>
      <p:sp>
        <p:nvSpPr>
          <p:cNvPr id="547" name="Google Shape;547;p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40</a:t>
            </a:r>
            <a:endParaRPr b="0" i="0" sz="1000" u="none" cap="none" strike="noStrike">
              <a:solidFill>
                <a:schemeClr val="dk1"/>
              </a:solidFill>
              <a:latin typeface="Calibri"/>
              <a:ea typeface="Calibri"/>
              <a:cs typeface="Calibri"/>
              <a:sym typeface="Calibri"/>
            </a:endParaRPr>
          </a:p>
        </p:txBody>
      </p:sp>
      <p:pic>
        <p:nvPicPr>
          <p:cNvPr descr="/home/claude/work/assets/rh-logo.png" id="548" name="Google Shape;548;p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55" name="Google Shape;555;p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Jobs, CronJobs and queue workers</a:t>
            </a:r>
            <a:endParaRPr b="0" i="0" sz="3000" u="none" cap="none" strike="noStrike">
              <a:solidFill>
                <a:schemeClr val="dk1"/>
              </a:solidFill>
              <a:latin typeface="Calibri"/>
              <a:ea typeface="Calibri"/>
              <a:cs typeface="Calibri"/>
              <a:sym typeface="Calibri"/>
            </a:endParaRPr>
          </a:p>
        </p:txBody>
      </p:sp>
      <p:pic>
        <p:nvPicPr>
          <p:cNvPr descr="/home/claude/work/png-sb/17-workflows-jobs.png" id="556" name="Google Shape;556;p51"/>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557" name="Google Shape;557;p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Long, batch or periodic work belongs in Jobs/CronJobs or a scaled queue worker — never on the request path.</a:t>
            </a:r>
            <a:endParaRPr b="0" i="0" sz="1200" u="none" cap="none" strike="noStrike">
              <a:solidFill>
                <a:schemeClr val="dk1"/>
              </a:solidFill>
              <a:latin typeface="Calibri"/>
              <a:ea typeface="Calibri"/>
              <a:cs typeface="Calibri"/>
              <a:sym typeface="Calibri"/>
            </a:endParaRPr>
          </a:p>
        </p:txBody>
      </p:sp>
      <p:sp>
        <p:nvSpPr>
          <p:cNvPr id="558" name="Google Shape;558;p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41</a:t>
            </a:r>
            <a:endParaRPr b="0" i="0" sz="1000" u="none" cap="none" strike="noStrike">
              <a:solidFill>
                <a:schemeClr val="dk1"/>
              </a:solidFill>
              <a:latin typeface="Calibri"/>
              <a:ea typeface="Calibri"/>
              <a:cs typeface="Calibri"/>
              <a:sym typeface="Calibri"/>
            </a:endParaRPr>
          </a:p>
        </p:txBody>
      </p:sp>
      <p:pic>
        <p:nvPicPr>
          <p:cNvPr descr="/home/claude/work/assets/rh-logo.png" id="559" name="Google Shape;559;p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64" name="Shape 564"/>
        <p:cNvGrpSpPr/>
        <p:nvPr/>
      </p:nvGrpSpPr>
      <p:grpSpPr>
        <a:xfrm>
          <a:off x="0" y="0"/>
          <a:ext cx="0" cy="0"/>
          <a:chOff x="0" y="0"/>
          <a:chExt cx="0" cy="0"/>
        </a:xfrm>
      </p:grpSpPr>
      <p:pic>
        <p:nvPicPr>
          <p:cNvPr descr="/home/claude/work/assets/rh-divider-bg.png" id="565" name="Google Shape;565;p5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66" name="Google Shape;566;p5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08</a:t>
            </a:r>
            <a:endParaRPr b="0" i="0" sz="2200" u="none" cap="none" strike="noStrike">
              <a:solidFill>
                <a:schemeClr val="dk1"/>
              </a:solidFill>
              <a:latin typeface="Calibri"/>
              <a:ea typeface="Calibri"/>
              <a:cs typeface="Calibri"/>
              <a:sym typeface="Calibri"/>
            </a:endParaRPr>
          </a:p>
        </p:txBody>
      </p:sp>
      <p:sp>
        <p:nvSpPr>
          <p:cNvPr id="567" name="Google Shape;567;p5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Management</a:t>
            </a:r>
            <a:endParaRPr b="0" i="0" sz="4000" u="none" cap="none" strike="noStrike">
              <a:solidFill>
                <a:schemeClr val="dk1"/>
              </a:solidFill>
              <a:latin typeface="Calibri"/>
              <a:ea typeface="Calibri"/>
              <a:cs typeface="Calibri"/>
              <a:sym typeface="Calibri"/>
            </a:endParaRPr>
          </a:p>
        </p:txBody>
      </p:sp>
      <p:sp>
        <p:nvSpPr>
          <p:cNvPr id="568" name="Google Shape;568;p5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Treat the API surface as a platform.</a:t>
            </a:r>
            <a:endParaRPr b="0" i="0" sz="1500" u="none" cap="none" strike="noStrike">
              <a:solidFill>
                <a:schemeClr val="dk1"/>
              </a:solidFill>
              <a:latin typeface="Calibri"/>
              <a:ea typeface="Calibri"/>
              <a:cs typeface="Calibri"/>
              <a:sym typeface="Calibri"/>
            </a:endParaRPr>
          </a:p>
        </p:txBody>
      </p:sp>
      <p:pic>
        <p:nvPicPr>
          <p:cNvPr descr="/home/claude/work/assets/rh-logo-white.png" id="569" name="Google Shape;569;p5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76" name="Google Shape;576;p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cooperating planes</a:t>
            </a:r>
            <a:endParaRPr b="0" i="0" sz="3000" u="none" cap="none" strike="noStrike">
              <a:solidFill>
                <a:schemeClr val="dk1"/>
              </a:solidFill>
              <a:latin typeface="Calibri"/>
              <a:ea typeface="Calibri"/>
              <a:cs typeface="Calibri"/>
              <a:sym typeface="Calibri"/>
            </a:endParaRPr>
          </a:p>
        </p:txBody>
      </p:sp>
      <p:pic>
        <p:nvPicPr>
          <p:cNvPr descr="/home/claude/work/png-sb/18-api-management-stack.png" id="577" name="Google Shape;577;p5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78" name="Google Shape;578;p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Gateway and mesh at runtime; registry for contracts; metadata for discovery; observability for signals.</a:t>
            </a:r>
            <a:endParaRPr b="0" i="0" sz="1200" u="none" cap="none" strike="noStrike">
              <a:solidFill>
                <a:schemeClr val="dk1"/>
              </a:solidFill>
              <a:latin typeface="Calibri"/>
              <a:ea typeface="Calibri"/>
              <a:cs typeface="Calibri"/>
              <a:sym typeface="Calibri"/>
            </a:endParaRPr>
          </a:p>
        </p:txBody>
      </p:sp>
      <p:sp>
        <p:nvSpPr>
          <p:cNvPr id="579" name="Google Shape;579;p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42</a:t>
            </a:r>
            <a:endParaRPr b="0" i="0" sz="1000" u="none" cap="none" strike="noStrike">
              <a:solidFill>
                <a:schemeClr val="dk1"/>
              </a:solidFill>
              <a:latin typeface="Calibri"/>
              <a:ea typeface="Calibri"/>
              <a:cs typeface="Calibri"/>
              <a:sym typeface="Calibri"/>
            </a:endParaRPr>
          </a:p>
        </p:txBody>
      </p:sp>
      <p:pic>
        <p:nvPicPr>
          <p:cNvPr descr="/home/claude/work/assets/rh-logo.png" id="580" name="Google Shape;580;p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87" name="Google Shape;587;p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Versioning and evolution are part of management</a:t>
            </a:r>
            <a:endParaRPr b="0" i="0" sz="3000" u="none" cap="none" strike="noStrike">
              <a:solidFill>
                <a:schemeClr val="dk1"/>
              </a:solidFill>
              <a:latin typeface="Calibri"/>
              <a:ea typeface="Calibri"/>
              <a:cs typeface="Calibri"/>
              <a:sym typeface="Calibri"/>
            </a:endParaRPr>
          </a:p>
        </p:txBody>
      </p:sp>
      <p:sp>
        <p:nvSpPr>
          <p:cNvPr id="588" name="Google Shape;588;p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Evolve additively — new optional fields and endpoints; never repurpose or remove without a new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Carry a major version in the path (/v2) or media type; deprecate with headers and a sunset date.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registry's compatibility rules (BACKWARD / FORWARD / FULL) enforce this mechanically at publish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side by side; migrate consumers off the old contract before you retire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Lifecycle: design → register → publish → consume → deprecate → retire — each step has an owner and a gate.</a:t>
            </a:r>
            <a:endParaRPr b="0" i="0" sz="1700" u="none" cap="none" strike="noStrike">
              <a:solidFill>
                <a:schemeClr val="dk1"/>
              </a:solidFill>
              <a:latin typeface="Calibri"/>
              <a:ea typeface="Calibri"/>
              <a:cs typeface="Calibri"/>
              <a:sym typeface="Calibri"/>
            </a:endParaRPr>
          </a:p>
        </p:txBody>
      </p:sp>
      <p:sp>
        <p:nvSpPr>
          <p:cNvPr id="589" name="Google Shape;589;p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43</a:t>
            </a:r>
            <a:endParaRPr b="0" i="0" sz="1000" u="none" cap="none" strike="noStrike">
              <a:solidFill>
                <a:schemeClr val="dk1"/>
              </a:solidFill>
              <a:latin typeface="Calibri"/>
              <a:ea typeface="Calibri"/>
              <a:cs typeface="Calibri"/>
              <a:sym typeface="Calibri"/>
            </a:endParaRPr>
          </a:p>
        </p:txBody>
      </p:sp>
      <p:pic>
        <p:nvPicPr>
          <p:cNvPr descr="/home/claude/work/assets/rh-logo.png" id="590" name="Google Shape;590;p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95" name="Shape 595"/>
        <p:cNvGrpSpPr/>
        <p:nvPr/>
      </p:nvGrpSpPr>
      <p:grpSpPr>
        <a:xfrm>
          <a:off x="0" y="0"/>
          <a:ext cx="0" cy="0"/>
          <a:chOff x="0" y="0"/>
          <a:chExt cx="0" cy="0"/>
        </a:xfrm>
      </p:grpSpPr>
      <p:pic>
        <p:nvPicPr>
          <p:cNvPr descr="/home/claude/work/assets/rh-divider-bg.png" id="596" name="Google Shape;596;p5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97" name="Google Shape;597;p5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09</a:t>
            </a:r>
            <a:endParaRPr b="0" i="0" sz="2200" u="none" cap="none" strike="noStrike">
              <a:solidFill>
                <a:schemeClr val="dk1"/>
              </a:solidFill>
              <a:latin typeface="Calibri"/>
              <a:ea typeface="Calibri"/>
              <a:cs typeface="Calibri"/>
              <a:sym typeface="Calibri"/>
            </a:endParaRPr>
          </a:p>
        </p:txBody>
      </p:sp>
      <p:sp>
        <p:nvSpPr>
          <p:cNvPr id="598" name="Google Shape;598;p5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Registry</a:t>
            </a:r>
            <a:endParaRPr b="0" i="0" sz="4000" u="none" cap="none" strike="noStrike">
              <a:solidFill>
                <a:schemeClr val="dk1"/>
              </a:solidFill>
              <a:latin typeface="Calibri"/>
              <a:ea typeface="Calibri"/>
              <a:cs typeface="Calibri"/>
              <a:sym typeface="Calibri"/>
            </a:endParaRPr>
          </a:p>
        </p:txBody>
      </p:sp>
      <p:sp>
        <p:nvSpPr>
          <p:cNvPr id="599" name="Google Shape;599;p5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versioned home for every contract.</a:t>
            </a:r>
            <a:endParaRPr b="0" i="0" sz="1500" u="none" cap="none" strike="noStrike">
              <a:solidFill>
                <a:schemeClr val="dk1"/>
              </a:solidFill>
              <a:latin typeface="Calibri"/>
              <a:ea typeface="Calibri"/>
              <a:cs typeface="Calibri"/>
              <a:sym typeface="Calibri"/>
            </a:endParaRPr>
          </a:p>
        </p:txBody>
      </p:sp>
      <p:pic>
        <p:nvPicPr>
          <p:cNvPr descr="/home/claude/work/assets/rh-logo-white.png" id="600" name="Google Shape;600;p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07" name="Google Shape;607;p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Apicurio: contracts, versioned and gated</a:t>
            </a:r>
            <a:endParaRPr b="0" i="0" sz="3000" u="none" cap="none" strike="noStrike">
              <a:solidFill>
                <a:schemeClr val="dk1"/>
              </a:solidFill>
              <a:latin typeface="Calibri"/>
              <a:ea typeface="Calibri"/>
              <a:cs typeface="Calibri"/>
              <a:sym typeface="Calibri"/>
            </a:endParaRPr>
          </a:p>
        </p:txBody>
      </p:sp>
      <p:pic>
        <p:nvPicPr>
          <p:cNvPr descr="/home/claude/work/png-sb/19-api-registry-apicurio.png" id="608" name="Google Shape;608;p5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09" name="Google Shape;609;p5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OpenAPI, AsyncAPI, proto and Avro/JSON schemas live in one registry with compatibility rules and CI gating.</a:t>
            </a:r>
            <a:endParaRPr b="0" i="0" sz="1200" u="none" cap="none" strike="noStrike">
              <a:solidFill>
                <a:schemeClr val="dk1"/>
              </a:solidFill>
              <a:latin typeface="Calibri"/>
              <a:ea typeface="Calibri"/>
              <a:cs typeface="Calibri"/>
              <a:sym typeface="Calibri"/>
            </a:endParaRPr>
          </a:p>
        </p:txBody>
      </p:sp>
      <p:sp>
        <p:nvSpPr>
          <p:cNvPr id="610" name="Google Shape;610;p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44</a:t>
            </a:r>
            <a:endParaRPr b="0" i="0" sz="1000" u="none" cap="none" strike="noStrike">
              <a:solidFill>
                <a:schemeClr val="dk1"/>
              </a:solidFill>
              <a:latin typeface="Calibri"/>
              <a:ea typeface="Calibri"/>
              <a:cs typeface="Calibri"/>
              <a:sym typeface="Calibri"/>
            </a:endParaRPr>
          </a:p>
        </p:txBody>
      </p:sp>
      <p:pic>
        <p:nvPicPr>
          <p:cNvPr descr="/home/claude/work/assets/rh-logo.png" id="611" name="Google Shape;611;p5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18" name="Google Shape;618;p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Gate breaking changes in CI with Maven</a:t>
            </a:r>
            <a:endParaRPr b="0" i="0" sz="3000" u="none" cap="none" strike="noStrike">
              <a:solidFill>
                <a:schemeClr val="dk1"/>
              </a:solidFill>
              <a:latin typeface="Calibri"/>
              <a:ea typeface="Calibri"/>
              <a:cs typeface="Calibri"/>
              <a:sym typeface="Calibri"/>
            </a:endParaRPr>
          </a:p>
        </p:txBody>
      </p:sp>
      <p:sp>
        <p:nvSpPr>
          <p:cNvPr id="619" name="Google Shape;619;p5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7"/>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xml · Maven + Apicurio</a:t>
            </a:r>
            <a:endParaRPr b="0" i="0" sz="1000" u="none" cap="none" strike="noStrike">
              <a:solidFill>
                <a:schemeClr val="dk1"/>
              </a:solidFill>
              <a:latin typeface="Calibri"/>
              <a:ea typeface="Calibri"/>
              <a:cs typeface="Calibri"/>
              <a:sym typeface="Calibri"/>
            </a:endParaRPr>
          </a:p>
        </p:txBody>
      </p:sp>
      <p:sp>
        <p:nvSpPr>
          <p:cNvPr id="621" name="Google Shape;621;p5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&lt;!-- pom.xml: the apicurio-registry-maven-plugin checks the rule in CI --&gt;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&lt;plugin&gt;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&lt;groupId&gt;io.apicurio&lt;/groupId&gt;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&lt;artifactId&gt;apicurio-registry-maven-plugin&lt;/artifactId&gt;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&lt;version&gt;3.3.3&lt;/version&gt;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&lt;executions&gt;&lt;execution&gt;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&lt;goals&gt;&lt;goal&gt;register&lt;/goal&gt;&lt;/goals&gt;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&lt;configuration&gt;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&lt;registryUrl&gt;http://apicurio.registry.svc/apis/registry/v3&lt;/registryUrl&gt;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&lt;dryRun&gt;true&lt;/dryRun&gt;   &lt;!-- check the rule, store nothing --&gt;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&lt;artifacts&gt;&lt;artifact&gt;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&lt;groupId&gt;orders&lt;/groupId&gt;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&lt;artifactId&gt;order-placed&lt;/artifactId&gt;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&lt;artifactType&gt;AVRO&lt;/artifactType&gt;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&lt;ifExists&gt;CREATE_VERSION&lt;/ifExists&gt;   &lt;!-- a new version --&gt;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&lt;file&gt;src/main/avro/order-placed.avsc&lt;/file&gt;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&lt;/artifact&gt;&lt;/artifacts&gt;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&lt;/configuration&gt;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&lt;/execution&gt;&lt;/executions&gt;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&lt;/plugin&gt;</a:t>
            </a:r>
            <a:endParaRPr b="0" i="0" sz="1100" u="none" cap="none" strike="noStrike">
              <a:solidFill>
                <a:schemeClr val="dk1"/>
              </a:solidFill>
              <a:latin typeface="Calibri"/>
              <a:ea typeface="Calibri"/>
              <a:cs typeface="Calibri"/>
              <a:sym typeface="Calibri"/>
            </a:endParaRPr>
          </a:p>
        </p:txBody>
      </p:sp>
      <p:sp>
        <p:nvSpPr>
          <p:cNvPr id="622" name="Google Shape;622;p5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dry-run register fails the build on an incompatible change — the contract is enforced before code ships, not after.</a:t>
            </a:r>
            <a:endParaRPr b="0" i="0" sz="1300" u="none" cap="none" strike="noStrike">
              <a:solidFill>
                <a:schemeClr val="dk1"/>
              </a:solidFill>
              <a:latin typeface="Calibri"/>
              <a:ea typeface="Calibri"/>
              <a:cs typeface="Calibri"/>
              <a:sym typeface="Calibri"/>
            </a:endParaRPr>
          </a:p>
        </p:txBody>
      </p:sp>
      <p:sp>
        <p:nvSpPr>
          <p:cNvPr id="623" name="Google Shape;623;p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45</a:t>
            </a:r>
            <a:endParaRPr b="0" i="0" sz="1000" u="none" cap="none" strike="noStrike">
              <a:solidFill>
                <a:schemeClr val="dk1"/>
              </a:solidFill>
              <a:latin typeface="Calibri"/>
              <a:ea typeface="Calibri"/>
              <a:cs typeface="Calibri"/>
              <a:sym typeface="Calibri"/>
            </a:endParaRPr>
          </a:p>
        </p:txBody>
      </p:sp>
      <p:pic>
        <p:nvPicPr>
          <p:cNvPr descr="/home/claude/work/assets/rh-logo.png" id="624" name="Google Shape;624;p5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29" name="Shape 629"/>
        <p:cNvGrpSpPr/>
        <p:nvPr/>
      </p:nvGrpSpPr>
      <p:grpSpPr>
        <a:xfrm>
          <a:off x="0" y="0"/>
          <a:ext cx="0" cy="0"/>
          <a:chOff x="0" y="0"/>
          <a:chExt cx="0" cy="0"/>
        </a:xfrm>
      </p:grpSpPr>
      <p:pic>
        <p:nvPicPr>
          <p:cNvPr descr="/home/claude/work/assets/rh-divider-bg.png" id="630" name="Google Shape;630;p5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31" name="Google Shape;631;p5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10</a:t>
            </a:r>
            <a:endParaRPr b="0" i="0" sz="2200" u="none" cap="none" strike="noStrike">
              <a:solidFill>
                <a:schemeClr val="dk1"/>
              </a:solidFill>
              <a:latin typeface="Calibri"/>
              <a:ea typeface="Calibri"/>
              <a:cs typeface="Calibri"/>
              <a:sym typeface="Calibri"/>
            </a:endParaRPr>
          </a:p>
        </p:txBody>
      </p:sp>
      <p:sp>
        <p:nvSpPr>
          <p:cNvPr id="632" name="Google Shape;632;p5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Metadata</a:t>
            </a:r>
            <a:endParaRPr b="0" i="0" sz="4000" u="none" cap="none" strike="noStrike">
              <a:solidFill>
                <a:schemeClr val="dk1"/>
              </a:solidFill>
              <a:latin typeface="Calibri"/>
              <a:ea typeface="Calibri"/>
              <a:cs typeface="Calibri"/>
              <a:sym typeface="Calibri"/>
            </a:endParaRPr>
          </a:p>
        </p:txBody>
      </p:sp>
      <p:sp>
        <p:nvSpPr>
          <p:cNvPr id="633" name="Google Shape;633;p5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If they can't find it, it doesn't exist.</a:t>
            </a:r>
            <a:endParaRPr b="0" i="0" sz="1500" u="none" cap="none" strike="noStrike">
              <a:solidFill>
                <a:schemeClr val="dk1"/>
              </a:solidFill>
              <a:latin typeface="Calibri"/>
              <a:ea typeface="Calibri"/>
              <a:cs typeface="Calibri"/>
              <a:sym typeface="Calibri"/>
            </a:endParaRPr>
          </a:p>
        </p:txBody>
      </p:sp>
      <p:pic>
        <p:nvPicPr>
          <p:cNvPr descr="/home/claude/work/assets/rh-logo-white.png" id="634" name="Google Shape;634;p5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9" name="Shape 639"/>
        <p:cNvGrpSpPr/>
        <p:nvPr/>
      </p:nvGrpSpPr>
      <p:grpSpPr>
        <a:xfrm>
          <a:off x="0" y="0"/>
          <a:ext cx="0" cy="0"/>
          <a:chOff x="0" y="0"/>
          <a:chExt cx="0" cy="0"/>
        </a:xfrm>
      </p:grpSpPr>
      <p:sp>
        <p:nvSpPr>
          <p:cNvPr id="640" name="Google Shape;640;p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41" name="Google Shape;641;p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Discovery, lineage and ownership</a:t>
            </a:r>
            <a:endParaRPr b="0" i="0" sz="3000" u="none" cap="none" strike="noStrike">
              <a:solidFill>
                <a:schemeClr val="dk1"/>
              </a:solidFill>
              <a:latin typeface="Calibri"/>
              <a:ea typeface="Calibri"/>
              <a:cs typeface="Calibri"/>
              <a:sym typeface="Calibri"/>
            </a:endParaRPr>
          </a:p>
        </p:txBody>
      </p:sp>
      <p:pic>
        <p:nvPicPr>
          <p:cNvPr descr="/home/claude/work/png-sb/20-api-metadata-openmetadata.png" id="642" name="Google Shape;642;p5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43" name="Google Shape;643;p5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OpenMetadata ingests from services, the registry and Kafka to build a searchable catalog with lineage.</a:t>
            </a:r>
            <a:endParaRPr b="0" i="0" sz="1200" u="none" cap="none" strike="noStrike">
              <a:solidFill>
                <a:schemeClr val="dk1"/>
              </a:solidFill>
              <a:latin typeface="Calibri"/>
              <a:ea typeface="Calibri"/>
              <a:cs typeface="Calibri"/>
              <a:sym typeface="Calibri"/>
            </a:endParaRPr>
          </a:p>
        </p:txBody>
      </p:sp>
      <p:sp>
        <p:nvSpPr>
          <p:cNvPr id="644" name="Google Shape;644;p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46</a:t>
            </a:r>
            <a:endParaRPr b="0" i="0" sz="1000" u="none" cap="none" strike="noStrike">
              <a:solidFill>
                <a:schemeClr val="dk1"/>
              </a:solidFill>
              <a:latin typeface="Calibri"/>
              <a:ea typeface="Calibri"/>
              <a:cs typeface="Calibri"/>
              <a:sym typeface="Calibri"/>
            </a:endParaRPr>
          </a:p>
        </p:txBody>
      </p:sp>
      <p:pic>
        <p:nvPicPr>
          <p:cNvPr descr="/home/claude/work/assets/rh-logo.png" id="645" name="Google Shape;645;p5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52" name="Google Shape;652;p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catalog gives every consumer</a:t>
            </a:r>
            <a:endParaRPr b="0" i="0" sz="3000" u="none" cap="none" strike="noStrike">
              <a:solidFill>
                <a:schemeClr val="dk1"/>
              </a:solidFill>
              <a:latin typeface="Calibri"/>
              <a:ea typeface="Calibri"/>
              <a:cs typeface="Calibri"/>
              <a:sym typeface="Calibri"/>
            </a:endParaRPr>
          </a:p>
        </p:txBody>
      </p:sp>
      <p:sp>
        <p:nvSpPr>
          <p:cNvPr id="653" name="Google Shape;653;p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Discovery — search across APIs, topics and tables; find the owning team and how to get access.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Trust — published SLOs, data-quality test results, freshness, and a tier/criticality rating.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Lineage — column- and topic-level lineage answers 'if I change this, who breaks?' before you change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Ownership &amp; governance — tags, classifications (PII), and accountable owners attached to every asset.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Ingestion runs as a scheduled connector against OpenAPI specs, the registry, Kafka and Postgres.</a:t>
            </a:r>
            <a:endParaRPr b="0" i="0" sz="1700" u="none" cap="none" strike="noStrike">
              <a:solidFill>
                <a:schemeClr val="dk1"/>
              </a:solidFill>
              <a:latin typeface="Calibri"/>
              <a:ea typeface="Calibri"/>
              <a:cs typeface="Calibri"/>
              <a:sym typeface="Calibri"/>
            </a:endParaRPr>
          </a:p>
        </p:txBody>
      </p:sp>
      <p:sp>
        <p:nvSpPr>
          <p:cNvPr id="654" name="Google Shape;654;p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47</a:t>
            </a:r>
            <a:endParaRPr b="0" i="0" sz="1000" u="none" cap="none" strike="noStrike">
              <a:solidFill>
                <a:schemeClr val="dk1"/>
              </a:solidFill>
              <a:latin typeface="Calibri"/>
              <a:ea typeface="Calibri"/>
              <a:cs typeface="Calibri"/>
              <a:sym typeface="Calibri"/>
            </a:endParaRPr>
          </a:p>
        </p:txBody>
      </p:sp>
      <p:pic>
        <p:nvPicPr>
          <p:cNvPr descr="/home/claude/work/assets/rh-logo.png" id="655" name="Google Shape;655;p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60" name="Shape 660"/>
        <p:cNvGrpSpPr/>
        <p:nvPr/>
      </p:nvGrpSpPr>
      <p:grpSpPr>
        <a:xfrm>
          <a:off x="0" y="0"/>
          <a:ext cx="0" cy="0"/>
          <a:chOff x="0" y="0"/>
          <a:chExt cx="0" cy="0"/>
        </a:xfrm>
      </p:grpSpPr>
      <p:pic>
        <p:nvPicPr>
          <p:cNvPr descr="/home/claude/work/assets/rh-divider-bg.png" id="661" name="Google Shape;661;p61"/>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62" name="Google Shape;662;p61"/>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11</a:t>
            </a:r>
            <a:endParaRPr b="0" i="0" sz="2200" u="none" cap="none" strike="noStrike">
              <a:solidFill>
                <a:schemeClr val="dk1"/>
              </a:solidFill>
              <a:latin typeface="Calibri"/>
              <a:ea typeface="Calibri"/>
              <a:cs typeface="Calibri"/>
              <a:sym typeface="Calibri"/>
            </a:endParaRPr>
          </a:p>
        </p:txBody>
      </p:sp>
      <p:sp>
        <p:nvSpPr>
          <p:cNvPr id="663" name="Google Shape;663;p61"/>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Observability</a:t>
            </a:r>
            <a:endParaRPr b="0" i="0" sz="4000" u="none" cap="none" strike="noStrike">
              <a:solidFill>
                <a:schemeClr val="dk1"/>
              </a:solidFill>
              <a:latin typeface="Calibri"/>
              <a:ea typeface="Calibri"/>
              <a:cs typeface="Calibri"/>
              <a:sym typeface="Calibri"/>
            </a:endParaRPr>
          </a:p>
        </p:txBody>
      </p:sp>
      <p:sp>
        <p:nvSpPr>
          <p:cNvPr id="664" name="Google Shape;664;p61"/>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Instrument once; correlate everything.</a:t>
            </a:r>
            <a:endParaRPr b="0" i="0" sz="1500" u="none" cap="none" strike="noStrike">
              <a:solidFill>
                <a:schemeClr val="dk1"/>
              </a:solidFill>
              <a:latin typeface="Calibri"/>
              <a:ea typeface="Calibri"/>
              <a:cs typeface="Calibri"/>
              <a:sym typeface="Calibri"/>
            </a:endParaRPr>
          </a:p>
        </p:txBody>
      </p:sp>
      <p:pic>
        <p:nvPicPr>
          <p:cNvPr descr="/home/claude/work/assets/rh-logo-white.png" id="665" name="Google Shape;665;p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0" name="Shape 670"/>
        <p:cNvGrpSpPr/>
        <p:nvPr/>
      </p:nvGrpSpPr>
      <p:grpSpPr>
        <a:xfrm>
          <a:off x="0" y="0"/>
          <a:ext cx="0" cy="0"/>
          <a:chOff x="0" y="0"/>
          <a:chExt cx="0" cy="0"/>
        </a:xfrm>
      </p:grpSpPr>
      <p:sp>
        <p:nvSpPr>
          <p:cNvPr id="671" name="Google Shape;671;p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72" name="Google Shape;672;p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signals, one correlated story</a:t>
            </a:r>
            <a:endParaRPr b="0" i="0" sz="3000" u="none" cap="none" strike="noStrike">
              <a:solidFill>
                <a:schemeClr val="dk1"/>
              </a:solidFill>
              <a:latin typeface="Calibri"/>
              <a:ea typeface="Calibri"/>
              <a:cs typeface="Calibri"/>
              <a:sym typeface="Calibri"/>
            </a:endParaRPr>
          </a:p>
        </p:txBody>
      </p:sp>
      <p:pic>
        <p:nvPicPr>
          <p:cNvPr descr="/home/claude/work/png-sb/21-observability-pillars.png" id="673" name="Google Shape;673;p6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674" name="Google Shape;674;p6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OpenTelemetry emits traces, metrics and logs; the LGTM-style stack stores them and Grafana joins them.</a:t>
            </a:r>
            <a:endParaRPr b="0" i="0" sz="1200" u="none" cap="none" strike="noStrike">
              <a:solidFill>
                <a:schemeClr val="dk1"/>
              </a:solidFill>
              <a:latin typeface="Calibri"/>
              <a:ea typeface="Calibri"/>
              <a:cs typeface="Calibri"/>
              <a:sym typeface="Calibri"/>
            </a:endParaRPr>
          </a:p>
        </p:txBody>
      </p:sp>
      <p:sp>
        <p:nvSpPr>
          <p:cNvPr id="675" name="Google Shape;675;p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48</a:t>
            </a:r>
            <a:endParaRPr b="0" i="0" sz="1000" u="none" cap="none" strike="noStrike">
              <a:solidFill>
                <a:schemeClr val="dk1"/>
              </a:solidFill>
              <a:latin typeface="Calibri"/>
              <a:ea typeface="Calibri"/>
              <a:cs typeface="Calibri"/>
              <a:sym typeface="Calibri"/>
            </a:endParaRPr>
          </a:p>
        </p:txBody>
      </p:sp>
      <p:pic>
        <p:nvPicPr>
          <p:cNvPr descr="/home/claude/work/assets/rh-logo.png" id="676" name="Google Shape;676;p6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1" name="Shape 681"/>
        <p:cNvGrpSpPr/>
        <p:nvPr/>
      </p:nvGrpSpPr>
      <p:grpSpPr>
        <a:xfrm>
          <a:off x="0" y="0"/>
          <a:ext cx="0" cy="0"/>
          <a:chOff x="0" y="0"/>
          <a:chExt cx="0" cy="0"/>
        </a:xfrm>
      </p:grpSpPr>
      <p:sp>
        <p:nvSpPr>
          <p:cNvPr id="682" name="Google Shape;682;p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83" name="Google Shape;683;p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signals in depth — traces, metrics, logs, baggage, profiles</a:t>
            </a:r>
            <a:endParaRPr b="0" i="0" sz="3000" u="none" cap="none" strike="noStrike">
              <a:solidFill>
                <a:schemeClr val="dk1"/>
              </a:solidFill>
              <a:latin typeface="Calibri"/>
              <a:ea typeface="Calibri"/>
              <a:cs typeface="Calibri"/>
              <a:sym typeface="Calibri"/>
            </a:endParaRPr>
          </a:p>
        </p:txBody>
      </p:sp>
      <p:pic>
        <p:nvPicPr>
          <p:cNvPr descr="/home/claude/work/png-sb/21b-observability-signals.png" id="684" name="Google Shape;684;p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685" name="Google Shape;685;p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Three classic pillars plus two that matter more every year. OpenTelemetry emits all five; one trace_id correlates them.</a:t>
            </a:r>
            <a:endParaRPr b="0" i="0" sz="1200" u="none" cap="none" strike="noStrike">
              <a:solidFill>
                <a:schemeClr val="dk1"/>
              </a:solidFill>
              <a:latin typeface="Calibri"/>
              <a:ea typeface="Calibri"/>
              <a:cs typeface="Calibri"/>
              <a:sym typeface="Calibri"/>
            </a:endParaRPr>
          </a:p>
        </p:txBody>
      </p:sp>
      <p:sp>
        <p:nvSpPr>
          <p:cNvPr id="686" name="Google Shape;686;p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49</a:t>
            </a:r>
            <a:endParaRPr b="0" i="0" sz="1000" u="none" cap="none" strike="noStrike">
              <a:solidFill>
                <a:schemeClr val="dk1"/>
              </a:solidFill>
              <a:latin typeface="Calibri"/>
              <a:ea typeface="Calibri"/>
              <a:cs typeface="Calibri"/>
              <a:sym typeface="Calibri"/>
            </a:endParaRPr>
          </a:p>
        </p:txBody>
      </p:sp>
      <p:pic>
        <p:nvPicPr>
          <p:cNvPr descr="/home/claude/work/assets/rh-logo.png" id="687" name="Google Shape;687;p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94" name="Google Shape;694;p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each signal answers — and when to reach for it</a:t>
            </a:r>
            <a:endParaRPr b="0" i="0" sz="3000" u="none" cap="none" strike="noStrike">
              <a:solidFill>
                <a:schemeClr val="dk1"/>
              </a:solidFill>
              <a:latin typeface="Calibri"/>
              <a:ea typeface="Calibri"/>
              <a:cs typeface="Calibri"/>
              <a:sym typeface="Calibri"/>
            </a:endParaRPr>
          </a:p>
        </p:txBody>
      </p:sp>
      <p:sp>
        <p:nvSpPr>
          <p:cNvPr id="695" name="Google Shape;695;p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Traces — 'where did the time go in this request, which hop failed?' Reach for it when debugging latency or a specific failed request. Stored in Tempo / Jaeger.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Metrics — 'what is the aggregate rate / error / latency trend, is it getting worse?' Reach for it for dashboards, alerting, capacity. RED (Rate, Errors, Duration) for request-driven services; USE (Utilisation, Saturation, Errors) for resources. Stored in Prometheus / Mimir.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Logs — 'what exactly happened in this component at this instant?' Reach for it for detail the trace doesn't carry. Structured (JSON), keyed by trace_id. Stored in Loki / ELK.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Baggage — 'carry a value (tenant_id, user_tier) along the whole request so downstream services and their telemetry can use it.' Set once at the edge, readable everywhere downstream. W3C Baggage spec.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Profiles — 'which function is burning CPU / allocating memory / holding locks, continuously, in production?' Reach for it for the latency the trace shows but doesn't explain. Pyroscope / Parca.</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discipline: emit traces + metrics + logs always; add baggage when downstream needs request-scoped context; add profiling when you have CPU/memory mysteries a trace can't resolve.</a:t>
            </a:r>
            <a:endParaRPr b="0" i="0" sz="1700" u="none" cap="none" strike="noStrike">
              <a:solidFill>
                <a:schemeClr val="dk1"/>
              </a:solidFill>
              <a:latin typeface="Calibri"/>
              <a:ea typeface="Calibri"/>
              <a:cs typeface="Calibri"/>
              <a:sym typeface="Calibri"/>
            </a:endParaRPr>
          </a:p>
        </p:txBody>
      </p:sp>
      <p:sp>
        <p:nvSpPr>
          <p:cNvPr id="696" name="Google Shape;696;p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50</a:t>
            </a:r>
            <a:endParaRPr b="0" i="0" sz="1000" u="none" cap="none" strike="noStrike">
              <a:solidFill>
                <a:schemeClr val="dk1"/>
              </a:solidFill>
              <a:latin typeface="Calibri"/>
              <a:ea typeface="Calibri"/>
              <a:cs typeface="Calibri"/>
              <a:sym typeface="Calibri"/>
            </a:endParaRPr>
          </a:p>
        </p:txBody>
      </p:sp>
      <p:pic>
        <p:nvPicPr>
          <p:cNvPr descr="/home/claude/work/assets/rh-logo.png" id="697" name="Google Shape;697;p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2" name="Shape 702"/>
        <p:cNvGrpSpPr/>
        <p:nvPr/>
      </p:nvGrpSpPr>
      <p:grpSpPr>
        <a:xfrm>
          <a:off x="0" y="0"/>
          <a:ext cx="0" cy="0"/>
          <a:chOff x="0" y="0"/>
          <a:chExt cx="0" cy="0"/>
        </a:xfrm>
      </p:grpSpPr>
      <p:sp>
        <p:nvSpPr>
          <p:cNvPr id="703" name="Google Shape;703;p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04" name="Google Shape;704;p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Auto-injection vs. instrumentation — three distinct things</a:t>
            </a:r>
            <a:endParaRPr b="0" i="0" sz="3000" u="none" cap="none" strike="noStrike">
              <a:solidFill>
                <a:schemeClr val="dk1"/>
              </a:solidFill>
              <a:latin typeface="Calibri"/>
              <a:ea typeface="Calibri"/>
              <a:cs typeface="Calibri"/>
              <a:sym typeface="Calibri"/>
            </a:endParaRPr>
          </a:p>
        </p:txBody>
      </p:sp>
      <p:sp>
        <p:nvSpPr>
          <p:cNvPr id="705" name="Google Shape;705;p6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Manual instrumentation — you write the spans. tracer.spanBuilder(...).startSpan(), span.setAttribute(...), span.addEvent(...). Needed for business operations the libraries can't know about ('reserve_stock', 'score_fraud'). The most signal per line, the most effort.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Auto-instrumentation — a library / agent wraps known frameworks for you. HTTP servers and clients, gRPC, JDBC / database drivers, Kafka, Redis — each becomes spans with zero code change. Covers the plumbing; misses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Auto-injection — the platform puts the auto-instrumentation agent into the pod for you. The OpenTelemetry Operator watches for an annotation (instrumentation.opentelemetry.io/inject) and mutates the pod at admission — no agent in your image, no Dockerfile change, no redeploy of the app to add tracing.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How they layer: auto-injection delivers the agent → the agent provides auto-instrumentation of frameworks → you add manual spans for business logic on top. All three coexist in the same trace.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auto-instrumentation is convenient but can be noisy (every framework call becomes a span) and slightly slower. Manual is precise but is work you own. Most teams: auto for the plumbing, manual for the domain, injection to roll it out fleet-wide.</a:t>
            </a:r>
            <a:endParaRPr b="0" i="0" sz="1700" u="none" cap="none" strike="noStrike">
              <a:solidFill>
                <a:schemeClr val="dk1"/>
              </a:solidFill>
              <a:latin typeface="Calibri"/>
              <a:ea typeface="Calibri"/>
              <a:cs typeface="Calibri"/>
              <a:sym typeface="Calibri"/>
            </a:endParaRPr>
          </a:p>
        </p:txBody>
      </p:sp>
      <p:sp>
        <p:nvSpPr>
          <p:cNvPr id="706" name="Google Shape;706;p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51</a:t>
            </a:r>
            <a:endParaRPr b="0" i="0" sz="1000" u="none" cap="none" strike="noStrike">
              <a:solidFill>
                <a:schemeClr val="dk1"/>
              </a:solidFill>
              <a:latin typeface="Calibri"/>
              <a:ea typeface="Calibri"/>
              <a:cs typeface="Calibri"/>
              <a:sym typeface="Calibri"/>
            </a:endParaRPr>
          </a:p>
        </p:txBody>
      </p:sp>
      <p:pic>
        <p:nvPicPr>
          <p:cNvPr descr="/home/claude/work/assets/rh-logo.png" id="707" name="Google Shape;707;p6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p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14" name="Google Shape;714;p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Auto-instrument with the OpenTelemetry Java agent</a:t>
            </a:r>
            <a:endParaRPr b="0" i="0" sz="3000" u="none" cap="none" strike="noStrike">
              <a:solidFill>
                <a:schemeClr val="dk1"/>
              </a:solidFill>
              <a:latin typeface="Calibri"/>
              <a:ea typeface="Calibri"/>
              <a:cs typeface="Calibri"/>
              <a:sym typeface="Calibri"/>
            </a:endParaRPr>
          </a:p>
        </p:txBody>
      </p:sp>
      <p:sp>
        <p:nvSpPr>
          <p:cNvPr id="715" name="Google Shape;715;p6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6"/>
          <p:cNvSpPr/>
          <p:nvPr/>
        </p:nvSpPr>
        <p:spPr>
          <a:xfrm>
            <a:off x="7718217" y="1700784"/>
            <a:ext cx="3815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OpenTelemetry Java agent</a:t>
            </a:r>
            <a:endParaRPr b="0" i="0" sz="1000" u="none" cap="none" strike="noStrike">
              <a:solidFill>
                <a:schemeClr val="dk1"/>
              </a:solidFill>
              <a:latin typeface="Calibri"/>
              <a:ea typeface="Calibri"/>
              <a:cs typeface="Calibri"/>
              <a:sym typeface="Calibri"/>
            </a:endParaRPr>
          </a:p>
        </p:txBody>
      </p:sp>
      <p:sp>
        <p:nvSpPr>
          <p:cNvPr id="717" name="Google Shape;717;p6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Containerfile — attach the OpenTelemetry Java agent (Spring Boot 4 needs no starter)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ENV JAVA_TOOL_OPTIONS="-javaagent:/deployments/opentelemetry-javaagent.jar"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environment: OTEL_SERVICE_NAME=order-service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OTEL_EXPORTER_OTLP_ENDPOINT=http://otel-collector:4318</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OTEL_TRACES_SAMPLER=parentbased_traceidratio, OTEL_TRACES_SAMPLER_ARG=1.0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The agent instruments Spring MVC, RestClient, gRPC, JDBC and the Kafka clients,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and puts trace_id/span_id in the logback MDC. Custom business spans use the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OpenTelemetry API annotation (io.opentelemetry.instrumentation.annotations):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OrderService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private final InventoryServiceGrpc.InventoryServiceBlockingStub inventory;   // Spring gRPC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OrderService(InventoryServiceGrpc.InventoryServiceBlockingStub i) { inventory = i;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@WithSpan("reserve_stock")                 // custom span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ReserveReply reserve(String sku, int qty)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inventory.reserveStock(</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ReserveRequest.newBuilder().setSku(sku).setQuantity(qty).build());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 trace_id flows: REST -&gt; gRPC -&gt; Kafka -&gt; consumer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718" name="Google Shape;718;p6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agent exports OTLP: traces to Tempo, metrics to Mimir, logs to Loki, all keyed by trace_id.</a:t>
            </a:r>
            <a:endParaRPr b="0" i="0" sz="1300" u="none" cap="none" strike="noStrike">
              <a:solidFill>
                <a:schemeClr val="dk1"/>
              </a:solidFill>
              <a:latin typeface="Calibri"/>
              <a:ea typeface="Calibri"/>
              <a:cs typeface="Calibri"/>
              <a:sym typeface="Calibri"/>
            </a:endParaRPr>
          </a:p>
        </p:txBody>
      </p:sp>
      <p:sp>
        <p:nvSpPr>
          <p:cNvPr id="719" name="Google Shape;719;p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52</a:t>
            </a:r>
            <a:endParaRPr b="0" i="0" sz="1000" u="none" cap="none" strike="noStrike">
              <a:solidFill>
                <a:schemeClr val="dk1"/>
              </a:solidFill>
              <a:latin typeface="Calibri"/>
              <a:ea typeface="Calibri"/>
              <a:cs typeface="Calibri"/>
              <a:sym typeface="Calibri"/>
            </a:endParaRPr>
          </a:p>
        </p:txBody>
      </p:sp>
      <p:pic>
        <p:nvPicPr>
          <p:cNvPr descr="/home/claude/work/assets/rh-logo.png" id="720" name="Google Shape;720;p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5" name="Shape 725"/>
        <p:cNvGrpSpPr/>
        <p:nvPr/>
      </p:nvGrpSpPr>
      <p:grpSpPr>
        <a:xfrm>
          <a:off x="0" y="0"/>
          <a:ext cx="0" cy="0"/>
          <a:chOff x="0" y="0"/>
          <a:chExt cx="0" cy="0"/>
        </a:xfrm>
      </p:grpSpPr>
      <p:sp>
        <p:nvSpPr>
          <p:cNvPr id="726" name="Google Shape;726;p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27" name="Google Shape;727;p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correlation works — context propagation</a:t>
            </a:r>
            <a:endParaRPr b="0" i="0" sz="3000" u="none" cap="none" strike="noStrike">
              <a:solidFill>
                <a:schemeClr val="dk1"/>
              </a:solidFill>
              <a:latin typeface="Calibri"/>
              <a:ea typeface="Calibri"/>
              <a:cs typeface="Calibri"/>
              <a:sym typeface="Calibri"/>
            </a:endParaRPr>
          </a:p>
        </p:txBody>
      </p:sp>
      <p:pic>
        <p:nvPicPr>
          <p:cNvPr descr="/home/claude/work/png-sb/21c-observability-correlation.png" id="728" name="Google Shape;728;p6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729" name="Google Shape;729;p6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trace context rides in-band with the request (W3C traceparent). The same trace_id at every hop is what stitches the story.</a:t>
            </a:r>
            <a:endParaRPr b="0" i="0" sz="1200" u="none" cap="none" strike="noStrike">
              <a:solidFill>
                <a:schemeClr val="dk1"/>
              </a:solidFill>
              <a:latin typeface="Calibri"/>
              <a:ea typeface="Calibri"/>
              <a:cs typeface="Calibri"/>
              <a:sym typeface="Calibri"/>
            </a:endParaRPr>
          </a:p>
        </p:txBody>
      </p:sp>
      <p:sp>
        <p:nvSpPr>
          <p:cNvPr id="730" name="Google Shape;730;p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53</a:t>
            </a:r>
            <a:endParaRPr b="0" i="0" sz="1000" u="none" cap="none" strike="noStrike">
              <a:solidFill>
                <a:schemeClr val="dk1"/>
              </a:solidFill>
              <a:latin typeface="Calibri"/>
              <a:ea typeface="Calibri"/>
              <a:cs typeface="Calibri"/>
              <a:sym typeface="Calibri"/>
            </a:endParaRPr>
          </a:p>
        </p:txBody>
      </p:sp>
      <p:pic>
        <p:nvPicPr>
          <p:cNvPr descr="/home/claude/work/assets/rh-logo.png" id="731" name="Google Shape;731;p6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sp>
        <p:nvSpPr>
          <p:cNvPr id="737" name="Google Shape;737;p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38" name="Google Shape;738;p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Baggage in practice — carry request context downstream</a:t>
            </a:r>
            <a:endParaRPr b="0" i="0" sz="3000" u="none" cap="none" strike="noStrike">
              <a:solidFill>
                <a:schemeClr val="dk1"/>
              </a:solidFill>
              <a:latin typeface="Calibri"/>
              <a:ea typeface="Calibri"/>
              <a:cs typeface="Calibri"/>
              <a:sym typeface="Calibri"/>
            </a:endParaRPr>
          </a:p>
        </p:txBody>
      </p:sp>
      <p:sp>
        <p:nvSpPr>
          <p:cNvPr id="739" name="Google Shape;739;p6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8"/>
          <p:cNvSpPr/>
          <p:nvPr/>
        </p:nvSpPr>
        <p:spPr>
          <a:xfrm>
            <a:off x="8251617" y="1700784"/>
            <a:ext cx="3281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OpenTelemetry API</a:t>
            </a:r>
            <a:endParaRPr b="0" i="0" sz="1000" u="none" cap="none" strike="noStrike">
              <a:solidFill>
                <a:schemeClr val="dk1"/>
              </a:solidFill>
              <a:latin typeface="Calibri"/>
              <a:ea typeface="Calibri"/>
              <a:cs typeface="Calibri"/>
              <a:sym typeface="Calibri"/>
            </a:endParaRPr>
          </a:p>
        </p:txBody>
      </p:sp>
      <p:sp>
        <p:nvSpPr>
          <p:cNvPr id="741" name="Google Shape;741;p6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OpenTelemetry Baggage rides the same context propagation as the trace;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the Java agent carries the W3C baggage header over REST, gRPC and Kafka.</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@Component</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public class TenantBaggageFilter extends OncePerRequestFilter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@Override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protected void doFilterInternal(HttpServletRequest req, HttpServletResponse res,</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FilterChain chain) throws ServletException, IOException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try (Scope s = Baggage.current().toBuilder()</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.put("tenant.id", req.getHeader("X-Tenant"))</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.build()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.makeCurrent())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chain.doFilter(req, res);          // downstream calls carry tenant.id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read it downstream, in a consumer</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@KafkaListener(topics = "order.placed")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public void handle(OrderEvent ev)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String tenant = Baggage.current().getEntryValue("tenant.id");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Span.current().setAttribute("tenant.id", tenant);   // baggage is not an attribute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a:t>
            </a:r>
            <a:endParaRPr b="0" i="0" sz="800" u="none" cap="none" strike="noStrike">
              <a:solidFill>
                <a:schemeClr val="dk1"/>
              </a:solidFill>
              <a:latin typeface="Calibri"/>
              <a:ea typeface="Calibri"/>
              <a:cs typeface="Calibri"/>
              <a:sym typeface="Calibri"/>
            </a:endParaRPr>
          </a:p>
        </p:txBody>
      </p:sp>
      <p:sp>
        <p:nvSpPr>
          <p:cNvPr id="742" name="Google Shape;742;p6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Set baggage once at the edge; every downstream hop carries it, and a span attribute makes it queryable.</a:t>
            </a:r>
            <a:endParaRPr b="0" i="0" sz="1300" u="none" cap="none" strike="noStrike">
              <a:solidFill>
                <a:schemeClr val="dk1"/>
              </a:solidFill>
              <a:latin typeface="Calibri"/>
              <a:ea typeface="Calibri"/>
              <a:cs typeface="Calibri"/>
              <a:sym typeface="Calibri"/>
            </a:endParaRPr>
          </a:p>
        </p:txBody>
      </p:sp>
      <p:sp>
        <p:nvSpPr>
          <p:cNvPr id="743" name="Google Shape;743;p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54</a:t>
            </a:r>
            <a:endParaRPr b="0" i="0" sz="1000" u="none" cap="none" strike="noStrike">
              <a:solidFill>
                <a:schemeClr val="dk1"/>
              </a:solidFill>
              <a:latin typeface="Calibri"/>
              <a:ea typeface="Calibri"/>
              <a:cs typeface="Calibri"/>
              <a:sym typeface="Calibri"/>
            </a:endParaRPr>
          </a:p>
        </p:txBody>
      </p:sp>
      <p:pic>
        <p:nvPicPr>
          <p:cNvPr descr="/home/claude/work/assets/rh-logo.png" id="744" name="Google Shape;744;p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9" name="Shape 749"/>
        <p:cNvGrpSpPr/>
        <p:nvPr/>
      </p:nvGrpSpPr>
      <p:grpSpPr>
        <a:xfrm>
          <a:off x="0" y="0"/>
          <a:ext cx="0" cy="0"/>
          <a:chOff x="0" y="0"/>
          <a:chExt cx="0" cy="0"/>
        </a:xfrm>
      </p:grpSpPr>
      <p:sp>
        <p:nvSpPr>
          <p:cNvPr id="750" name="Google Shape;750;p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51" name="Google Shape;751;p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single trace stitches the whole request</a:t>
            </a:r>
            <a:endParaRPr b="0" i="0" sz="3000" u="none" cap="none" strike="noStrike">
              <a:solidFill>
                <a:schemeClr val="dk1"/>
              </a:solidFill>
              <a:latin typeface="Calibri"/>
              <a:ea typeface="Calibri"/>
              <a:cs typeface="Calibri"/>
              <a:sym typeface="Calibri"/>
            </a:endParaRPr>
          </a:p>
        </p:txBody>
      </p:sp>
      <p:pic>
        <p:nvPicPr>
          <p:cNvPr descr="/home/claude/work/png-sb/22-observability-trace.png" id="752" name="Google Shape;752;p69"/>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753" name="Google Shape;753;p6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trace_id propagates from the edge REST call through gRPC, Kafka and the consumer — five services, one story.</a:t>
            </a:r>
            <a:endParaRPr b="0" i="0" sz="1200" u="none" cap="none" strike="noStrike">
              <a:solidFill>
                <a:schemeClr val="dk1"/>
              </a:solidFill>
              <a:latin typeface="Calibri"/>
              <a:ea typeface="Calibri"/>
              <a:cs typeface="Calibri"/>
              <a:sym typeface="Calibri"/>
            </a:endParaRPr>
          </a:p>
        </p:txBody>
      </p:sp>
      <p:sp>
        <p:nvSpPr>
          <p:cNvPr id="754" name="Google Shape;754;p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55</a:t>
            </a:r>
            <a:endParaRPr b="0" i="0" sz="1000" u="none" cap="none" strike="noStrike">
              <a:solidFill>
                <a:schemeClr val="dk1"/>
              </a:solidFill>
              <a:latin typeface="Calibri"/>
              <a:ea typeface="Calibri"/>
              <a:cs typeface="Calibri"/>
              <a:sym typeface="Calibri"/>
            </a:endParaRPr>
          </a:p>
        </p:txBody>
      </p:sp>
      <p:pic>
        <p:nvPicPr>
          <p:cNvPr descr="/home/claude/work/assets/rh-logo.png" id="755" name="Google Shape;755;p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62" name="Google Shape;762;p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Sampling — head vs. tail</a:t>
            </a:r>
            <a:endParaRPr b="0" i="0" sz="3000" u="none" cap="none" strike="noStrike">
              <a:solidFill>
                <a:schemeClr val="dk1"/>
              </a:solidFill>
              <a:latin typeface="Calibri"/>
              <a:ea typeface="Calibri"/>
              <a:cs typeface="Calibri"/>
              <a:sym typeface="Calibri"/>
            </a:endParaRPr>
          </a:p>
        </p:txBody>
      </p:sp>
      <p:pic>
        <p:nvPicPr>
          <p:cNvPr descr="/home/claude/work/png-sb/21d-observability-sampling.png" id="763" name="Google Shape;763;p70"/>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764" name="Google Shape;764;p7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You can't store every trace at scale. Head decides at the start (cheap, blind); tail decides at the end (smart, costly).</a:t>
            </a:r>
            <a:endParaRPr b="0" i="0" sz="1200" u="none" cap="none" strike="noStrike">
              <a:solidFill>
                <a:schemeClr val="dk1"/>
              </a:solidFill>
              <a:latin typeface="Calibri"/>
              <a:ea typeface="Calibri"/>
              <a:cs typeface="Calibri"/>
              <a:sym typeface="Calibri"/>
            </a:endParaRPr>
          </a:p>
        </p:txBody>
      </p:sp>
      <p:sp>
        <p:nvSpPr>
          <p:cNvPr id="765" name="Google Shape;765;p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56</a:t>
            </a:r>
            <a:endParaRPr b="0" i="0" sz="1000" u="none" cap="none" strike="noStrike">
              <a:solidFill>
                <a:schemeClr val="dk1"/>
              </a:solidFill>
              <a:latin typeface="Calibri"/>
              <a:ea typeface="Calibri"/>
              <a:cs typeface="Calibri"/>
              <a:sym typeface="Calibri"/>
            </a:endParaRPr>
          </a:p>
        </p:txBody>
      </p:sp>
      <p:pic>
        <p:nvPicPr>
          <p:cNvPr descr="/home/claude/work/assets/rh-logo.png" id="766" name="Google Shape;766;p7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sp>
        <p:nvSpPr>
          <p:cNvPr id="772" name="Google Shape;772;p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73" name="Google Shape;773;p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a sampling strategy</a:t>
            </a:r>
            <a:endParaRPr b="0" i="0" sz="3000" u="none" cap="none" strike="noStrike">
              <a:solidFill>
                <a:schemeClr val="dk1"/>
              </a:solidFill>
              <a:latin typeface="Calibri"/>
              <a:ea typeface="Calibri"/>
              <a:cs typeface="Calibri"/>
              <a:sym typeface="Calibri"/>
            </a:endParaRPr>
          </a:p>
        </p:txBody>
      </p:sp>
      <p:sp>
        <p:nvSpPr>
          <p:cNvPr id="774" name="Google Shape;774;p71"/>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Probabilistic (head) — keep a fixed percentage (e.g. 10%). Simplest; predictable volume; blind to errors. Good baseline for high-traffic, low-stakes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Rate-limiting (head) — keep at most N traces/sec per service. Protects your backend from traffic spikes; good when load is bursty.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Parent-based (head) — honour the upstream service's sampling decision (carried in the traceparent flags). Essential in distributed systems: it stops a trace being sampled at service A but dropped at service B, which would give you broken half-traces.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Tail-based (Collector) — buffer the whole trace, then keep by rule: all errors, all traces over a latency threshold, rare routes, plus a small % of the rest. The gold standard for keeping what matters, at the cost of Collector memory + CPU.</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Recommended production setup: parent-based head sampling at a modest baseline (1-10%) for representativeness, plus tail sampling at the Collector to guarantee every error and slow trace is kept.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Don't sample metrics the way you sample traces (metrics aggregate everything). Keep logs in full with retention limits, or sample them on their own policy keyed by trace_id so a kept trace keeps its logs.</a:t>
            </a:r>
            <a:endParaRPr b="0" i="0" sz="1700" u="none" cap="none" strike="noStrike">
              <a:solidFill>
                <a:schemeClr val="dk1"/>
              </a:solidFill>
              <a:latin typeface="Calibri"/>
              <a:ea typeface="Calibri"/>
              <a:cs typeface="Calibri"/>
              <a:sym typeface="Calibri"/>
            </a:endParaRPr>
          </a:p>
        </p:txBody>
      </p:sp>
      <p:sp>
        <p:nvSpPr>
          <p:cNvPr id="775" name="Google Shape;775;p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57</a:t>
            </a:r>
            <a:endParaRPr b="0" i="0" sz="1000" u="none" cap="none" strike="noStrike">
              <a:solidFill>
                <a:schemeClr val="dk1"/>
              </a:solidFill>
              <a:latin typeface="Calibri"/>
              <a:ea typeface="Calibri"/>
              <a:cs typeface="Calibri"/>
              <a:sym typeface="Calibri"/>
            </a:endParaRPr>
          </a:p>
        </p:txBody>
      </p:sp>
      <p:pic>
        <p:nvPicPr>
          <p:cNvPr descr="/home/claude/work/assets/rh-logo.png" id="776" name="Google Shape;776;p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1" name="Shape 781"/>
        <p:cNvGrpSpPr/>
        <p:nvPr/>
      </p:nvGrpSpPr>
      <p:grpSpPr>
        <a:xfrm>
          <a:off x="0" y="0"/>
          <a:ext cx="0" cy="0"/>
          <a:chOff x="0" y="0"/>
          <a:chExt cx="0" cy="0"/>
        </a:xfrm>
      </p:grpSpPr>
      <p:sp>
        <p:nvSpPr>
          <p:cNvPr id="782" name="Google Shape;782;p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83" name="Google Shape;783;p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Prove it with simple tools before you ship</a:t>
            </a:r>
            <a:endParaRPr b="0" i="0" sz="3000" u="none" cap="none" strike="noStrike">
              <a:solidFill>
                <a:schemeClr val="dk1"/>
              </a:solidFill>
              <a:latin typeface="Calibri"/>
              <a:ea typeface="Calibri"/>
              <a:cs typeface="Calibri"/>
              <a:sym typeface="Calibri"/>
            </a:endParaRPr>
          </a:p>
        </p:txBody>
      </p:sp>
      <p:sp>
        <p:nvSpPr>
          <p:cNvPr id="784" name="Google Shape;784;p7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curl / Postman — exercise REST contracts and inspect status codes, headers and pagination.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hey — quick HTTP load to watch latency, error rate and the KEDA http-add-on scale the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ghz — load-test gRPC endpoints and confirm timeouts and retries behave under pressure.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UI (GraphiQL) — explore the composed schema and watch the gateway fan out in Tempo.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Kiali — read the live service-mesh topology, mTLS status and request flow during a load test.</a:t>
            </a:r>
            <a:endParaRPr b="0" i="0" sz="1700" u="none" cap="none" strike="noStrike">
              <a:solidFill>
                <a:schemeClr val="dk1"/>
              </a:solidFill>
              <a:latin typeface="Calibri"/>
              <a:ea typeface="Calibri"/>
              <a:cs typeface="Calibri"/>
              <a:sym typeface="Calibri"/>
            </a:endParaRPr>
          </a:p>
        </p:txBody>
      </p:sp>
      <p:sp>
        <p:nvSpPr>
          <p:cNvPr id="785" name="Google Shape;785;p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58</a:t>
            </a:r>
            <a:endParaRPr b="0" i="0" sz="1000" u="none" cap="none" strike="noStrike">
              <a:solidFill>
                <a:schemeClr val="dk1"/>
              </a:solidFill>
              <a:latin typeface="Calibri"/>
              <a:ea typeface="Calibri"/>
              <a:cs typeface="Calibri"/>
              <a:sym typeface="Calibri"/>
            </a:endParaRPr>
          </a:p>
        </p:txBody>
      </p:sp>
      <p:pic>
        <p:nvPicPr>
          <p:cNvPr descr="/home/claude/work/assets/rh-logo.png" id="786" name="Google Shape;786;p7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91" name="Shape 791"/>
        <p:cNvGrpSpPr/>
        <p:nvPr/>
      </p:nvGrpSpPr>
      <p:grpSpPr>
        <a:xfrm>
          <a:off x="0" y="0"/>
          <a:ext cx="0" cy="0"/>
          <a:chOff x="0" y="0"/>
          <a:chExt cx="0" cy="0"/>
        </a:xfrm>
      </p:grpSpPr>
      <p:pic>
        <p:nvPicPr>
          <p:cNvPr descr="/home/claude/work/assets/rh-divider-bg.png" id="792" name="Google Shape;792;p7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793" name="Google Shape;793;p7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12</a:t>
            </a:r>
            <a:endParaRPr b="0" i="0" sz="2200" u="none" cap="none" strike="noStrike">
              <a:solidFill>
                <a:schemeClr val="dk1"/>
              </a:solidFill>
              <a:latin typeface="Calibri"/>
              <a:ea typeface="Calibri"/>
              <a:cs typeface="Calibri"/>
              <a:sym typeface="Calibri"/>
            </a:endParaRPr>
          </a:p>
        </p:txBody>
      </p:sp>
      <p:sp>
        <p:nvSpPr>
          <p:cNvPr id="794" name="Google Shape;794;p7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Security</a:t>
            </a:r>
            <a:endParaRPr b="0" i="0" sz="4000" u="none" cap="none" strike="noStrike">
              <a:solidFill>
                <a:schemeClr val="dk1"/>
              </a:solidFill>
              <a:latin typeface="Calibri"/>
              <a:ea typeface="Calibri"/>
              <a:cs typeface="Calibri"/>
              <a:sym typeface="Calibri"/>
            </a:endParaRPr>
          </a:p>
        </p:txBody>
      </p:sp>
      <p:sp>
        <p:nvSpPr>
          <p:cNvPr id="795" name="Google Shape;795;p7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Defence in depth, in layers.</a:t>
            </a:r>
            <a:endParaRPr b="0" i="0" sz="1500" u="none" cap="none" strike="noStrike">
              <a:solidFill>
                <a:schemeClr val="dk1"/>
              </a:solidFill>
              <a:latin typeface="Calibri"/>
              <a:ea typeface="Calibri"/>
              <a:cs typeface="Calibri"/>
              <a:sym typeface="Calibri"/>
            </a:endParaRPr>
          </a:p>
        </p:txBody>
      </p:sp>
      <p:pic>
        <p:nvPicPr>
          <p:cNvPr descr="/home/claude/work/assets/rh-logo-white.png" id="796" name="Google Shape;796;p7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03" name="Google Shape;803;p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of cloud-native security</a:t>
            </a:r>
            <a:endParaRPr b="0" i="0" sz="3000" u="none" cap="none" strike="noStrike">
              <a:solidFill>
                <a:schemeClr val="dk1"/>
              </a:solidFill>
              <a:latin typeface="Calibri"/>
              <a:ea typeface="Calibri"/>
              <a:cs typeface="Calibri"/>
              <a:sym typeface="Calibri"/>
            </a:endParaRPr>
          </a:p>
        </p:txBody>
      </p:sp>
      <p:pic>
        <p:nvPicPr>
          <p:cNvPr descr="/home/claude/work/png-sb/100-security-4cs.png" id="804" name="Google Shape;804;p74"/>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805" name="Google Shape;805;p7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Cloud → Cluster → Container → Code. Concentric layers, each layer protects what is inside.</a:t>
            </a:r>
            <a:endParaRPr b="0" i="0" sz="1200" u="none" cap="none" strike="noStrike">
              <a:solidFill>
                <a:schemeClr val="dk1"/>
              </a:solidFill>
              <a:latin typeface="Calibri"/>
              <a:ea typeface="Calibri"/>
              <a:cs typeface="Calibri"/>
              <a:sym typeface="Calibri"/>
            </a:endParaRPr>
          </a:p>
        </p:txBody>
      </p:sp>
      <p:sp>
        <p:nvSpPr>
          <p:cNvPr id="806" name="Google Shape;806;p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59</a:t>
            </a:r>
            <a:endParaRPr b="0" i="0" sz="1000" u="none" cap="none" strike="noStrike">
              <a:solidFill>
                <a:schemeClr val="dk1"/>
              </a:solidFill>
              <a:latin typeface="Calibri"/>
              <a:ea typeface="Calibri"/>
              <a:cs typeface="Calibri"/>
              <a:sym typeface="Calibri"/>
            </a:endParaRPr>
          </a:p>
        </p:txBody>
      </p:sp>
      <p:pic>
        <p:nvPicPr>
          <p:cNvPr descr="/home/claude/work/assets/rh-logo.png" id="807" name="Google Shape;807;p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sp>
        <p:nvSpPr>
          <p:cNvPr id="813" name="Google Shape;813;p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14" name="Google Shape;814;p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 what each layer enforces, and who owns it</a:t>
            </a:r>
            <a:endParaRPr b="0" i="0" sz="3000" u="none" cap="none" strike="noStrike">
              <a:solidFill>
                <a:schemeClr val="dk1"/>
              </a:solidFill>
              <a:latin typeface="Calibri"/>
              <a:ea typeface="Calibri"/>
              <a:cs typeface="Calibri"/>
              <a:sym typeface="Calibri"/>
            </a:endParaRPr>
          </a:p>
        </p:txBody>
      </p:sp>
      <p:sp>
        <p:nvSpPr>
          <p:cNvPr id="815" name="Google Shape;815;p75"/>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Cloud — IAM (principles of least privilege), VPC isolation, KMS for keys, audit logging, region &amp; data-residency controls. Owner: platform / cloud admin.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Cluster — Kubernetes RBAC, NetworkPolicy (default-deny + targeted allows), Pod Security Standards (restricted profile), admission control (OPA Gatekeeper / Kyverno), secret encryption at rest, etcd encryption. Owner: platform / SRE.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Container — minimal base images (distroless, UBI-minimal), non-root users, read-only root filesystems, image signing (Sigstore / Cosign), vulnerability scanning (Trivy, Grype) on every build, secret mounting via projected volumes (never bake secrets into images). Owner: app team + platform.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Code — secure defaults (parameterised queries, output encoding), input validation at the trust boundary, dependency scanning (Dependabot, Snyk, OSV-Scanner), secrets handling (no plaintext in source, no logging secrets), CSRF / SSRF / XXE awareness, threat modeling. Owner: app team.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observability (audit who did what when), incident response runbooks, threat modeling per service, regular dependency updates.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pattern: a control at the wrong layer is the most common source of false confidence. Network ACLs cannot save you from an SQL injection. Code-level input validation cannot save you from a compromised image. Defence in depth is real.</a:t>
            </a:r>
            <a:endParaRPr b="0" i="0" sz="1700" u="none" cap="none" strike="noStrike">
              <a:solidFill>
                <a:schemeClr val="dk1"/>
              </a:solidFill>
              <a:latin typeface="Calibri"/>
              <a:ea typeface="Calibri"/>
              <a:cs typeface="Calibri"/>
              <a:sym typeface="Calibri"/>
            </a:endParaRPr>
          </a:p>
        </p:txBody>
      </p:sp>
      <p:sp>
        <p:nvSpPr>
          <p:cNvPr id="816" name="Google Shape;816;p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60</a:t>
            </a:r>
            <a:endParaRPr b="0" i="0" sz="1000" u="none" cap="none" strike="noStrike">
              <a:solidFill>
                <a:schemeClr val="dk1"/>
              </a:solidFill>
              <a:latin typeface="Calibri"/>
              <a:ea typeface="Calibri"/>
              <a:cs typeface="Calibri"/>
              <a:sym typeface="Calibri"/>
            </a:endParaRPr>
          </a:p>
        </p:txBody>
      </p:sp>
      <p:pic>
        <p:nvPicPr>
          <p:cNvPr descr="/home/claude/work/assets/rh-logo.png" id="817" name="Google Shape;817;p7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24" name="Google Shape;824;p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Seven patterns to know</a:t>
            </a:r>
            <a:endParaRPr b="0" i="0" sz="3000" u="none" cap="none" strike="noStrike">
              <a:solidFill>
                <a:schemeClr val="dk1"/>
              </a:solidFill>
              <a:latin typeface="Calibri"/>
              <a:ea typeface="Calibri"/>
              <a:cs typeface="Calibri"/>
              <a:sym typeface="Calibri"/>
            </a:endParaRPr>
          </a:p>
        </p:txBody>
      </p:sp>
      <p:sp>
        <p:nvSpPr>
          <p:cNvPr id="825" name="Google Shape;825;p76"/>
          <p:cNvSpPr/>
          <p:nvPr/>
        </p:nvSpPr>
        <p:spPr>
          <a:xfrm>
            <a:off x="566928" y="1600200"/>
            <a:ext cx="11057700" cy="459734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Sidecar  —  move security concerns out of the app into a companion process. mTLS, JWT, audit, rate-limiting belong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Valet Key  —  hand the client a short-lived signed token to access a resource directly. Less app proxying, less attack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Fig (for security modernisation)  —  encapsulate legacy auth behind an API gateway, replace pieces over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Zero-Trust / Identity-Aware Proxy  —  every request authenticated and authorised. Perimeter trust is dead.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Policy-as-Code  —  security gates declared in Git, evaluated at admission and at build. No human runs a checklist.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Bulkhead  —  isolate resources so one failure (or compromise) cannot starve or cascade into others.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Claim-Check  —  send a reference, not the payload. Keeps PII out of message bus history and limits the blast radius if a topic leaks.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seven appear in different layers and combine. Each is presented as pattern, then implementation — platform config where it's mostly YAML, code where it's mostly code.</a:t>
            </a:r>
            <a:endParaRPr b="0" i="0" sz="1700" u="none" cap="none" strike="noStrike">
              <a:solidFill>
                <a:schemeClr val="dk1"/>
              </a:solidFill>
              <a:latin typeface="Calibri"/>
              <a:ea typeface="Calibri"/>
              <a:cs typeface="Calibri"/>
              <a:sym typeface="Calibri"/>
            </a:endParaRPr>
          </a:p>
        </p:txBody>
      </p:sp>
      <p:sp>
        <p:nvSpPr>
          <p:cNvPr id="826" name="Google Shape;826;p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61</a:t>
            </a:r>
            <a:endParaRPr b="0" i="0" sz="1000" u="none" cap="none" strike="noStrike">
              <a:solidFill>
                <a:schemeClr val="dk1"/>
              </a:solidFill>
              <a:latin typeface="Calibri"/>
              <a:ea typeface="Calibri"/>
              <a:cs typeface="Calibri"/>
              <a:sym typeface="Calibri"/>
            </a:endParaRPr>
          </a:p>
        </p:txBody>
      </p:sp>
      <p:pic>
        <p:nvPicPr>
          <p:cNvPr descr="/home/claude/work/assets/rh-logo.png" id="827" name="Google Shape;827;p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34" name="Google Shape;834;p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Sidecar pattern — push security out of the app</a:t>
            </a:r>
            <a:endParaRPr b="0" i="0" sz="3000" u="none" cap="none" strike="noStrike">
              <a:solidFill>
                <a:schemeClr val="dk1"/>
              </a:solidFill>
              <a:latin typeface="Calibri"/>
              <a:ea typeface="Calibri"/>
              <a:cs typeface="Calibri"/>
              <a:sym typeface="Calibri"/>
            </a:endParaRPr>
          </a:p>
        </p:txBody>
      </p:sp>
      <p:pic>
        <p:nvPicPr>
          <p:cNvPr descr="/home/claude/work/png-sb/101-security-sidecar.png" id="835" name="Google Shape;835;p7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836" name="Google Shape;836;p7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mTLS, JWT validation, rate limiting, audit logging — a companion process in the same Pod handles them all.</a:t>
            </a:r>
            <a:endParaRPr b="0" i="0" sz="1200" u="none" cap="none" strike="noStrike">
              <a:solidFill>
                <a:schemeClr val="dk1"/>
              </a:solidFill>
              <a:latin typeface="Calibri"/>
              <a:ea typeface="Calibri"/>
              <a:cs typeface="Calibri"/>
              <a:sym typeface="Calibri"/>
            </a:endParaRPr>
          </a:p>
        </p:txBody>
      </p:sp>
      <p:sp>
        <p:nvSpPr>
          <p:cNvPr id="837" name="Google Shape;837;p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62</a:t>
            </a:r>
            <a:endParaRPr b="0" i="0" sz="1000" u="none" cap="none" strike="noStrike">
              <a:solidFill>
                <a:schemeClr val="dk1"/>
              </a:solidFill>
              <a:latin typeface="Calibri"/>
              <a:ea typeface="Calibri"/>
              <a:cs typeface="Calibri"/>
              <a:sym typeface="Calibri"/>
            </a:endParaRPr>
          </a:p>
        </p:txBody>
      </p:sp>
      <p:pic>
        <p:nvPicPr>
          <p:cNvPr descr="/home/claude/work/assets/rh-logo.png" id="838" name="Google Shape;838;p7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p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45" name="Google Shape;845;p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Reading the sidecar's trusted headers</a:t>
            </a:r>
            <a:endParaRPr b="0" i="0" sz="3000" u="none" cap="none" strike="noStrike">
              <a:solidFill>
                <a:schemeClr val="dk1"/>
              </a:solidFill>
              <a:latin typeface="Calibri"/>
              <a:ea typeface="Calibri"/>
              <a:cs typeface="Calibri"/>
              <a:sym typeface="Calibri"/>
            </a:endParaRPr>
          </a:p>
        </p:txBody>
      </p:sp>
      <p:sp>
        <p:nvSpPr>
          <p:cNvPr id="846" name="Google Shape;846;p78"/>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sidecar handles mTLS, JWT validation, and policy decisions — the app trusts the headers the sidecar attaches and reads them as plain values.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X-Forwarded-Client-Cert — the validated client identity from mTLS. Includes the SPIFFE ID (spiffe://cluster.local/ns/orders/sa/order-service) or the X.509 Subject. Set only by the sidecar; the app must reject requests that don't have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JWT claims — the sidecar validates the signature, then passes the claims forward as a header or sets request.auth.claims via an envoy filter. The app reads sub, aud, scope, custom claims; it never re-validates the signature.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Request ID — the sidecar attaches X-Request-Id for traceability. Log it; propagate it to downstream calls; correlate it with audit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Mode: only trust these headers when the sidecar is in front. In direct-to-Pod traffic (port-forward, debugging, mistakes), they could be spoofed. Use a NetworkPolicy to ensure traffic only enters via the sidecar's mTLS port.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Examples: Istio Envoy sidecars (auto-injected), Linkerd2-proxy, OPA Sidecar (policy decisions), Cilium L7 policy. License: all Apache 2.0.</a:t>
            </a:r>
            <a:endParaRPr b="0" i="0" sz="1700" u="none" cap="none" strike="noStrike">
              <a:solidFill>
                <a:schemeClr val="dk1"/>
              </a:solidFill>
              <a:latin typeface="Calibri"/>
              <a:ea typeface="Calibri"/>
              <a:cs typeface="Calibri"/>
              <a:sym typeface="Calibri"/>
            </a:endParaRPr>
          </a:p>
        </p:txBody>
      </p:sp>
      <p:sp>
        <p:nvSpPr>
          <p:cNvPr id="847" name="Google Shape;847;p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63</a:t>
            </a:r>
            <a:endParaRPr b="0" i="0" sz="1000" u="none" cap="none" strike="noStrike">
              <a:solidFill>
                <a:schemeClr val="dk1"/>
              </a:solidFill>
              <a:latin typeface="Calibri"/>
              <a:ea typeface="Calibri"/>
              <a:cs typeface="Calibri"/>
              <a:sym typeface="Calibri"/>
            </a:endParaRPr>
          </a:p>
        </p:txBody>
      </p:sp>
      <p:pic>
        <p:nvPicPr>
          <p:cNvPr descr="/home/claude/work/assets/rh-logo.png" id="848" name="Google Shape;848;p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p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55" name="Google Shape;855;p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pattern — short-lived signed token, direct access</a:t>
            </a:r>
            <a:endParaRPr b="0" i="0" sz="3000" u="none" cap="none" strike="noStrike">
              <a:solidFill>
                <a:schemeClr val="dk1"/>
              </a:solidFill>
              <a:latin typeface="Calibri"/>
              <a:ea typeface="Calibri"/>
              <a:cs typeface="Calibri"/>
              <a:sym typeface="Calibri"/>
            </a:endParaRPr>
          </a:p>
        </p:txBody>
      </p:sp>
      <p:pic>
        <p:nvPicPr>
          <p:cNvPr descr="/home/claude/work/png-sb/102-security-valet-key.png" id="856" name="Google Shape;856;p79"/>
          <p:cNvPicPr preferRelativeResize="0"/>
          <p:nvPr/>
        </p:nvPicPr>
        <p:blipFill rotWithShape="1">
          <a:blip r:embed="rId5">
            <a:alphaModFix/>
          </a:blip>
          <a:stretch/>
        </p:blipFill>
        <p:spPr>
          <a:xfrm>
            <a:off x="1149305" y="1976587"/>
            <a:ext cx="9893084" cy="3773504"/>
          </a:xfrm>
          <a:prstGeom prst="rect">
            <a:avLst/>
          </a:prstGeom>
          <a:noFill/>
          <a:ln>
            <a:noFill/>
          </a:ln>
        </p:spPr>
      </p:pic>
      <p:sp>
        <p:nvSpPr>
          <p:cNvPr id="857" name="Google Shape;857;p7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 mints a scoped, time-bound token; client uses it directly against the resource. App never proxies the bytes.</a:t>
            </a:r>
            <a:endParaRPr b="0" i="0" sz="1200" u="none" cap="none" strike="noStrike">
              <a:solidFill>
                <a:schemeClr val="dk1"/>
              </a:solidFill>
              <a:latin typeface="Calibri"/>
              <a:ea typeface="Calibri"/>
              <a:cs typeface="Calibri"/>
              <a:sym typeface="Calibri"/>
            </a:endParaRPr>
          </a:p>
        </p:txBody>
      </p:sp>
      <p:sp>
        <p:nvSpPr>
          <p:cNvPr id="858" name="Google Shape;858;p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64</a:t>
            </a:r>
            <a:endParaRPr b="0" i="0" sz="1000" u="none" cap="none" strike="noStrike">
              <a:solidFill>
                <a:schemeClr val="dk1"/>
              </a:solidFill>
              <a:latin typeface="Calibri"/>
              <a:ea typeface="Calibri"/>
              <a:cs typeface="Calibri"/>
              <a:sym typeface="Calibri"/>
            </a:endParaRPr>
          </a:p>
        </p:txBody>
      </p:sp>
      <p:pic>
        <p:nvPicPr>
          <p:cNvPr descr="/home/claude/work/assets/rh-logo.png" id="859" name="Google Shape;859;p7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p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66" name="Google Shape;866;p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 scoped, time-bound, op-restricted</a:t>
            </a:r>
            <a:endParaRPr b="0" i="0" sz="3000" u="none" cap="none" strike="noStrike">
              <a:solidFill>
                <a:schemeClr val="dk1"/>
              </a:solidFill>
              <a:latin typeface="Calibri"/>
              <a:ea typeface="Calibri"/>
              <a:cs typeface="Calibri"/>
              <a:sym typeface="Calibri"/>
            </a:endParaRPr>
          </a:p>
        </p:txBody>
      </p:sp>
      <p:sp>
        <p:nvSpPr>
          <p:cNvPr id="867" name="Google Shape;867;p80"/>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0"/>
          <p:cNvSpPr/>
          <p:nvPr/>
        </p:nvSpPr>
        <p:spPr>
          <a:xfrm>
            <a:off x="7642017" y="1700784"/>
            <a:ext cx="3891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javax.crypto (HmacSHA256)</a:t>
            </a:r>
            <a:endParaRPr b="0" i="0" sz="1000" u="none" cap="none" strike="noStrike">
              <a:solidFill>
                <a:schemeClr val="dk1"/>
              </a:solidFill>
              <a:latin typeface="Calibri"/>
              <a:ea typeface="Calibri"/>
              <a:cs typeface="Calibri"/>
              <a:sym typeface="Calibri"/>
            </a:endParaRPr>
          </a:p>
        </p:txBody>
      </p:sp>
      <p:sp>
        <p:nvSpPr>
          <p:cNvPr id="869" name="Google Shape;869;p80"/>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ValetKeyService.java (excerpt), examples/12-security/spring-boot: HMAC-SHA256 valet key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@Service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ValetKeyService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private static final int TTL_SECONDS = 300;                       // time-bound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private final byte[] secret;          // VALET_SECRET, injected through @Value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Map&lt;String, Object&gt; mint(String resource, String operation)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long expires = System.currentTimeMillis() / 1000 + TTL_SECONDS;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String payload = resource + ":" + operation + ":" + expires;  // one object, one op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Map&lt;String, Object&gt; result = new LinkedHashMap&lt;&gt;();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result.put("resource", resource);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result.put("operation", operation);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result.put("expires", expires);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result.put("token", hmac(payload));               // HmacSHA256, hex-encoded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result;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boolean verify(String resource, String operation, long expires, String token)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(System.currentTimeMillis() / 1000 &gt; expires) return false;   // expired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String expected = hmac(resource + ":" + operation + ":" + expires);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MessageDigest.isEqual(token.getBytes(), expected.getBytes()); // constant time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OrderController maps POST /valet-key to mint() and GET /verify-valet to verify()</a:t>
            </a:r>
            <a:endParaRPr b="0" i="0" sz="1000" u="none" cap="none" strike="noStrike">
              <a:solidFill>
                <a:schemeClr val="dk1"/>
              </a:solidFill>
              <a:latin typeface="Calibri"/>
              <a:ea typeface="Calibri"/>
              <a:cs typeface="Calibri"/>
              <a:sym typeface="Calibri"/>
            </a:endParaRPr>
          </a:p>
        </p:txBody>
      </p:sp>
      <p:sp>
        <p:nvSpPr>
          <p:cNvPr id="870" name="Google Shape;870;p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65</a:t>
            </a:r>
            <a:endParaRPr b="0" i="0" sz="1000" u="none" cap="none" strike="noStrike">
              <a:solidFill>
                <a:schemeClr val="dk1"/>
              </a:solidFill>
              <a:latin typeface="Calibri"/>
              <a:ea typeface="Calibri"/>
              <a:cs typeface="Calibri"/>
              <a:sym typeface="Calibri"/>
            </a:endParaRPr>
          </a:p>
        </p:txBody>
      </p:sp>
      <p:pic>
        <p:nvPicPr>
          <p:cNvPr descr="/home/claude/work/assets/rh-logo.png" id="871" name="Google Shape;871;p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6" name="Shape 876"/>
        <p:cNvGrpSpPr/>
        <p:nvPr/>
      </p:nvGrpSpPr>
      <p:grpSpPr>
        <a:xfrm>
          <a:off x="0" y="0"/>
          <a:ext cx="0" cy="0"/>
          <a:chOff x="0" y="0"/>
          <a:chExt cx="0" cy="0"/>
        </a:xfrm>
      </p:grpSpPr>
      <p:sp>
        <p:nvSpPr>
          <p:cNvPr id="877" name="Google Shape;877;p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STRANGLER FIG</a:t>
            </a:r>
            <a:endParaRPr b="0" i="0" sz="1200" u="none" cap="none" strike="noStrike">
              <a:solidFill>
                <a:schemeClr val="dk1"/>
              </a:solidFill>
              <a:latin typeface="Calibri"/>
              <a:ea typeface="Calibri"/>
              <a:cs typeface="Calibri"/>
              <a:sym typeface="Calibri"/>
            </a:endParaRPr>
          </a:p>
        </p:txBody>
      </p:sp>
      <p:sp>
        <p:nvSpPr>
          <p:cNvPr id="878" name="Google Shape;878;p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Strangler Fig for security modernisation</a:t>
            </a:r>
            <a:endParaRPr b="0" i="0" sz="3000" u="none" cap="none" strike="noStrike">
              <a:solidFill>
                <a:schemeClr val="dk1"/>
              </a:solidFill>
              <a:latin typeface="Calibri"/>
              <a:ea typeface="Calibri"/>
              <a:cs typeface="Calibri"/>
              <a:sym typeface="Calibri"/>
            </a:endParaRPr>
          </a:p>
        </p:txBody>
      </p:sp>
      <p:sp>
        <p:nvSpPr>
          <p:cNvPr id="879" name="Google Shape;879;p8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case: encapsulate legacy authentication (LDAP-only, HTTP Basic, hardcoded session cookies) behind a modern API gateway, then replace the legacy auth path one service at a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0: introduce the gateway in front of the monolith. Clients now hit the gateway, which forwards to the legacy auth. Day-zero behaviour unchanged.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1: the gateway terminates TLS, validates JWTs from a modern IdP (Keycloak, Dex), and translates to whatever the legacy expects; it speaks both languages.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2: per route, switch the gateway from 'forward legacy headers' to 'forward only the JWT claims to the new service'. Legacy auth is no longer in the path for that route.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3: when no routes still need legacy auth, remove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Bounded blast radius: each route's auth migration is a config change in the gateway, reversible without a release.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See Appendix K for the general strangler-fig family (identify → move → redirect, with proxy, with shared database, with content-based routing). Same mechanics, applied to auth instead of business logic.</a:t>
            </a:r>
            <a:endParaRPr b="0" i="0" sz="1700" u="none" cap="none" strike="noStrike">
              <a:solidFill>
                <a:schemeClr val="dk1"/>
              </a:solidFill>
              <a:latin typeface="Calibri"/>
              <a:ea typeface="Calibri"/>
              <a:cs typeface="Calibri"/>
              <a:sym typeface="Calibri"/>
            </a:endParaRPr>
          </a:p>
        </p:txBody>
      </p:sp>
      <p:sp>
        <p:nvSpPr>
          <p:cNvPr id="880" name="Google Shape;880;p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66</a:t>
            </a:r>
            <a:endParaRPr b="0" i="0" sz="1000" u="none" cap="none" strike="noStrike">
              <a:solidFill>
                <a:schemeClr val="dk1"/>
              </a:solidFill>
              <a:latin typeface="Calibri"/>
              <a:ea typeface="Calibri"/>
              <a:cs typeface="Calibri"/>
              <a:sym typeface="Calibri"/>
            </a:endParaRPr>
          </a:p>
        </p:txBody>
      </p:sp>
      <p:pic>
        <p:nvPicPr>
          <p:cNvPr descr="/home/claude/work/assets/rh-logo.png" id="881" name="Google Shape;881;p8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6" name="Shape 886"/>
        <p:cNvGrpSpPr/>
        <p:nvPr/>
      </p:nvGrpSpPr>
      <p:grpSpPr>
        <a:xfrm>
          <a:off x="0" y="0"/>
          <a:ext cx="0" cy="0"/>
          <a:chOff x="0" y="0"/>
          <a:chExt cx="0" cy="0"/>
        </a:xfrm>
      </p:grpSpPr>
      <p:sp>
        <p:nvSpPr>
          <p:cNvPr id="887" name="Google Shape;887;p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88" name="Google Shape;888;p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Zero-trust / Identity-Aware Proxy</a:t>
            </a:r>
            <a:endParaRPr b="0" i="0" sz="3000" u="none" cap="none" strike="noStrike">
              <a:solidFill>
                <a:schemeClr val="dk1"/>
              </a:solidFill>
              <a:latin typeface="Calibri"/>
              <a:ea typeface="Calibri"/>
              <a:cs typeface="Calibri"/>
              <a:sym typeface="Calibri"/>
            </a:endParaRPr>
          </a:p>
        </p:txBody>
      </p:sp>
      <p:pic>
        <p:nvPicPr>
          <p:cNvPr descr="/home/claude/work/png-sb/103-security-zero-trust.png" id="889" name="Google Shape;889;p82"/>
          <p:cNvPicPr preferRelativeResize="0"/>
          <p:nvPr/>
        </p:nvPicPr>
        <p:blipFill rotWithShape="1">
          <a:blip r:embed="rId5">
            <a:alphaModFix/>
          </a:blip>
          <a:stretch/>
        </p:blipFill>
        <p:spPr>
          <a:xfrm>
            <a:off x="1149305" y="1927122"/>
            <a:ext cx="9893084" cy="3872435"/>
          </a:xfrm>
          <a:prstGeom prst="rect">
            <a:avLst/>
          </a:prstGeom>
          <a:noFill/>
          <a:ln>
            <a:noFill/>
          </a:ln>
        </p:spPr>
      </p:pic>
      <p:sp>
        <p:nvSpPr>
          <p:cNvPr id="890" name="Google Shape;890;p8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request authenticated and authorised, on every hop. Perimeter trust is dead. SPIFFE inside, IAP at the edge.</a:t>
            </a:r>
            <a:endParaRPr b="0" i="0" sz="1200" u="none" cap="none" strike="noStrike">
              <a:solidFill>
                <a:schemeClr val="dk1"/>
              </a:solidFill>
              <a:latin typeface="Calibri"/>
              <a:ea typeface="Calibri"/>
              <a:cs typeface="Calibri"/>
              <a:sym typeface="Calibri"/>
            </a:endParaRPr>
          </a:p>
        </p:txBody>
      </p:sp>
      <p:sp>
        <p:nvSpPr>
          <p:cNvPr id="891" name="Google Shape;891;p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67</a:t>
            </a:r>
            <a:endParaRPr b="0" i="0" sz="1000" u="none" cap="none" strike="noStrike">
              <a:solidFill>
                <a:schemeClr val="dk1"/>
              </a:solidFill>
              <a:latin typeface="Calibri"/>
              <a:ea typeface="Calibri"/>
              <a:cs typeface="Calibri"/>
              <a:sym typeface="Calibri"/>
            </a:endParaRPr>
          </a:p>
        </p:txBody>
      </p:sp>
      <p:pic>
        <p:nvPicPr>
          <p:cNvPr descr="/home/claude/work/assets/rh-logo.png" id="892" name="Google Shape;892;p8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99" name="Google Shape;899;p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Implementing zero-trust</a:t>
            </a:r>
            <a:endParaRPr b="0" i="0" sz="3000" u="none" cap="none" strike="noStrike">
              <a:solidFill>
                <a:schemeClr val="dk1"/>
              </a:solidFill>
              <a:latin typeface="Calibri"/>
              <a:ea typeface="Calibri"/>
              <a:cs typeface="Calibri"/>
              <a:sym typeface="Calibri"/>
            </a:endParaRPr>
          </a:p>
        </p:txBody>
      </p:sp>
      <p:sp>
        <p:nvSpPr>
          <p:cNvPr id="900" name="Google Shape;900;p8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(IAP): Pomerium or OAuth2 Proxy in front of an OIDC provider such as Keycloak — they terminate TLS, validate identity (OAuth/OIDC against your IdP), apply the route's access policy, then issue a JWT the downstream service sees in X-Forwarded-*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Inside the cluster (mTLS): Istio + SPIFFE assigns every workload an X.509 cert identifying its service account (spiffe://cluster.local/ns/orders/sa/order-service). Every service-to-service call is mutually authenticated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Authorization: Istio AuthorizationPolicy declares 'order-service can call payment-service /charge but nothing else, only when carrying a valid customer JWT.' Per-workload, fine-grained, declarative.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decisions: OPA / Cedar evaluate context (user, time, device, target, action) and return allow/deny. Out-of-process so policy can change without redeploying every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App-side discipline: read the validated peer identity from X-Forwarded-Client-Cert; never accept calls that arrive without it; log every authorization decision.</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License notes: Istio, SPIFFE/SPIRE, OPA, Cedar — all open source (Apache 2.0 or similar). Pomerium (Apache 2.0) and OAuth2 Proxy (MIT) are open source too.</a:t>
            </a:r>
            <a:endParaRPr b="0" i="0" sz="1700" u="none" cap="none" strike="noStrike">
              <a:solidFill>
                <a:schemeClr val="dk1"/>
              </a:solidFill>
              <a:latin typeface="Calibri"/>
              <a:ea typeface="Calibri"/>
              <a:cs typeface="Calibri"/>
              <a:sym typeface="Calibri"/>
            </a:endParaRPr>
          </a:p>
        </p:txBody>
      </p:sp>
      <p:sp>
        <p:nvSpPr>
          <p:cNvPr id="901" name="Google Shape;901;p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68</a:t>
            </a:r>
            <a:endParaRPr b="0" i="0" sz="1000" u="none" cap="none" strike="noStrike">
              <a:solidFill>
                <a:schemeClr val="dk1"/>
              </a:solidFill>
              <a:latin typeface="Calibri"/>
              <a:ea typeface="Calibri"/>
              <a:cs typeface="Calibri"/>
              <a:sym typeface="Calibri"/>
            </a:endParaRPr>
          </a:p>
        </p:txBody>
      </p:sp>
      <p:pic>
        <p:nvPicPr>
          <p:cNvPr descr="/home/claude/work/assets/rh-logo.png" id="902" name="Google Shape;902;p8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09" name="Google Shape;909;p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Policy-as-Code — security gates in Git</a:t>
            </a:r>
            <a:endParaRPr b="0" i="0" sz="3000" u="none" cap="none" strike="noStrike">
              <a:solidFill>
                <a:schemeClr val="dk1"/>
              </a:solidFill>
              <a:latin typeface="Calibri"/>
              <a:ea typeface="Calibri"/>
              <a:cs typeface="Calibri"/>
              <a:sym typeface="Calibri"/>
            </a:endParaRPr>
          </a:p>
        </p:txBody>
      </p:sp>
      <p:pic>
        <p:nvPicPr>
          <p:cNvPr descr="/home/claude/work/png-sb/104-security-policy-as-code.png" id="910" name="Google Shape;910;p8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11" name="Google Shape;911;p8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OPA Gatekeeper / Kyverno enforce declarative policies at admission. CI runs the same policies pre-merge.</a:t>
            </a:r>
            <a:endParaRPr b="0" i="0" sz="1200" u="none" cap="none" strike="noStrike">
              <a:solidFill>
                <a:schemeClr val="dk1"/>
              </a:solidFill>
              <a:latin typeface="Calibri"/>
              <a:ea typeface="Calibri"/>
              <a:cs typeface="Calibri"/>
              <a:sym typeface="Calibri"/>
            </a:endParaRPr>
          </a:p>
        </p:txBody>
      </p:sp>
      <p:sp>
        <p:nvSpPr>
          <p:cNvPr id="912" name="Google Shape;912;p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69</a:t>
            </a:r>
            <a:endParaRPr b="0" i="0" sz="1000" u="none" cap="none" strike="noStrike">
              <a:solidFill>
                <a:schemeClr val="dk1"/>
              </a:solidFill>
              <a:latin typeface="Calibri"/>
              <a:ea typeface="Calibri"/>
              <a:cs typeface="Calibri"/>
              <a:sym typeface="Calibri"/>
            </a:endParaRPr>
          </a:p>
        </p:txBody>
      </p:sp>
      <p:pic>
        <p:nvPicPr>
          <p:cNvPr descr="/home/claude/work/assets/rh-logo.png" id="913" name="Google Shape;913;p8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8" name="Shape 918"/>
        <p:cNvGrpSpPr/>
        <p:nvPr/>
      </p:nvGrpSpPr>
      <p:grpSpPr>
        <a:xfrm>
          <a:off x="0" y="0"/>
          <a:ext cx="0" cy="0"/>
          <a:chOff x="0" y="0"/>
          <a:chExt cx="0" cy="0"/>
        </a:xfrm>
      </p:grpSpPr>
      <p:sp>
        <p:nvSpPr>
          <p:cNvPr id="919" name="Google Shape;919;p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20" name="Google Shape;920;p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OPA Gatekeeper ConstraintTemplate (Rego)</a:t>
            </a:r>
            <a:endParaRPr b="0" i="0" sz="3000" u="none" cap="none" strike="noStrike">
              <a:solidFill>
                <a:schemeClr val="dk1"/>
              </a:solidFill>
              <a:latin typeface="Calibri"/>
              <a:ea typeface="Calibri"/>
              <a:cs typeface="Calibri"/>
              <a:sym typeface="Calibri"/>
            </a:endParaRPr>
          </a:p>
        </p:txBody>
      </p:sp>
      <p:sp>
        <p:nvSpPr>
          <p:cNvPr id="921" name="Google Shape;921;p85"/>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5"/>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OPA Gatekeeper  (language-neutral)</a:t>
            </a:r>
            <a:endParaRPr b="0" i="0" sz="1000" u="none" cap="none" strike="noStrike">
              <a:solidFill>
                <a:schemeClr val="dk1"/>
              </a:solidFill>
              <a:latin typeface="Calibri"/>
              <a:ea typeface="Calibri"/>
              <a:cs typeface="Calibri"/>
              <a:sym typeface="Calibri"/>
            </a:endParaRPr>
          </a:p>
        </p:txBody>
      </p:sp>
      <p:sp>
        <p:nvSpPr>
          <p:cNvPr id="923" name="Google Shape;923;p85"/>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ConstraintTemplate  —  reusable policy logic in Rego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templates.gatekeeper.sh/v1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ConstraintTemplate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name: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crd: kind K8sRequireSignedImages, parameter allowedRegistries (string array)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targets: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target: admission.k8s.gatekeeper.sh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rego: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package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violation[{"msg": msg}]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container := input.review.object.spec.containers[_]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not startswith(container.image, input.parameters.allowedRegistries[_])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msg := sprintf("image %v not from an allowed registry", [container.image])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  —  applies the policy to namespaces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constraints.gatekeeper.sh/v1beta1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must-be-signed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kinds: [{apiGroups: [""], kinds: ["Pod"]}]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excludedNamespaces: ["kube-system", "gatekeeper-system"]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parameters: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allowedRegistries: ["registry.acme.com/", "quay.io/redhat/"]</a:t>
            </a:r>
            <a:endParaRPr b="0" i="0" sz="900" u="none" cap="none" strike="noStrike">
              <a:solidFill>
                <a:schemeClr val="dk1"/>
              </a:solidFill>
              <a:latin typeface="Calibri"/>
              <a:ea typeface="Calibri"/>
              <a:cs typeface="Calibri"/>
              <a:sym typeface="Calibri"/>
            </a:endParaRPr>
          </a:p>
        </p:txBody>
      </p:sp>
      <p:sp>
        <p:nvSpPr>
          <p:cNvPr id="924" name="Google Shape;924;p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70</a:t>
            </a:r>
            <a:endParaRPr b="0" i="0" sz="1000" u="none" cap="none" strike="noStrike">
              <a:solidFill>
                <a:schemeClr val="dk1"/>
              </a:solidFill>
              <a:latin typeface="Calibri"/>
              <a:ea typeface="Calibri"/>
              <a:cs typeface="Calibri"/>
              <a:sym typeface="Calibri"/>
            </a:endParaRPr>
          </a:p>
        </p:txBody>
      </p:sp>
      <p:pic>
        <p:nvPicPr>
          <p:cNvPr descr="/home/claude/work/assets/rh-logo.png" id="925" name="Google Shape;925;p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0" name="Shape 930"/>
        <p:cNvGrpSpPr/>
        <p:nvPr/>
      </p:nvGrpSpPr>
      <p:grpSpPr>
        <a:xfrm>
          <a:off x="0" y="0"/>
          <a:ext cx="0" cy="0"/>
          <a:chOff x="0" y="0"/>
          <a:chExt cx="0" cy="0"/>
        </a:xfrm>
      </p:grpSpPr>
      <p:sp>
        <p:nvSpPr>
          <p:cNvPr id="931" name="Google Shape;931;p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32" name="Google Shape;932;p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resources, bound the blast radius</a:t>
            </a:r>
            <a:endParaRPr b="0" i="0" sz="3000" u="none" cap="none" strike="noStrike">
              <a:solidFill>
                <a:schemeClr val="dk1"/>
              </a:solidFill>
              <a:latin typeface="Calibri"/>
              <a:ea typeface="Calibri"/>
              <a:cs typeface="Calibri"/>
              <a:sym typeface="Calibri"/>
            </a:endParaRPr>
          </a:p>
        </p:txBody>
      </p:sp>
      <p:pic>
        <p:nvPicPr>
          <p:cNvPr descr="/home/claude/work/png-sb/105-security-bulkhead.png" id="933" name="Google Shape;933;p8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34" name="Google Shape;934;p8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Per-tenant / per-call / per-priority pools. One tenant's storm cannot starve others. One compromise cannot cascade.</a:t>
            </a:r>
            <a:endParaRPr b="0" i="0" sz="1200" u="none" cap="none" strike="noStrike">
              <a:solidFill>
                <a:schemeClr val="dk1"/>
              </a:solidFill>
              <a:latin typeface="Calibri"/>
              <a:ea typeface="Calibri"/>
              <a:cs typeface="Calibri"/>
              <a:sym typeface="Calibri"/>
            </a:endParaRPr>
          </a:p>
        </p:txBody>
      </p:sp>
      <p:sp>
        <p:nvSpPr>
          <p:cNvPr id="935" name="Google Shape;935;p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71</a:t>
            </a:r>
            <a:endParaRPr b="0" i="0" sz="1000" u="none" cap="none" strike="noStrike">
              <a:solidFill>
                <a:schemeClr val="dk1"/>
              </a:solidFill>
              <a:latin typeface="Calibri"/>
              <a:ea typeface="Calibri"/>
              <a:cs typeface="Calibri"/>
              <a:sym typeface="Calibri"/>
            </a:endParaRPr>
          </a:p>
        </p:txBody>
      </p:sp>
      <p:pic>
        <p:nvPicPr>
          <p:cNvPr descr="/home/claude/work/assets/rh-logo.png" id="936" name="Google Shape;936;p8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1" name="Shape 941"/>
        <p:cNvGrpSpPr/>
        <p:nvPr/>
      </p:nvGrpSpPr>
      <p:grpSpPr>
        <a:xfrm>
          <a:off x="0" y="0"/>
          <a:ext cx="0" cy="0"/>
          <a:chOff x="0" y="0"/>
          <a:chExt cx="0" cy="0"/>
        </a:xfrm>
      </p:grpSpPr>
      <p:sp>
        <p:nvSpPr>
          <p:cNvPr id="942" name="Google Shape;942;p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43" name="Google Shape;943;p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Resilience4j bulkheads in Spring Boot</a:t>
            </a:r>
            <a:endParaRPr b="0" i="0" sz="3000" u="none" cap="none" strike="noStrike">
              <a:solidFill>
                <a:schemeClr val="dk1"/>
              </a:solidFill>
              <a:latin typeface="Calibri"/>
              <a:ea typeface="Calibri"/>
              <a:cs typeface="Calibri"/>
              <a:sym typeface="Calibri"/>
            </a:endParaRPr>
          </a:p>
        </p:txBody>
      </p:sp>
      <p:sp>
        <p:nvSpPr>
          <p:cNvPr id="944" name="Google Shape;944;p8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7"/>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Resilience4j</a:t>
            </a:r>
            <a:endParaRPr b="0" i="0" sz="1000" u="none" cap="none" strike="noStrike">
              <a:solidFill>
                <a:schemeClr val="dk1"/>
              </a:solidFill>
              <a:latin typeface="Calibri"/>
              <a:ea typeface="Calibri"/>
              <a:cs typeface="Calibri"/>
              <a:sym typeface="Calibri"/>
            </a:endParaRPr>
          </a:p>
        </p:txBody>
      </p:sp>
      <p:sp>
        <p:nvSpPr>
          <p:cNvPr id="946" name="Google Shape;946;p8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examples/12-security/spring-boot/order-service (condensed excerpts)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application.properties: one Resilience4j bulkhead per tenant from the "tenant" config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resilience4j.bulkhead.configs.tenant.max-concurrent-calls=5</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resilience4j.bulkhead.configs.tenant.max-wait-duration=0     # refuse at once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BulkheadService.java</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Bulkhead forTenant(String tenant)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registry.bulkhead(tenant, "tenant");   // created on first use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OrderController.java, POST /orders: A's storm can't drain B's capacity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try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Map&lt;String, Object&gt; order = bulkhead.forTenant(body.tenant())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.executeSupplier(() -&gt; placeOrder(body, identity, subject));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ResponseEntity.status(HttpStatus.CREATED).body(order);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catch (BulkheadFullException e) {   // the tenant's 5 permits are taken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ResponseEntity.status(HttpStatus.TOO_MANY_REQUESTS)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.body(Map.of("detail", "tenant bulkhead full"));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947" name="Google Shape;947;p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72</a:t>
            </a:r>
            <a:endParaRPr b="0" i="0" sz="1000" u="none" cap="none" strike="noStrike">
              <a:solidFill>
                <a:schemeClr val="dk1"/>
              </a:solidFill>
              <a:latin typeface="Calibri"/>
              <a:ea typeface="Calibri"/>
              <a:cs typeface="Calibri"/>
              <a:sym typeface="Calibri"/>
            </a:endParaRPr>
          </a:p>
        </p:txBody>
      </p:sp>
      <p:pic>
        <p:nvPicPr>
          <p:cNvPr descr="/home/claude/work/assets/rh-logo.png" id="948" name="Google Shape;948;p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3" name="Shape 953"/>
        <p:cNvGrpSpPr/>
        <p:nvPr/>
      </p:nvGrpSpPr>
      <p:grpSpPr>
        <a:xfrm>
          <a:off x="0" y="0"/>
          <a:ext cx="0" cy="0"/>
          <a:chOff x="0" y="0"/>
          <a:chExt cx="0" cy="0"/>
        </a:xfrm>
      </p:grpSpPr>
      <p:sp>
        <p:nvSpPr>
          <p:cNvPr id="954" name="Google Shape;954;p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55" name="Google Shape;955;p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Claim-check — send a reference, not the payload</a:t>
            </a:r>
            <a:endParaRPr b="0" i="0" sz="3000" u="none" cap="none" strike="noStrike">
              <a:solidFill>
                <a:schemeClr val="dk1"/>
              </a:solidFill>
              <a:latin typeface="Calibri"/>
              <a:ea typeface="Calibri"/>
              <a:cs typeface="Calibri"/>
              <a:sym typeface="Calibri"/>
            </a:endParaRPr>
          </a:p>
        </p:txBody>
      </p:sp>
      <p:pic>
        <p:nvPicPr>
          <p:cNvPr descr="/home/claude/work/png-sb/106-security-claim-check.png" id="956" name="Google Shape;956;p8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57" name="Google Shape;957;p8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Large or sensitive payload goes to a secure store; the message bus carries only an opaque token to fetch it.</a:t>
            </a:r>
            <a:endParaRPr b="0" i="0" sz="1200" u="none" cap="none" strike="noStrike">
              <a:solidFill>
                <a:schemeClr val="dk1"/>
              </a:solidFill>
              <a:latin typeface="Calibri"/>
              <a:ea typeface="Calibri"/>
              <a:cs typeface="Calibri"/>
              <a:sym typeface="Calibri"/>
            </a:endParaRPr>
          </a:p>
        </p:txBody>
      </p:sp>
      <p:sp>
        <p:nvSpPr>
          <p:cNvPr id="958" name="Google Shape;958;p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73</a:t>
            </a:r>
            <a:endParaRPr b="0" i="0" sz="1000" u="none" cap="none" strike="noStrike">
              <a:solidFill>
                <a:schemeClr val="dk1"/>
              </a:solidFill>
              <a:latin typeface="Calibri"/>
              <a:ea typeface="Calibri"/>
              <a:cs typeface="Calibri"/>
              <a:sym typeface="Calibri"/>
            </a:endParaRPr>
          </a:p>
        </p:txBody>
      </p:sp>
      <p:pic>
        <p:nvPicPr>
          <p:cNvPr descr="/home/claude/work/assets/rh-logo.png" id="959" name="Google Shape;959;p8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4" name="Shape 964"/>
        <p:cNvGrpSpPr/>
        <p:nvPr/>
      </p:nvGrpSpPr>
      <p:grpSpPr>
        <a:xfrm>
          <a:off x="0" y="0"/>
          <a:ext cx="0" cy="0"/>
          <a:chOff x="0" y="0"/>
          <a:chExt cx="0" cy="0"/>
        </a:xfrm>
      </p:grpSpPr>
      <p:sp>
        <p:nvSpPr>
          <p:cNvPr id="965" name="Google Shape;965;p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66" name="Google Shape;966;p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Producer mints claim, consumer fetches payload</a:t>
            </a:r>
            <a:endParaRPr b="0" i="0" sz="3000" u="none" cap="none" strike="noStrike">
              <a:solidFill>
                <a:schemeClr val="dk1"/>
              </a:solidFill>
              <a:latin typeface="Calibri"/>
              <a:ea typeface="Calibri"/>
              <a:cs typeface="Calibri"/>
              <a:sym typeface="Calibri"/>
            </a:endParaRPr>
          </a:p>
        </p:txBody>
      </p:sp>
      <p:sp>
        <p:nvSpPr>
          <p:cNvPr id="967" name="Google Shape;967;p8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9"/>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Kafka</a:t>
            </a:r>
            <a:endParaRPr b="0" i="0" sz="1000" u="none" cap="none" strike="noStrike">
              <a:solidFill>
                <a:schemeClr val="dk1"/>
              </a:solidFill>
              <a:latin typeface="Calibri"/>
              <a:ea typeface="Calibri"/>
              <a:cs typeface="Calibri"/>
              <a:sym typeface="Calibri"/>
            </a:endParaRPr>
          </a:p>
        </p:txBody>
      </p:sp>
      <p:sp>
        <p:nvSpPr>
          <p:cNvPr id="969" name="Google Shape;969;p8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claim-check sketch: store is any encrypted object store; the ticket: Example 12's valet key</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@Service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public class ClaimPublisher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final ObjectStore store;                           // any encrypted object store</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final KafkaTemplate&lt;String, Map&lt;String, Object&gt;&gt; kafka;</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private final ValetKeyService valet;                       // examples/12-security</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 constructor injection omitted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public void publish(String orderId, byte[] body)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String key = "payloads/" + orderId;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store.put(key, body, true);                            // encrypted at rest, ACL'd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Map&lt;String, Object&gt; claim = new LinkedHashMap&lt;&gt;(valet.mint(key, "GET"));</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claim.put("order_id", orderId);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claim.put("uri", "https://objects.internal/" + key);</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kafka.send("order.documents", orderId, claim);         // only the claim on the topic</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8FB98F"/>
                </a:solidFill>
                <a:latin typeface="Red Hat Mono"/>
                <a:ea typeface="Red Hat Mono"/>
                <a:cs typeface="Red Hat Mono"/>
                <a:sym typeface="Red Hat Mono"/>
              </a:rPr>
              <a:t>// consumer: read the claim, fetch the body out of band</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@KafkaListener(topics = "order.documents", groupId = "documents")</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public void onClaim(Map&lt;String, Object&gt; claim) {</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byte[] body = store.get((String) claim.get("uri"), (String) claim.get("token"));</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    handle(body);                                              // PII never touched the topic</a:t>
            </a:r>
            <a:endParaRPr b="0" i="0" sz="8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00"/>
              <a:buFont typeface="Red Hat Mono"/>
              <a:buNone/>
            </a:pPr>
            <a:r>
              <a:rPr b="0" i="0" lang="en-US" sz="800" u="none" cap="none" strike="noStrike">
                <a:solidFill>
                  <a:srgbClr val="E6E6E6"/>
                </a:solidFill>
                <a:latin typeface="Red Hat Mono"/>
                <a:ea typeface="Red Hat Mono"/>
                <a:cs typeface="Red Hat Mono"/>
                <a:sym typeface="Red Hat Mono"/>
              </a:rPr>
              <a:t>}</a:t>
            </a:r>
            <a:endParaRPr b="0" i="0" sz="800" u="none" cap="none" strike="noStrike">
              <a:solidFill>
                <a:schemeClr val="dk1"/>
              </a:solidFill>
              <a:latin typeface="Calibri"/>
              <a:ea typeface="Calibri"/>
              <a:cs typeface="Calibri"/>
              <a:sym typeface="Calibri"/>
            </a:endParaRPr>
          </a:p>
        </p:txBody>
      </p:sp>
      <p:sp>
        <p:nvSpPr>
          <p:cNvPr id="970" name="Google Shape;970;p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74</a:t>
            </a:r>
            <a:endParaRPr b="0" i="0" sz="1000" u="none" cap="none" strike="noStrike">
              <a:solidFill>
                <a:schemeClr val="dk1"/>
              </a:solidFill>
              <a:latin typeface="Calibri"/>
              <a:ea typeface="Calibri"/>
              <a:cs typeface="Calibri"/>
              <a:sym typeface="Calibri"/>
            </a:endParaRPr>
          </a:p>
        </p:txBody>
      </p:sp>
      <p:pic>
        <p:nvPicPr>
          <p:cNvPr descr="/home/claude/work/assets/rh-logo.png" id="971" name="Google Shape;971;p8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sp>
        <p:nvSpPr>
          <p:cNvPr id="977" name="Google Shape;977;p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78" name="Google Shape;978;p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pattern</a:t>
            </a:r>
            <a:endParaRPr b="0" i="0" sz="3000" u="none" cap="none" strike="noStrike">
              <a:solidFill>
                <a:schemeClr val="dk1"/>
              </a:solidFill>
              <a:latin typeface="Calibri"/>
              <a:ea typeface="Calibri"/>
              <a:cs typeface="Calibri"/>
              <a:sym typeface="Calibri"/>
            </a:endParaRPr>
          </a:p>
        </p:txBody>
      </p:sp>
      <p:sp>
        <p:nvSpPr>
          <p:cNvPr id="979" name="Google Shape;979;p9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Sidecar — when you want one security policy uniformly across every workload, regardless of language. Cost: an extra container per Pod (memory + startup time).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Valet Key — when clients need direct access to a large or specific resource (file upload, image download). Cost: storage system must validate tokens (most do).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Strangler Fig (auth) — when you have legacy authentication you can't change all at once. Cost: a gateway running translation logic during the transition.</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Zero-Trust / IAP — the default model for any system with users outside your immediate control. Cost: mTLS everywhere has real CPU and operational overhead.</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Policy-as-Code — always. Always. The cost of not having it (drift, inconsistency, forgotten review steps) is much higher than the cost of adopting OPA / Kyverno.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Bulkhead — any multi-tenant system, any system with mixed-priority workloads. Cost: pools are extra moving parts to size and tune.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Claim-Check — when payloads carry PII or are large enough to bloat the message bus. Cost: an extra fetch hop and the store-and-bus must agree on token semantics.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1" i="0" lang="en-US" sz="1500" u="none" cap="none" strike="noStrike">
                <a:solidFill>
                  <a:srgbClr val="151515"/>
                </a:solidFill>
                <a:latin typeface="Red Hat Text"/>
                <a:ea typeface="Red Hat Text"/>
                <a:cs typeface="Red Hat Text"/>
                <a:sym typeface="Red Hat Text"/>
              </a:rPr>
              <a:t>Most production systems combine all of these, not as a checklist but as a decision per concern.</a:t>
            </a:r>
            <a:endParaRPr b="0" i="0" sz="1500" u="none" cap="none" strike="noStrike">
              <a:solidFill>
                <a:schemeClr val="dk1"/>
              </a:solidFill>
              <a:latin typeface="Calibri"/>
              <a:ea typeface="Calibri"/>
              <a:cs typeface="Calibri"/>
              <a:sym typeface="Calibri"/>
            </a:endParaRPr>
          </a:p>
        </p:txBody>
      </p:sp>
      <p:sp>
        <p:nvSpPr>
          <p:cNvPr id="980" name="Google Shape;980;p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75</a:t>
            </a:r>
            <a:endParaRPr b="0" i="0" sz="1000" u="none" cap="none" strike="noStrike">
              <a:solidFill>
                <a:schemeClr val="dk1"/>
              </a:solidFill>
              <a:latin typeface="Calibri"/>
              <a:ea typeface="Calibri"/>
              <a:cs typeface="Calibri"/>
              <a:sym typeface="Calibri"/>
            </a:endParaRPr>
          </a:p>
        </p:txBody>
      </p:sp>
      <p:pic>
        <p:nvPicPr>
          <p:cNvPr descr="/home/claude/work/assets/rh-logo.png" id="981" name="Google Shape;981;p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6" name="Shape 986"/>
        <p:cNvGrpSpPr/>
        <p:nvPr/>
      </p:nvGrpSpPr>
      <p:grpSpPr>
        <a:xfrm>
          <a:off x="0" y="0"/>
          <a:ext cx="0" cy="0"/>
          <a:chOff x="0" y="0"/>
          <a:chExt cx="0" cy="0"/>
        </a:xfrm>
      </p:grpSpPr>
      <p:sp>
        <p:nvSpPr>
          <p:cNvPr id="987" name="Google Shape;987;p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88" name="Google Shape;988;p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989" name="Google Shape;989;p9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Defence in depth across the 4 C's: cloud, cluster, container, code. A control at the wrong layer is false confidence.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Identity is the new perimeter. mTLS + SPIFFE inside; IAP / OIDC at the edge. Every request authenticated and authorised, on every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in Git, enforced by the cluster. OPA Gatekeeper or Kyverno at admission; conftest in CI for early feedback.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PII never crosses your message bus in cleartext. Claim-check or end-to-end encrypt.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Isolate by tenant, by call, by priority. Bulkheads bound the blast radius of both incidents and outages.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NIST SP 800-204A (microservices security); CNCF Cloud Native Security Whitepaper; OWASP API Security Top 10; the OpenSSF SLSA framework; Istio AuthorizationPolicy docs; OPA Gatekeeper library; OWASP Microservices Security Cheat Sheet.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5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Open-source pillars: Istio (Apache 2.0), SPIFFE/SPIRE (Apache 2.0), OPA / Gatekeeper (Apache 2.0), Kyverno (Apache 2.0), Sigstore (Apache 2.0), Falco (Apache 2.0), Trivy (Apache 2.0).</a:t>
            </a:r>
            <a:endParaRPr b="0" i="0" sz="1700" u="none" cap="none" strike="noStrike">
              <a:solidFill>
                <a:schemeClr val="dk1"/>
              </a:solidFill>
              <a:latin typeface="Calibri"/>
              <a:ea typeface="Calibri"/>
              <a:cs typeface="Calibri"/>
              <a:sym typeface="Calibri"/>
            </a:endParaRPr>
          </a:p>
        </p:txBody>
      </p:sp>
      <p:sp>
        <p:nvSpPr>
          <p:cNvPr id="990" name="Google Shape;990;p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76</a:t>
            </a:r>
            <a:endParaRPr b="0" i="0" sz="1000" u="none" cap="none" strike="noStrike">
              <a:solidFill>
                <a:schemeClr val="dk1"/>
              </a:solidFill>
              <a:latin typeface="Calibri"/>
              <a:ea typeface="Calibri"/>
              <a:cs typeface="Calibri"/>
              <a:sym typeface="Calibri"/>
            </a:endParaRPr>
          </a:p>
        </p:txBody>
      </p:sp>
      <p:pic>
        <p:nvPicPr>
          <p:cNvPr descr="/home/claude/work/assets/rh-logo.png" id="991" name="Google Shape;991;p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996" name="Shape 996"/>
        <p:cNvGrpSpPr/>
        <p:nvPr/>
      </p:nvGrpSpPr>
      <p:grpSpPr>
        <a:xfrm>
          <a:off x="0" y="0"/>
          <a:ext cx="0" cy="0"/>
          <a:chOff x="0" y="0"/>
          <a:chExt cx="0" cy="0"/>
        </a:xfrm>
      </p:grpSpPr>
      <p:pic>
        <p:nvPicPr>
          <p:cNvPr descr="/home/claude/work/assets/rh-divider-bg.png" id="997" name="Google Shape;997;p9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998" name="Google Shape;998;p9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13</a:t>
            </a:r>
            <a:endParaRPr b="0" i="0" sz="2200" u="none" cap="none" strike="noStrike">
              <a:solidFill>
                <a:schemeClr val="dk1"/>
              </a:solidFill>
              <a:latin typeface="Calibri"/>
              <a:ea typeface="Calibri"/>
              <a:cs typeface="Calibri"/>
              <a:sym typeface="Calibri"/>
            </a:endParaRPr>
          </a:p>
        </p:txBody>
      </p:sp>
      <p:sp>
        <p:nvSpPr>
          <p:cNvPr id="999" name="Google Shape;999;p9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Anti-Patterns</a:t>
            </a:r>
            <a:endParaRPr b="0" i="0" sz="4000" u="none" cap="none" strike="noStrike">
              <a:solidFill>
                <a:schemeClr val="dk1"/>
              </a:solidFill>
              <a:latin typeface="Calibri"/>
              <a:ea typeface="Calibri"/>
              <a:cs typeface="Calibri"/>
              <a:sym typeface="Calibri"/>
            </a:endParaRPr>
          </a:p>
        </p:txBody>
      </p:sp>
      <p:sp>
        <p:nvSpPr>
          <p:cNvPr id="1000" name="Google Shape;1000;p9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Most outages re-couple what you separated.</a:t>
            </a:r>
            <a:endParaRPr b="0" i="0" sz="1500" u="none" cap="none" strike="noStrike">
              <a:solidFill>
                <a:schemeClr val="dk1"/>
              </a:solidFill>
              <a:latin typeface="Calibri"/>
              <a:ea typeface="Calibri"/>
              <a:cs typeface="Calibri"/>
              <a:sym typeface="Calibri"/>
            </a:endParaRPr>
          </a:p>
        </p:txBody>
      </p:sp>
      <p:pic>
        <p:nvPicPr>
          <p:cNvPr descr="/home/claude/work/assets/rh-logo-white.png" id="1001" name="Google Shape;1001;p9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6" name="Shape 1006"/>
        <p:cNvGrpSpPr/>
        <p:nvPr/>
      </p:nvGrpSpPr>
      <p:grpSpPr>
        <a:xfrm>
          <a:off x="0" y="0"/>
          <a:ext cx="0" cy="0"/>
          <a:chOff x="0" y="0"/>
          <a:chExt cx="0" cy="0"/>
        </a:xfrm>
      </p:grpSpPr>
      <p:sp>
        <p:nvSpPr>
          <p:cNvPr id="1007" name="Google Shape;1007;p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08" name="Google Shape;1008;p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cloud-native API systems go wrong</a:t>
            </a:r>
            <a:endParaRPr b="0" i="0" sz="3000" u="none" cap="none" strike="noStrike">
              <a:solidFill>
                <a:schemeClr val="dk1"/>
              </a:solidFill>
              <a:latin typeface="Calibri"/>
              <a:ea typeface="Calibri"/>
              <a:cs typeface="Calibri"/>
              <a:sym typeface="Calibri"/>
            </a:endParaRPr>
          </a:p>
        </p:txBody>
      </p:sp>
      <p:pic>
        <p:nvPicPr>
          <p:cNvPr descr="/home/claude/work/png-sb/23-anti-patterns-grid.png" id="1009" name="Google Shape;1009;p93"/>
          <p:cNvPicPr preferRelativeResize="0"/>
          <p:nvPr/>
        </p:nvPicPr>
        <p:blipFill rotWithShape="1">
          <a:blip r:embed="rId5">
            <a:alphaModFix/>
          </a:blip>
          <a:stretch/>
        </p:blipFill>
        <p:spPr>
          <a:xfrm>
            <a:off x="1643484" y="2015609"/>
            <a:ext cx="8904730" cy="3695462"/>
          </a:xfrm>
          <a:prstGeom prst="rect">
            <a:avLst/>
          </a:prstGeom>
          <a:noFill/>
          <a:ln>
            <a:noFill/>
          </a:ln>
        </p:spPr>
      </p:pic>
      <p:sp>
        <p:nvSpPr>
          <p:cNvPr id="1010" name="Google Shape;1010;p9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anti-pattern reintroduces the coupling the architecture worked to remove.</a:t>
            </a:r>
            <a:endParaRPr b="0" i="0" sz="1200" u="none" cap="none" strike="noStrike">
              <a:solidFill>
                <a:schemeClr val="dk1"/>
              </a:solidFill>
              <a:latin typeface="Calibri"/>
              <a:ea typeface="Calibri"/>
              <a:cs typeface="Calibri"/>
              <a:sym typeface="Calibri"/>
            </a:endParaRPr>
          </a:p>
        </p:txBody>
      </p:sp>
      <p:sp>
        <p:nvSpPr>
          <p:cNvPr id="1011" name="Google Shape;1011;p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77</a:t>
            </a:r>
            <a:endParaRPr b="0" i="0" sz="1000" u="none" cap="none" strike="noStrike">
              <a:solidFill>
                <a:schemeClr val="dk1"/>
              </a:solidFill>
              <a:latin typeface="Calibri"/>
              <a:ea typeface="Calibri"/>
              <a:cs typeface="Calibri"/>
              <a:sym typeface="Calibri"/>
            </a:endParaRPr>
          </a:p>
        </p:txBody>
      </p:sp>
      <p:pic>
        <p:nvPicPr>
          <p:cNvPr descr="/home/claude/work/assets/rh-logo.png" id="1012" name="Google Shape;1012;p9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sp>
        <p:nvSpPr>
          <p:cNvPr id="1018" name="Google Shape;1018;p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19" name="Google Shape;1019;p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heuristics that keep you out of them</a:t>
            </a:r>
            <a:endParaRPr b="0" i="0" sz="3000" u="none" cap="none" strike="noStrike">
              <a:solidFill>
                <a:schemeClr val="dk1"/>
              </a:solidFill>
              <a:latin typeface="Calibri"/>
              <a:ea typeface="Calibri"/>
              <a:cs typeface="Calibri"/>
              <a:sym typeface="Calibri"/>
            </a:endParaRPr>
          </a:p>
        </p:txBody>
      </p:sp>
      <p:sp>
        <p:nvSpPr>
          <p:cNvPr id="1020" name="Google Shape;1020;p9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If two services must deploy together, they are one service — merge them or fix the contract.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writer per dataset; everyone else reads through the API or subscribes to its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 aggregation to a gateway/BFF; forbid service-to-service call chains deeper than one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No contract in the registry, no merge — and every retry has a timeout and a 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If you can't trace it, you can't run it: observability is a launch requirement, not a follow-up.</a:t>
            </a:r>
            <a:endParaRPr b="0" i="0" sz="1700" u="none" cap="none" strike="noStrike">
              <a:solidFill>
                <a:schemeClr val="dk1"/>
              </a:solidFill>
              <a:latin typeface="Calibri"/>
              <a:ea typeface="Calibri"/>
              <a:cs typeface="Calibri"/>
              <a:sym typeface="Calibri"/>
            </a:endParaRPr>
          </a:p>
        </p:txBody>
      </p:sp>
      <p:sp>
        <p:nvSpPr>
          <p:cNvPr id="1021" name="Google Shape;1021;p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78</a:t>
            </a:r>
            <a:endParaRPr b="0" i="0" sz="1000" u="none" cap="none" strike="noStrike">
              <a:solidFill>
                <a:schemeClr val="dk1"/>
              </a:solidFill>
              <a:latin typeface="Calibri"/>
              <a:ea typeface="Calibri"/>
              <a:cs typeface="Calibri"/>
              <a:sym typeface="Calibri"/>
            </a:endParaRPr>
          </a:p>
        </p:txBody>
      </p:sp>
      <p:pic>
        <p:nvPicPr>
          <p:cNvPr descr="/home/claude/work/assets/rh-logo.png" id="1022" name="Google Shape;1022;p9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IN CLOSING</a:t>
            </a:r>
            <a:endParaRPr b="0" i="0" sz="1200" u="none" cap="none" strike="noStrike">
              <a:solidFill>
                <a:schemeClr val="dk1"/>
              </a:solidFill>
              <a:latin typeface="Calibri"/>
              <a:ea typeface="Calibri"/>
              <a:cs typeface="Calibri"/>
              <a:sym typeface="Calibri"/>
            </a:endParaRPr>
          </a:p>
        </p:txBody>
      </p:sp>
      <p:sp>
        <p:nvSpPr>
          <p:cNvPr id="1029" name="Google Shape;1029;p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whole talk, in five lines</a:t>
            </a:r>
            <a:endParaRPr b="0" i="0" sz="3000" u="none" cap="none" strike="noStrike">
              <a:solidFill>
                <a:schemeClr val="dk1"/>
              </a:solidFill>
              <a:latin typeface="Calibri"/>
              <a:ea typeface="Calibri"/>
              <a:cs typeface="Calibri"/>
              <a:sym typeface="Calibri"/>
            </a:endParaRPr>
          </a:p>
        </p:txBody>
      </p:sp>
      <p:sp>
        <p:nvSpPr>
          <p:cNvPr id="1030" name="Google Shape;1030;p9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Cloud-native is a set of properties; the platform exists to make them the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Match each interaction to its style (REST, gRPC, GraphQL or async) and compose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Own your data; share it as contracts and facts, never as shared tables.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Make the contract a governed artifact: registry to enforce it, metadata to find it, observability to run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is coupling sneaking back in. Design to keep things apart.</a:t>
            </a:r>
            <a:endParaRPr b="0" i="0" sz="1700" u="none" cap="none" strike="noStrike">
              <a:solidFill>
                <a:schemeClr val="dk1"/>
              </a:solidFill>
              <a:latin typeface="Calibri"/>
              <a:ea typeface="Calibri"/>
              <a:cs typeface="Calibri"/>
              <a:sym typeface="Calibri"/>
            </a:endParaRPr>
          </a:p>
        </p:txBody>
      </p:sp>
      <p:sp>
        <p:nvSpPr>
          <p:cNvPr id="1031" name="Google Shape;1031;p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79</a:t>
            </a:r>
            <a:endParaRPr b="0" i="0" sz="1000" u="none" cap="none" strike="noStrike">
              <a:solidFill>
                <a:schemeClr val="dk1"/>
              </a:solidFill>
              <a:latin typeface="Calibri"/>
              <a:ea typeface="Calibri"/>
              <a:cs typeface="Calibri"/>
              <a:sym typeface="Calibri"/>
            </a:endParaRPr>
          </a:p>
        </p:txBody>
      </p:sp>
      <p:pic>
        <p:nvPicPr>
          <p:cNvPr descr="/home/claude/work/assets/rh-logo.png" id="1032" name="Google Shape;1032;p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sp>
        <p:nvSpPr>
          <p:cNvPr id="1038" name="Google Shape;1038;p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REFERENCES</a:t>
            </a:r>
            <a:endParaRPr b="0" i="0" sz="1200" u="none" cap="none" strike="noStrike">
              <a:solidFill>
                <a:schemeClr val="dk1"/>
              </a:solidFill>
              <a:latin typeface="Calibri"/>
              <a:ea typeface="Calibri"/>
              <a:cs typeface="Calibri"/>
              <a:sym typeface="Calibri"/>
            </a:endParaRPr>
          </a:p>
        </p:txBody>
      </p:sp>
      <p:sp>
        <p:nvSpPr>
          <p:cNvPr id="1039" name="Google Shape;1039;p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shoulders this stands on</a:t>
            </a:r>
            <a:endParaRPr b="0" i="0" sz="3000" u="none" cap="none" strike="noStrike">
              <a:solidFill>
                <a:schemeClr val="dk1"/>
              </a:solidFill>
              <a:latin typeface="Calibri"/>
              <a:ea typeface="Calibri"/>
              <a:cs typeface="Calibri"/>
              <a:sym typeface="Calibri"/>
            </a:endParaRPr>
          </a:p>
        </p:txBody>
      </p:sp>
      <p:sp>
        <p:nvSpPr>
          <p:cNvPr id="1040" name="Google Shape;1040;p9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Microservices, 2nd ed. — Sam Newman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Designing Data-Intensive Applications, 2nd ed. — Martin Kleppmann &amp; Chris Riccomini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Event-Driven Microservices, 2nd ed. — Adam Bellemare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Patterns — Cornelia Davis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of Distributed Systems — Unmesh Joshi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Architecture Modernization — Nick Tune &amp; Jean-Georges Perrin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Anti-Patterns — Gerald Bachlmayr et al. (Packt)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Principles of Web API Design — James Higginbotham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for API Design — Olaf Zimmermann et al.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API Design Patterns — JJ Geewax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Learning Domain-Driven Design — Vlad Khononov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Balancing Coupling in Software Design — Vlad Khononov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Spring Boot 4 reference (docs.spring.io/spring-boot), Temporal Java SDK docs (docs.temporal.io/dev-guide/java), Spring for GraphQL, Spring Kafka, and Debezium docs — for the runtime specifics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The full list, with publisher links: patterncatalyst.github.io/cloud-native-design-patterns/bibliography/</a:t>
            </a:r>
            <a:endParaRPr b="0" i="0" sz="1400" u="none" cap="none" strike="noStrike">
              <a:solidFill>
                <a:schemeClr val="dk1"/>
              </a:solidFill>
              <a:latin typeface="Calibri"/>
              <a:ea typeface="Calibri"/>
              <a:cs typeface="Calibri"/>
              <a:sym typeface="Calibri"/>
            </a:endParaRPr>
          </a:p>
        </p:txBody>
      </p:sp>
      <p:sp>
        <p:nvSpPr>
          <p:cNvPr id="1041" name="Google Shape;1041;p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80</a:t>
            </a:r>
            <a:endParaRPr b="0" i="0" sz="1000" u="none" cap="none" strike="noStrike">
              <a:solidFill>
                <a:schemeClr val="dk1"/>
              </a:solidFill>
              <a:latin typeface="Calibri"/>
              <a:ea typeface="Calibri"/>
              <a:cs typeface="Calibri"/>
              <a:sym typeface="Calibri"/>
            </a:endParaRPr>
          </a:p>
        </p:txBody>
      </p:sp>
      <p:pic>
        <p:nvPicPr>
          <p:cNvPr descr="/home/claude/work/assets/rh-logo.png" id="1042" name="Google Shape;1042;p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47" name="Shape 1047"/>
        <p:cNvGrpSpPr/>
        <p:nvPr/>
      </p:nvGrpSpPr>
      <p:grpSpPr>
        <a:xfrm>
          <a:off x="0" y="0"/>
          <a:ext cx="0" cy="0"/>
          <a:chOff x="0" y="0"/>
          <a:chExt cx="0" cy="0"/>
        </a:xfrm>
      </p:grpSpPr>
      <p:pic>
        <p:nvPicPr>
          <p:cNvPr descr="/home/claude/work/assets/rh-divider-bg.png" id="1048" name="Google Shape;1048;p9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49" name="Google Shape;1049;p97"/>
          <p:cNvSpPr/>
          <p:nvPr/>
        </p:nvSpPr>
        <p:spPr>
          <a:xfrm>
            <a:off x="5705856" y="2596896"/>
            <a:ext cx="6126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Overpass SemiBold"/>
              <a:buNone/>
            </a:pPr>
            <a:r>
              <a:rPr b="1" i="0" lang="en-US" sz="4600" u="none" cap="none" strike="noStrike">
                <a:solidFill>
                  <a:srgbClr val="FFFFFF"/>
                </a:solidFill>
                <a:latin typeface="Overpass SemiBold"/>
                <a:ea typeface="Overpass SemiBold"/>
                <a:cs typeface="Overpass SemiBold"/>
                <a:sym typeface="Overpass SemiBold"/>
              </a:rPr>
              <a:t>Thank you</a:t>
            </a:r>
            <a:endParaRPr b="0" i="0" sz="4600" u="none" cap="none" strike="noStrike">
              <a:solidFill>
                <a:schemeClr val="dk1"/>
              </a:solidFill>
              <a:latin typeface="Calibri"/>
              <a:ea typeface="Calibri"/>
              <a:cs typeface="Calibri"/>
              <a:sym typeface="Calibri"/>
            </a:endParaRPr>
          </a:p>
        </p:txBody>
      </p:sp>
      <p:sp>
        <p:nvSpPr>
          <p:cNvPr id="1050" name="Google Shape;1050;p97"/>
          <p:cNvSpPr/>
          <p:nvPr/>
        </p:nvSpPr>
        <p:spPr>
          <a:xfrm>
            <a:off x="5733288" y="3657600"/>
            <a:ext cx="60351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2200"/>
              <a:buFont typeface="Red Hat Text"/>
              <a:buNone/>
            </a:pPr>
            <a:r>
              <a:rPr b="0" i="1" lang="en-US" sz="2200" u="none" cap="none" strike="noStrike">
                <a:solidFill>
                  <a:srgbClr val="FFD9D9"/>
                </a:solidFill>
                <a:latin typeface="Red Hat Text"/>
                <a:ea typeface="Red Hat Text"/>
                <a:cs typeface="Red Hat Text"/>
                <a:sym typeface="Red Hat Text"/>
              </a:rPr>
              <a:t>Questions?</a:t>
            </a:r>
            <a:endParaRPr b="0" i="0" sz="2200" u="none" cap="none" strike="noStrike">
              <a:solidFill>
                <a:schemeClr val="dk1"/>
              </a:solidFill>
              <a:latin typeface="Calibri"/>
              <a:ea typeface="Calibri"/>
              <a:cs typeface="Calibri"/>
              <a:sym typeface="Calibri"/>
            </a:endParaRPr>
          </a:p>
        </p:txBody>
      </p:sp>
      <p:pic>
        <p:nvPicPr>
          <p:cNvPr descr="/home/claude/work/assets/rh-logo-white.png" id="1051" name="Google Shape;1051;p9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6" name="Shape 1056"/>
        <p:cNvGrpSpPr/>
        <p:nvPr/>
      </p:nvGrpSpPr>
      <p:grpSpPr>
        <a:xfrm>
          <a:off x="0" y="0"/>
          <a:ext cx="0" cy="0"/>
          <a:chOff x="0" y="0"/>
          <a:chExt cx="0" cy="0"/>
        </a:xfrm>
      </p:grpSpPr>
      <p:sp>
        <p:nvSpPr>
          <p:cNvPr id="1057" name="Google Shape;1057;p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58" name="Google Shape;1058;p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(1 of 2) — protocols, data, events</a:t>
            </a:r>
            <a:endParaRPr b="0" i="0" sz="3000" u="none" cap="none" strike="noStrike">
              <a:solidFill>
                <a:schemeClr val="dk1"/>
              </a:solidFill>
              <a:latin typeface="Calibri"/>
              <a:ea typeface="Calibri"/>
              <a:cs typeface="Calibri"/>
              <a:sym typeface="Calibri"/>
            </a:endParaRPr>
          </a:p>
        </p:txBody>
      </p:sp>
      <p:sp>
        <p:nvSpPr>
          <p:cNvPr id="1059" name="Google Shape;1059;p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Protocols &amp; APIs — REST (Representational State Transfer); RPC (Remote Procedure Call); gRPC (Google's RPC framework, over HTTP/2 + Protobuf); HTTP (HyperText Transfer Protocol); TLS / mTLS (Transport Layer Security / mutual TLS, where both peers present certificates); SSE (Server-Sent Events); BFF (Backend-For-Frontend); SDK (Software Development Kit); API (Application Programming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Messaging &amp; integration — AMQP (Advanced Message Queuing Protocol); ESB (Enterprise Service Bus); DLQ (Dead-Letter Queue, where un-processable messages go); SerDe (Serializer / Deserializer); pub/sub (publish-subscribe).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Data &amp; persistence: CQRS (Command Query Responsibility Segregation); CDC (Change Data Capture); WAL (Write-Ahead Log, the DB's commit-ordered durable log); ACID (Atomicity, Consistency, Isolation, Durability); TTL (Time-To-Live: how long a cached key lives before expiring); LRU (Least Recently Used, a cache eviction policy); SETEX (the Redis "SET with EXpiry" command, which sets a key and its TTL atomically); ORM (Object-Relational Mapping); JPA (Jakarta Persistence API); Spring Data (Spring's repository abstraction, not an acronym).</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Domain modelling &amp; flow — DDD (Domain-Driven Design); OHS (Open Host Service: a published, stable interface a context offers others); ACL (Anti-Corruption Layer in DDD, which translates between models; ACL also means Access Control List in security); Saga (not an acronym: a sequence of local transactions with compensating actions).</a:t>
            </a:r>
            <a:endParaRPr b="0" i="0" sz="1200" u="none" cap="none" strike="noStrike">
              <a:solidFill>
                <a:schemeClr val="dk1"/>
              </a:solidFill>
              <a:latin typeface="Calibri"/>
              <a:ea typeface="Calibri"/>
              <a:cs typeface="Calibri"/>
              <a:sym typeface="Calibri"/>
            </a:endParaRPr>
          </a:p>
        </p:txBody>
      </p:sp>
      <p:sp>
        <p:nvSpPr>
          <p:cNvPr id="1060" name="Google Shape;1060;p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81</a:t>
            </a:r>
            <a:endParaRPr b="0" i="0" sz="1000" u="none" cap="none" strike="noStrike">
              <a:solidFill>
                <a:schemeClr val="dk1"/>
              </a:solidFill>
              <a:latin typeface="Calibri"/>
              <a:ea typeface="Calibri"/>
              <a:cs typeface="Calibri"/>
              <a:sym typeface="Calibri"/>
            </a:endParaRPr>
          </a:p>
        </p:txBody>
      </p:sp>
      <p:pic>
        <p:nvPicPr>
          <p:cNvPr descr="/home/claude/work/assets/rh-logo.png" id="1061" name="Google Shape;1061;p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sp>
        <p:nvSpPr>
          <p:cNvPr id="1067" name="Google Shape;1067;p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68" name="Google Shape;1068;p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(2 of 2) — platform, security, telemetry</a:t>
            </a:r>
            <a:endParaRPr b="0" i="0" sz="3000" u="none" cap="none" strike="noStrike">
              <a:solidFill>
                <a:schemeClr val="dk1"/>
              </a:solidFill>
              <a:latin typeface="Calibri"/>
              <a:ea typeface="Calibri"/>
              <a:cs typeface="Calibri"/>
              <a:sym typeface="Calibri"/>
            </a:endParaRPr>
          </a:p>
        </p:txBody>
      </p:sp>
      <p:sp>
        <p:nvSpPr>
          <p:cNvPr id="1069" name="Google Shape;1069;p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Kubernetes &amp; cloud — K8s (Kubernetes); RBAC (Role-Based Access Control); HPA (Horizontal Pod Autoscaler); KEDA (Kubernetes Event-Driven Autoscaling); PSS (Pod Security Standards); CRD (Custom Resource Definition); IAM (Identity &amp; Access Management); KMS (Key Management Service); VPC (Virtual Private Cloud); CNI (Container Network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Identity &amp; security — SPIFFE (Secure Production Identity Framework For Everyone); SPIRE (the SPIFFE Runtime Environment); OPA (Open Policy Agent); IAP (Identity-Aware Proxy); JWT (JSON Web Token); OIDC (OpenID Connect); OAuth (Open Authorization); MFA (Multi-Factor Authentication); PII (Personally Identifiable Information); SLSA (Supply-chain Levels for Software Artifacts); CVE (Common Vulnerabilities &amp; Exposures); SBOM (Software Bill of Materials).</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Observability — OTel (OpenTelemetry); RED (Rate, Errors, Duration: the request-driven metrics method); USE (Utilisation, Saturation, Errors: the resource metrics method); MDC (Mapped Diagnostic Context, per-thread log context); LGTM (Loki, Grafana, Tempo, Mimir); SLO / SLI / SLA (Service-Level Objective / Indicator / Agreement); p99 (99th-percentile latency).</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Runtime &amp; build: JVM (Java Virtual Machine); JIT (Just-In-Time compilation); AOT (Ahead-Of-Time compilation: GraalVM / Spring AOT); GC (Garbage Collection); IoC (Inversion of Control); DI (Dependency Injection); DTO (Data Transfer Object); POJO (Plain Old Java Object); SpEL (Spring Expression Language).</a:t>
            </a:r>
            <a:endParaRPr b="0" i="0" sz="1200" u="none" cap="none" strike="noStrike">
              <a:solidFill>
                <a:schemeClr val="dk1"/>
              </a:solidFill>
              <a:latin typeface="Calibri"/>
              <a:ea typeface="Calibri"/>
              <a:cs typeface="Calibri"/>
              <a:sym typeface="Calibri"/>
            </a:endParaRPr>
          </a:p>
        </p:txBody>
      </p:sp>
      <p:sp>
        <p:nvSpPr>
          <p:cNvPr id="1070" name="Google Shape;1070;p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82</a:t>
            </a:r>
            <a:endParaRPr b="0" i="0" sz="1000" u="none" cap="none" strike="noStrike">
              <a:solidFill>
                <a:schemeClr val="dk1"/>
              </a:solidFill>
              <a:latin typeface="Calibri"/>
              <a:ea typeface="Calibri"/>
              <a:cs typeface="Calibri"/>
              <a:sym typeface="Calibri"/>
            </a:endParaRPr>
          </a:p>
        </p:txBody>
      </p:sp>
      <p:pic>
        <p:nvPicPr>
          <p:cNvPr descr="/home/claude/work/assets/rh-logo.png" id="1071" name="Google Shape;1071;p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76" name="Shape 1076"/>
        <p:cNvGrpSpPr/>
        <p:nvPr/>
      </p:nvGrpSpPr>
      <p:grpSpPr>
        <a:xfrm>
          <a:off x="0" y="0"/>
          <a:ext cx="0" cy="0"/>
          <a:chOff x="0" y="0"/>
          <a:chExt cx="0" cy="0"/>
        </a:xfrm>
      </p:grpSpPr>
      <p:pic>
        <p:nvPicPr>
          <p:cNvPr descr="/home/claude/work/assets/rh-divider-bg.png" id="1077" name="Google Shape;1077;p10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78" name="Google Shape;1078;p10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A</a:t>
            </a:r>
            <a:endParaRPr b="0" i="0" sz="2200" u="none" cap="none" strike="noStrike">
              <a:solidFill>
                <a:schemeClr val="dk1"/>
              </a:solidFill>
              <a:latin typeface="Calibri"/>
              <a:ea typeface="Calibri"/>
              <a:cs typeface="Calibri"/>
              <a:sym typeface="Calibri"/>
            </a:endParaRPr>
          </a:p>
        </p:txBody>
      </p:sp>
      <p:sp>
        <p:nvSpPr>
          <p:cNvPr id="1079" name="Google Shape;1079;p10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A · Protocols in Depth</a:t>
            </a:r>
            <a:endParaRPr b="0" i="0" sz="4000" u="none" cap="none" strike="noStrike">
              <a:solidFill>
                <a:schemeClr val="dk1"/>
              </a:solidFill>
              <a:latin typeface="Calibri"/>
              <a:ea typeface="Calibri"/>
              <a:cs typeface="Calibri"/>
              <a:sym typeface="Calibri"/>
            </a:endParaRPr>
          </a:p>
        </p:txBody>
      </p:sp>
      <p:sp>
        <p:nvSpPr>
          <p:cNvPr id="1080" name="Google Shape;1080;p10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gRPC and GraphQL: how they differ.</a:t>
            </a:r>
            <a:endParaRPr b="0" i="0" sz="1500" u="none" cap="none" strike="noStrike">
              <a:solidFill>
                <a:schemeClr val="dk1"/>
              </a:solidFill>
              <a:latin typeface="Calibri"/>
              <a:ea typeface="Calibri"/>
              <a:cs typeface="Calibri"/>
              <a:sym typeface="Calibri"/>
            </a:endParaRPr>
          </a:p>
        </p:txBody>
      </p:sp>
      <p:pic>
        <p:nvPicPr>
          <p:cNvPr descr="/home/claude/work/assets/rh-logo-white.png" id="1081" name="Google Shape;1081;p1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6" name="Shape 1086"/>
        <p:cNvGrpSpPr/>
        <p:nvPr/>
      </p:nvGrpSpPr>
      <p:grpSpPr>
        <a:xfrm>
          <a:off x="0" y="0"/>
          <a:ext cx="0" cy="0"/>
          <a:chOff x="0" y="0"/>
          <a:chExt cx="0" cy="0"/>
        </a:xfrm>
      </p:grpSpPr>
      <p:sp>
        <p:nvSpPr>
          <p:cNvPr id="1087" name="Google Shape;1087;p1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88" name="Google Shape;1088;p1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paradigms and their mental models</a:t>
            </a:r>
            <a:endParaRPr b="0" i="0" sz="3000" u="none" cap="none" strike="noStrike">
              <a:solidFill>
                <a:schemeClr val="dk1"/>
              </a:solidFill>
              <a:latin typeface="Calibri"/>
              <a:ea typeface="Calibri"/>
              <a:cs typeface="Calibri"/>
              <a:sym typeface="Calibri"/>
            </a:endParaRPr>
          </a:p>
        </p:txBody>
      </p:sp>
      <p:pic>
        <p:nvPicPr>
          <p:cNvPr descr="/home/claude/work/png-sb/24-appA-paradigms.png" id="1089" name="Google Shape;1089;p10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090" name="Google Shape;1090;p10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models resources, gRPC models procedures, GraphQL models a typed graph — the same intent, three shapes.</a:t>
            </a:r>
            <a:endParaRPr b="0" i="0" sz="1200" u="none" cap="none" strike="noStrike">
              <a:solidFill>
                <a:schemeClr val="dk1"/>
              </a:solidFill>
              <a:latin typeface="Calibri"/>
              <a:ea typeface="Calibri"/>
              <a:cs typeface="Calibri"/>
              <a:sym typeface="Calibri"/>
            </a:endParaRPr>
          </a:p>
        </p:txBody>
      </p:sp>
      <p:sp>
        <p:nvSpPr>
          <p:cNvPr id="1091" name="Google Shape;1091;p1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83</a:t>
            </a:r>
            <a:endParaRPr b="0" i="0" sz="1000" u="none" cap="none" strike="noStrike">
              <a:solidFill>
                <a:schemeClr val="dk1"/>
              </a:solidFill>
              <a:latin typeface="Calibri"/>
              <a:ea typeface="Calibri"/>
              <a:cs typeface="Calibri"/>
              <a:sym typeface="Calibri"/>
            </a:endParaRPr>
          </a:p>
        </p:txBody>
      </p:sp>
      <p:pic>
        <p:nvPicPr>
          <p:cNvPr descr="/home/claude/work/assets/rh-logo.png" id="1092" name="Google Shape;1092;p10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7" name="Shape 1097"/>
        <p:cNvGrpSpPr/>
        <p:nvPr/>
      </p:nvGrpSpPr>
      <p:grpSpPr>
        <a:xfrm>
          <a:off x="0" y="0"/>
          <a:ext cx="0" cy="0"/>
          <a:chOff x="0" y="0"/>
          <a:chExt cx="0" cy="0"/>
        </a:xfrm>
      </p:grpSpPr>
      <p:sp>
        <p:nvSpPr>
          <p:cNvPr id="1098" name="Google Shape;1098;p1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99" name="Google Shape;1099;p1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Over-fetching, under-fetching and round trips</a:t>
            </a:r>
            <a:endParaRPr b="0" i="0" sz="3000" u="none" cap="none" strike="noStrike">
              <a:solidFill>
                <a:schemeClr val="dk1"/>
              </a:solidFill>
              <a:latin typeface="Calibri"/>
              <a:ea typeface="Calibri"/>
              <a:cs typeface="Calibri"/>
              <a:sym typeface="Calibri"/>
            </a:endParaRPr>
          </a:p>
        </p:txBody>
      </p:sp>
      <p:pic>
        <p:nvPicPr>
          <p:cNvPr descr="/home/claude/work/png-sb/25-appA-fetching.png" id="1100" name="Google Shape;1100;p102"/>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01" name="Google Shape;1101;p1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trades round trips or bespoke endpoints for simplicity; GraphQL shapes one response; gRPC is a typed call.</a:t>
            </a:r>
            <a:endParaRPr b="0" i="0" sz="1200" u="none" cap="none" strike="noStrike">
              <a:solidFill>
                <a:schemeClr val="dk1"/>
              </a:solidFill>
              <a:latin typeface="Calibri"/>
              <a:ea typeface="Calibri"/>
              <a:cs typeface="Calibri"/>
              <a:sym typeface="Calibri"/>
            </a:endParaRPr>
          </a:p>
        </p:txBody>
      </p:sp>
      <p:sp>
        <p:nvSpPr>
          <p:cNvPr id="1102" name="Google Shape;1102;p1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84</a:t>
            </a:r>
            <a:endParaRPr b="0" i="0" sz="1000" u="none" cap="none" strike="noStrike">
              <a:solidFill>
                <a:schemeClr val="dk1"/>
              </a:solidFill>
              <a:latin typeface="Calibri"/>
              <a:ea typeface="Calibri"/>
              <a:cs typeface="Calibri"/>
              <a:sym typeface="Calibri"/>
            </a:endParaRPr>
          </a:p>
        </p:txBody>
      </p:sp>
      <p:pic>
        <p:nvPicPr>
          <p:cNvPr descr="/home/claude/work/assets/rh-logo.png" id="1103" name="Google Shape;1103;p1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8" name="Shape 1108"/>
        <p:cNvGrpSpPr/>
        <p:nvPr/>
      </p:nvGrpSpPr>
      <p:grpSpPr>
        <a:xfrm>
          <a:off x="0" y="0"/>
          <a:ext cx="0" cy="0"/>
          <a:chOff x="0" y="0"/>
          <a:chExt cx="0" cy="0"/>
        </a:xfrm>
      </p:grpSpPr>
      <p:sp>
        <p:nvSpPr>
          <p:cNvPr id="1109" name="Google Shape;1109;p1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10" name="Google Shape;1110;p1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wire: transport, encoding and streaming</a:t>
            </a:r>
            <a:endParaRPr b="0" i="0" sz="3000" u="none" cap="none" strike="noStrike">
              <a:solidFill>
                <a:schemeClr val="dk1"/>
              </a:solidFill>
              <a:latin typeface="Calibri"/>
              <a:ea typeface="Calibri"/>
              <a:cs typeface="Calibri"/>
              <a:sym typeface="Calibri"/>
            </a:endParaRPr>
          </a:p>
        </p:txBody>
      </p:sp>
      <p:pic>
        <p:nvPicPr>
          <p:cNvPr descr="/home/claude/work/png-sb/26-appA-transport.png" id="1111" name="Google Shape;1111;p10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112" name="Google Shape;1112;p1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Reach and caching, or raw speed, or client-shaped responses — choose on the wire properties you need.</a:t>
            </a:r>
            <a:endParaRPr b="0" i="0" sz="1200" u="none" cap="none" strike="noStrike">
              <a:solidFill>
                <a:schemeClr val="dk1"/>
              </a:solidFill>
              <a:latin typeface="Calibri"/>
              <a:ea typeface="Calibri"/>
              <a:cs typeface="Calibri"/>
              <a:sym typeface="Calibri"/>
            </a:endParaRPr>
          </a:p>
        </p:txBody>
      </p:sp>
      <p:sp>
        <p:nvSpPr>
          <p:cNvPr id="1113" name="Google Shape;1113;p1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85</a:t>
            </a:r>
            <a:endParaRPr b="0" i="0" sz="1000" u="none" cap="none" strike="noStrike">
              <a:solidFill>
                <a:schemeClr val="dk1"/>
              </a:solidFill>
              <a:latin typeface="Calibri"/>
              <a:ea typeface="Calibri"/>
              <a:cs typeface="Calibri"/>
              <a:sym typeface="Calibri"/>
            </a:endParaRPr>
          </a:p>
        </p:txBody>
      </p:sp>
      <p:pic>
        <p:nvPicPr>
          <p:cNvPr descr="/home/claude/work/assets/rh-logo.png" id="1114" name="Google Shape;1114;p1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9" name="Shape 1119"/>
        <p:cNvGrpSpPr/>
        <p:nvPr/>
      </p:nvGrpSpPr>
      <p:grpSpPr>
        <a:xfrm>
          <a:off x="0" y="0"/>
          <a:ext cx="0" cy="0"/>
          <a:chOff x="0" y="0"/>
          <a:chExt cx="0" cy="0"/>
        </a:xfrm>
      </p:grpSpPr>
      <p:sp>
        <p:nvSpPr>
          <p:cNvPr id="1120" name="Google Shape;1120;p1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21" name="Google Shape;1121;p1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them in practice</a:t>
            </a:r>
            <a:endParaRPr b="0" i="0" sz="3000" u="none" cap="none" strike="noStrike">
              <a:solidFill>
                <a:schemeClr val="dk1"/>
              </a:solidFill>
              <a:latin typeface="Calibri"/>
              <a:ea typeface="Calibri"/>
              <a:cs typeface="Calibri"/>
              <a:sym typeface="Calibri"/>
            </a:endParaRPr>
          </a:p>
        </p:txBody>
      </p:sp>
      <p:sp>
        <p:nvSpPr>
          <p:cNvPr id="1122" name="Google Shape;1122;p10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Public or partner-facing, browser or third-party clients, caching matters → REST.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service-to-service, low latency, high call volume, streaming → gRPC.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Aggregating many back-ends for varied clients that each want different fields → GraphQL at the gateway.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fact that many consumers react to, decoupled in time → none of these; emit an event.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Real systems use all four; standardizing on one wire for everything is itself an anti-pattern.</a:t>
            </a:r>
            <a:endParaRPr b="0" i="0" sz="1700" u="none" cap="none" strike="noStrike">
              <a:solidFill>
                <a:schemeClr val="dk1"/>
              </a:solidFill>
              <a:latin typeface="Calibri"/>
              <a:ea typeface="Calibri"/>
              <a:cs typeface="Calibri"/>
              <a:sym typeface="Calibri"/>
            </a:endParaRPr>
          </a:p>
        </p:txBody>
      </p:sp>
      <p:sp>
        <p:nvSpPr>
          <p:cNvPr id="1123" name="Google Shape;1123;p1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86</a:t>
            </a:r>
            <a:endParaRPr b="0" i="0" sz="1000" u="none" cap="none" strike="noStrike">
              <a:solidFill>
                <a:schemeClr val="dk1"/>
              </a:solidFill>
              <a:latin typeface="Calibri"/>
              <a:ea typeface="Calibri"/>
              <a:cs typeface="Calibri"/>
              <a:sym typeface="Calibri"/>
            </a:endParaRPr>
          </a:p>
        </p:txBody>
      </p:sp>
      <p:pic>
        <p:nvPicPr>
          <p:cNvPr descr="/home/claude/work/assets/rh-logo.png" id="1124" name="Google Shape;1124;p10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9" name="Shape 1129"/>
        <p:cNvGrpSpPr/>
        <p:nvPr/>
      </p:nvGrpSpPr>
      <p:grpSpPr>
        <a:xfrm>
          <a:off x="0" y="0"/>
          <a:ext cx="0" cy="0"/>
          <a:chOff x="0" y="0"/>
          <a:chExt cx="0" cy="0"/>
        </a:xfrm>
      </p:grpSpPr>
      <p:sp>
        <p:nvSpPr>
          <p:cNvPr id="1130" name="Google Shape;1130;p1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31" name="Google Shape;1131;p1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Common mistakes with each</a:t>
            </a:r>
            <a:endParaRPr b="0" i="0" sz="3000" u="none" cap="none" strike="noStrike">
              <a:solidFill>
                <a:schemeClr val="dk1"/>
              </a:solidFill>
              <a:latin typeface="Calibri"/>
              <a:ea typeface="Calibri"/>
              <a:cs typeface="Calibri"/>
              <a:sym typeface="Calibri"/>
            </a:endParaRPr>
          </a:p>
        </p:txBody>
      </p:sp>
      <p:sp>
        <p:nvSpPr>
          <p:cNvPr id="1132" name="Google Shape;1132;p10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REST: verbs in URLs (/createOrder), 200-for-everything, offset pagination, and ignoring cache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exposing it directly to browsers without grpc-web; treating it as REST-with-protobuf and ignoring streaming.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the N+1 resolver explosion; no query depth/complexity limits; using it for simple single-resource 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All three: leaking internal database models straight onto the wire, so you can never evolve them.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Async: using a queue when you needed a log (no replay), or a request when you needed a fact.</a:t>
            </a:r>
            <a:endParaRPr b="0" i="0" sz="1700" u="none" cap="none" strike="noStrike">
              <a:solidFill>
                <a:schemeClr val="dk1"/>
              </a:solidFill>
              <a:latin typeface="Calibri"/>
              <a:ea typeface="Calibri"/>
              <a:cs typeface="Calibri"/>
              <a:sym typeface="Calibri"/>
            </a:endParaRPr>
          </a:p>
        </p:txBody>
      </p:sp>
      <p:sp>
        <p:nvSpPr>
          <p:cNvPr id="1133" name="Google Shape;1133;p1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87</a:t>
            </a:r>
            <a:endParaRPr b="0" i="0" sz="1000" u="none" cap="none" strike="noStrike">
              <a:solidFill>
                <a:schemeClr val="dk1"/>
              </a:solidFill>
              <a:latin typeface="Calibri"/>
              <a:ea typeface="Calibri"/>
              <a:cs typeface="Calibri"/>
              <a:sym typeface="Calibri"/>
            </a:endParaRPr>
          </a:p>
        </p:txBody>
      </p:sp>
      <p:pic>
        <p:nvPicPr>
          <p:cNvPr descr="/home/claude/work/assets/rh-logo.png" id="1134" name="Google Shape;1134;p10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139" name="Shape 1139"/>
        <p:cNvGrpSpPr/>
        <p:nvPr/>
      </p:nvGrpSpPr>
      <p:grpSpPr>
        <a:xfrm>
          <a:off x="0" y="0"/>
          <a:ext cx="0" cy="0"/>
          <a:chOff x="0" y="0"/>
          <a:chExt cx="0" cy="0"/>
        </a:xfrm>
      </p:grpSpPr>
      <p:pic>
        <p:nvPicPr>
          <p:cNvPr descr="/home/claude/work/assets/rh-divider-bg.png" id="1140" name="Google Shape;1140;p10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141" name="Google Shape;1141;p10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B</a:t>
            </a:r>
            <a:endParaRPr b="0" i="0" sz="2200" u="none" cap="none" strike="noStrike">
              <a:solidFill>
                <a:schemeClr val="dk1"/>
              </a:solidFill>
              <a:latin typeface="Calibri"/>
              <a:ea typeface="Calibri"/>
              <a:cs typeface="Calibri"/>
              <a:sym typeface="Calibri"/>
            </a:endParaRPr>
          </a:p>
        </p:txBody>
      </p:sp>
      <p:sp>
        <p:nvSpPr>
          <p:cNvPr id="1142" name="Google Shape;1142;p10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B · Versioning &amp; Evolution</a:t>
            </a:r>
            <a:endParaRPr b="0" i="0" sz="4000" u="none" cap="none" strike="noStrike">
              <a:solidFill>
                <a:schemeClr val="dk1"/>
              </a:solidFill>
              <a:latin typeface="Calibri"/>
              <a:ea typeface="Calibri"/>
              <a:cs typeface="Calibri"/>
              <a:sym typeface="Calibri"/>
            </a:endParaRPr>
          </a:p>
        </p:txBody>
      </p:sp>
      <p:sp>
        <p:nvSpPr>
          <p:cNvPr id="1143" name="Google Shape;1143;p10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vs RESTful, proto breaking changes, GraphQL evolution.</a:t>
            </a:r>
            <a:endParaRPr b="0" i="0" sz="1500" u="none" cap="none" strike="noStrike">
              <a:solidFill>
                <a:schemeClr val="dk1"/>
              </a:solidFill>
              <a:latin typeface="Calibri"/>
              <a:ea typeface="Calibri"/>
              <a:cs typeface="Calibri"/>
              <a:sym typeface="Calibri"/>
            </a:endParaRPr>
          </a:p>
        </p:txBody>
      </p:sp>
      <p:pic>
        <p:nvPicPr>
          <p:cNvPr descr="/home/claude/work/assets/rh-logo-white.png" id="1144" name="Google Shape;1144;p1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9" name="Shape 1149"/>
        <p:cNvGrpSpPr/>
        <p:nvPr/>
      </p:nvGrpSpPr>
      <p:grpSpPr>
        <a:xfrm>
          <a:off x="0" y="0"/>
          <a:ext cx="0" cy="0"/>
          <a:chOff x="0" y="0"/>
          <a:chExt cx="0" cy="0"/>
        </a:xfrm>
      </p:grpSpPr>
      <p:sp>
        <p:nvSpPr>
          <p:cNvPr id="1150" name="Google Shape;1150;p1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51" name="Google Shape;1151;p1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ways to version a REST API</a:t>
            </a:r>
            <a:endParaRPr b="0" i="0" sz="3000" u="none" cap="none" strike="noStrike">
              <a:solidFill>
                <a:schemeClr val="dk1"/>
              </a:solidFill>
              <a:latin typeface="Calibri"/>
              <a:ea typeface="Calibri"/>
              <a:cs typeface="Calibri"/>
              <a:sym typeface="Calibri"/>
            </a:endParaRPr>
          </a:p>
        </p:txBody>
      </p:sp>
      <p:pic>
        <p:nvPicPr>
          <p:cNvPr descr="/home/claude/work/png-sb/27-appB-rest-versioning.png" id="1152" name="Google Shape;1152;p10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53" name="Google Shape;1153;p1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URI versioning is common and visible; media-type versioning keeps URLs stable — the more RESTful choice.</a:t>
            </a:r>
            <a:endParaRPr b="0" i="0" sz="1200" u="none" cap="none" strike="noStrike">
              <a:solidFill>
                <a:schemeClr val="dk1"/>
              </a:solidFill>
              <a:latin typeface="Calibri"/>
              <a:ea typeface="Calibri"/>
              <a:cs typeface="Calibri"/>
              <a:sym typeface="Calibri"/>
            </a:endParaRPr>
          </a:p>
        </p:txBody>
      </p:sp>
      <p:sp>
        <p:nvSpPr>
          <p:cNvPr id="1154" name="Google Shape;1154;p1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88</a:t>
            </a:r>
            <a:endParaRPr b="0" i="0" sz="1000" u="none" cap="none" strike="noStrike">
              <a:solidFill>
                <a:schemeClr val="dk1"/>
              </a:solidFill>
              <a:latin typeface="Calibri"/>
              <a:ea typeface="Calibri"/>
              <a:cs typeface="Calibri"/>
              <a:sym typeface="Calibri"/>
            </a:endParaRPr>
          </a:p>
        </p:txBody>
      </p:sp>
      <p:pic>
        <p:nvPicPr>
          <p:cNvPr descr="/home/claude/work/assets/rh-logo.png" id="1155" name="Google Shape;1155;p1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1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62" name="Google Shape;1162;p1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Media-type versioning with Spring Web</a:t>
            </a:r>
            <a:endParaRPr b="0" i="0" sz="3000" u="none" cap="none" strike="noStrike">
              <a:solidFill>
                <a:schemeClr val="dk1"/>
              </a:solidFill>
              <a:latin typeface="Calibri"/>
              <a:ea typeface="Calibri"/>
              <a:cs typeface="Calibri"/>
              <a:sym typeface="Calibri"/>
            </a:endParaRPr>
          </a:p>
        </p:txBody>
      </p:sp>
      <p:sp>
        <p:nvSpPr>
          <p:cNvPr id="1163" name="Google Shape;1163;p10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08"/>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Web</a:t>
            </a:r>
            <a:endParaRPr b="0" i="0" sz="1000" u="none" cap="none" strike="noStrike">
              <a:solidFill>
                <a:schemeClr val="dk1"/>
              </a:solidFill>
              <a:latin typeface="Calibri"/>
              <a:ea typeface="Calibri"/>
              <a:cs typeface="Calibri"/>
              <a:sym typeface="Calibri"/>
            </a:endParaRPr>
          </a:p>
        </p:txBody>
      </p:sp>
      <p:sp>
        <p:nvSpPr>
          <p:cNvPr id="1165" name="Google Shape;1165;p10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@RestController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@RequestMapping("/orders")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OrderController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static final String V1 = "application/vnd.acme.order+json";      // legacy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static final String V2 = "application/vnd.acme.order.v2+json";   // adds currency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@GetMapping(value = "/{id}", produces = V2)   // one stable URL — the resource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OrderV2 getV2(@PathVariable String id) {  // chosen by Accept: …v2+json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OrderV2.from(orders.get(id));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@GetMapping(value = "/{id}", produces = V1)   // same path, different representation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OrderV1 getV1(@PathVariable String id) {  // default for old clients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return OrderV1.from(orders.get(id));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Spring's content negotiation routes on Accept; the URL never changes.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Spring Boot 4 also ships a new API versioning support if you prefer header- or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path-based versioning declared centrally rather than per-handler.</a:t>
            </a:r>
            <a:endParaRPr b="0" i="0" sz="1100" u="none" cap="none" strike="noStrike">
              <a:solidFill>
                <a:schemeClr val="dk1"/>
              </a:solidFill>
              <a:latin typeface="Calibri"/>
              <a:ea typeface="Calibri"/>
              <a:cs typeface="Calibri"/>
              <a:sym typeface="Calibri"/>
            </a:endParaRPr>
          </a:p>
        </p:txBody>
      </p:sp>
      <p:sp>
        <p:nvSpPr>
          <p:cNvPr id="1166" name="Google Shape;1166;p10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resource URL is stable; the representation is negotiated. New clients ask for v2; old clients keep getting v1.</a:t>
            </a:r>
            <a:endParaRPr b="0" i="0" sz="1300" u="none" cap="none" strike="noStrike">
              <a:solidFill>
                <a:schemeClr val="dk1"/>
              </a:solidFill>
              <a:latin typeface="Calibri"/>
              <a:ea typeface="Calibri"/>
              <a:cs typeface="Calibri"/>
              <a:sym typeface="Calibri"/>
            </a:endParaRPr>
          </a:p>
        </p:txBody>
      </p:sp>
      <p:sp>
        <p:nvSpPr>
          <p:cNvPr id="1167" name="Google Shape;1167;p1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89</a:t>
            </a:r>
            <a:endParaRPr b="0" i="0" sz="1000" u="none" cap="none" strike="noStrike">
              <a:solidFill>
                <a:schemeClr val="dk1"/>
              </a:solidFill>
              <a:latin typeface="Calibri"/>
              <a:ea typeface="Calibri"/>
              <a:cs typeface="Calibri"/>
              <a:sym typeface="Calibri"/>
            </a:endParaRPr>
          </a:p>
        </p:txBody>
      </p:sp>
      <p:pic>
        <p:nvPicPr>
          <p:cNvPr descr="/home/claude/work/assets/rh-logo.png" id="1168" name="Google Shape;1168;p10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3" name="Shape 1173"/>
        <p:cNvGrpSpPr/>
        <p:nvPr/>
      </p:nvGrpSpPr>
      <p:grpSpPr>
        <a:xfrm>
          <a:off x="0" y="0"/>
          <a:ext cx="0" cy="0"/>
          <a:chOff x="0" y="0"/>
          <a:chExt cx="0" cy="0"/>
        </a:xfrm>
      </p:grpSpPr>
      <p:sp>
        <p:nvSpPr>
          <p:cNvPr id="1174" name="Google Shape;1174;p1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75" name="Google Shape;1175;p1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 protobuf: what is a breaking change</a:t>
            </a:r>
            <a:endParaRPr b="0" i="0" sz="3000" u="none" cap="none" strike="noStrike">
              <a:solidFill>
                <a:schemeClr val="dk1"/>
              </a:solidFill>
              <a:latin typeface="Calibri"/>
              <a:ea typeface="Calibri"/>
              <a:cs typeface="Calibri"/>
              <a:sym typeface="Calibri"/>
            </a:endParaRPr>
          </a:p>
        </p:txBody>
      </p:sp>
      <p:pic>
        <p:nvPicPr>
          <p:cNvPr descr="/home/claude/work/png-sb/28-appB-proto-evolution.png" id="1176" name="Google Shape;1176;p10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77" name="Google Shape;1177;p1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Field numbers are the contract — names and order are not. Never reuse or renumber a field.</a:t>
            </a:r>
            <a:endParaRPr b="0" i="0" sz="1200" u="none" cap="none" strike="noStrike">
              <a:solidFill>
                <a:schemeClr val="dk1"/>
              </a:solidFill>
              <a:latin typeface="Calibri"/>
              <a:ea typeface="Calibri"/>
              <a:cs typeface="Calibri"/>
              <a:sym typeface="Calibri"/>
            </a:endParaRPr>
          </a:p>
        </p:txBody>
      </p:sp>
      <p:sp>
        <p:nvSpPr>
          <p:cNvPr id="1178" name="Google Shape;1178;p1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90</a:t>
            </a:r>
            <a:endParaRPr b="0" i="0" sz="1000" u="none" cap="none" strike="noStrike">
              <a:solidFill>
                <a:schemeClr val="dk1"/>
              </a:solidFill>
              <a:latin typeface="Calibri"/>
              <a:ea typeface="Calibri"/>
              <a:cs typeface="Calibri"/>
              <a:sym typeface="Calibri"/>
            </a:endParaRPr>
          </a:p>
        </p:txBody>
      </p:sp>
      <p:pic>
        <p:nvPicPr>
          <p:cNvPr descr="/home/claude/work/assets/rh-logo.png" id="1179" name="Google Shape;1179;p1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4" name="Shape 1184"/>
        <p:cNvGrpSpPr/>
        <p:nvPr/>
      </p:nvGrpSpPr>
      <p:grpSpPr>
        <a:xfrm>
          <a:off x="0" y="0"/>
          <a:ext cx="0" cy="0"/>
          <a:chOff x="0" y="0"/>
          <a:chExt cx="0" cy="0"/>
        </a:xfrm>
      </p:grpSpPr>
      <p:sp>
        <p:nvSpPr>
          <p:cNvPr id="1185" name="Google Shape;1185;p1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86" name="Google Shape;1186;p1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Evolving a .proto safely</a:t>
            </a:r>
            <a:endParaRPr b="0" i="0" sz="3000" u="none" cap="none" strike="noStrike">
              <a:solidFill>
                <a:schemeClr val="dk1"/>
              </a:solidFill>
              <a:latin typeface="Calibri"/>
              <a:ea typeface="Calibri"/>
              <a:cs typeface="Calibri"/>
              <a:sym typeface="Calibri"/>
            </a:endParaRPr>
          </a:p>
        </p:txBody>
      </p:sp>
      <p:sp>
        <p:nvSpPr>
          <p:cNvPr id="1187" name="Google Shape;1187;p1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1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a:t>
            </a:r>
            <a:endParaRPr b="0" i="0" sz="1000" u="none" cap="none" strike="noStrike">
              <a:solidFill>
                <a:schemeClr val="dk1"/>
              </a:solidFill>
              <a:latin typeface="Calibri"/>
              <a:ea typeface="Calibri"/>
              <a:cs typeface="Calibri"/>
              <a:sym typeface="Calibri"/>
            </a:endParaRPr>
          </a:p>
        </p:txBody>
      </p:sp>
      <p:sp>
        <p:nvSpPr>
          <p:cNvPr id="1189" name="Google Shape;1189;p1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syntax = "proto3";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Order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id     = 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sku    = 2;</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int32  qty    = 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4;                 // tag 4 once held 'notes' — never reuse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"notes";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currency = 5;        // safe: brand-new field, new tag number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PaymentState state = 6;     // safe: new field; old clients ignore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enum PaymentState { PENDING = 0; PAID = 1; REFUNDED = 2; }  // 0 must exist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breaking (don't): qty -&gt; int64, or moving 'sku' to tag 7, or reusing tag 4</a:t>
            </a:r>
            <a:endParaRPr b="0" i="0" sz="1250" u="none" cap="none" strike="noStrike">
              <a:solidFill>
                <a:schemeClr val="dk1"/>
              </a:solidFill>
              <a:latin typeface="Calibri"/>
              <a:ea typeface="Calibri"/>
              <a:cs typeface="Calibri"/>
              <a:sym typeface="Calibri"/>
            </a:endParaRPr>
          </a:p>
        </p:txBody>
      </p:sp>
      <p:sp>
        <p:nvSpPr>
          <p:cNvPr id="1190" name="Google Shape;1190;p1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 with new tags, reserve what you remove, and never change an existing field's number or type.</a:t>
            </a:r>
            <a:endParaRPr b="0" i="0" sz="1300" u="none" cap="none" strike="noStrike">
              <a:solidFill>
                <a:schemeClr val="dk1"/>
              </a:solidFill>
              <a:latin typeface="Calibri"/>
              <a:ea typeface="Calibri"/>
              <a:cs typeface="Calibri"/>
              <a:sym typeface="Calibri"/>
            </a:endParaRPr>
          </a:p>
        </p:txBody>
      </p:sp>
      <p:sp>
        <p:nvSpPr>
          <p:cNvPr id="1191" name="Google Shape;1191;p1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91</a:t>
            </a:r>
            <a:endParaRPr b="0" i="0" sz="1000" u="none" cap="none" strike="noStrike">
              <a:solidFill>
                <a:schemeClr val="dk1"/>
              </a:solidFill>
              <a:latin typeface="Calibri"/>
              <a:ea typeface="Calibri"/>
              <a:cs typeface="Calibri"/>
              <a:sym typeface="Calibri"/>
            </a:endParaRPr>
          </a:p>
        </p:txBody>
      </p:sp>
      <p:pic>
        <p:nvPicPr>
          <p:cNvPr descr="/home/claude/work/assets/rh-logo.png" id="1192" name="Google Shape;1192;p1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7" name="Shape 1197"/>
        <p:cNvGrpSpPr/>
        <p:nvPr/>
      </p:nvGrpSpPr>
      <p:grpSpPr>
        <a:xfrm>
          <a:off x="0" y="0"/>
          <a:ext cx="0" cy="0"/>
          <a:chOff x="0" y="0"/>
          <a:chExt cx="0" cy="0"/>
        </a:xfrm>
      </p:grpSpPr>
      <p:sp>
        <p:nvSpPr>
          <p:cNvPr id="1198" name="Google Shape;1198;p1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99" name="Google Shape;1199;p1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versions by evolution, not by number</a:t>
            </a:r>
            <a:endParaRPr b="0" i="0" sz="3000" u="none" cap="none" strike="noStrike">
              <a:solidFill>
                <a:schemeClr val="dk1"/>
              </a:solidFill>
              <a:latin typeface="Calibri"/>
              <a:ea typeface="Calibri"/>
              <a:cs typeface="Calibri"/>
              <a:sym typeface="Calibri"/>
            </a:endParaRPr>
          </a:p>
        </p:txBody>
      </p:sp>
      <p:pic>
        <p:nvPicPr>
          <p:cNvPr descr="/home/claude/work/png-sb/29-appB-graphql-evolution.png" id="1200" name="Google Shape;1200;p11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201" name="Google Shape;1201;p1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There is no /v2 in GraphQL: add fields, mark old ones @deprecated, watch usage, then retire.</a:t>
            </a:r>
            <a:endParaRPr b="0" i="0" sz="1200" u="none" cap="none" strike="noStrike">
              <a:solidFill>
                <a:schemeClr val="dk1"/>
              </a:solidFill>
              <a:latin typeface="Calibri"/>
              <a:ea typeface="Calibri"/>
              <a:cs typeface="Calibri"/>
              <a:sym typeface="Calibri"/>
            </a:endParaRPr>
          </a:p>
        </p:txBody>
      </p:sp>
      <p:sp>
        <p:nvSpPr>
          <p:cNvPr id="1202" name="Google Shape;1202;p1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92</a:t>
            </a:r>
            <a:endParaRPr b="0" i="0" sz="1000" u="none" cap="none" strike="noStrike">
              <a:solidFill>
                <a:schemeClr val="dk1"/>
              </a:solidFill>
              <a:latin typeface="Calibri"/>
              <a:ea typeface="Calibri"/>
              <a:cs typeface="Calibri"/>
              <a:sym typeface="Calibri"/>
            </a:endParaRPr>
          </a:p>
        </p:txBody>
      </p:sp>
      <p:pic>
        <p:nvPicPr>
          <p:cNvPr descr="/home/claude/work/assets/rh-logo.png" id="1203" name="Google Shape;1203;p1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8" name="Shape 1208"/>
        <p:cNvGrpSpPr/>
        <p:nvPr/>
      </p:nvGrpSpPr>
      <p:grpSpPr>
        <a:xfrm>
          <a:off x="0" y="0"/>
          <a:ext cx="0" cy="0"/>
          <a:chOff x="0" y="0"/>
          <a:chExt cx="0" cy="0"/>
        </a:xfrm>
      </p:grpSpPr>
      <p:sp>
        <p:nvSpPr>
          <p:cNvPr id="1209" name="Google Shape;1209;p1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10" name="Google Shape;1210;p1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Deprecating a field in Spring for GraphQL</a:t>
            </a:r>
            <a:endParaRPr b="0" i="0" sz="3000" u="none" cap="none" strike="noStrike">
              <a:solidFill>
                <a:schemeClr val="dk1"/>
              </a:solidFill>
              <a:latin typeface="Calibri"/>
              <a:ea typeface="Calibri"/>
              <a:cs typeface="Calibri"/>
              <a:sym typeface="Calibri"/>
            </a:endParaRPr>
          </a:p>
        </p:txBody>
      </p:sp>
      <p:sp>
        <p:nvSpPr>
          <p:cNvPr id="1211" name="Google Shape;1211;p11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12"/>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graphql + java · Spring for GraphQL</a:t>
            </a:r>
            <a:endParaRPr b="0" i="0" sz="1000" u="none" cap="none" strike="noStrike">
              <a:solidFill>
                <a:schemeClr val="dk1"/>
              </a:solidFill>
              <a:latin typeface="Calibri"/>
              <a:ea typeface="Calibri"/>
              <a:cs typeface="Calibri"/>
              <a:sym typeface="Calibri"/>
            </a:endParaRPr>
          </a:p>
        </p:txBody>
      </p:sp>
      <p:sp>
        <p:nvSpPr>
          <p:cNvPr id="1213" name="Google Shape;1213;p11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50"/>
              <a:buFont typeface="Red Hat Mono"/>
              <a:buNone/>
            </a:pPr>
            <a:r>
              <a:rPr b="0" i="0" lang="en-US" sz="1150" u="none" cap="none" strike="noStrike">
                <a:solidFill>
                  <a:srgbClr val="8FB98F"/>
                </a:solidFill>
                <a:latin typeface="Red Hat Mono"/>
                <a:ea typeface="Red Hat Mono"/>
                <a:cs typeface="Red Hat Mono"/>
                <a:sym typeface="Red Hat Mono"/>
              </a:rPr>
              <a:t># schema.graphqls — the GraphQL contract (schema-first)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type Order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id: ID!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total: Float                                </a:t>
            </a:r>
            <a:r>
              <a:rPr b="0" i="0" lang="en-US" sz="1150" u="none" cap="none" strike="noStrike">
                <a:solidFill>
                  <a:srgbClr val="8FB98F"/>
                </a:solidFill>
                <a:latin typeface="Red Hat Mono"/>
                <a:ea typeface="Red Hat Mono"/>
                <a:cs typeface="Red Hat Mono"/>
                <a:sym typeface="Red Hat Mono"/>
              </a:rPr>
              <a:t># still served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@deprecated(reason: "Use totalMinor (integer cents) instead.")</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  totalMinor: Int!                            </a:t>
            </a:r>
            <a:r>
              <a:rPr b="0" i="0" lang="en-US" sz="1150" u="none" cap="none" strike="noStrike">
                <a:solidFill>
                  <a:srgbClr val="8FB98F"/>
                </a:solidFill>
                <a:latin typeface="Red Hat Mono"/>
                <a:ea typeface="Red Hat Mono"/>
                <a:cs typeface="Red Hat Mono"/>
                <a:sym typeface="Red Hat Mono"/>
              </a:rPr>
              <a:t># replacement, added additively</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Java record matches the schema; both fields resolve.</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E6E6E6"/>
                </a:solidFill>
                <a:latin typeface="Red Hat Mono"/>
                <a:ea typeface="Red Hat Mono"/>
                <a:cs typeface="Red Hat Mono"/>
                <a:sym typeface="Red Hat Mono"/>
              </a:rPr>
              <a:t>public record Order(String id, double total, int totalMinor) {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@deprecated surfaces in introspection and in /graphiql with the reason.</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Field-level usage metrics (Micrometer + Apollo's @apollo/usage-reporting,</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or graphql-java-extended-validation) tell you when 'total' has zero callers —</a:t>
            </a:r>
            <a:endParaRPr b="0" i="0" sz="11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50"/>
              <a:buFont typeface="Red Hat Mono"/>
              <a:buNone/>
            </a:pPr>
            <a:r>
              <a:rPr b="0" i="0" lang="en-US" sz="1150" u="none" cap="none" strike="noStrike">
                <a:solidFill>
                  <a:srgbClr val="8FB98F"/>
                </a:solidFill>
                <a:latin typeface="Red Hat Mono"/>
                <a:ea typeface="Red Hat Mono"/>
                <a:cs typeface="Red Hat Mono"/>
                <a:sym typeface="Red Hat Mono"/>
              </a:rPr>
              <a:t>// only then do you remove it. No /v2 endpoint ever exists.</a:t>
            </a:r>
            <a:endParaRPr b="0" i="0" sz="1150" u="none" cap="none" strike="noStrike">
              <a:solidFill>
                <a:schemeClr val="dk1"/>
              </a:solidFill>
              <a:latin typeface="Calibri"/>
              <a:ea typeface="Calibri"/>
              <a:cs typeface="Calibri"/>
              <a:sym typeface="Calibri"/>
            </a:endParaRPr>
          </a:p>
        </p:txBody>
      </p:sp>
      <p:sp>
        <p:nvSpPr>
          <p:cNvPr id="1214" name="Google Shape;1214;p11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Additive change plus @deprecated plus usage metrics replaces versioning entirely.</a:t>
            </a:r>
            <a:endParaRPr b="0" i="0" sz="1300" u="none" cap="none" strike="noStrike">
              <a:solidFill>
                <a:schemeClr val="dk1"/>
              </a:solidFill>
              <a:latin typeface="Calibri"/>
              <a:ea typeface="Calibri"/>
              <a:cs typeface="Calibri"/>
              <a:sym typeface="Calibri"/>
            </a:endParaRPr>
          </a:p>
        </p:txBody>
      </p:sp>
      <p:sp>
        <p:nvSpPr>
          <p:cNvPr id="1215" name="Google Shape;1215;p1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93</a:t>
            </a:r>
            <a:endParaRPr b="0" i="0" sz="1000" u="none" cap="none" strike="noStrike">
              <a:solidFill>
                <a:schemeClr val="dk1"/>
              </a:solidFill>
              <a:latin typeface="Calibri"/>
              <a:ea typeface="Calibri"/>
              <a:cs typeface="Calibri"/>
              <a:sym typeface="Calibri"/>
            </a:endParaRPr>
          </a:p>
        </p:txBody>
      </p:sp>
      <p:pic>
        <p:nvPicPr>
          <p:cNvPr descr="/home/claude/work/assets/rh-logo.png" id="1216" name="Google Shape;1216;p1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1" name="Shape 1221"/>
        <p:cNvGrpSpPr/>
        <p:nvPr/>
      </p:nvGrpSpPr>
      <p:grpSpPr>
        <a:xfrm>
          <a:off x="0" y="0"/>
          <a:ext cx="0" cy="0"/>
          <a:chOff x="0" y="0"/>
          <a:chExt cx="0" cy="0"/>
        </a:xfrm>
      </p:grpSpPr>
      <p:sp>
        <p:nvSpPr>
          <p:cNvPr id="1222" name="Google Shape;1222;p1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23" name="Google Shape;1223;p1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Principles that cut across all three</a:t>
            </a:r>
            <a:endParaRPr b="0" i="0" sz="3000" u="none" cap="none" strike="noStrike">
              <a:solidFill>
                <a:schemeClr val="dk1"/>
              </a:solidFill>
              <a:latin typeface="Calibri"/>
              <a:ea typeface="Calibri"/>
              <a:cs typeface="Calibri"/>
              <a:sym typeface="Calibri"/>
            </a:endParaRPr>
          </a:p>
        </p:txBody>
      </p:sp>
      <p:sp>
        <p:nvSpPr>
          <p:cNvPr id="1224" name="Google Shape;1224;p1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Additive change is always safe; removal and mutation are where you break people.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compatibility mechanical — the registry's BACKWARD/FORWARD/FULL rules, checked in CI, not by reviewers' memory.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break silently: deprecate with a reason, a replacement and a sunset date; measure who's still on the old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in parallel and migrate consumers before retiring — retirement is the only step that can break.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Version data the same way you version APIs: event schemas in the registry follow the identical rules.</a:t>
            </a:r>
            <a:endParaRPr b="0" i="0" sz="1700" u="none" cap="none" strike="noStrike">
              <a:solidFill>
                <a:schemeClr val="dk1"/>
              </a:solidFill>
              <a:latin typeface="Calibri"/>
              <a:ea typeface="Calibri"/>
              <a:cs typeface="Calibri"/>
              <a:sym typeface="Calibri"/>
            </a:endParaRPr>
          </a:p>
        </p:txBody>
      </p:sp>
      <p:sp>
        <p:nvSpPr>
          <p:cNvPr id="1225" name="Google Shape;1225;p1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94</a:t>
            </a:r>
            <a:endParaRPr b="0" i="0" sz="1000" u="none" cap="none" strike="noStrike">
              <a:solidFill>
                <a:schemeClr val="dk1"/>
              </a:solidFill>
              <a:latin typeface="Calibri"/>
              <a:ea typeface="Calibri"/>
              <a:cs typeface="Calibri"/>
              <a:sym typeface="Calibri"/>
            </a:endParaRPr>
          </a:p>
        </p:txBody>
      </p:sp>
      <p:pic>
        <p:nvPicPr>
          <p:cNvPr descr="/home/claude/work/assets/rh-logo.png" id="1226" name="Google Shape;1226;p1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231" name="Shape 1231"/>
        <p:cNvGrpSpPr/>
        <p:nvPr/>
      </p:nvGrpSpPr>
      <p:grpSpPr>
        <a:xfrm>
          <a:off x="0" y="0"/>
          <a:ext cx="0" cy="0"/>
          <a:chOff x="0" y="0"/>
          <a:chExt cx="0" cy="0"/>
        </a:xfrm>
      </p:grpSpPr>
      <p:pic>
        <p:nvPicPr>
          <p:cNvPr descr="/home/claude/work/assets/rh-divider-bg.png" id="1232" name="Google Shape;1232;p11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233" name="Google Shape;1233;p11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C</a:t>
            </a:r>
            <a:endParaRPr b="0" i="0" sz="2200" u="none" cap="none" strike="noStrike">
              <a:solidFill>
                <a:schemeClr val="dk1"/>
              </a:solidFill>
              <a:latin typeface="Calibri"/>
              <a:ea typeface="Calibri"/>
              <a:cs typeface="Calibri"/>
              <a:sym typeface="Calibri"/>
            </a:endParaRPr>
          </a:p>
        </p:txBody>
      </p:sp>
      <p:sp>
        <p:nvSpPr>
          <p:cNvPr id="1234" name="Google Shape;1234;p11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C · WebSockets at Scale</a:t>
            </a:r>
            <a:endParaRPr b="0" i="0" sz="4000" u="none" cap="none" strike="noStrike">
              <a:solidFill>
                <a:schemeClr val="dk1"/>
              </a:solidFill>
              <a:latin typeface="Calibri"/>
              <a:ea typeface="Calibri"/>
              <a:cs typeface="Calibri"/>
              <a:sym typeface="Calibri"/>
            </a:endParaRPr>
          </a:p>
        </p:txBody>
      </p:sp>
      <p:sp>
        <p:nvSpPr>
          <p:cNvPr id="1235" name="Google Shape;1235;p11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Spring WebSocket, pod pinning, the backplane, binary framing, reconnection.</a:t>
            </a:r>
            <a:endParaRPr b="0" i="0" sz="1500" u="none" cap="none" strike="noStrike">
              <a:solidFill>
                <a:schemeClr val="dk1"/>
              </a:solidFill>
              <a:latin typeface="Calibri"/>
              <a:ea typeface="Calibri"/>
              <a:cs typeface="Calibri"/>
              <a:sym typeface="Calibri"/>
            </a:endParaRPr>
          </a:p>
        </p:txBody>
      </p:sp>
      <p:pic>
        <p:nvPicPr>
          <p:cNvPr descr="/home/claude/work/assets/rh-logo-white.png" id="1236" name="Google Shape;1236;p1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1" name="Shape 1241"/>
        <p:cNvGrpSpPr/>
        <p:nvPr/>
      </p:nvGrpSpPr>
      <p:grpSpPr>
        <a:xfrm>
          <a:off x="0" y="0"/>
          <a:ext cx="0" cy="0"/>
          <a:chOff x="0" y="0"/>
          <a:chExt cx="0" cy="0"/>
        </a:xfrm>
      </p:grpSpPr>
      <p:sp>
        <p:nvSpPr>
          <p:cNvPr id="1242" name="Google Shape;1242;p1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43" name="Google Shape;1243;p1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WebSocket endpoint with Spring WebSocket</a:t>
            </a:r>
            <a:endParaRPr b="0" i="0" sz="3000" u="none" cap="none" strike="noStrike">
              <a:solidFill>
                <a:schemeClr val="dk1"/>
              </a:solidFill>
              <a:latin typeface="Calibri"/>
              <a:ea typeface="Calibri"/>
              <a:cs typeface="Calibri"/>
              <a:sym typeface="Calibri"/>
            </a:endParaRPr>
          </a:p>
        </p:txBody>
      </p:sp>
      <p:sp>
        <p:nvSpPr>
          <p:cNvPr id="1244" name="Google Shape;1244;p11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15"/>
          <p:cNvSpPr/>
          <p:nvPr/>
        </p:nvSpPr>
        <p:spPr>
          <a:xfrm>
            <a:off x="7337217" y="1700784"/>
            <a:ext cx="4196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spring-boot-starter-websocket</a:t>
            </a:r>
            <a:endParaRPr b="0" i="0" sz="1000" u="none" cap="none" strike="noStrike">
              <a:solidFill>
                <a:schemeClr val="dk1"/>
              </a:solidFill>
              <a:latin typeface="Calibri"/>
              <a:ea typeface="Calibri"/>
              <a:cs typeface="Calibri"/>
              <a:sym typeface="Calibri"/>
            </a:endParaRPr>
          </a:p>
        </p:txBody>
      </p:sp>
      <p:sp>
        <p:nvSpPr>
          <p:cNvPr id="1246" name="Google Shape;1246;p11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@Configuration                                  // spring-boot-starter-websocket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@EnableWebSocket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public class WsConfig implements WebSocketConfigurer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@Override public void registerWebSocketHandlers(WebSocketHandlerRegistry 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r.addHandler(new OrderSocket(), "/ws/{userId}")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.setAllowedOriginPatterns("*");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@Component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public class OrderSocket extends TextWebSocketHandler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 per-pod registry — not shared!  This single fact is the scaling problem.</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private final Map&lt;String, WebSocketSession&gt; conns = new ConcurrentHashMap&lt;&gt;();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@Override public void afterConnectionEstablished(WebSocketSession s)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conns.put(userIdFrom(s), s);             // this pod owns this connection</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@Override protected void handleTextMessage(WebSocketSession s, TextMessage msg)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handle(parse(msg.getPayload()));         // full-duplex, long-lived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 afterConnectionClosed cleanup removes the entry from this pod's map.</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1247" name="Google Shape;1247;p11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Declarative, but the conns map is per-pod. That single fact is the entire scaling problem.</a:t>
            </a:r>
            <a:endParaRPr b="0" i="0" sz="1300" u="none" cap="none" strike="noStrike">
              <a:solidFill>
                <a:schemeClr val="dk1"/>
              </a:solidFill>
              <a:latin typeface="Calibri"/>
              <a:ea typeface="Calibri"/>
              <a:cs typeface="Calibri"/>
              <a:sym typeface="Calibri"/>
            </a:endParaRPr>
          </a:p>
        </p:txBody>
      </p:sp>
      <p:sp>
        <p:nvSpPr>
          <p:cNvPr id="1248" name="Google Shape;1248;p1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95</a:t>
            </a:r>
            <a:endParaRPr b="0" i="0" sz="1000" u="none" cap="none" strike="noStrike">
              <a:solidFill>
                <a:schemeClr val="dk1"/>
              </a:solidFill>
              <a:latin typeface="Calibri"/>
              <a:ea typeface="Calibri"/>
              <a:cs typeface="Calibri"/>
              <a:sym typeface="Calibri"/>
            </a:endParaRPr>
          </a:p>
        </p:txBody>
      </p:sp>
      <p:pic>
        <p:nvPicPr>
          <p:cNvPr descr="/home/claude/work/assets/rh-logo.png" id="1249" name="Google Shape;1249;p1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4" name="Shape 1254"/>
        <p:cNvGrpSpPr/>
        <p:nvPr/>
      </p:nvGrpSpPr>
      <p:grpSpPr>
        <a:xfrm>
          <a:off x="0" y="0"/>
          <a:ext cx="0" cy="0"/>
          <a:chOff x="0" y="0"/>
          <a:chExt cx="0" cy="0"/>
        </a:xfrm>
      </p:grpSpPr>
      <p:sp>
        <p:nvSpPr>
          <p:cNvPr id="1255" name="Google Shape;1255;p1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56" name="Google Shape;1256;p1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WebSockets fight Kubernetes scaling</a:t>
            </a:r>
            <a:endParaRPr b="0" i="0" sz="3000" u="none" cap="none" strike="noStrike">
              <a:solidFill>
                <a:schemeClr val="dk1"/>
              </a:solidFill>
              <a:latin typeface="Calibri"/>
              <a:ea typeface="Calibri"/>
              <a:cs typeface="Calibri"/>
              <a:sym typeface="Calibri"/>
            </a:endParaRPr>
          </a:p>
        </p:txBody>
      </p:sp>
      <p:pic>
        <p:nvPicPr>
          <p:cNvPr descr="/home/claude/work/png-sb/30-appC-pinning.png" id="1257" name="Google Shape;1257;p11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58" name="Google Shape;1258;p1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long-lived connection pins to one pod; new pods get no existing connections and scale-down drops them.</a:t>
            </a:r>
            <a:endParaRPr b="0" i="0" sz="1200" u="none" cap="none" strike="noStrike">
              <a:solidFill>
                <a:schemeClr val="dk1"/>
              </a:solidFill>
              <a:latin typeface="Calibri"/>
              <a:ea typeface="Calibri"/>
              <a:cs typeface="Calibri"/>
              <a:sym typeface="Calibri"/>
            </a:endParaRPr>
          </a:p>
        </p:txBody>
      </p:sp>
      <p:sp>
        <p:nvSpPr>
          <p:cNvPr id="1259" name="Google Shape;1259;p1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96</a:t>
            </a:r>
            <a:endParaRPr b="0" i="0" sz="1000" u="none" cap="none" strike="noStrike">
              <a:solidFill>
                <a:schemeClr val="dk1"/>
              </a:solidFill>
              <a:latin typeface="Calibri"/>
              <a:ea typeface="Calibri"/>
              <a:cs typeface="Calibri"/>
              <a:sym typeface="Calibri"/>
            </a:endParaRPr>
          </a:p>
        </p:txBody>
      </p:sp>
      <p:pic>
        <p:nvPicPr>
          <p:cNvPr descr="/home/claude/work/assets/rh-logo.png" id="1260" name="Google Shape;1260;p1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5" name="Shape 1265"/>
        <p:cNvGrpSpPr/>
        <p:nvPr/>
      </p:nvGrpSpPr>
      <p:grpSpPr>
        <a:xfrm>
          <a:off x="0" y="0"/>
          <a:ext cx="0" cy="0"/>
          <a:chOff x="0" y="0"/>
          <a:chExt cx="0" cy="0"/>
        </a:xfrm>
      </p:grpSpPr>
      <p:sp>
        <p:nvSpPr>
          <p:cNvPr id="1266" name="Google Shape;1266;p1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67" name="Google Shape;1267;p1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scaling problem, stated precisely</a:t>
            </a:r>
            <a:endParaRPr b="0" i="0" sz="3000" u="none" cap="none" strike="noStrike">
              <a:solidFill>
                <a:schemeClr val="dk1"/>
              </a:solidFill>
              <a:latin typeface="Calibri"/>
              <a:ea typeface="Calibri"/>
              <a:cs typeface="Calibri"/>
              <a:sym typeface="Calibri"/>
            </a:endParaRPr>
          </a:p>
        </p:txBody>
      </p:sp>
      <p:sp>
        <p:nvSpPr>
          <p:cNvPr id="1268" name="Google Shape;1268;p11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Pinning: a connection is bound to one pod; the LB can't move it without dropping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Uneven load: new replicas only receive new connections, so existing hotspots persist.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Rollouts hurt: every deploy or scale-down severs the connections on the affected pods.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Cross-pod delivery: to push to user X you must reach whichever pod holds X — which you don't track.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Connection limits &amp; memory: each socket is held-open state; pods cap out on file descriptors, not CPU.</a:t>
            </a:r>
            <a:endParaRPr b="0" i="0" sz="1700" u="none" cap="none" strike="noStrike">
              <a:solidFill>
                <a:schemeClr val="dk1"/>
              </a:solidFill>
              <a:latin typeface="Calibri"/>
              <a:ea typeface="Calibri"/>
              <a:cs typeface="Calibri"/>
              <a:sym typeface="Calibri"/>
            </a:endParaRPr>
          </a:p>
        </p:txBody>
      </p:sp>
      <p:sp>
        <p:nvSpPr>
          <p:cNvPr id="1269" name="Google Shape;1269;p1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97</a:t>
            </a:r>
            <a:endParaRPr b="0" i="0" sz="1000" u="none" cap="none" strike="noStrike">
              <a:solidFill>
                <a:schemeClr val="dk1"/>
              </a:solidFill>
              <a:latin typeface="Calibri"/>
              <a:ea typeface="Calibri"/>
              <a:cs typeface="Calibri"/>
              <a:sym typeface="Calibri"/>
            </a:endParaRPr>
          </a:p>
        </p:txBody>
      </p:sp>
      <p:pic>
        <p:nvPicPr>
          <p:cNvPr descr="/home/claude/work/assets/rh-logo.png" id="1270" name="Google Shape;1270;p1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1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77" name="Google Shape;1277;p1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Scaling out: a pub/sub backplane</a:t>
            </a:r>
            <a:endParaRPr b="0" i="0" sz="3000" u="none" cap="none" strike="noStrike">
              <a:solidFill>
                <a:schemeClr val="dk1"/>
              </a:solidFill>
              <a:latin typeface="Calibri"/>
              <a:ea typeface="Calibri"/>
              <a:cs typeface="Calibri"/>
              <a:sym typeface="Calibri"/>
            </a:endParaRPr>
          </a:p>
        </p:txBody>
      </p:sp>
      <p:pic>
        <p:nvPicPr>
          <p:cNvPr descr="/home/claude/work/png-sb/31-appC-backplane.png" id="1278" name="Google Shape;1278;p1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79" name="Google Shape;1279;p1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pod owns only its own sockets; a Redis or Kafka backplane fans a message out to whichever pod holds the client.</a:t>
            </a:r>
            <a:endParaRPr b="0" i="0" sz="1200" u="none" cap="none" strike="noStrike">
              <a:solidFill>
                <a:schemeClr val="dk1"/>
              </a:solidFill>
              <a:latin typeface="Calibri"/>
              <a:ea typeface="Calibri"/>
              <a:cs typeface="Calibri"/>
              <a:sym typeface="Calibri"/>
            </a:endParaRPr>
          </a:p>
        </p:txBody>
      </p:sp>
      <p:sp>
        <p:nvSpPr>
          <p:cNvPr id="1280" name="Google Shape;1280;p1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98</a:t>
            </a:r>
            <a:endParaRPr b="0" i="0" sz="1000" u="none" cap="none" strike="noStrike">
              <a:solidFill>
                <a:schemeClr val="dk1"/>
              </a:solidFill>
              <a:latin typeface="Calibri"/>
              <a:ea typeface="Calibri"/>
              <a:cs typeface="Calibri"/>
              <a:sym typeface="Calibri"/>
            </a:endParaRPr>
          </a:p>
        </p:txBody>
      </p:sp>
      <p:pic>
        <p:nvPicPr>
          <p:cNvPr descr="/home/claude/work/assets/rh-logo.png" id="1281" name="Google Shape;1281;p1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6" name="Shape 1286"/>
        <p:cNvGrpSpPr/>
        <p:nvPr/>
      </p:nvGrpSpPr>
      <p:grpSpPr>
        <a:xfrm>
          <a:off x="0" y="0"/>
          <a:ext cx="0" cy="0"/>
          <a:chOff x="0" y="0"/>
          <a:chExt cx="0" cy="0"/>
        </a:xfrm>
      </p:grpSpPr>
      <p:sp>
        <p:nvSpPr>
          <p:cNvPr id="1287" name="Google Shape;1287;p1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88" name="Google Shape;1288;p1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Binary framing with protobuf — fast and versioned</a:t>
            </a:r>
            <a:endParaRPr b="0" i="0" sz="3000" u="none" cap="none" strike="noStrike">
              <a:solidFill>
                <a:schemeClr val="dk1"/>
              </a:solidFill>
              <a:latin typeface="Calibri"/>
              <a:ea typeface="Calibri"/>
              <a:cs typeface="Calibri"/>
              <a:sym typeface="Calibri"/>
            </a:endParaRPr>
          </a:p>
        </p:txBody>
      </p:sp>
      <p:sp>
        <p:nvSpPr>
          <p:cNvPr id="1289" name="Google Shape;1289;p1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9"/>
          <p:cNvSpPr/>
          <p:nvPr/>
        </p:nvSpPr>
        <p:spPr>
          <a:xfrm>
            <a:off x="8708817" y="1700784"/>
            <a:ext cx="2824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java · Spring WebSocket</a:t>
            </a:r>
            <a:endParaRPr b="0" i="0" sz="1000" u="none" cap="none" strike="noStrike">
              <a:solidFill>
                <a:schemeClr val="dk1"/>
              </a:solidFill>
              <a:latin typeface="Calibri"/>
              <a:ea typeface="Calibri"/>
              <a:cs typeface="Calibri"/>
              <a:sym typeface="Calibri"/>
            </a:endParaRPr>
          </a:p>
        </p:txBody>
      </p:sp>
      <p:sp>
        <p:nvSpPr>
          <p:cNvPr id="1291" name="Google Shape;1291;p1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envelope.proto — version the message, not the URL</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message Envelope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uint32 version = 1;        // bump for incompatible payload changes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string type    = 2;        // "order.updated", "ping",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bytes  payload = 3;        // the protobuf-encoded body for `type`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uint64 seq     = 4;        // monotonic per-connection — drives resume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server: send compact binary frames instead of JSON text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OrderBinarySocket extends BinaryWebSocketHandler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@Override protected void handleBinaryMessage(WebSocketSession s, BinaryMessage m)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Envelope env = Envelope.parseFrom(m.getPayload());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dispatch(env);</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Envelope frame = Envelope.newBuilder().setVersion(2)</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.setType("order.updated").setSeq(n)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.setPayload(order.toByteString()).build();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session.sendMessage(new BinaryMessage(frame.toByteArray()));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client checks env.version; unknown major version → reconnect &amp; renegotiate</a:t>
            </a:r>
            <a:endParaRPr b="0" i="0" sz="1050" u="none" cap="none" strike="noStrike">
              <a:solidFill>
                <a:schemeClr val="dk1"/>
              </a:solidFill>
              <a:latin typeface="Calibri"/>
              <a:ea typeface="Calibri"/>
              <a:cs typeface="Calibri"/>
              <a:sym typeface="Calibri"/>
            </a:endParaRPr>
          </a:p>
        </p:txBody>
      </p:sp>
      <p:sp>
        <p:nvSpPr>
          <p:cNvPr id="1292" name="Google Shape;1292;p1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Protobuf frames are smaller and faster than JSON; the versioned envelope and seq number enable evolution and resume.</a:t>
            </a:r>
            <a:endParaRPr b="0" i="0" sz="1300" u="none" cap="none" strike="noStrike">
              <a:solidFill>
                <a:schemeClr val="dk1"/>
              </a:solidFill>
              <a:latin typeface="Calibri"/>
              <a:ea typeface="Calibri"/>
              <a:cs typeface="Calibri"/>
              <a:sym typeface="Calibri"/>
            </a:endParaRPr>
          </a:p>
        </p:txBody>
      </p:sp>
      <p:sp>
        <p:nvSpPr>
          <p:cNvPr id="1293" name="Google Shape;1293;p1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99</a:t>
            </a:r>
            <a:endParaRPr b="0" i="0" sz="1000" u="none" cap="none" strike="noStrike">
              <a:solidFill>
                <a:schemeClr val="dk1"/>
              </a:solidFill>
              <a:latin typeface="Calibri"/>
              <a:ea typeface="Calibri"/>
              <a:cs typeface="Calibri"/>
              <a:sym typeface="Calibri"/>
            </a:endParaRPr>
          </a:p>
        </p:txBody>
      </p:sp>
      <p:pic>
        <p:nvPicPr>
          <p:cNvPr descr="/home/claude/work/assets/rh-logo.png" id="1294" name="Google Shape;1294;p1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9" name="Shape 1299"/>
        <p:cNvGrpSpPr/>
        <p:nvPr/>
      </p:nvGrpSpPr>
      <p:grpSpPr>
        <a:xfrm>
          <a:off x="0" y="0"/>
          <a:ext cx="0" cy="0"/>
          <a:chOff x="0" y="0"/>
          <a:chExt cx="0" cy="0"/>
        </a:xfrm>
      </p:grpSpPr>
      <p:sp>
        <p:nvSpPr>
          <p:cNvPr id="1300" name="Google Shape;1300;p1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01" name="Google Shape;1301;p1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Failure handling: resume, don't restart</a:t>
            </a:r>
            <a:endParaRPr b="0" i="0" sz="3000" u="none" cap="none" strike="noStrike">
              <a:solidFill>
                <a:schemeClr val="dk1"/>
              </a:solidFill>
              <a:latin typeface="Calibri"/>
              <a:ea typeface="Calibri"/>
              <a:cs typeface="Calibri"/>
              <a:sym typeface="Calibri"/>
            </a:endParaRPr>
          </a:p>
        </p:txBody>
      </p:sp>
      <p:pic>
        <p:nvPicPr>
          <p:cNvPr descr="/home/claude/work/png-sb/32-appC-reconnect.png" id="1302" name="Google Shape;1302;p1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303" name="Google Shape;1303;p1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Heartbeats detect dead links; the client reconnects with backoff and resumes from the last acknowledged sequence.</a:t>
            </a:r>
            <a:endParaRPr b="0" i="0" sz="1200" u="none" cap="none" strike="noStrike">
              <a:solidFill>
                <a:schemeClr val="dk1"/>
              </a:solidFill>
              <a:latin typeface="Calibri"/>
              <a:ea typeface="Calibri"/>
              <a:cs typeface="Calibri"/>
              <a:sym typeface="Calibri"/>
            </a:endParaRPr>
          </a:p>
        </p:txBody>
      </p:sp>
      <p:sp>
        <p:nvSpPr>
          <p:cNvPr id="1304" name="Google Shape;1304;p1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100</a:t>
            </a:r>
            <a:endParaRPr b="0" i="0" sz="1000" u="none" cap="none" strike="noStrike">
              <a:solidFill>
                <a:schemeClr val="dk1"/>
              </a:solidFill>
              <a:latin typeface="Calibri"/>
              <a:ea typeface="Calibri"/>
              <a:cs typeface="Calibri"/>
              <a:sym typeface="Calibri"/>
            </a:endParaRPr>
          </a:p>
        </p:txBody>
      </p:sp>
      <p:pic>
        <p:nvPicPr>
          <p:cNvPr descr="/home/claude/work/assets/rh-logo.png" id="1305" name="Google Shape;1305;p1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0" name="Shape 1310"/>
        <p:cNvGrpSpPr/>
        <p:nvPr/>
      </p:nvGrpSpPr>
      <p:grpSpPr>
        <a:xfrm>
          <a:off x="0" y="0"/>
          <a:ext cx="0" cy="0"/>
          <a:chOff x="0" y="0"/>
          <a:chExt cx="0" cy="0"/>
        </a:xfrm>
      </p:grpSpPr>
      <p:sp>
        <p:nvSpPr>
          <p:cNvPr id="1311" name="Google Shape;1311;p1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12" name="Google Shape;1312;p1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cloud-native WebSocket checklist</a:t>
            </a:r>
            <a:endParaRPr b="0" i="0" sz="3000" u="none" cap="none" strike="noStrike">
              <a:solidFill>
                <a:schemeClr val="dk1"/>
              </a:solidFill>
              <a:latin typeface="Calibri"/>
              <a:ea typeface="Calibri"/>
              <a:cs typeface="Calibri"/>
              <a:sym typeface="Calibri"/>
            </a:endParaRPr>
          </a:p>
        </p:txBody>
      </p:sp>
      <p:sp>
        <p:nvSpPr>
          <p:cNvPr id="1313" name="Google Shape;1313;p12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Externalize fan-out to a backplane (Redis or Kafka); never assume one pod holds the client.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Scale and trigger on connection count and memory, not CPU; set realistic per-pod connection caps.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gracefully on shutdown: stop accepting, signal clients to reconnect, let backoff spread the herd.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Heartbeat to detect dead links (Spring exposes ping/pong via WebSocketSession.sendMessage(new PingMessage())); reconnect with exponential backoff + jitter; resume via a per-connection seq.</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Use binary frames with a versioned envelope; authenticate on connect and re-check on resume.</a:t>
            </a:r>
            <a:endParaRPr b="0" i="0" sz="1700" u="none" cap="none" strike="noStrike">
              <a:solidFill>
                <a:schemeClr val="dk1"/>
              </a:solidFill>
              <a:latin typeface="Calibri"/>
              <a:ea typeface="Calibri"/>
              <a:cs typeface="Calibri"/>
              <a:sym typeface="Calibri"/>
            </a:endParaRPr>
          </a:p>
        </p:txBody>
      </p:sp>
      <p:sp>
        <p:nvSpPr>
          <p:cNvPr id="1314" name="Google Shape;1314;p1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101</a:t>
            </a:r>
            <a:endParaRPr b="0" i="0" sz="1000" u="none" cap="none" strike="noStrike">
              <a:solidFill>
                <a:schemeClr val="dk1"/>
              </a:solidFill>
              <a:latin typeface="Calibri"/>
              <a:ea typeface="Calibri"/>
              <a:cs typeface="Calibri"/>
              <a:sym typeface="Calibri"/>
            </a:endParaRPr>
          </a:p>
        </p:txBody>
      </p:sp>
      <p:pic>
        <p:nvPicPr>
          <p:cNvPr descr="/home/claude/work/assets/rh-logo.png" id="1315" name="Google Shape;1315;p1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320" name="Shape 1320"/>
        <p:cNvGrpSpPr/>
        <p:nvPr/>
      </p:nvGrpSpPr>
      <p:grpSpPr>
        <a:xfrm>
          <a:off x="0" y="0"/>
          <a:ext cx="0" cy="0"/>
          <a:chOff x="0" y="0"/>
          <a:chExt cx="0" cy="0"/>
        </a:xfrm>
      </p:grpSpPr>
      <p:pic>
        <p:nvPicPr>
          <p:cNvPr descr="/home/claude/work/assets/rh-divider-bg.png" id="1321" name="Google Shape;1321;p12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322" name="Google Shape;1322;p12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D</a:t>
            </a:r>
            <a:endParaRPr b="0" i="0" sz="2200" u="none" cap="none" strike="noStrike">
              <a:solidFill>
                <a:schemeClr val="dk1"/>
              </a:solidFill>
              <a:latin typeface="Calibri"/>
              <a:ea typeface="Calibri"/>
              <a:cs typeface="Calibri"/>
              <a:sym typeface="Calibri"/>
            </a:endParaRPr>
          </a:p>
        </p:txBody>
      </p:sp>
      <p:sp>
        <p:nvSpPr>
          <p:cNvPr id="1323" name="Google Shape;1323;p12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D · Saga State &amp; Compensation</a:t>
            </a:r>
            <a:endParaRPr b="0" i="0" sz="4000" u="none" cap="none" strike="noStrike">
              <a:solidFill>
                <a:schemeClr val="dk1"/>
              </a:solidFill>
              <a:latin typeface="Calibri"/>
              <a:ea typeface="Calibri"/>
              <a:cs typeface="Calibri"/>
              <a:sym typeface="Calibri"/>
            </a:endParaRPr>
          </a:p>
        </p:txBody>
      </p:sp>
      <p:sp>
        <p:nvSpPr>
          <p:cNvPr id="1324" name="Google Shape;1324;p12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Persisting state, compensating cleanly, and the step-B-needs-A's-data problem.</a:t>
            </a:r>
            <a:endParaRPr b="0" i="0" sz="1500" u="none" cap="none" strike="noStrike">
              <a:solidFill>
                <a:schemeClr val="dk1"/>
              </a:solidFill>
              <a:latin typeface="Calibri"/>
              <a:ea typeface="Calibri"/>
              <a:cs typeface="Calibri"/>
              <a:sym typeface="Calibri"/>
            </a:endParaRPr>
          </a:p>
        </p:txBody>
      </p:sp>
      <p:pic>
        <p:nvPicPr>
          <p:cNvPr descr="/home/claude/work/assets/rh-logo-white.png" id="1325" name="Google Shape;1325;p1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0" name="Shape 1330"/>
        <p:cNvGrpSpPr/>
        <p:nvPr/>
      </p:nvGrpSpPr>
      <p:grpSpPr>
        <a:xfrm>
          <a:off x="0" y="0"/>
          <a:ext cx="0" cy="0"/>
          <a:chOff x="0" y="0"/>
          <a:chExt cx="0" cy="0"/>
        </a:xfrm>
      </p:grpSpPr>
      <p:sp>
        <p:nvSpPr>
          <p:cNvPr id="1331" name="Google Shape;1331;p1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32" name="Google Shape;1332;p1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a saga keeps its state</a:t>
            </a:r>
            <a:endParaRPr b="0" i="0" sz="3000" u="none" cap="none" strike="noStrike">
              <a:solidFill>
                <a:schemeClr val="dk1"/>
              </a:solidFill>
              <a:latin typeface="Calibri"/>
              <a:ea typeface="Calibri"/>
              <a:cs typeface="Calibri"/>
              <a:sym typeface="Calibri"/>
            </a:endParaRPr>
          </a:p>
        </p:txBody>
      </p:sp>
      <p:pic>
        <p:nvPicPr>
          <p:cNvPr descr="/home/claude/work/png-sb/33-appD-state-options-sb.png" id="1333" name="Google Shape;1333;p123"/>
          <p:cNvPicPr preferRelativeResize="0"/>
          <p:nvPr/>
        </p:nvPicPr>
        <p:blipFill rotWithShape="1">
          <a:blip r:embed="rId5">
            <a:alphaModFix/>
          </a:blip>
          <a:stretch/>
        </p:blipFill>
        <p:spPr>
          <a:xfrm>
            <a:off x="1327421" y="2609925"/>
            <a:ext cx="9536855" cy="2506830"/>
          </a:xfrm>
          <a:prstGeom prst="rect">
            <a:avLst/>
          </a:prstGeom>
          <a:noFill/>
          <a:ln>
            <a:noFill/>
          </a:ln>
        </p:spPr>
      </p:pic>
      <p:sp>
        <p:nvSpPr>
          <p:cNvPr id="1334" name="Google Shape;1334;p12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Memory won't survive a pod restart — persist every step transition in a DB, an event log, or a workflow engine.</a:t>
            </a:r>
            <a:endParaRPr b="0" i="0" sz="1200" u="none" cap="none" strike="noStrike">
              <a:solidFill>
                <a:schemeClr val="dk1"/>
              </a:solidFill>
              <a:latin typeface="Calibri"/>
              <a:ea typeface="Calibri"/>
              <a:cs typeface="Calibri"/>
              <a:sym typeface="Calibri"/>
            </a:endParaRPr>
          </a:p>
        </p:txBody>
      </p:sp>
      <p:sp>
        <p:nvSpPr>
          <p:cNvPr id="1335" name="Google Shape;1335;p1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102</a:t>
            </a:r>
            <a:endParaRPr b="0" i="0" sz="1000" u="none" cap="none" strike="noStrike">
              <a:solidFill>
                <a:schemeClr val="dk1"/>
              </a:solidFill>
              <a:latin typeface="Calibri"/>
              <a:ea typeface="Calibri"/>
              <a:cs typeface="Calibri"/>
              <a:sym typeface="Calibri"/>
            </a:endParaRPr>
          </a:p>
        </p:txBody>
      </p:sp>
      <p:pic>
        <p:nvPicPr>
          <p:cNvPr descr="/home/claude/work/assets/rh-logo.png" id="1336" name="Google Shape;1336;p12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1" name="Shape 1341"/>
        <p:cNvGrpSpPr/>
        <p:nvPr/>
      </p:nvGrpSpPr>
      <p:grpSpPr>
        <a:xfrm>
          <a:off x="0" y="0"/>
          <a:ext cx="0" cy="0"/>
          <a:chOff x="0" y="0"/>
          <a:chExt cx="0" cy="0"/>
        </a:xfrm>
      </p:grpSpPr>
      <p:sp>
        <p:nvSpPr>
          <p:cNvPr id="1342" name="Google Shape;1342;p1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43" name="Google Shape;1343;p1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persisted saga state machine (Spring Data JPA)</a:t>
            </a:r>
            <a:endParaRPr b="0" i="0" sz="3000" u="none" cap="none" strike="noStrike">
              <a:solidFill>
                <a:schemeClr val="dk1"/>
              </a:solidFill>
              <a:latin typeface="Calibri"/>
              <a:ea typeface="Calibri"/>
              <a:cs typeface="Calibri"/>
              <a:sym typeface="Calibri"/>
            </a:endParaRPr>
          </a:p>
        </p:txBody>
      </p:sp>
      <p:sp>
        <p:nvSpPr>
          <p:cNvPr id="1344" name="Google Shape;1344;p12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24"/>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Data JPA</a:t>
            </a:r>
            <a:endParaRPr b="0" i="0" sz="1000" u="none" cap="none" strike="noStrike">
              <a:solidFill>
                <a:schemeClr val="dk1"/>
              </a:solidFill>
              <a:latin typeface="Calibri"/>
              <a:ea typeface="Calibri"/>
              <a:cs typeface="Calibri"/>
              <a:sym typeface="Calibri"/>
            </a:endParaRPr>
          </a:p>
        </p:txBody>
      </p:sp>
      <p:sp>
        <p:nvSpPr>
          <p:cNvPr id="1346" name="Google Shape;1346;p12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SagaCoordinator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static final List&lt;String&gt; STEPS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List.of("charge_payment", "reserve_stock", "book_shipping");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SagaRepository repo;</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EntityManager em;</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SagaCoordinator(SagaRepository r, EntityManager em)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this.repo = r; this.em = em;</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@Transactional                                  // state + command commit together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advance(String sagaId)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 s = em.find(Saga.class, sagaId, LockModeType.PESSIMISTIC_WRITE);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(!"RUNNING".equals(s.getStatus())) return;   // idempotent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step = STEPS.get(s.getStepIndex());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result = invoke(step, s.getContext());  // call the 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s.getContext().put(step, result);           // accumulate output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(s.incStep() == STEPS.size()) s.setStatus("COMPLETED");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catch (StepException 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s.setStatus("COMPENSATING");                // hand off to the unwinder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repo.save(s);                                   // durable after every step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347" name="Google Shape;1347;p12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locked row per saga, advanced one durable step at a time. A crash just means 'load the row and call advance again.'</a:t>
            </a:r>
            <a:endParaRPr b="0" i="0" sz="1300" u="none" cap="none" strike="noStrike">
              <a:solidFill>
                <a:schemeClr val="dk1"/>
              </a:solidFill>
              <a:latin typeface="Calibri"/>
              <a:ea typeface="Calibri"/>
              <a:cs typeface="Calibri"/>
              <a:sym typeface="Calibri"/>
            </a:endParaRPr>
          </a:p>
        </p:txBody>
      </p:sp>
      <p:sp>
        <p:nvSpPr>
          <p:cNvPr id="1348" name="Google Shape;1348;p1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103</a:t>
            </a:r>
            <a:endParaRPr b="0" i="0" sz="1000" u="none" cap="none" strike="noStrike">
              <a:solidFill>
                <a:schemeClr val="dk1"/>
              </a:solidFill>
              <a:latin typeface="Calibri"/>
              <a:ea typeface="Calibri"/>
              <a:cs typeface="Calibri"/>
              <a:sym typeface="Calibri"/>
            </a:endParaRPr>
          </a:p>
        </p:txBody>
      </p:sp>
      <p:pic>
        <p:nvPicPr>
          <p:cNvPr descr="/home/claude/work/assets/rh-logo.png" id="1349" name="Google Shape;1349;p12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4" name="Shape 1354"/>
        <p:cNvGrpSpPr/>
        <p:nvPr/>
      </p:nvGrpSpPr>
      <p:grpSpPr>
        <a:xfrm>
          <a:off x="0" y="0"/>
          <a:ext cx="0" cy="0"/>
          <a:chOff x="0" y="0"/>
          <a:chExt cx="0" cy="0"/>
        </a:xfrm>
      </p:grpSpPr>
      <p:sp>
        <p:nvSpPr>
          <p:cNvPr id="1355" name="Google Shape;1355;p1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56" name="Google Shape;1356;p1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Compensating transactions unwind a failed saga</a:t>
            </a:r>
            <a:endParaRPr b="0" i="0" sz="3000" u="none" cap="none" strike="noStrike">
              <a:solidFill>
                <a:schemeClr val="dk1"/>
              </a:solidFill>
              <a:latin typeface="Calibri"/>
              <a:ea typeface="Calibri"/>
              <a:cs typeface="Calibri"/>
              <a:sym typeface="Calibri"/>
            </a:endParaRPr>
          </a:p>
        </p:txBody>
      </p:sp>
      <p:pic>
        <p:nvPicPr>
          <p:cNvPr descr="/home/claude/work/png-sb/34-appD-compensation.png" id="1357" name="Google Shape;1357;p125"/>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1358" name="Google Shape;1358;p12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committed step has an inverse; on failure they run in reverse order — there is no cross-service rollback.</a:t>
            </a:r>
            <a:endParaRPr b="0" i="0" sz="1200" u="none" cap="none" strike="noStrike">
              <a:solidFill>
                <a:schemeClr val="dk1"/>
              </a:solidFill>
              <a:latin typeface="Calibri"/>
              <a:ea typeface="Calibri"/>
              <a:cs typeface="Calibri"/>
              <a:sym typeface="Calibri"/>
            </a:endParaRPr>
          </a:p>
        </p:txBody>
      </p:sp>
      <p:sp>
        <p:nvSpPr>
          <p:cNvPr id="1359" name="Google Shape;1359;p1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104</a:t>
            </a:r>
            <a:endParaRPr b="0" i="0" sz="1000" u="none" cap="none" strike="noStrike">
              <a:solidFill>
                <a:schemeClr val="dk1"/>
              </a:solidFill>
              <a:latin typeface="Calibri"/>
              <a:ea typeface="Calibri"/>
              <a:cs typeface="Calibri"/>
              <a:sym typeface="Calibri"/>
            </a:endParaRPr>
          </a:p>
        </p:txBody>
      </p:sp>
      <p:pic>
        <p:nvPicPr>
          <p:cNvPr descr="/home/claude/work/assets/rh-logo.png" id="1360" name="Google Shape;1360;p1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5" name="Shape 1365"/>
        <p:cNvGrpSpPr/>
        <p:nvPr/>
      </p:nvGrpSpPr>
      <p:grpSpPr>
        <a:xfrm>
          <a:off x="0" y="0"/>
          <a:ext cx="0" cy="0"/>
          <a:chOff x="0" y="0"/>
          <a:chExt cx="0" cy="0"/>
        </a:xfrm>
      </p:grpSpPr>
      <p:sp>
        <p:nvSpPr>
          <p:cNvPr id="1366" name="Google Shape;1366;p1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67" name="Google Shape;1367;p1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Running compensations in reverse</a:t>
            </a:r>
            <a:endParaRPr b="0" i="0" sz="3000" u="none" cap="none" strike="noStrike">
              <a:solidFill>
                <a:schemeClr val="dk1"/>
              </a:solidFill>
              <a:latin typeface="Calibri"/>
              <a:ea typeface="Calibri"/>
              <a:cs typeface="Calibri"/>
              <a:sym typeface="Calibri"/>
            </a:endParaRPr>
          </a:p>
        </p:txBody>
      </p:sp>
      <p:sp>
        <p:nvSpPr>
          <p:cNvPr id="1368" name="Google Shape;1368;p12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26"/>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Data JPA</a:t>
            </a:r>
            <a:endParaRPr b="0" i="0" sz="1000" u="none" cap="none" strike="noStrike">
              <a:solidFill>
                <a:schemeClr val="dk1"/>
              </a:solidFill>
              <a:latin typeface="Calibri"/>
              <a:ea typeface="Calibri"/>
              <a:cs typeface="Calibri"/>
              <a:sym typeface="Calibri"/>
            </a:endParaRPr>
          </a:p>
        </p:txBody>
      </p:sp>
      <p:sp>
        <p:nvSpPr>
          <p:cNvPr id="1370" name="Google Shape;1370;p12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static final Map&lt;String, String&gt; COMPENSATIONS = Map.of(  // inverse per step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"charge_payment", "refund_payment",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"reserve_stock",  "release_stock",</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"book_shipping",  "cancel_shipping");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@Transactional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void compensate(String sagaId)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Saga s = em.find(Saga.class, sagaId, LockModeType.PESSIMISTIC_WRITE);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 undo only the steps that actually completed, newest first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for (String step : reversed(STEPS.subList(0, s.getStepIndex())))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invoke(COMPENSATIONS.get(step), s.getContext(),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sagaId + ":" + step);          // idempotency key — safe to retry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s.setStatus("COMPENSATED");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repo.save(s);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371" name="Google Shape;1371;p12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Compensate only completed steps, in reverse, with an idempotency key so a retry never double-refunds.</a:t>
            </a:r>
            <a:endParaRPr b="0" i="0" sz="1300" u="none" cap="none" strike="noStrike">
              <a:solidFill>
                <a:schemeClr val="dk1"/>
              </a:solidFill>
              <a:latin typeface="Calibri"/>
              <a:ea typeface="Calibri"/>
              <a:cs typeface="Calibri"/>
              <a:sym typeface="Calibri"/>
            </a:endParaRPr>
          </a:p>
        </p:txBody>
      </p:sp>
      <p:sp>
        <p:nvSpPr>
          <p:cNvPr id="1372" name="Google Shape;1372;p1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105</a:t>
            </a:r>
            <a:endParaRPr b="0" i="0" sz="1000" u="none" cap="none" strike="noStrike">
              <a:solidFill>
                <a:schemeClr val="dk1"/>
              </a:solidFill>
              <a:latin typeface="Calibri"/>
              <a:ea typeface="Calibri"/>
              <a:cs typeface="Calibri"/>
              <a:sym typeface="Calibri"/>
            </a:endParaRPr>
          </a:p>
        </p:txBody>
      </p:sp>
      <p:pic>
        <p:nvPicPr>
          <p:cNvPr descr="/home/claude/work/assets/rh-logo.png" id="1373" name="Google Shape;1373;p12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8" name="Shape 1378"/>
        <p:cNvGrpSpPr/>
        <p:nvPr/>
      </p:nvGrpSpPr>
      <p:grpSpPr>
        <a:xfrm>
          <a:off x="0" y="0"/>
          <a:ext cx="0" cy="0"/>
          <a:chOff x="0" y="0"/>
          <a:chExt cx="0" cy="0"/>
        </a:xfrm>
      </p:grpSpPr>
      <p:sp>
        <p:nvSpPr>
          <p:cNvPr id="1379" name="Google Shape;1379;p1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80" name="Google Shape;1380;p1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step B needs data only step A produced</a:t>
            </a:r>
            <a:endParaRPr b="0" i="0" sz="3000" u="none" cap="none" strike="noStrike">
              <a:solidFill>
                <a:schemeClr val="dk1"/>
              </a:solidFill>
              <a:latin typeface="Calibri"/>
              <a:ea typeface="Calibri"/>
              <a:cs typeface="Calibri"/>
              <a:sym typeface="Calibri"/>
            </a:endParaRPr>
          </a:p>
        </p:txBody>
      </p:sp>
      <p:pic>
        <p:nvPicPr>
          <p:cNvPr descr="/home/claude/work/png-sb/35-appD-data-dependency.png" id="1381" name="Google Shape;1381;p12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382" name="Google Shape;1382;p1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Don't make B call A. Persist A's output into the saga context and pass it forward; on resume, read it back.</a:t>
            </a:r>
            <a:endParaRPr b="0" i="0" sz="1200" u="none" cap="none" strike="noStrike">
              <a:solidFill>
                <a:schemeClr val="dk1"/>
              </a:solidFill>
              <a:latin typeface="Calibri"/>
              <a:ea typeface="Calibri"/>
              <a:cs typeface="Calibri"/>
              <a:sym typeface="Calibri"/>
            </a:endParaRPr>
          </a:p>
        </p:txBody>
      </p:sp>
      <p:sp>
        <p:nvSpPr>
          <p:cNvPr id="1383" name="Google Shape;1383;p1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106</a:t>
            </a:r>
            <a:endParaRPr b="0" i="0" sz="1000" u="none" cap="none" strike="noStrike">
              <a:solidFill>
                <a:schemeClr val="dk1"/>
              </a:solidFill>
              <a:latin typeface="Calibri"/>
              <a:ea typeface="Calibri"/>
              <a:cs typeface="Calibri"/>
              <a:sym typeface="Calibri"/>
            </a:endParaRPr>
          </a:p>
        </p:txBody>
      </p:sp>
      <p:pic>
        <p:nvPicPr>
          <p:cNvPr descr="/home/claude/work/assets/rh-logo.png" id="1384" name="Google Shape;1384;p1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9" name="Shape 1389"/>
        <p:cNvGrpSpPr/>
        <p:nvPr/>
      </p:nvGrpSpPr>
      <p:grpSpPr>
        <a:xfrm>
          <a:off x="0" y="0"/>
          <a:ext cx="0" cy="0"/>
          <a:chOff x="0" y="0"/>
          <a:chExt cx="0" cy="0"/>
        </a:xfrm>
      </p:grpSpPr>
      <p:sp>
        <p:nvSpPr>
          <p:cNvPr id="1390" name="Google Shape;1390;p1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91" name="Google Shape;1391;p1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Two ways to keep a saga durable</a:t>
            </a:r>
            <a:endParaRPr b="0" i="0" sz="3000" u="none" cap="none" strike="noStrike">
              <a:solidFill>
                <a:schemeClr val="dk1"/>
              </a:solidFill>
              <a:latin typeface="Calibri"/>
              <a:ea typeface="Calibri"/>
              <a:cs typeface="Calibri"/>
              <a:sym typeface="Calibri"/>
            </a:endParaRPr>
          </a:p>
        </p:txBody>
      </p:sp>
      <p:sp>
        <p:nvSpPr>
          <p:cNvPr id="1392" name="Google Shape;1392;p12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Two open-source paths, both shown in this appendix with a diagram and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hand-rolled orchestrator (Example 17): one sagas row per instance (status, step_index, JSONB context) and a saga_log, written through Spring Data JPA, one transaction per step under a row lock. No extra dependency, no extra cluster.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Temporal: a durable execution engine (Temporal Server MIT, Java SDK Apache 2.0). Workflows and activities are plain Java; the Server persists every event and replays it on recovery. Most power, a separate cluster to run.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Decision rule: keep the hand-rolled orchestrator while the saga is short and lives in one service; reach for Temporal when it is long, shared across services, or needs timers, retries and child workflows as first-class features.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Spring Statemachine is not on the list: its repository is archived upstream and 4.0.x was its last open-source line.</a:t>
            </a:r>
            <a:endParaRPr b="0" i="0" sz="1700" u="none" cap="none" strike="noStrike">
              <a:solidFill>
                <a:schemeClr val="dk1"/>
              </a:solidFill>
              <a:latin typeface="Calibri"/>
              <a:ea typeface="Calibri"/>
              <a:cs typeface="Calibri"/>
              <a:sym typeface="Calibri"/>
            </a:endParaRPr>
          </a:p>
        </p:txBody>
      </p:sp>
      <p:sp>
        <p:nvSpPr>
          <p:cNvPr id="1393" name="Google Shape;1393;p1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107</a:t>
            </a:r>
            <a:endParaRPr b="0" i="0" sz="1000" u="none" cap="none" strike="noStrike">
              <a:solidFill>
                <a:schemeClr val="dk1"/>
              </a:solidFill>
              <a:latin typeface="Calibri"/>
              <a:ea typeface="Calibri"/>
              <a:cs typeface="Calibri"/>
              <a:sym typeface="Calibri"/>
            </a:endParaRPr>
          </a:p>
        </p:txBody>
      </p:sp>
      <p:pic>
        <p:nvPicPr>
          <p:cNvPr descr="/home/claude/work/assets/rh-logo.png" id="1394" name="Google Shape;1394;p12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9" name="Shape 1399"/>
        <p:cNvGrpSpPr/>
        <p:nvPr/>
      </p:nvGrpSpPr>
      <p:grpSpPr>
        <a:xfrm>
          <a:off x="0" y="0"/>
          <a:ext cx="0" cy="0"/>
          <a:chOff x="0" y="0"/>
          <a:chExt cx="0" cy="0"/>
        </a:xfrm>
      </p:grpSpPr>
      <p:sp>
        <p:nvSpPr>
          <p:cNvPr id="1400" name="Google Shape;1400;p1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01" name="Google Shape;1401;p1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Temporal: a plain-Java saga that the Server makes durable</a:t>
            </a:r>
            <a:endParaRPr b="0" i="0" sz="3000" u="none" cap="none" strike="noStrike">
              <a:solidFill>
                <a:schemeClr val="dk1"/>
              </a:solidFill>
              <a:latin typeface="Calibri"/>
              <a:ea typeface="Calibri"/>
              <a:cs typeface="Calibri"/>
              <a:sym typeface="Calibri"/>
            </a:endParaRPr>
          </a:p>
        </p:txBody>
      </p:sp>
      <p:pic>
        <p:nvPicPr>
          <p:cNvPr descr="/home/claude/work/png-sb/62-appD-temporal.png" id="1402" name="Google Shape;1402;p129"/>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403" name="Google Shape;1403;p12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Worker (your Spring Boot app) runs Workflow + Activity code; the Temporal Server persists every event and replays deterministically.</a:t>
            </a:r>
            <a:endParaRPr b="0" i="0" sz="1200" u="none" cap="none" strike="noStrike">
              <a:solidFill>
                <a:schemeClr val="dk1"/>
              </a:solidFill>
              <a:latin typeface="Calibri"/>
              <a:ea typeface="Calibri"/>
              <a:cs typeface="Calibri"/>
              <a:sym typeface="Calibri"/>
            </a:endParaRPr>
          </a:p>
        </p:txBody>
      </p:sp>
      <p:sp>
        <p:nvSpPr>
          <p:cNvPr id="1404" name="Google Shape;1404;p1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108</a:t>
            </a:r>
            <a:endParaRPr b="0" i="0" sz="1000" u="none" cap="none" strike="noStrike">
              <a:solidFill>
                <a:schemeClr val="dk1"/>
              </a:solidFill>
              <a:latin typeface="Calibri"/>
              <a:ea typeface="Calibri"/>
              <a:cs typeface="Calibri"/>
              <a:sym typeface="Calibri"/>
            </a:endParaRPr>
          </a:p>
        </p:txBody>
      </p:sp>
      <p:pic>
        <p:nvPicPr>
          <p:cNvPr descr="/home/claude/work/assets/rh-logo.png" id="1405" name="Google Shape;1405;p1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0" name="Shape 1410"/>
        <p:cNvGrpSpPr/>
        <p:nvPr/>
      </p:nvGrpSpPr>
      <p:grpSpPr>
        <a:xfrm>
          <a:off x="0" y="0"/>
          <a:ext cx="0" cy="0"/>
          <a:chOff x="0" y="0"/>
          <a:chExt cx="0" cy="0"/>
        </a:xfrm>
      </p:grpSpPr>
      <p:sp>
        <p:nvSpPr>
          <p:cNvPr id="1411" name="Google Shape;1411;p1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12" name="Google Shape;1412;p1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Temporal saga workflow + activity, in Spring Boot</a:t>
            </a:r>
            <a:endParaRPr b="0" i="0" sz="3000" u="none" cap="none" strike="noStrike">
              <a:solidFill>
                <a:schemeClr val="dk1"/>
              </a:solidFill>
              <a:latin typeface="Calibri"/>
              <a:ea typeface="Calibri"/>
              <a:cs typeface="Calibri"/>
              <a:sym typeface="Calibri"/>
            </a:endParaRPr>
          </a:p>
        </p:txBody>
      </p:sp>
      <p:sp>
        <p:nvSpPr>
          <p:cNvPr id="1413" name="Google Shape;1413;p13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30"/>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io.temporal:temporal-sdk + Spring Boot</a:t>
            </a:r>
            <a:endParaRPr b="0" i="0" sz="1000" u="none" cap="none" strike="noStrike">
              <a:solidFill>
                <a:schemeClr val="dk1"/>
              </a:solidFill>
              <a:latin typeface="Calibri"/>
              <a:ea typeface="Calibri"/>
              <a:cs typeface="Calibri"/>
              <a:sym typeface="Calibri"/>
            </a:endParaRPr>
          </a:p>
        </p:txBody>
      </p:sp>
      <p:sp>
        <p:nvSpPr>
          <p:cNvPr id="1415" name="Google Shape;1415;p13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1) Activity interface — each is a normal Spring bean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@ActivityInterface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PaymentActivity { @ActivityMethod String charge(SagaInput in);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InventoryActivity.reserve and ShippingActivity.book are declared the same way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2) Workflow interface + impl — plain Java, deterministic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@WorkflowInterface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FulfillmentWorkflow { @WorkflowMethod String run(SagaInput in);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FulfillmentWorkflowImpl implements FulfillmentWorkflow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PaymentActivity   payment   = Workflow.newActivityStub(…);</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InventoryActivity inventory = Workflow.newActivityStub(…);</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ShippingActivity  shipping  = Workflow.newActivityStub(…);</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@Override public String run(SagaInput in)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 saga = new Saga(new Saga.Options.Builder().build()); // built-in compensator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paymentId     = payment.charge(in);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saga.addCompensation(() -&gt; payment.refund(paymentId));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reservationId = inventory.reserve(in, paymentId);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saga.addCompensation(() -&gt; inventory.release(reservationId));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shipping.book(in, reservationId);     // outputs flow forward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catch (ActivityFailure 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saga.compensate();                            // unwinds in reverse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throw 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416" name="Google Shape;1416;p13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Workflow + Activities are Spring beans; Temporal's built-in Saga utility owns the unwind. State is durable on the Server.</a:t>
            </a:r>
            <a:endParaRPr b="0" i="0" sz="1300" u="none" cap="none" strike="noStrike">
              <a:solidFill>
                <a:schemeClr val="dk1"/>
              </a:solidFill>
              <a:latin typeface="Calibri"/>
              <a:ea typeface="Calibri"/>
              <a:cs typeface="Calibri"/>
              <a:sym typeface="Calibri"/>
            </a:endParaRPr>
          </a:p>
        </p:txBody>
      </p:sp>
      <p:sp>
        <p:nvSpPr>
          <p:cNvPr id="1417" name="Google Shape;1417;p1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109</a:t>
            </a:r>
            <a:endParaRPr b="0" i="0" sz="1000" u="none" cap="none" strike="noStrike">
              <a:solidFill>
                <a:schemeClr val="dk1"/>
              </a:solidFill>
              <a:latin typeface="Calibri"/>
              <a:ea typeface="Calibri"/>
              <a:cs typeface="Calibri"/>
              <a:sym typeface="Calibri"/>
            </a:endParaRPr>
          </a:p>
        </p:txBody>
      </p:sp>
      <p:pic>
        <p:nvPicPr>
          <p:cNvPr descr="/home/claude/work/assets/rh-logo.png" id="1418" name="Google Shape;1418;p13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3" name="Shape 1423"/>
        <p:cNvGrpSpPr/>
        <p:nvPr/>
      </p:nvGrpSpPr>
      <p:grpSpPr>
        <a:xfrm>
          <a:off x="0" y="0"/>
          <a:ext cx="0" cy="0"/>
          <a:chOff x="0" y="0"/>
          <a:chExt cx="0" cy="0"/>
        </a:xfrm>
      </p:grpSpPr>
      <p:sp>
        <p:nvSpPr>
          <p:cNvPr id="1424" name="Google Shape;1424;p1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25" name="Google Shape;1425;p1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hand-rolled orchestrator: one row, one log, no cluster</a:t>
            </a:r>
            <a:endParaRPr b="0" i="0" sz="3000" u="none" cap="none" strike="noStrike">
              <a:solidFill>
                <a:schemeClr val="dk1"/>
              </a:solidFill>
              <a:latin typeface="Calibri"/>
              <a:ea typeface="Calibri"/>
              <a:cs typeface="Calibri"/>
              <a:sym typeface="Calibri"/>
            </a:endParaRPr>
          </a:p>
        </p:txBody>
      </p:sp>
      <p:pic>
        <p:nvPicPr>
          <p:cNvPr descr="/home/claude/work/png-sb/63-appD-statemachine.png" id="1426" name="Google Shape;1426;p131"/>
          <p:cNvPicPr preferRelativeResize="0"/>
          <p:nvPr/>
        </p:nvPicPr>
        <p:blipFill rotWithShape="1">
          <a:blip r:embed="rId5">
            <a:alphaModFix/>
          </a:blip>
          <a:stretch/>
        </p:blipFill>
        <p:spPr>
          <a:xfrm>
            <a:off x="1893731" y="1600200"/>
            <a:ext cx="8404235" cy="4526281"/>
          </a:xfrm>
          <a:prstGeom prst="rect">
            <a:avLst/>
          </a:prstGeom>
          <a:noFill/>
          <a:ln>
            <a:noFill/>
          </a:ln>
        </p:spPr>
      </p:pic>
      <p:sp>
        <p:nvSpPr>
          <p:cNvPr id="1427" name="Google Shape;1427;p1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sagas row locked FOR UPDATE, a saga_log of every action, and a resume pass at startup: Example 17.</a:t>
            </a:r>
            <a:endParaRPr b="0" i="0" sz="1200" u="none" cap="none" strike="noStrike">
              <a:solidFill>
                <a:schemeClr val="dk1"/>
              </a:solidFill>
              <a:latin typeface="Calibri"/>
              <a:ea typeface="Calibri"/>
              <a:cs typeface="Calibri"/>
              <a:sym typeface="Calibri"/>
            </a:endParaRPr>
          </a:p>
        </p:txBody>
      </p:sp>
      <p:sp>
        <p:nvSpPr>
          <p:cNvPr id="1428" name="Google Shape;1428;p1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110</a:t>
            </a:r>
            <a:endParaRPr b="0" i="0" sz="1000" u="none" cap="none" strike="noStrike">
              <a:solidFill>
                <a:schemeClr val="dk1"/>
              </a:solidFill>
              <a:latin typeface="Calibri"/>
              <a:ea typeface="Calibri"/>
              <a:cs typeface="Calibri"/>
              <a:sym typeface="Calibri"/>
            </a:endParaRPr>
          </a:p>
        </p:txBody>
      </p:sp>
      <p:pic>
        <p:nvPicPr>
          <p:cNvPr descr="/home/claude/work/assets/rh-logo.png" id="1429" name="Google Shape;1429;p1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1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36" name="Google Shape;1436;p1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hand-rolled orchestrator: one step per transaction</a:t>
            </a:r>
            <a:endParaRPr b="0" i="0" sz="3000" u="none" cap="none" strike="noStrike">
              <a:solidFill>
                <a:schemeClr val="dk1"/>
              </a:solidFill>
              <a:latin typeface="Calibri"/>
              <a:ea typeface="Calibri"/>
              <a:cs typeface="Calibri"/>
              <a:sym typeface="Calibri"/>
            </a:endParaRPr>
          </a:p>
        </p:txBody>
      </p:sp>
      <p:sp>
        <p:nvSpPr>
          <p:cNvPr id="1437" name="Google Shape;1437;p13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32"/>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JPA</a:t>
            </a:r>
            <a:endParaRPr b="0" i="0" sz="1000" u="none" cap="none" strike="noStrike">
              <a:solidFill>
                <a:schemeClr val="dk1"/>
              </a:solidFill>
              <a:latin typeface="Calibri"/>
              <a:ea typeface="Calibri"/>
              <a:cs typeface="Calibri"/>
              <a:sym typeface="Calibri"/>
            </a:endParaRPr>
          </a:p>
        </p:txBody>
      </p:sp>
      <p:sp>
        <p:nvSpPr>
          <p:cNvPr id="1439" name="Google Shape;1439;p13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SagaEngine.java excerpt (examples/17-sagas); the failed-step log row is left out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@Transactional                                  // lock, run one step, commit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String advanceOnce(String sagaId)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SagaEntity saga = sagas.lockById(sagaId).orElse(null);  // @Lock(PESSIMISTIC_WRITE)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(saga == null) return "NOT_FOUND";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(!"RUNNING".equals(saga.getStatus())) return saga.getStatus();  // finished: no-op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int stepIndex = saga.getStepIndex();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(stepIndex &gt;= STEPS.size()) { saga.setStatus("COMPLETED"); return "COMPLETED";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SagaStep step = STEPS.get(stepIndex);                 // (name, compensation)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result = stepExecutor.execute(step.name(), saga.getContext());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sagaLog.save(new SagaLogEntity(sagaId, step.name(), "execute", result));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saga.setStepIndex(stepIndex + 1);                 // output joins the JSONB context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saga.setContext(contextWith(saga, step.name(), result));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"RUNNING";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catch (Exception 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saga.setStatus("COMPENSATING");                   // dirty checking writes it back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"COMPENSATING";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SagaService.advance(): do { status = engine.advanceOnce(id); } while RUNNING (a new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transaction each call), then engine.compensate(id) when the status is COMPENSATING</a:t>
            </a:r>
            <a:endParaRPr b="0" i="0" sz="900" u="none" cap="none" strike="noStrike">
              <a:solidFill>
                <a:schemeClr val="dk1"/>
              </a:solidFill>
              <a:latin typeface="Calibri"/>
              <a:ea typeface="Calibri"/>
              <a:cs typeface="Calibri"/>
              <a:sym typeface="Calibri"/>
            </a:endParaRPr>
          </a:p>
        </p:txBody>
      </p:sp>
      <p:sp>
        <p:nvSpPr>
          <p:cNvPr id="1440" name="Google Shape;1440;p13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row lock, the step's output and the new state commit together; a failed step hands off to compensate().</a:t>
            </a:r>
            <a:endParaRPr b="0" i="0" sz="1300" u="none" cap="none" strike="noStrike">
              <a:solidFill>
                <a:schemeClr val="dk1"/>
              </a:solidFill>
              <a:latin typeface="Calibri"/>
              <a:ea typeface="Calibri"/>
              <a:cs typeface="Calibri"/>
              <a:sym typeface="Calibri"/>
            </a:endParaRPr>
          </a:p>
        </p:txBody>
      </p:sp>
      <p:sp>
        <p:nvSpPr>
          <p:cNvPr id="1441" name="Google Shape;1441;p1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111</a:t>
            </a:r>
            <a:endParaRPr b="0" i="0" sz="1000" u="none" cap="none" strike="noStrike">
              <a:solidFill>
                <a:schemeClr val="dk1"/>
              </a:solidFill>
              <a:latin typeface="Calibri"/>
              <a:ea typeface="Calibri"/>
              <a:cs typeface="Calibri"/>
              <a:sym typeface="Calibri"/>
            </a:endParaRPr>
          </a:p>
        </p:txBody>
      </p:sp>
      <p:pic>
        <p:nvPicPr>
          <p:cNvPr descr="/home/claude/work/assets/rh-logo.png" id="1442" name="Google Shape;1442;p13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447" name="Shape 1447"/>
        <p:cNvGrpSpPr/>
        <p:nvPr/>
      </p:nvGrpSpPr>
      <p:grpSpPr>
        <a:xfrm>
          <a:off x="0" y="0"/>
          <a:ext cx="0" cy="0"/>
          <a:chOff x="0" y="0"/>
          <a:chExt cx="0" cy="0"/>
        </a:xfrm>
      </p:grpSpPr>
      <p:pic>
        <p:nvPicPr>
          <p:cNvPr descr="/home/claude/work/assets/rh-divider-bg.png" id="1448" name="Google Shape;1448;p13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449" name="Google Shape;1449;p13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E</a:t>
            </a:r>
            <a:endParaRPr b="0" i="0" sz="2200" u="none" cap="none" strike="noStrike">
              <a:solidFill>
                <a:schemeClr val="dk1"/>
              </a:solidFill>
              <a:latin typeface="Calibri"/>
              <a:ea typeface="Calibri"/>
              <a:cs typeface="Calibri"/>
              <a:sym typeface="Calibri"/>
            </a:endParaRPr>
          </a:p>
        </p:txBody>
      </p:sp>
      <p:sp>
        <p:nvSpPr>
          <p:cNvPr id="1450" name="Google Shape;1450;p13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E · API Error Handling</a:t>
            </a:r>
            <a:endParaRPr b="0" i="0" sz="4000" u="none" cap="none" strike="noStrike">
              <a:solidFill>
                <a:schemeClr val="dk1"/>
              </a:solidFill>
              <a:latin typeface="Calibri"/>
              <a:ea typeface="Calibri"/>
              <a:cs typeface="Calibri"/>
              <a:sym typeface="Calibri"/>
            </a:endParaRPr>
          </a:p>
        </p:txBody>
      </p:sp>
      <p:sp>
        <p:nvSpPr>
          <p:cNvPr id="1451" name="Google Shape;1451;p13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discipline, four wire formats.</a:t>
            </a:r>
            <a:endParaRPr b="0" i="0" sz="1500" u="none" cap="none" strike="noStrike">
              <a:solidFill>
                <a:schemeClr val="dk1"/>
              </a:solidFill>
              <a:latin typeface="Calibri"/>
              <a:ea typeface="Calibri"/>
              <a:cs typeface="Calibri"/>
              <a:sym typeface="Calibri"/>
            </a:endParaRPr>
          </a:p>
        </p:txBody>
      </p:sp>
      <p:pic>
        <p:nvPicPr>
          <p:cNvPr descr="/home/claude/work/assets/rh-logo-white.png" id="1452" name="Google Shape;1452;p1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7" name="Shape 1457"/>
        <p:cNvGrpSpPr/>
        <p:nvPr/>
      </p:nvGrpSpPr>
      <p:grpSpPr>
        <a:xfrm>
          <a:off x="0" y="0"/>
          <a:ext cx="0" cy="0"/>
          <a:chOff x="0" y="0"/>
          <a:chExt cx="0" cy="0"/>
        </a:xfrm>
      </p:grpSpPr>
      <p:sp>
        <p:nvSpPr>
          <p:cNvPr id="1458" name="Google Shape;1458;p1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59" name="Google Shape;1459;p1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error model, four wire formats</a:t>
            </a:r>
            <a:endParaRPr b="0" i="0" sz="3000" u="none" cap="none" strike="noStrike">
              <a:solidFill>
                <a:schemeClr val="dk1"/>
              </a:solidFill>
              <a:latin typeface="Calibri"/>
              <a:ea typeface="Calibri"/>
              <a:cs typeface="Calibri"/>
              <a:sym typeface="Calibri"/>
            </a:endParaRPr>
          </a:p>
        </p:txBody>
      </p:sp>
      <p:pic>
        <p:nvPicPr>
          <p:cNvPr descr="/home/claude/work/png-sb/36-appE-error-shape.png" id="1460" name="Google Shape;1460;p134"/>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61" name="Google Shape;1461;p1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same five facts in every error; only the encoding changes per protocol.</a:t>
            </a:r>
            <a:endParaRPr b="0" i="0" sz="1200" u="none" cap="none" strike="noStrike">
              <a:solidFill>
                <a:schemeClr val="dk1"/>
              </a:solidFill>
              <a:latin typeface="Calibri"/>
              <a:ea typeface="Calibri"/>
              <a:cs typeface="Calibri"/>
              <a:sym typeface="Calibri"/>
            </a:endParaRPr>
          </a:p>
        </p:txBody>
      </p:sp>
      <p:sp>
        <p:nvSpPr>
          <p:cNvPr id="1462" name="Google Shape;1462;p1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112</a:t>
            </a:r>
            <a:endParaRPr b="0" i="0" sz="1000" u="none" cap="none" strike="noStrike">
              <a:solidFill>
                <a:schemeClr val="dk1"/>
              </a:solidFill>
              <a:latin typeface="Calibri"/>
              <a:ea typeface="Calibri"/>
              <a:cs typeface="Calibri"/>
              <a:sym typeface="Calibri"/>
            </a:endParaRPr>
          </a:p>
        </p:txBody>
      </p:sp>
      <p:pic>
        <p:nvPicPr>
          <p:cNvPr descr="/home/claude/work/assets/rh-logo.png" id="1463" name="Google Shape;1463;p1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8" name="Shape 1468"/>
        <p:cNvGrpSpPr/>
        <p:nvPr/>
      </p:nvGrpSpPr>
      <p:grpSpPr>
        <a:xfrm>
          <a:off x="0" y="0"/>
          <a:ext cx="0" cy="0"/>
          <a:chOff x="0" y="0"/>
          <a:chExt cx="0" cy="0"/>
        </a:xfrm>
      </p:grpSpPr>
      <p:sp>
        <p:nvSpPr>
          <p:cNvPr id="1469" name="Google Shape;1469;p1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70" name="Google Shape;1470;p1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status, then Problem Details</a:t>
            </a:r>
            <a:endParaRPr b="0" i="0" sz="3000" u="none" cap="none" strike="noStrike">
              <a:solidFill>
                <a:schemeClr val="dk1"/>
              </a:solidFill>
              <a:latin typeface="Calibri"/>
              <a:ea typeface="Calibri"/>
              <a:cs typeface="Calibri"/>
              <a:sym typeface="Calibri"/>
            </a:endParaRPr>
          </a:p>
        </p:txBody>
      </p:sp>
      <p:pic>
        <p:nvPicPr>
          <p:cNvPr descr="/home/claude/work/png-sb/37-appE-rest-errors.png" id="1471" name="Google Shape;1471;p13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72" name="Google Shape;1472;p1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status code is the category; the problem+json body carries the machine code and specifics.</a:t>
            </a:r>
            <a:endParaRPr b="0" i="0" sz="1200" u="none" cap="none" strike="noStrike">
              <a:solidFill>
                <a:schemeClr val="dk1"/>
              </a:solidFill>
              <a:latin typeface="Calibri"/>
              <a:ea typeface="Calibri"/>
              <a:cs typeface="Calibri"/>
              <a:sym typeface="Calibri"/>
            </a:endParaRPr>
          </a:p>
        </p:txBody>
      </p:sp>
      <p:sp>
        <p:nvSpPr>
          <p:cNvPr id="1473" name="Google Shape;1473;p1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113</a:t>
            </a:r>
            <a:endParaRPr b="0" i="0" sz="1000" u="none" cap="none" strike="noStrike">
              <a:solidFill>
                <a:schemeClr val="dk1"/>
              </a:solidFill>
              <a:latin typeface="Calibri"/>
              <a:ea typeface="Calibri"/>
              <a:cs typeface="Calibri"/>
              <a:sym typeface="Calibri"/>
            </a:endParaRPr>
          </a:p>
        </p:txBody>
      </p:sp>
      <p:pic>
        <p:nvPicPr>
          <p:cNvPr descr="/home/claude/work/assets/rh-logo.png" id="1474" name="Google Shape;1474;p1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9" name="Shape 1479"/>
        <p:cNvGrpSpPr/>
        <p:nvPr/>
      </p:nvGrpSpPr>
      <p:grpSpPr>
        <a:xfrm>
          <a:off x="0" y="0"/>
          <a:ext cx="0" cy="0"/>
          <a:chOff x="0" y="0"/>
          <a:chExt cx="0" cy="0"/>
        </a:xfrm>
      </p:grpSpPr>
      <p:sp>
        <p:nvSpPr>
          <p:cNvPr id="1480" name="Google Shape;1480;p1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81" name="Google Shape;1481;p1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errors with Spring 7 ProblemDetail</a:t>
            </a:r>
            <a:endParaRPr b="0" i="0" sz="3000" u="none" cap="none" strike="noStrike">
              <a:solidFill>
                <a:schemeClr val="dk1"/>
              </a:solidFill>
              <a:latin typeface="Calibri"/>
              <a:ea typeface="Calibri"/>
              <a:cs typeface="Calibri"/>
              <a:sym typeface="Calibri"/>
            </a:endParaRPr>
          </a:p>
        </p:txBody>
      </p:sp>
      <p:sp>
        <p:nvSpPr>
          <p:cNvPr id="1482" name="Google Shape;1482;p13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36"/>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7 ProblemDetail</a:t>
            </a:r>
            <a:endParaRPr b="0" i="0" sz="1000" u="none" cap="none" strike="noStrike">
              <a:solidFill>
                <a:schemeClr val="dk1"/>
              </a:solidFill>
              <a:latin typeface="Calibri"/>
              <a:ea typeface="Calibri"/>
              <a:cs typeface="Calibri"/>
              <a:sym typeface="Calibri"/>
            </a:endParaRPr>
          </a:p>
        </p:txBody>
      </p:sp>
      <p:sp>
        <p:nvSpPr>
          <p:cNvPr id="1484" name="Google Shape;1484;p13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Spring Framework 7's built-in ProblemDetail = RFC 9457 out of the box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@RestControllerAdvice                          // one place: domain → wire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ApiExceptionHandler extends ResponseEntityExceptionHandler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@ExceptionHandler(StockException.class)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ProblemDetail handleStock(StockException 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ProblemDetail pd = ProblemDetail.forStatusAndDetail(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HttpStatus.CONFLICT, e.getMessage());                        // 409</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pd.setType(URI.create("https://errors.acme.io/stock"));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pd.setTitle("Insufficient 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pd.setProperty("code", "STOCK_UNAVAILABLE");                    // stable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pd.setProperty("traceId",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Span.current().getSpanContext().getTraceId());                // correlate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pd;                              // Content-Type: application/problem+json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Typed alternative — throw an ErrorResponseException subclass from anywhere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and Spring handles the rest: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OrderNotFound extends ErrorResponseException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OrderNotFound(String 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super(HttpStatus.NOT_FOUND,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ProblemDetail.forStatusAndDetail(HttpStatus.NOT_FOUND,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 + id + " not found"), null);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485" name="Google Shape;1485;p13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Spring 7 ships ProblemDetail and ErrorResponseException as the RFC 9457 contract — stable code, safe message, trace id; never a raw stack trace.</a:t>
            </a:r>
            <a:endParaRPr b="0" i="0" sz="1300" u="none" cap="none" strike="noStrike">
              <a:solidFill>
                <a:schemeClr val="dk1"/>
              </a:solidFill>
              <a:latin typeface="Calibri"/>
              <a:ea typeface="Calibri"/>
              <a:cs typeface="Calibri"/>
              <a:sym typeface="Calibri"/>
            </a:endParaRPr>
          </a:p>
        </p:txBody>
      </p:sp>
      <p:sp>
        <p:nvSpPr>
          <p:cNvPr id="1486" name="Google Shape;1486;p1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114</a:t>
            </a:r>
            <a:endParaRPr b="0" i="0" sz="1000" u="none" cap="none" strike="noStrike">
              <a:solidFill>
                <a:schemeClr val="dk1"/>
              </a:solidFill>
              <a:latin typeface="Calibri"/>
              <a:ea typeface="Calibri"/>
              <a:cs typeface="Calibri"/>
              <a:sym typeface="Calibri"/>
            </a:endParaRPr>
          </a:p>
        </p:txBody>
      </p:sp>
      <p:pic>
        <p:nvPicPr>
          <p:cNvPr descr="/home/claude/work/assets/rh-logo.png" id="1487" name="Google Shape;1487;p13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2" name="Shape 1492"/>
        <p:cNvGrpSpPr/>
        <p:nvPr/>
      </p:nvGrpSpPr>
      <p:grpSpPr>
        <a:xfrm>
          <a:off x="0" y="0"/>
          <a:ext cx="0" cy="0"/>
          <a:chOff x="0" y="0"/>
          <a:chExt cx="0" cy="0"/>
        </a:xfrm>
      </p:grpSpPr>
      <p:sp>
        <p:nvSpPr>
          <p:cNvPr id="1493" name="Google Shape;1493;p1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94" name="Google Shape;1494;p1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status codes + rich details</a:t>
            </a:r>
            <a:endParaRPr b="0" i="0" sz="3000" u="none" cap="none" strike="noStrike">
              <a:solidFill>
                <a:schemeClr val="dk1"/>
              </a:solidFill>
              <a:latin typeface="Calibri"/>
              <a:ea typeface="Calibri"/>
              <a:cs typeface="Calibri"/>
              <a:sym typeface="Calibri"/>
            </a:endParaRPr>
          </a:p>
        </p:txBody>
      </p:sp>
      <p:pic>
        <p:nvPicPr>
          <p:cNvPr descr="/home/claude/work/png-sb/38-appE-grpc-errors.png" id="1495" name="Google Shape;1495;p13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496" name="Google Shape;1496;p1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small fixed set of canonical codes, plus structured google.rpc.Status details in the trailers.</a:t>
            </a:r>
            <a:endParaRPr b="0" i="0" sz="1200" u="none" cap="none" strike="noStrike">
              <a:solidFill>
                <a:schemeClr val="dk1"/>
              </a:solidFill>
              <a:latin typeface="Calibri"/>
              <a:ea typeface="Calibri"/>
              <a:cs typeface="Calibri"/>
              <a:sym typeface="Calibri"/>
            </a:endParaRPr>
          </a:p>
        </p:txBody>
      </p:sp>
      <p:sp>
        <p:nvSpPr>
          <p:cNvPr id="1497" name="Google Shape;1497;p1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115</a:t>
            </a:r>
            <a:endParaRPr b="0" i="0" sz="1000" u="none" cap="none" strike="noStrike">
              <a:solidFill>
                <a:schemeClr val="dk1"/>
              </a:solidFill>
              <a:latin typeface="Calibri"/>
              <a:ea typeface="Calibri"/>
              <a:cs typeface="Calibri"/>
              <a:sym typeface="Calibri"/>
            </a:endParaRPr>
          </a:p>
        </p:txBody>
      </p:sp>
      <p:pic>
        <p:nvPicPr>
          <p:cNvPr descr="/home/claude/work/assets/rh-logo.png" id="1498" name="Google Shape;1498;p1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3" name="Shape 1503"/>
        <p:cNvGrpSpPr/>
        <p:nvPr/>
      </p:nvGrpSpPr>
      <p:grpSpPr>
        <a:xfrm>
          <a:off x="0" y="0"/>
          <a:ext cx="0" cy="0"/>
          <a:chOff x="0" y="0"/>
          <a:chExt cx="0" cy="0"/>
        </a:xfrm>
      </p:grpSpPr>
      <p:sp>
        <p:nvSpPr>
          <p:cNvPr id="1504" name="Google Shape;1504;p1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05" name="Google Shape;1505;p1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errors with rich status details</a:t>
            </a:r>
            <a:endParaRPr b="0" i="0" sz="3000" u="none" cap="none" strike="noStrike">
              <a:solidFill>
                <a:schemeClr val="dk1"/>
              </a:solidFill>
              <a:latin typeface="Calibri"/>
              <a:ea typeface="Calibri"/>
              <a:cs typeface="Calibri"/>
              <a:sym typeface="Calibri"/>
            </a:endParaRPr>
          </a:p>
        </p:txBody>
      </p:sp>
      <p:sp>
        <p:nvSpPr>
          <p:cNvPr id="1506" name="Google Shape;1506;p13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38"/>
          <p:cNvSpPr/>
          <p:nvPr/>
        </p:nvSpPr>
        <p:spPr>
          <a:xfrm>
            <a:off x="9013617" y="1700784"/>
            <a:ext cx="2519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grpc-java + StatusProto</a:t>
            </a:r>
            <a:endParaRPr b="0" i="0" sz="1000" u="none" cap="none" strike="noStrike">
              <a:solidFill>
                <a:schemeClr val="dk1"/>
              </a:solidFill>
              <a:latin typeface="Calibri"/>
              <a:ea typeface="Calibri"/>
              <a:cs typeface="Calibri"/>
              <a:sym typeface="Calibri"/>
            </a:endParaRPr>
          </a:p>
        </p:txBody>
      </p:sp>
      <p:sp>
        <p:nvSpPr>
          <p:cNvPr id="1508" name="Google Shape;1508;p13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io.grpc.protobuf.StatusProto;</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import com.google.rpc.*;</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void reserveStock(ReserveRequest req,</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StreamObserver&lt;ReserveReply&gt; responseObserver)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if (inventoryDown)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var status = com.google.rpc.Status.newBuilder()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.setCode(Code.UNAVAILABLE_VALUE)            // canonical code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.setMessage("inventory temporarily down")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.addDetails(Any.pack(ErrorInfo.newBuilder()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.setReason("STOCK_DOWN").setDomain("inventory").build()))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.addDetails(Any.pack(RetryInfo.newBuilder().setRetryDelay(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Duration.newBuilder().setSeconds(2)).build()))  // back off 2s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responseObserver.onError(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StatusProto.toStatusRuntimeException(status));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responseObserver.onNext(toReply(stock.reserve(req)));</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responseObserver.onCompleted();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1509" name="Google Shape;1509;p13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Pick the canonical code (UNAVAILABLE = retryable) and attach ErrorInfo + RetryInfo so clients back off correctly.</a:t>
            </a:r>
            <a:endParaRPr b="0" i="0" sz="1300" u="none" cap="none" strike="noStrike">
              <a:solidFill>
                <a:schemeClr val="dk1"/>
              </a:solidFill>
              <a:latin typeface="Calibri"/>
              <a:ea typeface="Calibri"/>
              <a:cs typeface="Calibri"/>
              <a:sym typeface="Calibri"/>
            </a:endParaRPr>
          </a:p>
        </p:txBody>
      </p:sp>
      <p:sp>
        <p:nvSpPr>
          <p:cNvPr id="1510" name="Google Shape;1510;p1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116</a:t>
            </a:r>
            <a:endParaRPr b="0" i="0" sz="1000" u="none" cap="none" strike="noStrike">
              <a:solidFill>
                <a:schemeClr val="dk1"/>
              </a:solidFill>
              <a:latin typeface="Calibri"/>
              <a:ea typeface="Calibri"/>
              <a:cs typeface="Calibri"/>
              <a:sym typeface="Calibri"/>
            </a:endParaRPr>
          </a:p>
        </p:txBody>
      </p:sp>
      <p:pic>
        <p:nvPicPr>
          <p:cNvPr descr="/home/claude/work/assets/rh-logo.png" id="1511" name="Google Shape;1511;p13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6" name="Shape 1516"/>
        <p:cNvGrpSpPr/>
        <p:nvPr/>
      </p:nvGrpSpPr>
      <p:grpSpPr>
        <a:xfrm>
          <a:off x="0" y="0"/>
          <a:ext cx="0" cy="0"/>
          <a:chOff x="0" y="0"/>
          <a:chExt cx="0" cy="0"/>
        </a:xfrm>
      </p:grpSpPr>
      <p:sp>
        <p:nvSpPr>
          <p:cNvPr id="1517" name="Google Shape;1517;p1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18" name="Google Shape;1518;p1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topics and a dead-letter queue</a:t>
            </a:r>
            <a:endParaRPr b="0" i="0" sz="3000" u="none" cap="none" strike="noStrike">
              <a:solidFill>
                <a:schemeClr val="dk1"/>
              </a:solidFill>
              <a:latin typeface="Calibri"/>
              <a:ea typeface="Calibri"/>
              <a:cs typeface="Calibri"/>
              <a:sym typeface="Calibri"/>
            </a:endParaRPr>
          </a:p>
        </p:txBody>
      </p:sp>
      <p:pic>
        <p:nvPicPr>
          <p:cNvPr descr="/home/claude/work/png-sb/39-appE-kafka-errors.png" id="1519" name="Google Shape;1519;p139"/>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20" name="Google Shape;1520;p1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Commit the offset, route the failed record aside, and keep consuming — a poison record never blocks the partition.</a:t>
            </a:r>
            <a:endParaRPr b="0" i="0" sz="1200" u="none" cap="none" strike="noStrike">
              <a:solidFill>
                <a:schemeClr val="dk1"/>
              </a:solidFill>
              <a:latin typeface="Calibri"/>
              <a:ea typeface="Calibri"/>
              <a:cs typeface="Calibri"/>
              <a:sym typeface="Calibri"/>
            </a:endParaRPr>
          </a:p>
        </p:txBody>
      </p:sp>
      <p:sp>
        <p:nvSpPr>
          <p:cNvPr id="1521" name="Google Shape;1521;p1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117</a:t>
            </a:r>
            <a:endParaRPr b="0" i="0" sz="1000" u="none" cap="none" strike="noStrike">
              <a:solidFill>
                <a:schemeClr val="dk1"/>
              </a:solidFill>
              <a:latin typeface="Calibri"/>
              <a:ea typeface="Calibri"/>
              <a:cs typeface="Calibri"/>
              <a:sym typeface="Calibri"/>
            </a:endParaRPr>
          </a:p>
        </p:txBody>
      </p:sp>
      <p:pic>
        <p:nvPicPr>
          <p:cNvPr descr="/home/claude/work/assets/rh-logo.png" id="1522" name="Google Shape;1522;p1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7" name="Shape 1527"/>
        <p:cNvGrpSpPr/>
        <p:nvPr/>
      </p:nvGrpSpPr>
      <p:grpSpPr>
        <a:xfrm>
          <a:off x="0" y="0"/>
          <a:ext cx="0" cy="0"/>
          <a:chOff x="0" y="0"/>
          <a:chExt cx="0" cy="0"/>
        </a:xfrm>
      </p:grpSpPr>
      <p:sp>
        <p:nvSpPr>
          <p:cNvPr id="1528" name="Google Shape;1528;p1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29" name="Google Shape;1529;p1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 DLQ with Spring Kafka</a:t>
            </a:r>
            <a:endParaRPr b="0" i="0" sz="3000" u="none" cap="none" strike="noStrike">
              <a:solidFill>
                <a:schemeClr val="dk1"/>
              </a:solidFill>
              <a:latin typeface="Calibri"/>
              <a:ea typeface="Calibri"/>
              <a:cs typeface="Calibri"/>
              <a:sym typeface="Calibri"/>
            </a:endParaRPr>
          </a:p>
        </p:txBody>
      </p:sp>
      <p:sp>
        <p:nvSpPr>
          <p:cNvPr id="1530" name="Google Shape;1530;p14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40"/>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Kafka</a:t>
            </a:r>
            <a:endParaRPr b="0" i="0" sz="1000" u="none" cap="none" strike="noStrike">
              <a:solidFill>
                <a:schemeClr val="dk1"/>
              </a:solidFill>
              <a:latin typeface="Calibri"/>
              <a:ea typeface="Calibri"/>
              <a:cs typeface="Calibri"/>
              <a:sym typeface="Calibri"/>
            </a:endParaRPr>
          </a:p>
        </p:txBody>
      </p:sp>
      <p:sp>
        <p:nvSpPr>
          <p:cNvPr id="1532" name="Google Shape;1532;p14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@Configuration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KafkaErrorConfig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@Bean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DefaultErrorHandler errorHandler(KafkaTemplate&lt;?, ?&gt; template)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route to orders.DLQ on terminal failure; commit offset; never block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dlt = new DeadLetterPublishingRecoverer(template,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(rec, ex) -&gt; new TopicPartition(rec.topic() + ".DLQ", rec.partition()));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in-place retries: 3 attempts, exponential backoff with jitter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backoff = new ExponentialBackOffWithMaxRetries(3);</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backoff.setInitialInterval(200);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backoff.setMultiplier(2.0);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backoff.setMaxInterval(5_000);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handler = new DefaultErrorHandler(dlt, backoff);</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handler.addNotRetryableExceptions(ValidationException.class);  // 4xx → DLQ now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handler;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@KafkaListener(topics = "orders", containerFactory = "manualAckFactory")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void consume(Order order)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handle(order);          // handler retries; exhausted → DLQ; offset commits either way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33" name="Google Shape;1533;p14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DefaultErrorHandler + DeadLetterPublishingRecoverer with backoff — declaratively, so a poison record can't stall the partition.</a:t>
            </a:r>
            <a:endParaRPr b="0" i="0" sz="1300" u="none" cap="none" strike="noStrike">
              <a:solidFill>
                <a:schemeClr val="dk1"/>
              </a:solidFill>
              <a:latin typeface="Calibri"/>
              <a:ea typeface="Calibri"/>
              <a:cs typeface="Calibri"/>
              <a:sym typeface="Calibri"/>
            </a:endParaRPr>
          </a:p>
        </p:txBody>
      </p:sp>
      <p:sp>
        <p:nvSpPr>
          <p:cNvPr id="1534" name="Google Shape;1534;p1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118</a:t>
            </a:r>
            <a:endParaRPr b="0" i="0" sz="1000" u="none" cap="none" strike="noStrike">
              <a:solidFill>
                <a:schemeClr val="dk1"/>
              </a:solidFill>
              <a:latin typeface="Calibri"/>
              <a:ea typeface="Calibri"/>
              <a:cs typeface="Calibri"/>
              <a:sym typeface="Calibri"/>
            </a:endParaRPr>
          </a:p>
        </p:txBody>
      </p:sp>
      <p:pic>
        <p:nvPicPr>
          <p:cNvPr descr="/home/claude/work/assets/rh-logo.png" id="1535" name="Google Shape;1535;p1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0" name="Shape 1540"/>
        <p:cNvGrpSpPr/>
        <p:nvPr/>
      </p:nvGrpSpPr>
      <p:grpSpPr>
        <a:xfrm>
          <a:off x="0" y="0"/>
          <a:ext cx="0" cy="0"/>
          <a:chOff x="0" y="0"/>
          <a:chExt cx="0" cy="0"/>
        </a:xfrm>
      </p:grpSpPr>
      <p:sp>
        <p:nvSpPr>
          <p:cNvPr id="1541" name="Google Shape;1541;p1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42" name="Google Shape;1542;p1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partial success with errors[]</a:t>
            </a:r>
            <a:endParaRPr b="0" i="0" sz="3000" u="none" cap="none" strike="noStrike">
              <a:solidFill>
                <a:schemeClr val="dk1"/>
              </a:solidFill>
              <a:latin typeface="Calibri"/>
              <a:ea typeface="Calibri"/>
              <a:cs typeface="Calibri"/>
              <a:sym typeface="Calibri"/>
            </a:endParaRPr>
          </a:p>
        </p:txBody>
      </p:sp>
      <p:pic>
        <p:nvPicPr>
          <p:cNvPr descr="/home/claude/work/png-sb/40-appE-graphql-errors.png" id="1543" name="Google Shape;1543;p14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544" name="Google Shape;1544;p1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200; the failed field is null and explained in errors[] with a machine code in extensions.</a:t>
            </a:r>
            <a:endParaRPr b="0" i="0" sz="1200" u="none" cap="none" strike="noStrike">
              <a:solidFill>
                <a:schemeClr val="dk1"/>
              </a:solidFill>
              <a:latin typeface="Calibri"/>
              <a:ea typeface="Calibri"/>
              <a:cs typeface="Calibri"/>
              <a:sym typeface="Calibri"/>
            </a:endParaRPr>
          </a:p>
        </p:txBody>
      </p:sp>
      <p:sp>
        <p:nvSpPr>
          <p:cNvPr id="1545" name="Google Shape;1545;p1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119</a:t>
            </a:r>
            <a:endParaRPr b="0" i="0" sz="1000" u="none" cap="none" strike="noStrike">
              <a:solidFill>
                <a:schemeClr val="dk1"/>
              </a:solidFill>
              <a:latin typeface="Calibri"/>
              <a:ea typeface="Calibri"/>
              <a:cs typeface="Calibri"/>
              <a:sym typeface="Calibri"/>
            </a:endParaRPr>
          </a:p>
        </p:txBody>
      </p:sp>
      <p:pic>
        <p:nvPicPr>
          <p:cNvPr descr="/home/claude/work/assets/rh-logo.png" id="1546" name="Google Shape;1546;p1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1" name="Shape 1551"/>
        <p:cNvGrpSpPr/>
        <p:nvPr/>
      </p:nvGrpSpPr>
      <p:grpSpPr>
        <a:xfrm>
          <a:off x="0" y="0"/>
          <a:ext cx="0" cy="0"/>
          <a:chOff x="0" y="0"/>
          <a:chExt cx="0" cy="0"/>
        </a:xfrm>
      </p:grpSpPr>
      <p:sp>
        <p:nvSpPr>
          <p:cNvPr id="1552" name="Google Shape;1552;p1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53" name="Google Shape;1553;p1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field errors with Spring for GraphQL</a:t>
            </a:r>
            <a:endParaRPr b="0" i="0" sz="3000" u="none" cap="none" strike="noStrike">
              <a:solidFill>
                <a:schemeClr val="dk1"/>
              </a:solidFill>
              <a:latin typeface="Calibri"/>
              <a:ea typeface="Calibri"/>
              <a:cs typeface="Calibri"/>
              <a:sym typeface="Calibri"/>
            </a:endParaRPr>
          </a:p>
        </p:txBody>
      </p:sp>
      <p:sp>
        <p:nvSpPr>
          <p:cNvPr id="1554" name="Google Shape;1554;p14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42"/>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for GraphQL</a:t>
            </a:r>
            <a:endParaRPr b="0" i="0" sz="1000" u="none" cap="none" strike="noStrike">
              <a:solidFill>
                <a:schemeClr val="dk1"/>
              </a:solidFill>
              <a:latin typeface="Calibri"/>
              <a:ea typeface="Calibri"/>
              <a:cs typeface="Calibri"/>
              <a:sym typeface="Calibri"/>
            </a:endParaRPr>
          </a:p>
        </p:txBody>
      </p:sp>
      <p:sp>
        <p:nvSpPr>
          <p:cNvPr id="1556" name="Google Shape;1556;p14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@Component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GraphQLExceptionResolver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extends DataFetcherExceptionResolverAdapter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@Override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protected GraphQLError resolveToSingleError(Throwable ex,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DataFetchingEnvironment env)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(ex instanceof InventoryUnavailable iu)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GraphqlErrorBuilder.newError(env)</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.errorType(ErrorType.UNAVAILABLE)              // standard category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.message(iu.getMessage())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.path(env.getExecutionStepInfo().getPath())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.extensions(Map.of(code, retryable, traceId))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.build();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null;          // delegate to the next resolver / Spring default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@Controller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OrderGraphQLController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@SchemaMapping(typeName = "Order", field = "stock")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Integer stock(Order order) {                // one field's resolver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calls inventory; on Unavailable throws InventoryUnavailable (nulls the field)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57" name="Google Shape;1557;p14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Throw from the field resolver; a DataFetcherExceptionResolver nulls that field and adds it to errors[] with code + retryable + traceId in extensions.</a:t>
            </a:r>
            <a:endParaRPr b="0" i="0" sz="1300" u="none" cap="none" strike="noStrike">
              <a:solidFill>
                <a:schemeClr val="dk1"/>
              </a:solidFill>
              <a:latin typeface="Calibri"/>
              <a:ea typeface="Calibri"/>
              <a:cs typeface="Calibri"/>
              <a:sym typeface="Calibri"/>
            </a:endParaRPr>
          </a:p>
        </p:txBody>
      </p:sp>
      <p:sp>
        <p:nvSpPr>
          <p:cNvPr id="1558" name="Google Shape;1558;p1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120</a:t>
            </a:r>
            <a:endParaRPr b="0" i="0" sz="1000" u="none" cap="none" strike="noStrike">
              <a:solidFill>
                <a:schemeClr val="dk1"/>
              </a:solidFill>
              <a:latin typeface="Calibri"/>
              <a:ea typeface="Calibri"/>
              <a:cs typeface="Calibri"/>
              <a:sym typeface="Calibri"/>
            </a:endParaRPr>
          </a:p>
        </p:txBody>
      </p:sp>
      <p:pic>
        <p:nvPicPr>
          <p:cNvPr descr="/home/claude/work/assets/rh-logo.png" id="1559" name="Google Shape;1559;p14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4" name="Shape 1564"/>
        <p:cNvGrpSpPr/>
        <p:nvPr/>
      </p:nvGrpSpPr>
      <p:grpSpPr>
        <a:xfrm>
          <a:off x="0" y="0"/>
          <a:ext cx="0" cy="0"/>
          <a:chOff x="0" y="0"/>
          <a:chExt cx="0" cy="0"/>
        </a:xfrm>
      </p:grpSpPr>
      <p:sp>
        <p:nvSpPr>
          <p:cNvPr id="1565" name="Google Shape;1565;p1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66" name="Google Shape;1566;p1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a retry storm forms — and how to stop it</a:t>
            </a:r>
            <a:endParaRPr b="0" i="0" sz="3000" u="none" cap="none" strike="noStrike">
              <a:solidFill>
                <a:schemeClr val="dk1"/>
              </a:solidFill>
              <a:latin typeface="Calibri"/>
              <a:ea typeface="Calibri"/>
              <a:cs typeface="Calibri"/>
              <a:sym typeface="Calibri"/>
            </a:endParaRPr>
          </a:p>
        </p:txBody>
      </p:sp>
      <p:pic>
        <p:nvPicPr>
          <p:cNvPr descr="/home/claude/work/png-sb/41-appE-retry-storm.png" id="1567" name="Google Shape;1567;p14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68" name="Google Shape;1568;p14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Naive retries multiply load on a struggling service; bounded, spaced, circuit-broken retries break the feedback loop.</a:t>
            </a:r>
            <a:endParaRPr b="0" i="0" sz="1200" u="none" cap="none" strike="noStrike">
              <a:solidFill>
                <a:schemeClr val="dk1"/>
              </a:solidFill>
              <a:latin typeface="Calibri"/>
              <a:ea typeface="Calibri"/>
              <a:cs typeface="Calibri"/>
              <a:sym typeface="Calibri"/>
            </a:endParaRPr>
          </a:p>
        </p:txBody>
      </p:sp>
      <p:sp>
        <p:nvSpPr>
          <p:cNvPr id="1569" name="Google Shape;1569;p1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121</a:t>
            </a:r>
            <a:endParaRPr b="0" i="0" sz="1000" u="none" cap="none" strike="noStrike">
              <a:solidFill>
                <a:schemeClr val="dk1"/>
              </a:solidFill>
              <a:latin typeface="Calibri"/>
              <a:ea typeface="Calibri"/>
              <a:cs typeface="Calibri"/>
              <a:sym typeface="Calibri"/>
            </a:endParaRPr>
          </a:p>
        </p:txBody>
      </p:sp>
      <p:pic>
        <p:nvPicPr>
          <p:cNvPr descr="/home/claude/work/assets/rh-logo.png" id="1570" name="Google Shape;1570;p1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5" name="Shape 1575"/>
        <p:cNvGrpSpPr/>
        <p:nvPr/>
      </p:nvGrpSpPr>
      <p:grpSpPr>
        <a:xfrm>
          <a:off x="0" y="0"/>
          <a:ext cx="0" cy="0"/>
          <a:chOff x="0" y="0"/>
          <a:chExt cx="0" cy="0"/>
        </a:xfrm>
      </p:grpSpPr>
      <p:sp>
        <p:nvSpPr>
          <p:cNvPr id="1576" name="Google Shape;1576;p1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77" name="Google Shape;1577;p1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Error-handling heuristics across all four</a:t>
            </a:r>
            <a:endParaRPr b="0" i="0" sz="3000" u="none" cap="none" strike="noStrike">
              <a:solidFill>
                <a:schemeClr val="dk1"/>
              </a:solidFill>
              <a:latin typeface="Calibri"/>
              <a:ea typeface="Calibri"/>
              <a:cs typeface="Calibri"/>
              <a:sym typeface="Calibri"/>
            </a:endParaRPr>
          </a:p>
        </p:txBody>
      </p:sp>
      <p:sp>
        <p:nvSpPr>
          <p:cNvPr id="1578" name="Google Shape;1578;p14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contract, four encodings: a stable code, a safe message, a trace id, a retryable flag, field details — everywhere.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category lives in the protocol: HTTP status, gRPC code, GraphQL errors[] entry, Kafka DLQ vs retry topic.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retryability explicit and honour it: Retry-After, RetryInfo, extensions.retryable — don't make clients guess.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leak internals: no stack traces, SQL, or class names on the wire; map them to a code and log the detail server-side.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 every retry (@Timeout, @Retry + jitter, @CircuitBreaker, retry budget) and make handlers idempotent.</a:t>
            </a:r>
            <a:endParaRPr b="0" i="0" sz="1700" u="none" cap="none" strike="noStrike">
              <a:solidFill>
                <a:schemeClr val="dk1"/>
              </a:solidFill>
              <a:latin typeface="Calibri"/>
              <a:ea typeface="Calibri"/>
              <a:cs typeface="Calibri"/>
              <a:sym typeface="Calibri"/>
            </a:endParaRPr>
          </a:p>
        </p:txBody>
      </p:sp>
      <p:sp>
        <p:nvSpPr>
          <p:cNvPr id="1579" name="Google Shape;1579;p1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122</a:t>
            </a:r>
            <a:endParaRPr b="0" i="0" sz="1000" u="none" cap="none" strike="noStrike">
              <a:solidFill>
                <a:schemeClr val="dk1"/>
              </a:solidFill>
              <a:latin typeface="Calibri"/>
              <a:ea typeface="Calibri"/>
              <a:cs typeface="Calibri"/>
              <a:sym typeface="Calibri"/>
            </a:endParaRPr>
          </a:p>
        </p:txBody>
      </p:sp>
      <p:pic>
        <p:nvPicPr>
          <p:cNvPr descr="/home/claude/work/assets/rh-logo.png" id="1580" name="Google Shape;1580;p1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585" name="Shape 1585"/>
        <p:cNvGrpSpPr/>
        <p:nvPr/>
      </p:nvGrpSpPr>
      <p:grpSpPr>
        <a:xfrm>
          <a:off x="0" y="0"/>
          <a:ext cx="0" cy="0"/>
          <a:chOff x="0" y="0"/>
          <a:chExt cx="0" cy="0"/>
        </a:xfrm>
      </p:grpSpPr>
      <p:pic>
        <p:nvPicPr>
          <p:cNvPr descr="/home/claude/work/assets/rh-divider-bg.png" id="1586" name="Google Shape;1586;p14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587" name="Google Shape;1587;p14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F</a:t>
            </a:r>
            <a:endParaRPr b="0" i="0" sz="2200" u="none" cap="none" strike="noStrike">
              <a:solidFill>
                <a:schemeClr val="dk1"/>
              </a:solidFill>
              <a:latin typeface="Calibri"/>
              <a:ea typeface="Calibri"/>
              <a:cs typeface="Calibri"/>
              <a:sym typeface="Calibri"/>
            </a:endParaRPr>
          </a:p>
        </p:txBody>
      </p:sp>
      <p:sp>
        <p:nvSpPr>
          <p:cNvPr id="1588" name="Google Shape;1588;p14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F · DDD &amp; Hexagonal Architecture</a:t>
            </a:r>
            <a:endParaRPr b="0" i="0" sz="4000" u="none" cap="none" strike="noStrike">
              <a:solidFill>
                <a:schemeClr val="dk1"/>
              </a:solidFill>
              <a:latin typeface="Calibri"/>
              <a:ea typeface="Calibri"/>
              <a:cs typeface="Calibri"/>
              <a:sym typeface="Calibri"/>
            </a:endParaRPr>
          </a:p>
        </p:txBody>
      </p:sp>
      <p:sp>
        <p:nvSpPr>
          <p:cNvPr id="1589" name="Google Shape;1589;p14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the boundaries and the contracts come from.</a:t>
            </a:r>
            <a:endParaRPr b="0" i="0" sz="1500" u="none" cap="none" strike="noStrike">
              <a:solidFill>
                <a:schemeClr val="dk1"/>
              </a:solidFill>
              <a:latin typeface="Calibri"/>
              <a:ea typeface="Calibri"/>
              <a:cs typeface="Calibri"/>
              <a:sym typeface="Calibri"/>
            </a:endParaRPr>
          </a:p>
        </p:txBody>
      </p:sp>
      <p:pic>
        <p:nvPicPr>
          <p:cNvPr descr="/home/claude/work/assets/rh-logo-white.png" id="1590" name="Google Shape;1590;p1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5" name="Shape 1595"/>
        <p:cNvGrpSpPr/>
        <p:nvPr/>
      </p:nvGrpSpPr>
      <p:grpSpPr>
        <a:xfrm>
          <a:off x="0" y="0"/>
          <a:ext cx="0" cy="0"/>
          <a:chOff x="0" y="0"/>
          <a:chExt cx="0" cy="0"/>
        </a:xfrm>
      </p:grpSpPr>
      <p:sp>
        <p:nvSpPr>
          <p:cNvPr id="1596" name="Google Shape;1596;p1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97" name="Google Shape;1597;p1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DDD belongs in an API talk</a:t>
            </a:r>
            <a:endParaRPr b="0" i="0" sz="3000" u="none" cap="none" strike="noStrike">
              <a:solidFill>
                <a:schemeClr val="dk1"/>
              </a:solidFill>
              <a:latin typeface="Calibri"/>
              <a:ea typeface="Calibri"/>
              <a:cs typeface="Calibri"/>
              <a:sym typeface="Calibri"/>
            </a:endParaRPr>
          </a:p>
        </p:txBody>
      </p:sp>
      <p:sp>
        <p:nvSpPr>
          <p:cNvPr id="1598" name="Google Shape;1598;p14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API is a contract between two bounded contexts — so “where's the boundary?” and “what does the contract say?” are DDD questions before they're API questions.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Strategic DDD places the boundaries: subdomains (core, supporting, generic) and bounded contexts, each with its own model and ubiquitous language.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Tactical DDD models what's inside: aggregates (consistency boundaries), entities, value objects and domain events — which become your resources and your Kafka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Hexagonal architecture keeps it clean: the domain core is isolated, and REST, gRPC, GraphQL and Kafka are just adapters plugged into ports.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Get the boundaries right and the APIs almost design themselves; get them wrong and no amount of REST polish will save you.</a:t>
            </a:r>
            <a:endParaRPr b="0" i="0" sz="1700" u="none" cap="none" strike="noStrike">
              <a:solidFill>
                <a:schemeClr val="dk1"/>
              </a:solidFill>
              <a:latin typeface="Calibri"/>
              <a:ea typeface="Calibri"/>
              <a:cs typeface="Calibri"/>
              <a:sym typeface="Calibri"/>
            </a:endParaRPr>
          </a:p>
        </p:txBody>
      </p:sp>
      <p:sp>
        <p:nvSpPr>
          <p:cNvPr id="1599" name="Google Shape;1599;p1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123</a:t>
            </a:r>
            <a:endParaRPr b="0" i="0" sz="1000" u="none" cap="none" strike="noStrike">
              <a:solidFill>
                <a:schemeClr val="dk1"/>
              </a:solidFill>
              <a:latin typeface="Calibri"/>
              <a:ea typeface="Calibri"/>
              <a:cs typeface="Calibri"/>
              <a:sym typeface="Calibri"/>
            </a:endParaRPr>
          </a:p>
        </p:txBody>
      </p:sp>
      <p:pic>
        <p:nvPicPr>
          <p:cNvPr descr="/home/claude/work/assets/rh-logo.png" id="1600" name="Google Shape;1600;p14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5" name="Shape 1605"/>
        <p:cNvGrpSpPr/>
        <p:nvPr/>
      </p:nvGrpSpPr>
      <p:grpSpPr>
        <a:xfrm>
          <a:off x="0" y="0"/>
          <a:ext cx="0" cy="0"/>
          <a:chOff x="0" y="0"/>
          <a:chExt cx="0" cy="0"/>
        </a:xfrm>
      </p:grpSpPr>
      <p:sp>
        <p:nvSpPr>
          <p:cNvPr id="1606" name="Google Shape;1606;p1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07" name="Google Shape;1607;p1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Strategic DDD: subdomains &amp; bounded contexts</a:t>
            </a:r>
            <a:endParaRPr b="0" i="0" sz="3000" u="none" cap="none" strike="noStrike">
              <a:solidFill>
                <a:schemeClr val="dk1"/>
              </a:solidFill>
              <a:latin typeface="Calibri"/>
              <a:ea typeface="Calibri"/>
              <a:cs typeface="Calibri"/>
              <a:sym typeface="Calibri"/>
            </a:endParaRPr>
          </a:p>
        </p:txBody>
      </p:sp>
      <p:pic>
        <p:nvPicPr>
          <p:cNvPr descr="/home/claude/work/png-sb/45-appF-ddd-strategic.png" id="1608" name="Google Shape;1608;p14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609" name="Google Shape;1609;p14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Place boundaries by business value and rate of change; each context owns one model and exposes it through an API.</a:t>
            </a:r>
            <a:endParaRPr b="0" i="0" sz="1200" u="none" cap="none" strike="noStrike">
              <a:solidFill>
                <a:schemeClr val="dk1"/>
              </a:solidFill>
              <a:latin typeface="Calibri"/>
              <a:ea typeface="Calibri"/>
              <a:cs typeface="Calibri"/>
              <a:sym typeface="Calibri"/>
            </a:endParaRPr>
          </a:p>
        </p:txBody>
      </p:sp>
      <p:sp>
        <p:nvSpPr>
          <p:cNvPr id="1610" name="Google Shape;1610;p1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124</a:t>
            </a:r>
            <a:endParaRPr b="0" i="0" sz="1000" u="none" cap="none" strike="noStrike">
              <a:solidFill>
                <a:schemeClr val="dk1"/>
              </a:solidFill>
              <a:latin typeface="Calibri"/>
              <a:ea typeface="Calibri"/>
              <a:cs typeface="Calibri"/>
              <a:sym typeface="Calibri"/>
            </a:endParaRPr>
          </a:p>
        </p:txBody>
      </p:sp>
      <p:pic>
        <p:nvPicPr>
          <p:cNvPr descr="/home/claude/work/assets/rh-logo.png" id="1611" name="Google Shape;1611;p14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6" name="Shape 1616"/>
        <p:cNvGrpSpPr/>
        <p:nvPr/>
      </p:nvGrpSpPr>
      <p:grpSpPr>
        <a:xfrm>
          <a:off x="0" y="0"/>
          <a:ext cx="0" cy="0"/>
          <a:chOff x="0" y="0"/>
          <a:chExt cx="0" cy="0"/>
        </a:xfrm>
      </p:grpSpPr>
      <p:sp>
        <p:nvSpPr>
          <p:cNvPr id="1617" name="Google Shape;1617;p1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18" name="Google Shape;1618;p1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bounded context is a service-and-API boundary</a:t>
            </a:r>
            <a:endParaRPr b="0" i="0" sz="3000" u="none" cap="none" strike="noStrike">
              <a:solidFill>
                <a:schemeClr val="dk1"/>
              </a:solidFill>
              <a:latin typeface="Calibri"/>
              <a:ea typeface="Calibri"/>
              <a:cs typeface="Calibri"/>
              <a:sym typeface="Calibri"/>
            </a:endParaRPr>
          </a:p>
        </p:txBody>
      </p:sp>
      <p:sp>
        <p:nvSpPr>
          <p:cNvPr id="1619" name="Google Shape;1619;p14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bounded context is the scope within which one model and one ubiquitous language stay consistent — the natural unit for a service and its API.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same word means different things across contexts: an “order” in fulfillment is not an “order” in billing. Don't force one shared model across the system.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context's published API is its only public surface; the schema, storage and internal types stay private — this is the “no leaky internal models” rule from anti-patterns, restated.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Put boundaries where the business naturally splits and where a team can own them end-to-end (Conway's law) — that's where the integration cost is worth paying.</a:t>
            </a:r>
            <a:endParaRPr b="0" i="0" sz="1700" u="none" cap="none" strike="noStrike">
              <a:solidFill>
                <a:schemeClr val="dk1"/>
              </a:solidFill>
              <a:latin typeface="Calibri"/>
              <a:ea typeface="Calibri"/>
              <a:cs typeface="Calibri"/>
              <a:sym typeface="Calibri"/>
            </a:endParaRPr>
          </a:p>
        </p:txBody>
      </p:sp>
      <p:sp>
        <p:nvSpPr>
          <p:cNvPr id="1620" name="Google Shape;1620;p1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125</a:t>
            </a:r>
            <a:endParaRPr b="0" i="0" sz="1000" u="none" cap="none" strike="noStrike">
              <a:solidFill>
                <a:schemeClr val="dk1"/>
              </a:solidFill>
              <a:latin typeface="Calibri"/>
              <a:ea typeface="Calibri"/>
              <a:cs typeface="Calibri"/>
              <a:sym typeface="Calibri"/>
            </a:endParaRPr>
          </a:p>
        </p:txBody>
      </p:sp>
      <p:pic>
        <p:nvPicPr>
          <p:cNvPr descr="/home/claude/work/assets/rh-logo.png" id="1621" name="Google Shape;1621;p1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6" name="Shape 1626"/>
        <p:cNvGrpSpPr/>
        <p:nvPr/>
      </p:nvGrpSpPr>
      <p:grpSpPr>
        <a:xfrm>
          <a:off x="0" y="0"/>
          <a:ext cx="0" cy="0"/>
          <a:chOff x="0" y="0"/>
          <a:chExt cx="0" cy="0"/>
        </a:xfrm>
      </p:grpSpPr>
      <p:sp>
        <p:nvSpPr>
          <p:cNvPr id="1627" name="Google Shape;1627;p1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28" name="Google Shape;1628;p1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Context mapping: how contexts integrate</a:t>
            </a:r>
            <a:endParaRPr b="0" i="0" sz="3000" u="none" cap="none" strike="noStrike">
              <a:solidFill>
                <a:schemeClr val="dk1"/>
              </a:solidFill>
              <a:latin typeface="Calibri"/>
              <a:ea typeface="Calibri"/>
              <a:cs typeface="Calibri"/>
              <a:sym typeface="Calibri"/>
            </a:endParaRPr>
          </a:p>
        </p:txBody>
      </p:sp>
      <p:pic>
        <p:nvPicPr>
          <p:cNvPr descr="/home/claude/work/png-sb/46-appF-context-map.png" id="1629" name="Google Shape;1629;p149"/>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30" name="Google Shape;1630;p1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relationship patterns between contexts, and which ones your API implements.</a:t>
            </a:r>
            <a:endParaRPr b="0" i="0" sz="1200" u="none" cap="none" strike="noStrike">
              <a:solidFill>
                <a:schemeClr val="dk1"/>
              </a:solidFill>
              <a:latin typeface="Calibri"/>
              <a:ea typeface="Calibri"/>
              <a:cs typeface="Calibri"/>
              <a:sym typeface="Calibri"/>
            </a:endParaRPr>
          </a:p>
        </p:txBody>
      </p:sp>
      <p:sp>
        <p:nvSpPr>
          <p:cNvPr id="1631" name="Google Shape;1631;p1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126</a:t>
            </a:r>
            <a:endParaRPr b="0" i="0" sz="1000" u="none" cap="none" strike="noStrike">
              <a:solidFill>
                <a:schemeClr val="dk1"/>
              </a:solidFill>
              <a:latin typeface="Calibri"/>
              <a:ea typeface="Calibri"/>
              <a:cs typeface="Calibri"/>
              <a:sym typeface="Calibri"/>
            </a:endParaRPr>
          </a:p>
        </p:txBody>
      </p:sp>
      <p:pic>
        <p:nvPicPr>
          <p:cNvPr descr="/home/claude/work/assets/rh-logo.png" id="1632" name="Google Shape;1632;p1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7" name="Shape 1637"/>
        <p:cNvGrpSpPr/>
        <p:nvPr/>
      </p:nvGrpSpPr>
      <p:grpSpPr>
        <a:xfrm>
          <a:off x="0" y="0"/>
          <a:ext cx="0" cy="0"/>
          <a:chOff x="0" y="0"/>
          <a:chExt cx="0" cy="0"/>
        </a:xfrm>
      </p:grpSpPr>
      <p:sp>
        <p:nvSpPr>
          <p:cNvPr id="1638" name="Google Shape;1638;p1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39" name="Google Shape;1639;p1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Open-Host Service &amp; Published Language</a:t>
            </a:r>
            <a:endParaRPr b="0" i="0" sz="3000" u="none" cap="none" strike="noStrike">
              <a:solidFill>
                <a:schemeClr val="dk1"/>
              </a:solidFill>
              <a:latin typeface="Calibri"/>
              <a:ea typeface="Calibri"/>
              <a:cs typeface="Calibri"/>
              <a:sym typeface="Calibri"/>
            </a:endParaRPr>
          </a:p>
        </p:txBody>
      </p:sp>
      <p:sp>
        <p:nvSpPr>
          <p:cNvPr id="1640" name="Google Shape;1640;p1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a context integrated by many publishes a stable, documented API as its public protocol — that's your REST / gRPC / GraphQL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Published Language: the shared, versioned schema that API speaks (OpenAPI, .proto, Avro), which is exactly what lives in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when you consume another context, translate their model into yours at the edge so their concepts never leak into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Conformist is the cheap opposite — accept their model wholesale and inherit their changes; choose an ACL instead when the upstream model is messy or volatile.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So the registry-backed contract from section 9 is a Published Language, and edge/gateway translation is an Anticorruption Layer.</a:t>
            </a:r>
            <a:endParaRPr b="0" i="0" sz="1700" u="none" cap="none" strike="noStrike">
              <a:solidFill>
                <a:schemeClr val="dk1"/>
              </a:solidFill>
              <a:latin typeface="Calibri"/>
              <a:ea typeface="Calibri"/>
              <a:cs typeface="Calibri"/>
              <a:sym typeface="Calibri"/>
            </a:endParaRPr>
          </a:p>
        </p:txBody>
      </p:sp>
      <p:sp>
        <p:nvSpPr>
          <p:cNvPr id="1641" name="Google Shape;1641;p1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127</a:t>
            </a:r>
            <a:endParaRPr b="0" i="0" sz="1000" u="none" cap="none" strike="noStrike">
              <a:solidFill>
                <a:schemeClr val="dk1"/>
              </a:solidFill>
              <a:latin typeface="Calibri"/>
              <a:ea typeface="Calibri"/>
              <a:cs typeface="Calibri"/>
              <a:sym typeface="Calibri"/>
            </a:endParaRPr>
          </a:p>
        </p:txBody>
      </p:sp>
      <p:pic>
        <p:nvPicPr>
          <p:cNvPr descr="/home/claude/work/assets/rh-logo.png" id="1642" name="Google Shape;1642;p1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7" name="Shape 1647"/>
        <p:cNvGrpSpPr/>
        <p:nvPr/>
      </p:nvGrpSpPr>
      <p:grpSpPr>
        <a:xfrm>
          <a:off x="0" y="0"/>
          <a:ext cx="0" cy="0"/>
          <a:chOff x="0" y="0"/>
          <a:chExt cx="0" cy="0"/>
        </a:xfrm>
      </p:grpSpPr>
      <p:sp>
        <p:nvSpPr>
          <p:cNvPr id="1648" name="Google Shape;1648;p1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49" name="Google Shape;1649;p1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Hexagonal architecture: ports &amp; adapters</a:t>
            </a:r>
            <a:endParaRPr b="0" i="0" sz="3000" u="none" cap="none" strike="noStrike">
              <a:solidFill>
                <a:schemeClr val="dk1"/>
              </a:solidFill>
              <a:latin typeface="Calibri"/>
              <a:ea typeface="Calibri"/>
              <a:cs typeface="Calibri"/>
              <a:sym typeface="Calibri"/>
            </a:endParaRPr>
          </a:p>
        </p:txBody>
      </p:sp>
      <p:pic>
        <p:nvPicPr>
          <p:cNvPr descr="/home/claude/work/png-sb/47-appF-hexagonal.png" id="1650" name="Google Shape;1650;p151"/>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51" name="Google Shape;1651;p1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domain core is isolated; REST, gRPC, GraphQL and Kafka are just adapters that plug into ports.</a:t>
            </a:r>
            <a:endParaRPr b="0" i="0" sz="1200" u="none" cap="none" strike="noStrike">
              <a:solidFill>
                <a:schemeClr val="dk1"/>
              </a:solidFill>
              <a:latin typeface="Calibri"/>
              <a:ea typeface="Calibri"/>
              <a:cs typeface="Calibri"/>
              <a:sym typeface="Calibri"/>
            </a:endParaRPr>
          </a:p>
        </p:txBody>
      </p:sp>
      <p:sp>
        <p:nvSpPr>
          <p:cNvPr id="1652" name="Google Shape;1652;p1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128</a:t>
            </a:r>
            <a:endParaRPr b="0" i="0" sz="1000" u="none" cap="none" strike="noStrike">
              <a:solidFill>
                <a:schemeClr val="dk1"/>
              </a:solidFill>
              <a:latin typeface="Calibri"/>
              <a:ea typeface="Calibri"/>
              <a:cs typeface="Calibri"/>
              <a:sym typeface="Calibri"/>
            </a:endParaRPr>
          </a:p>
        </p:txBody>
      </p:sp>
      <p:pic>
        <p:nvPicPr>
          <p:cNvPr descr="/home/claude/work/assets/rh-logo.png" id="1653" name="Google Shape;1653;p1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8" name="Shape 1658"/>
        <p:cNvGrpSpPr/>
        <p:nvPr/>
      </p:nvGrpSpPr>
      <p:grpSpPr>
        <a:xfrm>
          <a:off x="0" y="0"/>
          <a:ext cx="0" cy="0"/>
          <a:chOff x="0" y="0"/>
          <a:chExt cx="0" cy="0"/>
        </a:xfrm>
      </p:grpSpPr>
      <p:sp>
        <p:nvSpPr>
          <p:cNvPr id="1659" name="Google Shape;1659;p1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60" name="Google Shape;1660;p1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Ports &amp; adapters in code</a:t>
            </a:r>
            <a:endParaRPr b="0" i="0" sz="3000" u="none" cap="none" strike="noStrike">
              <a:solidFill>
                <a:schemeClr val="dk1"/>
              </a:solidFill>
              <a:latin typeface="Calibri"/>
              <a:ea typeface="Calibri"/>
              <a:cs typeface="Calibri"/>
              <a:sym typeface="Calibri"/>
            </a:endParaRPr>
          </a:p>
        </p:txBody>
      </p:sp>
      <p:sp>
        <p:nvSpPr>
          <p:cNvPr id="1661" name="Google Shape;1661;p15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52"/>
          <p:cNvSpPr/>
          <p:nvPr/>
        </p:nvSpPr>
        <p:spPr>
          <a:xfrm>
            <a:off x="8404017" y="1700784"/>
            <a:ext cx="3129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ports &amp; adapters in Spring Boot</a:t>
            </a:r>
            <a:endParaRPr b="0" i="0" sz="1000" u="none" cap="none" strike="noStrike">
              <a:solidFill>
                <a:schemeClr val="dk1"/>
              </a:solidFill>
              <a:latin typeface="Calibri"/>
              <a:ea typeface="Calibri"/>
              <a:cs typeface="Calibri"/>
              <a:sym typeface="Calibri"/>
            </a:endParaRPr>
          </a:p>
        </p:txBody>
      </p:sp>
      <p:sp>
        <p:nvSpPr>
          <p:cNvPr id="1663" name="Google Shape;1663;p15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domain — the core declares the interfaces (ports) it needs; no framework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OrderRepository { void save(Order order); }       // outbound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EventPublisher  { void publish(DomainEvent e); }  // outbound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                                       // pure application logic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PlaceOrder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OrderRepository repo;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EventPublisher  events;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constructor injection: no framework leak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handle(PlaceOrderCmd cmd)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Order.create(cmd);      // aggregate enforces invariants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repo.save(order);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events.publish(new OrderPlaced(order.id()));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adapter — a driving adapter; gRPC/GraphQL adapters look the same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@RequestMapping("/orders")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OrderController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PlaceOrder placeOrder;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OrderController(PlaceOrder p) { this.placeOrder = p;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@PostMapping public Order place(@RequestBody OrderIn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placeOrder.handle(body.toCmd());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664" name="Google Shape;1664;p152"/>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domain depends only on ports it declares; Spring injects the adapters (JPA repo, Kafka publisher) by constructor. Swap or add one without touching PlaceOrder.</a:t>
            </a:r>
            <a:endParaRPr b="0" i="0" sz="1300" u="none" cap="none" strike="noStrike">
              <a:solidFill>
                <a:schemeClr val="dk1"/>
              </a:solidFill>
              <a:latin typeface="Calibri"/>
              <a:ea typeface="Calibri"/>
              <a:cs typeface="Calibri"/>
              <a:sym typeface="Calibri"/>
            </a:endParaRPr>
          </a:p>
        </p:txBody>
      </p:sp>
      <p:sp>
        <p:nvSpPr>
          <p:cNvPr id="1665" name="Google Shape;1665;p1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129</a:t>
            </a:r>
            <a:endParaRPr b="0" i="0" sz="1000" u="none" cap="none" strike="noStrike">
              <a:solidFill>
                <a:schemeClr val="dk1"/>
              </a:solidFill>
              <a:latin typeface="Calibri"/>
              <a:ea typeface="Calibri"/>
              <a:cs typeface="Calibri"/>
              <a:sym typeface="Calibri"/>
            </a:endParaRPr>
          </a:p>
        </p:txBody>
      </p:sp>
      <p:pic>
        <p:nvPicPr>
          <p:cNvPr descr="/home/claude/work/assets/rh-logo.png" id="1666" name="Google Shape;1666;p1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1" name="Shape 1671"/>
        <p:cNvGrpSpPr/>
        <p:nvPr/>
      </p:nvGrpSpPr>
      <p:grpSpPr>
        <a:xfrm>
          <a:off x="0" y="0"/>
          <a:ext cx="0" cy="0"/>
          <a:chOff x="0" y="0"/>
          <a:chExt cx="0" cy="0"/>
        </a:xfrm>
      </p:grpSpPr>
      <p:sp>
        <p:nvSpPr>
          <p:cNvPr id="1672" name="Google Shape;1672;p1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73" name="Google Shape;1673;p1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Aggregates and domain events</a:t>
            </a:r>
            <a:endParaRPr b="0" i="0" sz="3000" u="none" cap="none" strike="noStrike">
              <a:solidFill>
                <a:schemeClr val="dk1"/>
              </a:solidFill>
              <a:latin typeface="Calibri"/>
              <a:ea typeface="Calibri"/>
              <a:cs typeface="Calibri"/>
              <a:sym typeface="Calibri"/>
            </a:endParaRPr>
          </a:p>
        </p:txBody>
      </p:sp>
      <p:sp>
        <p:nvSpPr>
          <p:cNvPr id="1674" name="Google Shape;1674;p15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aggregate is a cluster of objects treated as one consistency unit — the boundary inside which invariants hold and a single transaction commits. It's usually what sits behind one API resource.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That makes the aggregate the natural transaction boundary, and therefore the outbox boundary: the state change and the domain event commit together (section 4).</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events (“OrderPlaced”) are first-class in DDD; they become the Kafka events other contexts react to (section 5) — choreography between bounded contexts.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Keep aggregates small: one aggregate per transaction, reference others by id, and let events connect them — which is exactly the saga story in Appendix D.</a:t>
            </a:r>
            <a:endParaRPr b="0" i="0" sz="1700" u="none" cap="none" strike="noStrike">
              <a:solidFill>
                <a:schemeClr val="dk1"/>
              </a:solidFill>
              <a:latin typeface="Calibri"/>
              <a:ea typeface="Calibri"/>
              <a:cs typeface="Calibri"/>
              <a:sym typeface="Calibri"/>
            </a:endParaRPr>
          </a:p>
        </p:txBody>
      </p:sp>
      <p:sp>
        <p:nvSpPr>
          <p:cNvPr id="1675" name="Google Shape;1675;p1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130</a:t>
            </a:r>
            <a:endParaRPr b="0" i="0" sz="1000" u="none" cap="none" strike="noStrike">
              <a:solidFill>
                <a:schemeClr val="dk1"/>
              </a:solidFill>
              <a:latin typeface="Calibri"/>
              <a:ea typeface="Calibri"/>
              <a:cs typeface="Calibri"/>
              <a:sym typeface="Calibri"/>
            </a:endParaRPr>
          </a:p>
        </p:txBody>
      </p:sp>
      <p:pic>
        <p:nvPicPr>
          <p:cNvPr descr="/home/claude/work/assets/rh-logo.png" id="1676" name="Google Shape;1676;p15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1" name="Shape 1681"/>
        <p:cNvGrpSpPr/>
        <p:nvPr/>
      </p:nvGrpSpPr>
      <p:grpSpPr>
        <a:xfrm>
          <a:off x="0" y="0"/>
          <a:ext cx="0" cy="0"/>
          <a:chOff x="0" y="0"/>
          <a:chExt cx="0" cy="0"/>
        </a:xfrm>
      </p:grpSpPr>
      <p:sp>
        <p:nvSpPr>
          <p:cNvPr id="1682" name="Google Shape;1682;p1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83" name="Google Shape;1683;p1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DDD maps to our API stack</a:t>
            </a:r>
            <a:endParaRPr b="0" i="0" sz="3000" u="none" cap="none" strike="noStrike">
              <a:solidFill>
                <a:schemeClr val="dk1"/>
              </a:solidFill>
              <a:latin typeface="Calibri"/>
              <a:ea typeface="Calibri"/>
              <a:cs typeface="Calibri"/>
              <a:sym typeface="Calibri"/>
            </a:endParaRPr>
          </a:p>
        </p:txBody>
      </p:sp>
      <p:sp>
        <p:nvSpPr>
          <p:cNvPr id="1684" name="Google Shape;1684;p1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Bounded context  →  a service and its API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 Published Language  →  the REST/gRPC/GraphQL contract +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  model translation at the gateway / consumer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Aggregate  →  an API resource and the transaction/outbox boundary behind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  →  a Kafka event other contexts consume.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 Vlad Khononov — Learning Domain-Driven Design (O'Reilly, 2021).</a:t>
            </a:r>
            <a:endParaRPr b="0" i="0" sz="1700" u="none" cap="none" strike="noStrike">
              <a:solidFill>
                <a:schemeClr val="dk1"/>
              </a:solidFill>
              <a:latin typeface="Calibri"/>
              <a:ea typeface="Calibri"/>
              <a:cs typeface="Calibri"/>
              <a:sym typeface="Calibri"/>
            </a:endParaRPr>
          </a:p>
        </p:txBody>
      </p:sp>
      <p:sp>
        <p:nvSpPr>
          <p:cNvPr id="1685" name="Google Shape;1685;p1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131</a:t>
            </a:r>
            <a:endParaRPr b="0" i="0" sz="1000" u="none" cap="none" strike="noStrike">
              <a:solidFill>
                <a:schemeClr val="dk1"/>
              </a:solidFill>
              <a:latin typeface="Calibri"/>
              <a:ea typeface="Calibri"/>
              <a:cs typeface="Calibri"/>
              <a:sym typeface="Calibri"/>
            </a:endParaRPr>
          </a:p>
        </p:txBody>
      </p:sp>
      <p:pic>
        <p:nvPicPr>
          <p:cNvPr descr="/home/claude/work/assets/rh-logo.png" id="1686" name="Google Shape;1686;p1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91" name="Shape 1691"/>
        <p:cNvGrpSpPr/>
        <p:nvPr/>
      </p:nvGrpSpPr>
      <p:grpSpPr>
        <a:xfrm>
          <a:off x="0" y="0"/>
          <a:ext cx="0" cy="0"/>
          <a:chOff x="0" y="0"/>
          <a:chExt cx="0" cy="0"/>
        </a:xfrm>
      </p:grpSpPr>
      <p:pic>
        <p:nvPicPr>
          <p:cNvPr descr="/home/claude/work/assets/rh-divider-bg.png" id="1692" name="Google Shape;1692;p15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93" name="Google Shape;1693;p15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G</a:t>
            </a:r>
            <a:endParaRPr b="0" i="0" sz="2200" u="none" cap="none" strike="noStrike">
              <a:solidFill>
                <a:schemeClr val="dk1"/>
              </a:solidFill>
              <a:latin typeface="Calibri"/>
              <a:ea typeface="Calibri"/>
              <a:cs typeface="Calibri"/>
              <a:sym typeface="Calibri"/>
            </a:endParaRPr>
          </a:p>
        </p:txBody>
      </p:sp>
      <p:sp>
        <p:nvSpPr>
          <p:cNvPr id="1694" name="Google Shape;1694;p15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G · Balancing Coupling</a:t>
            </a:r>
            <a:endParaRPr b="0" i="0" sz="4000" u="none" cap="none" strike="noStrike">
              <a:solidFill>
                <a:schemeClr val="dk1"/>
              </a:solidFill>
              <a:latin typeface="Calibri"/>
              <a:ea typeface="Calibri"/>
              <a:cs typeface="Calibri"/>
              <a:sym typeface="Calibri"/>
            </a:endParaRPr>
          </a:p>
        </p:txBody>
      </p:sp>
      <p:sp>
        <p:nvSpPr>
          <p:cNvPr id="1695" name="Google Shape;1695;p15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Coupling isn't the enemy — imbalance is.</a:t>
            </a:r>
            <a:endParaRPr b="0" i="0" sz="1500" u="none" cap="none" strike="noStrike">
              <a:solidFill>
                <a:schemeClr val="dk1"/>
              </a:solidFill>
              <a:latin typeface="Calibri"/>
              <a:ea typeface="Calibri"/>
              <a:cs typeface="Calibri"/>
              <a:sym typeface="Calibri"/>
            </a:endParaRPr>
          </a:p>
        </p:txBody>
      </p:sp>
      <p:pic>
        <p:nvPicPr>
          <p:cNvPr descr="/home/claude/work/assets/rh-logo-white.png" id="1696" name="Google Shape;1696;p1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1" name="Shape 1701"/>
        <p:cNvGrpSpPr/>
        <p:nvPr/>
      </p:nvGrpSpPr>
      <p:grpSpPr>
        <a:xfrm>
          <a:off x="0" y="0"/>
          <a:ext cx="0" cy="0"/>
          <a:chOff x="0" y="0"/>
          <a:chExt cx="0" cy="0"/>
        </a:xfrm>
      </p:grpSpPr>
      <p:sp>
        <p:nvSpPr>
          <p:cNvPr id="1702" name="Google Shape;1702;p1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03" name="Google Shape;1703;p1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is necessary — balance it, don't eliminate it</a:t>
            </a:r>
            <a:endParaRPr b="0" i="0" sz="3000" u="none" cap="none" strike="noStrike">
              <a:solidFill>
                <a:schemeClr val="dk1"/>
              </a:solidFill>
              <a:latin typeface="Calibri"/>
              <a:ea typeface="Calibri"/>
              <a:cs typeface="Calibri"/>
              <a:sym typeface="Calibri"/>
            </a:endParaRPr>
          </a:p>
        </p:txBody>
      </p:sp>
      <p:sp>
        <p:nvSpPr>
          <p:cNvPr id="1704" name="Google Shape;1704;p15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Components must share some knowledge to collaborate; a system with zero coupling also has zero behaviour. “Loosely coupled” is too blunt a goal.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Khononov's model evaluates the connection between two components, not the components themselves, along three dimensions: integration strength, distance and volatility.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headline: a coupling is only painful when strength, distance and volatility are all high at once — reduce any one and the pain drops.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why “just split it into microservices” can backfire: spreading strong, volatile coupling across a network maximises all three dimensions — a distributed monolith.</a:t>
            </a:r>
            <a:endParaRPr b="0" i="0" sz="1700" u="none" cap="none" strike="noStrike">
              <a:solidFill>
                <a:schemeClr val="dk1"/>
              </a:solidFill>
              <a:latin typeface="Calibri"/>
              <a:ea typeface="Calibri"/>
              <a:cs typeface="Calibri"/>
              <a:sym typeface="Calibri"/>
            </a:endParaRPr>
          </a:p>
        </p:txBody>
      </p:sp>
      <p:sp>
        <p:nvSpPr>
          <p:cNvPr id="1705" name="Google Shape;1705;p1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132</a:t>
            </a:r>
            <a:endParaRPr b="0" i="0" sz="1000" u="none" cap="none" strike="noStrike">
              <a:solidFill>
                <a:schemeClr val="dk1"/>
              </a:solidFill>
              <a:latin typeface="Calibri"/>
              <a:ea typeface="Calibri"/>
              <a:cs typeface="Calibri"/>
              <a:sym typeface="Calibri"/>
            </a:endParaRPr>
          </a:p>
        </p:txBody>
      </p:sp>
      <p:pic>
        <p:nvPicPr>
          <p:cNvPr descr="/home/claude/work/assets/rh-logo.png" id="1706" name="Google Shape;1706;p15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1" name="Shape 1711"/>
        <p:cNvGrpSpPr/>
        <p:nvPr/>
      </p:nvGrpSpPr>
      <p:grpSpPr>
        <a:xfrm>
          <a:off x="0" y="0"/>
          <a:ext cx="0" cy="0"/>
          <a:chOff x="0" y="0"/>
          <a:chExt cx="0" cy="0"/>
        </a:xfrm>
      </p:grpSpPr>
      <p:sp>
        <p:nvSpPr>
          <p:cNvPr id="1712" name="Google Shape;1712;p1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13" name="Google Shape;1713;p1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has three dimensions</a:t>
            </a:r>
            <a:endParaRPr b="0" i="0" sz="3000" u="none" cap="none" strike="noStrike">
              <a:solidFill>
                <a:schemeClr val="dk1"/>
              </a:solidFill>
              <a:latin typeface="Calibri"/>
              <a:ea typeface="Calibri"/>
              <a:cs typeface="Calibri"/>
              <a:sym typeface="Calibri"/>
            </a:endParaRPr>
          </a:p>
        </p:txBody>
      </p:sp>
      <p:pic>
        <p:nvPicPr>
          <p:cNvPr descr="/home/claude/work/png-sb/48-appG-dimensions.png" id="1714" name="Google Shape;1714;p15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15" name="Google Shape;1715;p15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Integration strength × distance × volatility — a coupling only hurts when all three are high.</a:t>
            </a:r>
            <a:endParaRPr b="0" i="0" sz="1200" u="none" cap="none" strike="noStrike">
              <a:solidFill>
                <a:schemeClr val="dk1"/>
              </a:solidFill>
              <a:latin typeface="Calibri"/>
              <a:ea typeface="Calibri"/>
              <a:cs typeface="Calibri"/>
              <a:sym typeface="Calibri"/>
            </a:endParaRPr>
          </a:p>
        </p:txBody>
      </p:sp>
      <p:sp>
        <p:nvSpPr>
          <p:cNvPr id="1716" name="Google Shape;1716;p1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133</a:t>
            </a:r>
            <a:endParaRPr b="0" i="0" sz="1000" u="none" cap="none" strike="noStrike">
              <a:solidFill>
                <a:schemeClr val="dk1"/>
              </a:solidFill>
              <a:latin typeface="Calibri"/>
              <a:ea typeface="Calibri"/>
              <a:cs typeface="Calibri"/>
              <a:sym typeface="Calibri"/>
            </a:endParaRPr>
          </a:p>
        </p:txBody>
      </p:sp>
      <p:pic>
        <p:nvPicPr>
          <p:cNvPr descr="/home/claude/work/assets/rh-logo.png" id="1717" name="Google Shape;1717;p15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2" name="Shape 1722"/>
        <p:cNvGrpSpPr/>
        <p:nvPr/>
      </p:nvGrpSpPr>
      <p:grpSpPr>
        <a:xfrm>
          <a:off x="0" y="0"/>
          <a:ext cx="0" cy="0"/>
          <a:chOff x="0" y="0"/>
          <a:chExt cx="0" cy="0"/>
        </a:xfrm>
      </p:grpSpPr>
      <p:sp>
        <p:nvSpPr>
          <p:cNvPr id="1723" name="Google Shape;1723;p1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24" name="Google Shape;1724;p1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three dimensions, in practice</a:t>
            </a:r>
            <a:endParaRPr b="0" i="0" sz="3000" u="none" cap="none" strike="noStrike">
              <a:solidFill>
                <a:schemeClr val="dk1"/>
              </a:solidFill>
              <a:latin typeface="Calibri"/>
              <a:ea typeface="Calibri"/>
              <a:cs typeface="Calibri"/>
              <a:sym typeface="Calibri"/>
            </a:endParaRPr>
          </a:p>
        </p:txBody>
      </p:sp>
      <p:sp>
        <p:nvSpPr>
          <p:cNvPr id="1725" name="Google Shape;1725;p15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Integration strength: how much knowledge two parts share — from intrusive (private internals) down to contract (an explicit interface). Less shared knowledge = looser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how far apart they sit — method, class, module, service, system. Greater distance raises the cost of any change that crosses the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how often the coupled thing changes. Khononov derives it from DDD subdomain type — core is volatile, generic is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Modularity = strength XOR distance: keep strong coupling local, and make anything distant a weak (contract) coupling. Being both strong and distant is the trap.</a:t>
            </a:r>
            <a:endParaRPr b="0" i="0" sz="1700" u="none" cap="none" strike="noStrike">
              <a:solidFill>
                <a:schemeClr val="dk1"/>
              </a:solidFill>
              <a:latin typeface="Calibri"/>
              <a:ea typeface="Calibri"/>
              <a:cs typeface="Calibri"/>
              <a:sym typeface="Calibri"/>
            </a:endParaRPr>
          </a:p>
        </p:txBody>
      </p:sp>
      <p:sp>
        <p:nvSpPr>
          <p:cNvPr id="1726" name="Google Shape;1726;p1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134</a:t>
            </a:r>
            <a:endParaRPr b="0" i="0" sz="1000" u="none" cap="none" strike="noStrike">
              <a:solidFill>
                <a:schemeClr val="dk1"/>
              </a:solidFill>
              <a:latin typeface="Calibri"/>
              <a:ea typeface="Calibri"/>
              <a:cs typeface="Calibri"/>
              <a:sym typeface="Calibri"/>
            </a:endParaRPr>
          </a:p>
        </p:txBody>
      </p:sp>
      <p:pic>
        <p:nvPicPr>
          <p:cNvPr descr="/home/claude/work/assets/rh-logo.png" id="1727" name="Google Shape;1727;p15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2" name="Shape 1732"/>
        <p:cNvGrpSpPr/>
        <p:nvPr/>
      </p:nvGrpSpPr>
      <p:grpSpPr>
        <a:xfrm>
          <a:off x="0" y="0"/>
          <a:ext cx="0" cy="0"/>
          <a:chOff x="0" y="0"/>
          <a:chExt cx="0" cy="0"/>
        </a:xfrm>
      </p:grpSpPr>
      <p:sp>
        <p:nvSpPr>
          <p:cNvPr id="1733" name="Google Shape;1733;p1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34" name="Google Shape;1734;p1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Integration strength: a ladder, worst to best</a:t>
            </a:r>
            <a:endParaRPr b="0" i="0" sz="3000" u="none" cap="none" strike="noStrike">
              <a:solidFill>
                <a:schemeClr val="dk1"/>
              </a:solidFill>
              <a:latin typeface="Calibri"/>
              <a:ea typeface="Calibri"/>
              <a:cs typeface="Calibri"/>
              <a:sym typeface="Calibri"/>
            </a:endParaRPr>
          </a:p>
        </p:txBody>
      </p:sp>
      <p:pic>
        <p:nvPicPr>
          <p:cNvPr descr="/home/claude/work/png-sb/49-appG-strength.png" id="1735" name="Google Shape;1735;p15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36" name="Google Shape;1736;p15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From intrusive (shared internals) to contract (a versioned schema) — across distance, aim for the bottom rung.</a:t>
            </a:r>
            <a:endParaRPr b="0" i="0" sz="1200" u="none" cap="none" strike="noStrike">
              <a:solidFill>
                <a:schemeClr val="dk1"/>
              </a:solidFill>
              <a:latin typeface="Calibri"/>
              <a:ea typeface="Calibri"/>
              <a:cs typeface="Calibri"/>
              <a:sym typeface="Calibri"/>
            </a:endParaRPr>
          </a:p>
        </p:txBody>
      </p:sp>
      <p:sp>
        <p:nvSpPr>
          <p:cNvPr id="1737" name="Google Shape;1737;p1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135</a:t>
            </a:r>
            <a:endParaRPr b="0" i="0" sz="1000" u="none" cap="none" strike="noStrike">
              <a:solidFill>
                <a:schemeClr val="dk1"/>
              </a:solidFill>
              <a:latin typeface="Calibri"/>
              <a:ea typeface="Calibri"/>
              <a:cs typeface="Calibri"/>
              <a:sym typeface="Calibri"/>
            </a:endParaRPr>
          </a:p>
        </p:txBody>
      </p:sp>
      <p:pic>
        <p:nvPicPr>
          <p:cNvPr descr="/home/claude/work/assets/rh-logo.png" id="1738" name="Google Shape;1738;p15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3" name="Shape 1743"/>
        <p:cNvGrpSpPr/>
        <p:nvPr/>
      </p:nvGrpSpPr>
      <p:grpSpPr>
        <a:xfrm>
          <a:off x="0" y="0"/>
          <a:ext cx="0" cy="0"/>
          <a:chOff x="0" y="0"/>
          <a:chExt cx="0" cy="0"/>
        </a:xfrm>
      </p:grpSpPr>
      <p:sp>
        <p:nvSpPr>
          <p:cNvPr id="1744" name="Google Shape;1744;p1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45" name="Google Shape;1745;p1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Strength in our system</a:t>
            </a:r>
            <a:endParaRPr b="0" i="0" sz="3000" u="none" cap="none" strike="noStrike">
              <a:solidFill>
                <a:schemeClr val="dk1"/>
              </a:solidFill>
              <a:latin typeface="Calibri"/>
              <a:ea typeface="Calibri"/>
              <a:cs typeface="Calibri"/>
              <a:sym typeface="Calibri"/>
            </a:endParaRPr>
          </a:p>
        </p:txBody>
      </p:sp>
      <p:sp>
        <p:nvSpPr>
          <p:cNvPr id="1746" name="Google Shape;1746;p1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Intrusive (worst): two services sharing one database, or reaching into another's internals — any change can break the other invisibly. This is the shared-database anti-pattern.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Functional / Model: sharing business logic or a model — e.g. a shared library of types. Fine within a context; risky across teams because it forces lockstep change.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Contract (best across distance): integrate only through an explicit, versioned schema — our REST/gRPC/GraphQL APIs and Kafka event schemas, governed by the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rule: the greater the distance, the weaker the coupling must be. Across services that means contract coupling — never shared state.</a:t>
            </a:r>
            <a:endParaRPr b="0" i="0" sz="1700" u="none" cap="none" strike="noStrike">
              <a:solidFill>
                <a:schemeClr val="dk1"/>
              </a:solidFill>
              <a:latin typeface="Calibri"/>
              <a:ea typeface="Calibri"/>
              <a:cs typeface="Calibri"/>
              <a:sym typeface="Calibri"/>
            </a:endParaRPr>
          </a:p>
        </p:txBody>
      </p:sp>
      <p:sp>
        <p:nvSpPr>
          <p:cNvPr id="1747" name="Google Shape;1747;p1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136</a:t>
            </a:r>
            <a:endParaRPr b="0" i="0" sz="1000" u="none" cap="none" strike="noStrike">
              <a:solidFill>
                <a:schemeClr val="dk1"/>
              </a:solidFill>
              <a:latin typeface="Calibri"/>
              <a:ea typeface="Calibri"/>
              <a:cs typeface="Calibri"/>
              <a:sym typeface="Calibri"/>
            </a:endParaRPr>
          </a:p>
        </p:txBody>
      </p:sp>
      <p:pic>
        <p:nvPicPr>
          <p:cNvPr descr="/home/claude/work/assets/rh-logo.png" id="1748" name="Google Shape;1748;p1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3" name="Shape 1753"/>
        <p:cNvGrpSpPr/>
        <p:nvPr/>
      </p:nvGrpSpPr>
      <p:grpSpPr>
        <a:xfrm>
          <a:off x="0" y="0"/>
          <a:ext cx="0" cy="0"/>
          <a:chOff x="0" y="0"/>
          <a:chExt cx="0" cy="0"/>
        </a:xfrm>
      </p:grpSpPr>
      <p:sp>
        <p:nvSpPr>
          <p:cNvPr id="1754" name="Google Shape;1754;p16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55" name="Google Shape;1755;p16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Balancing coupling: strength vs. distance</a:t>
            </a:r>
            <a:endParaRPr b="0" i="0" sz="3000" u="none" cap="none" strike="noStrike">
              <a:solidFill>
                <a:schemeClr val="dk1"/>
              </a:solidFill>
              <a:latin typeface="Calibri"/>
              <a:ea typeface="Calibri"/>
              <a:cs typeface="Calibri"/>
              <a:sym typeface="Calibri"/>
            </a:endParaRPr>
          </a:p>
        </p:txBody>
      </p:sp>
      <p:pic>
        <p:nvPicPr>
          <p:cNvPr descr="/home/claude/work/png-sb/50-appG-balance.png" id="1756" name="Google Shape;1756;p161"/>
          <p:cNvPicPr preferRelativeResize="0"/>
          <p:nvPr/>
        </p:nvPicPr>
        <p:blipFill rotWithShape="1">
          <a:blip r:embed="rId5">
            <a:alphaModFix/>
          </a:blip>
          <a:stretch/>
        </p:blipFill>
        <p:spPr>
          <a:xfrm>
            <a:off x="1493156" y="1811854"/>
            <a:ext cx="9205386" cy="4102972"/>
          </a:xfrm>
          <a:prstGeom prst="rect">
            <a:avLst/>
          </a:prstGeom>
          <a:noFill/>
          <a:ln>
            <a:noFill/>
          </a:ln>
        </p:spPr>
      </p:pic>
      <p:sp>
        <p:nvSpPr>
          <p:cNvPr id="1757" name="Google Shape;1757;p16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Strong or distant, rarely both — and put any unavoidable strong-and-distant coupling where volatility is low.</a:t>
            </a:r>
            <a:endParaRPr b="0" i="0" sz="1200" u="none" cap="none" strike="noStrike">
              <a:solidFill>
                <a:schemeClr val="dk1"/>
              </a:solidFill>
              <a:latin typeface="Calibri"/>
              <a:ea typeface="Calibri"/>
              <a:cs typeface="Calibri"/>
              <a:sym typeface="Calibri"/>
            </a:endParaRPr>
          </a:p>
        </p:txBody>
      </p:sp>
      <p:sp>
        <p:nvSpPr>
          <p:cNvPr id="1758" name="Google Shape;1758;p16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137</a:t>
            </a:r>
            <a:endParaRPr b="0" i="0" sz="1000" u="none" cap="none" strike="noStrike">
              <a:solidFill>
                <a:schemeClr val="dk1"/>
              </a:solidFill>
              <a:latin typeface="Calibri"/>
              <a:ea typeface="Calibri"/>
              <a:cs typeface="Calibri"/>
              <a:sym typeface="Calibri"/>
            </a:endParaRPr>
          </a:p>
        </p:txBody>
      </p:sp>
      <p:pic>
        <p:nvPicPr>
          <p:cNvPr descr="/home/claude/work/assets/rh-logo.png" id="1759" name="Google Shape;1759;p1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4" name="Shape 1764"/>
        <p:cNvGrpSpPr/>
        <p:nvPr/>
      </p:nvGrpSpPr>
      <p:grpSpPr>
        <a:xfrm>
          <a:off x="0" y="0"/>
          <a:ext cx="0" cy="0"/>
          <a:chOff x="0" y="0"/>
          <a:chExt cx="0" cy="0"/>
        </a:xfrm>
      </p:grpSpPr>
      <p:sp>
        <p:nvSpPr>
          <p:cNvPr id="1765" name="Google Shape;1765;p1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66" name="Google Shape;1766;p1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Distance and volatility</a:t>
            </a:r>
            <a:endParaRPr b="0" i="0" sz="3000" u="none" cap="none" strike="noStrike">
              <a:solidFill>
                <a:schemeClr val="dk1"/>
              </a:solidFill>
              <a:latin typeface="Calibri"/>
              <a:ea typeface="Calibri"/>
              <a:cs typeface="Calibri"/>
              <a:sym typeface="Calibri"/>
            </a:endParaRPr>
          </a:p>
        </p:txBody>
      </p:sp>
      <p:sp>
        <p:nvSpPr>
          <p:cNvPr id="1767" name="Google Shape;1767;p1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is the cost multiplier: a change contained in one module is cheap; the same change spanning two services and two teams is slow and expensive.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is the trigger: a strong, distant coupling on code that never changes is harmless; on volatile core-domain code it's where outages and slow delivery originate.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 volatility from the domain: core subdomains change often — keep their couplings weak and local; generic subdomains are stable, so you can afford more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Balance = (strength XOR distance) OR low volatility — put any unavoidable strong-and-distant coupling where the code rarely changes.</a:t>
            </a:r>
            <a:endParaRPr b="0" i="0" sz="1700" u="none" cap="none" strike="noStrike">
              <a:solidFill>
                <a:schemeClr val="dk1"/>
              </a:solidFill>
              <a:latin typeface="Calibri"/>
              <a:ea typeface="Calibri"/>
              <a:cs typeface="Calibri"/>
              <a:sym typeface="Calibri"/>
            </a:endParaRPr>
          </a:p>
        </p:txBody>
      </p:sp>
      <p:sp>
        <p:nvSpPr>
          <p:cNvPr id="1768" name="Google Shape;1768;p1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138</a:t>
            </a:r>
            <a:endParaRPr b="0" i="0" sz="1000" u="none" cap="none" strike="noStrike">
              <a:solidFill>
                <a:schemeClr val="dk1"/>
              </a:solidFill>
              <a:latin typeface="Calibri"/>
              <a:ea typeface="Calibri"/>
              <a:cs typeface="Calibri"/>
              <a:sym typeface="Calibri"/>
            </a:endParaRPr>
          </a:p>
        </p:txBody>
      </p:sp>
      <p:pic>
        <p:nvPicPr>
          <p:cNvPr descr="/home/claude/work/assets/rh-logo.png" id="1769" name="Google Shape;1769;p1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4" name="Shape 1774"/>
        <p:cNvGrpSpPr/>
        <p:nvPr/>
      </p:nvGrpSpPr>
      <p:grpSpPr>
        <a:xfrm>
          <a:off x="0" y="0"/>
          <a:ext cx="0" cy="0"/>
          <a:chOff x="0" y="0"/>
          <a:chExt cx="0" cy="0"/>
        </a:xfrm>
      </p:grpSpPr>
      <p:sp>
        <p:nvSpPr>
          <p:cNvPr id="1775" name="Google Shape;1775;p1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76" name="Google Shape;1776;p1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and our APIs</a:t>
            </a:r>
            <a:endParaRPr b="0" i="0" sz="3000" u="none" cap="none" strike="noStrike">
              <a:solidFill>
                <a:schemeClr val="dk1"/>
              </a:solidFill>
              <a:latin typeface="Calibri"/>
              <a:ea typeface="Calibri"/>
              <a:cs typeface="Calibri"/>
              <a:sym typeface="Calibri"/>
            </a:endParaRPr>
          </a:p>
        </p:txBody>
      </p:sp>
      <p:sp>
        <p:nvSpPr>
          <p:cNvPr id="1777" name="Google Shape;1777;p16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protocol choice we've made is a coupling choice: REST, gRPC, GraphQL and events are all contract coupling — the loosest kind that still lets services collaborate.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 is what keeps that contract coupling stable: compatibility rules stop a producer from silently raising the integration strength on its consumers.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Connascence (Page-Jones) is a finer lens on the same idea — API versioning is managing connascence of name and position in your schemas (why protobuf field numbers matter).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from section 12 is an imbalance: shared DB = intrusive at distance; chatty sync chains = strong + distant + volatile; leaky models = model coupling across a boundary.</a:t>
            </a:r>
            <a:endParaRPr b="0" i="0" sz="1700" u="none" cap="none" strike="noStrike">
              <a:solidFill>
                <a:schemeClr val="dk1"/>
              </a:solidFill>
              <a:latin typeface="Calibri"/>
              <a:ea typeface="Calibri"/>
              <a:cs typeface="Calibri"/>
              <a:sym typeface="Calibri"/>
            </a:endParaRPr>
          </a:p>
        </p:txBody>
      </p:sp>
      <p:sp>
        <p:nvSpPr>
          <p:cNvPr id="1778" name="Google Shape;1778;p1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139</a:t>
            </a:r>
            <a:endParaRPr b="0" i="0" sz="1000" u="none" cap="none" strike="noStrike">
              <a:solidFill>
                <a:schemeClr val="dk1"/>
              </a:solidFill>
              <a:latin typeface="Calibri"/>
              <a:ea typeface="Calibri"/>
              <a:cs typeface="Calibri"/>
              <a:sym typeface="Calibri"/>
            </a:endParaRPr>
          </a:p>
        </p:txBody>
      </p:sp>
      <p:pic>
        <p:nvPicPr>
          <p:cNvPr descr="/home/claude/work/assets/rh-logo.png" id="1779" name="Google Shape;1779;p16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4" name="Shape 1784"/>
        <p:cNvGrpSpPr/>
        <p:nvPr/>
      </p:nvGrpSpPr>
      <p:grpSpPr>
        <a:xfrm>
          <a:off x="0" y="0"/>
          <a:ext cx="0" cy="0"/>
          <a:chOff x="0" y="0"/>
          <a:chExt cx="0" cy="0"/>
        </a:xfrm>
      </p:grpSpPr>
      <p:sp>
        <p:nvSpPr>
          <p:cNvPr id="1785" name="Google Shape;1785;p1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86" name="Google Shape;1786;p1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Heuristics for balanced coupling</a:t>
            </a:r>
            <a:endParaRPr b="0" i="0" sz="3000" u="none" cap="none" strike="noStrike">
              <a:solidFill>
                <a:schemeClr val="dk1"/>
              </a:solidFill>
              <a:latin typeface="Calibri"/>
              <a:ea typeface="Calibri"/>
              <a:cs typeface="Calibri"/>
              <a:sym typeface="Calibri"/>
            </a:endParaRPr>
          </a:p>
        </p:txBody>
      </p:sp>
      <p:sp>
        <p:nvSpPr>
          <p:cNvPr id="1787" name="Google Shape;1787;p1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chase zero coupling — chase balance. Strong coupling is fine when it's local and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As distance grows, drive strength down: across services, integrate only through versioned contracts, never shared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Keep strong, volatile couplings inside a single bounded context or aggregate, where distance is small.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DDD subdomain types to predict volatility, and put your weakest couplings around the parts that change most.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Vlad Khononov — Learning Domain-Driven Design (O'Reilly) and Balancing Coupling in Software Design (Addison-Wesley).</a:t>
            </a:r>
            <a:endParaRPr b="0" i="0" sz="1700" u="none" cap="none" strike="noStrike">
              <a:solidFill>
                <a:schemeClr val="dk1"/>
              </a:solidFill>
              <a:latin typeface="Calibri"/>
              <a:ea typeface="Calibri"/>
              <a:cs typeface="Calibri"/>
              <a:sym typeface="Calibri"/>
            </a:endParaRPr>
          </a:p>
        </p:txBody>
      </p:sp>
      <p:sp>
        <p:nvSpPr>
          <p:cNvPr id="1788" name="Google Shape;1788;p1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140</a:t>
            </a:r>
            <a:endParaRPr b="0" i="0" sz="1000" u="none" cap="none" strike="noStrike">
              <a:solidFill>
                <a:schemeClr val="dk1"/>
              </a:solidFill>
              <a:latin typeface="Calibri"/>
              <a:ea typeface="Calibri"/>
              <a:cs typeface="Calibri"/>
              <a:sym typeface="Calibri"/>
            </a:endParaRPr>
          </a:p>
        </p:txBody>
      </p:sp>
      <p:pic>
        <p:nvPicPr>
          <p:cNvPr descr="/home/claude/work/assets/rh-logo.png" id="1789" name="Google Shape;1789;p1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794" name="Shape 1794"/>
        <p:cNvGrpSpPr/>
        <p:nvPr/>
      </p:nvGrpSpPr>
      <p:grpSpPr>
        <a:xfrm>
          <a:off x="0" y="0"/>
          <a:ext cx="0" cy="0"/>
          <a:chOff x="0" y="0"/>
          <a:chExt cx="0" cy="0"/>
        </a:xfrm>
      </p:grpSpPr>
      <p:pic>
        <p:nvPicPr>
          <p:cNvPr descr="/home/claude/work/assets/rh-divider-bg.png" id="1795" name="Google Shape;1795;p16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796" name="Google Shape;1796;p16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H</a:t>
            </a:r>
            <a:endParaRPr b="0" i="0" sz="2200" u="none" cap="none" strike="noStrike">
              <a:solidFill>
                <a:schemeClr val="dk1"/>
              </a:solidFill>
              <a:latin typeface="Calibri"/>
              <a:ea typeface="Calibri"/>
              <a:cs typeface="Calibri"/>
              <a:sym typeface="Calibri"/>
            </a:endParaRPr>
          </a:p>
        </p:txBody>
      </p:sp>
      <p:sp>
        <p:nvSpPr>
          <p:cNvPr id="1797" name="Google Shape;1797;p16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H · Graceful Shutdown</a:t>
            </a:r>
            <a:endParaRPr b="0" i="0" sz="4000" u="none" cap="none" strike="noStrike">
              <a:solidFill>
                <a:schemeClr val="dk1"/>
              </a:solidFill>
              <a:latin typeface="Calibri"/>
              <a:ea typeface="Calibri"/>
              <a:cs typeface="Calibri"/>
              <a:sym typeface="Calibri"/>
            </a:endParaRPr>
          </a:p>
        </p:txBody>
      </p:sp>
      <p:sp>
        <p:nvSpPr>
          <p:cNvPr id="1798" name="Google Shape;1798;p16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Disposability, kept as a promise.</a:t>
            </a:r>
            <a:endParaRPr b="0" i="0" sz="1500" u="none" cap="none" strike="noStrike">
              <a:solidFill>
                <a:schemeClr val="dk1"/>
              </a:solidFill>
              <a:latin typeface="Calibri"/>
              <a:ea typeface="Calibri"/>
              <a:cs typeface="Calibri"/>
              <a:sym typeface="Calibri"/>
            </a:endParaRPr>
          </a:p>
        </p:txBody>
      </p:sp>
      <p:pic>
        <p:nvPicPr>
          <p:cNvPr descr="/home/claude/work/assets/rh-logo-white.png" id="1799" name="Google Shape;1799;p16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4" name="Shape 1804"/>
        <p:cNvGrpSpPr/>
        <p:nvPr/>
      </p:nvGrpSpPr>
      <p:grpSpPr>
        <a:xfrm>
          <a:off x="0" y="0"/>
          <a:ext cx="0" cy="0"/>
          <a:chOff x="0" y="0"/>
          <a:chExt cx="0" cy="0"/>
        </a:xfrm>
      </p:grpSpPr>
      <p:sp>
        <p:nvSpPr>
          <p:cNvPr id="1805" name="Google Shape;1805;p1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06" name="Google Shape;1806;p1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Disposability is a promise you have to keep</a:t>
            </a:r>
            <a:endParaRPr b="0" i="0" sz="3000" u="none" cap="none" strike="noStrike">
              <a:solidFill>
                <a:schemeClr val="dk1"/>
              </a:solidFill>
              <a:latin typeface="Calibri"/>
              <a:ea typeface="Calibri"/>
              <a:cs typeface="Calibri"/>
              <a:sym typeface="Calibri"/>
            </a:endParaRPr>
          </a:p>
        </p:txBody>
      </p:sp>
      <p:sp>
        <p:nvSpPr>
          <p:cNvPr id="1807" name="Google Shape;1807;p16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Pods are cattle: every deploy, scale-down, autoscale event or reschedule kills and replaces them — often many times a day.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ungraceful exit drops in-flight requests, abandons unacked messages and leaves work half-done: the 5xx blips users notice during a rollout.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Graceful shutdown is the flip side of factor 9, disposability: stop taking new work, finish what you accepted, release resources, then exit.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It's a protocol between your app and the platform, not a single setting, and the platform gives you a fixed budget to do it in.</a:t>
            </a:r>
            <a:endParaRPr b="0" i="0" sz="1700" u="none" cap="none" strike="noStrike">
              <a:solidFill>
                <a:schemeClr val="dk1"/>
              </a:solidFill>
              <a:latin typeface="Calibri"/>
              <a:ea typeface="Calibri"/>
              <a:cs typeface="Calibri"/>
              <a:sym typeface="Calibri"/>
            </a:endParaRPr>
          </a:p>
        </p:txBody>
      </p:sp>
      <p:sp>
        <p:nvSpPr>
          <p:cNvPr id="1808" name="Google Shape;1808;p1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141</a:t>
            </a:r>
            <a:endParaRPr b="0" i="0" sz="1000" u="none" cap="none" strike="noStrike">
              <a:solidFill>
                <a:schemeClr val="dk1"/>
              </a:solidFill>
              <a:latin typeface="Calibri"/>
              <a:ea typeface="Calibri"/>
              <a:cs typeface="Calibri"/>
              <a:sym typeface="Calibri"/>
            </a:endParaRPr>
          </a:p>
        </p:txBody>
      </p:sp>
      <p:pic>
        <p:nvPicPr>
          <p:cNvPr descr="/home/claude/work/assets/rh-logo.png" id="1809" name="Google Shape;1809;p1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4" name="Shape 1814"/>
        <p:cNvGrpSpPr/>
        <p:nvPr/>
      </p:nvGrpSpPr>
      <p:grpSpPr>
        <a:xfrm>
          <a:off x="0" y="0"/>
          <a:ext cx="0" cy="0"/>
          <a:chOff x="0" y="0"/>
          <a:chExt cx="0" cy="0"/>
        </a:xfrm>
      </p:grpSpPr>
      <p:sp>
        <p:nvSpPr>
          <p:cNvPr id="1815" name="Google Shape;1815;p1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16" name="Google Shape;1816;p1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happens when Kubernetes stops a pod</a:t>
            </a:r>
            <a:endParaRPr b="0" i="0" sz="3000" u="none" cap="none" strike="noStrike">
              <a:solidFill>
                <a:schemeClr val="dk1"/>
              </a:solidFill>
              <a:latin typeface="Calibri"/>
              <a:ea typeface="Calibri"/>
              <a:cs typeface="Calibri"/>
              <a:sym typeface="Calibri"/>
            </a:endParaRPr>
          </a:p>
        </p:txBody>
      </p:sp>
      <p:pic>
        <p:nvPicPr>
          <p:cNvPr descr="/home/claude/work/png-sb/51-appH-termination.png" id="1817" name="Google Shape;1817;p167"/>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818" name="Google Shape;1818;p16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SIGTERM starts a race; readiness-down plus a short preStop keep new traffic off until you've drained.</a:t>
            </a:r>
            <a:endParaRPr b="0" i="0" sz="1200" u="none" cap="none" strike="noStrike">
              <a:solidFill>
                <a:schemeClr val="dk1"/>
              </a:solidFill>
              <a:latin typeface="Calibri"/>
              <a:ea typeface="Calibri"/>
              <a:cs typeface="Calibri"/>
              <a:sym typeface="Calibri"/>
            </a:endParaRPr>
          </a:p>
        </p:txBody>
      </p:sp>
      <p:sp>
        <p:nvSpPr>
          <p:cNvPr id="1819" name="Google Shape;1819;p1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142</a:t>
            </a:r>
            <a:endParaRPr b="0" i="0" sz="1000" u="none" cap="none" strike="noStrike">
              <a:solidFill>
                <a:schemeClr val="dk1"/>
              </a:solidFill>
              <a:latin typeface="Calibri"/>
              <a:ea typeface="Calibri"/>
              <a:cs typeface="Calibri"/>
              <a:sym typeface="Calibri"/>
            </a:endParaRPr>
          </a:p>
        </p:txBody>
      </p:sp>
      <p:pic>
        <p:nvPicPr>
          <p:cNvPr descr="/home/claude/work/assets/rh-logo.png" id="1820" name="Google Shape;1820;p16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5" name="Shape 1825"/>
        <p:cNvGrpSpPr/>
        <p:nvPr/>
      </p:nvGrpSpPr>
      <p:grpSpPr>
        <a:xfrm>
          <a:off x="0" y="0"/>
          <a:ext cx="0" cy="0"/>
          <a:chOff x="0" y="0"/>
          <a:chExt cx="0" cy="0"/>
        </a:xfrm>
      </p:grpSpPr>
      <p:sp>
        <p:nvSpPr>
          <p:cNvPr id="1826" name="Google Shape;1826;p1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27" name="Google Shape;1827;p1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contract with Kubernetes</a:t>
            </a:r>
            <a:endParaRPr b="0" i="0" sz="3000" u="none" cap="none" strike="noStrike">
              <a:solidFill>
                <a:schemeClr val="dk1"/>
              </a:solidFill>
              <a:latin typeface="Calibri"/>
              <a:ea typeface="Calibri"/>
              <a:cs typeface="Calibri"/>
              <a:sym typeface="Calibri"/>
            </a:endParaRPr>
          </a:p>
        </p:txBody>
      </p:sp>
      <p:sp>
        <p:nvSpPr>
          <p:cNvPr id="1828" name="Google Shape;1828;p16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SIGTERM is the signal: Kubernetes sends it to PID 1, then waits terminationGracePeriodSeconds (default 30s) before SIGKILL.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Readiness DOWN is how you stop new traffic — the pod leaves the Service endpoints but keeps running to finish in-flight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There's a race: endpoint removal is asynchronous, so traffic can still arrive briefly after SIGTERM — a short preStop sleep covers the lag.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Liveness must stay UP during the drain, or the kubelet restarts a pod that is already winding down.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Set the grace period larger than your longest acceptable in-flight operation — too short cuts work off, too long stalls deploys.</a:t>
            </a:r>
            <a:endParaRPr b="0" i="0" sz="1700" u="none" cap="none" strike="noStrike">
              <a:solidFill>
                <a:schemeClr val="dk1"/>
              </a:solidFill>
              <a:latin typeface="Calibri"/>
              <a:ea typeface="Calibri"/>
              <a:cs typeface="Calibri"/>
              <a:sym typeface="Calibri"/>
            </a:endParaRPr>
          </a:p>
        </p:txBody>
      </p:sp>
      <p:sp>
        <p:nvSpPr>
          <p:cNvPr id="1829" name="Google Shape;1829;p1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143</a:t>
            </a:r>
            <a:endParaRPr b="0" i="0" sz="1000" u="none" cap="none" strike="noStrike">
              <a:solidFill>
                <a:schemeClr val="dk1"/>
              </a:solidFill>
              <a:latin typeface="Calibri"/>
              <a:ea typeface="Calibri"/>
              <a:cs typeface="Calibri"/>
              <a:sym typeface="Calibri"/>
            </a:endParaRPr>
          </a:p>
        </p:txBody>
      </p:sp>
      <p:pic>
        <p:nvPicPr>
          <p:cNvPr descr="/home/claude/work/assets/rh-logo.png" id="1830" name="Google Shape;1830;p1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5" name="Shape 1835"/>
        <p:cNvGrpSpPr/>
        <p:nvPr/>
      </p:nvGrpSpPr>
      <p:grpSpPr>
        <a:xfrm>
          <a:off x="0" y="0"/>
          <a:ext cx="0" cy="0"/>
          <a:chOff x="0" y="0"/>
          <a:chExt cx="0" cy="0"/>
        </a:xfrm>
      </p:grpSpPr>
      <p:sp>
        <p:nvSpPr>
          <p:cNvPr id="1836" name="Google Shape;1836;p1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37" name="Google Shape;1837;p1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means something different per workload</a:t>
            </a:r>
            <a:endParaRPr b="0" i="0" sz="3000" u="none" cap="none" strike="noStrike">
              <a:solidFill>
                <a:schemeClr val="dk1"/>
              </a:solidFill>
              <a:latin typeface="Calibri"/>
              <a:ea typeface="Calibri"/>
              <a:cs typeface="Calibri"/>
              <a:sym typeface="Calibri"/>
            </a:endParaRPr>
          </a:p>
        </p:txBody>
      </p:sp>
      <p:pic>
        <p:nvPicPr>
          <p:cNvPr descr="/home/claude/work/png-sb/52-appH-workloads.png" id="1838" name="Google Shape;1838;p16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839" name="Google Shape;1839;p16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Only HTTP drains automatically; Kafka consumers, WebSockets and jobs each need their own drain.</a:t>
            </a:r>
            <a:endParaRPr b="0" i="0" sz="1200" u="none" cap="none" strike="noStrike">
              <a:solidFill>
                <a:schemeClr val="dk1"/>
              </a:solidFill>
              <a:latin typeface="Calibri"/>
              <a:ea typeface="Calibri"/>
              <a:cs typeface="Calibri"/>
              <a:sym typeface="Calibri"/>
            </a:endParaRPr>
          </a:p>
        </p:txBody>
      </p:sp>
      <p:sp>
        <p:nvSpPr>
          <p:cNvPr id="1840" name="Google Shape;1840;p1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144</a:t>
            </a:r>
            <a:endParaRPr b="0" i="0" sz="1000" u="none" cap="none" strike="noStrike">
              <a:solidFill>
                <a:schemeClr val="dk1"/>
              </a:solidFill>
              <a:latin typeface="Calibri"/>
              <a:ea typeface="Calibri"/>
              <a:cs typeface="Calibri"/>
              <a:sym typeface="Calibri"/>
            </a:endParaRPr>
          </a:p>
        </p:txBody>
      </p:sp>
      <p:pic>
        <p:nvPicPr>
          <p:cNvPr descr="/home/claude/work/assets/rh-logo.png" id="1841" name="Google Shape;1841;p1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6" name="Shape 1846"/>
        <p:cNvGrpSpPr/>
        <p:nvPr/>
      </p:nvGrpSpPr>
      <p:grpSpPr>
        <a:xfrm>
          <a:off x="0" y="0"/>
          <a:ext cx="0" cy="0"/>
          <a:chOff x="0" y="0"/>
          <a:chExt cx="0" cy="0"/>
        </a:xfrm>
      </p:grpSpPr>
      <p:sp>
        <p:nvSpPr>
          <p:cNvPr id="1847" name="Google Shape;1847;p1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48" name="Google Shape;1848;p1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in Spring Boot</a:t>
            </a:r>
            <a:endParaRPr b="0" i="0" sz="3000" u="none" cap="none" strike="noStrike">
              <a:solidFill>
                <a:schemeClr val="dk1"/>
              </a:solidFill>
              <a:latin typeface="Calibri"/>
              <a:ea typeface="Calibri"/>
              <a:cs typeface="Calibri"/>
              <a:sym typeface="Calibri"/>
            </a:endParaRPr>
          </a:p>
        </p:txBody>
      </p:sp>
      <p:sp>
        <p:nvSpPr>
          <p:cNvPr id="1849" name="Google Shape;1849;p17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70"/>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a:t>
            </a:r>
            <a:endParaRPr b="0" i="0" sz="1000" u="none" cap="none" strike="noStrike">
              <a:solidFill>
                <a:schemeClr val="dk1"/>
              </a:solidFill>
              <a:latin typeface="Calibri"/>
              <a:ea typeface="Calibri"/>
              <a:cs typeface="Calibri"/>
              <a:sym typeface="Calibri"/>
            </a:endParaRPr>
          </a:p>
        </p:txBody>
      </p:sp>
      <p:sp>
        <p:nvSpPr>
          <p:cNvPr id="1851" name="Google Shape;1851;p17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DrainLifecycle.java (excerpt), examples/21-graceful-shutdown/spring-boot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application.properties: server.shutdown=graceful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spring.lifecycle.timeout-per-shutdown-phase=20s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...health.group.readiness.include=readinessState,db,drain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@Component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class DrainLifecycle implements SmartLifecycle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@Override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stop() {                          // SIGTERM: the highest phase stops first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(!state.markShuttingDown()) return;    // one SIGTERM drives the drain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AvailabilityChangeEvent.publish(events, this, ReadinessState.REFUSING_TRAFFIC);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Thread.sleep(drainDelayMillis);           // DRAIN_DELAY_SECONDS, default 5: serve 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then the web server's graceful phase finishes in-flight HTTP (20 s bound), the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context closes the pool, and the JVM exits (143 = 128 + SIGTERM)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@Override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int getPhase() { return DEFAULT_PHASE - 512; }   // stops before the web server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A "drain" HealthIndicator reports DOWN "shutting down": /readyz is 503, /healthz stays 200.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Kafka consumers, the scheduler and WebSockets drain in a ContextClosedEvent listener.</a:t>
            </a:r>
            <a:endParaRPr b="0" i="0" sz="900" u="none" cap="none" strike="noStrike">
              <a:solidFill>
                <a:schemeClr val="dk1"/>
              </a:solidFill>
              <a:latin typeface="Calibri"/>
              <a:ea typeface="Calibri"/>
              <a:cs typeface="Calibri"/>
              <a:sym typeface="Calibri"/>
            </a:endParaRPr>
          </a:p>
        </p:txBody>
      </p:sp>
      <p:sp>
        <p:nvSpPr>
          <p:cNvPr id="1852" name="Google Shape;1852;p17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SIGTERM flips readiness; after DRAIN_DELAY_SECONDS the web server's graceful shutdown drains in-flight requests, bounded at 20 s per phase.</a:t>
            </a:r>
            <a:endParaRPr b="0" i="0" sz="1300" u="none" cap="none" strike="noStrike">
              <a:solidFill>
                <a:schemeClr val="dk1"/>
              </a:solidFill>
              <a:latin typeface="Calibri"/>
              <a:ea typeface="Calibri"/>
              <a:cs typeface="Calibri"/>
              <a:sym typeface="Calibri"/>
            </a:endParaRPr>
          </a:p>
        </p:txBody>
      </p:sp>
      <p:sp>
        <p:nvSpPr>
          <p:cNvPr id="1853" name="Google Shape;1853;p1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145</a:t>
            </a:r>
            <a:endParaRPr b="0" i="0" sz="1000" u="none" cap="none" strike="noStrike">
              <a:solidFill>
                <a:schemeClr val="dk1"/>
              </a:solidFill>
              <a:latin typeface="Calibri"/>
              <a:ea typeface="Calibri"/>
              <a:cs typeface="Calibri"/>
              <a:sym typeface="Calibri"/>
            </a:endParaRPr>
          </a:p>
        </p:txBody>
      </p:sp>
      <p:pic>
        <p:nvPicPr>
          <p:cNvPr descr="/home/claude/work/assets/rh-logo.png" id="1854" name="Google Shape;1854;p17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9" name="Shape 1859"/>
        <p:cNvGrpSpPr/>
        <p:nvPr/>
      </p:nvGrpSpPr>
      <p:grpSpPr>
        <a:xfrm>
          <a:off x="0" y="0"/>
          <a:ext cx="0" cy="0"/>
          <a:chOff x="0" y="0"/>
          <a:chExt cx="0" cy="0"/>
        </a:xfrm>
      </p:grpSpPr>
      <p:sp>
        <p:nvSpPr>
          <p:cNvPr id="1860" name="Google Shape;1860;p1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61" name="Google Shape;1861;p1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Kubernetes side: probes, preStop, grace period</a:t>
            </a:r>
            <a:endParaRPr b="0" i="0" sz="3000" u="none" cap="none" strike="noStrike">
              <a:solidFill>
                <a:schemeClr val="dk1"/>
              </a:solidFill>
              <a:latin typeface="Calibri"/>
              <a:ea typeface="Calibri"/>
              <a:cs typeface="Calibri"/>
              <a:sym typeface="Calibri"/>
            </a:endParaRPr>
          </a:p>
        </p:txBody>
      </p:sp>
      <p:sp>
        <p:nvSpPr>
          <p:cNvPr id="1862" name="Google Shape;1862;p17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71"/>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Kubernetes</a:t>
            </a:r>
            <a:endParaRPr b="0" i="0" sz="1000" u="none" cap="none" strike="noStrike">
              <a:solidFill>
                <a:schemeClr val="dk1"/>
              </a:solidFill>
              <a:latin typeface="Calibri"/>
              <a:ea typeface="Calibri"/>
              <a:cs typeface="Calibri"/>
              <a:sym typeface="Calibri"/>
            </a:endParaRPr>
          </a:p>
        </p:txBody>
      </p:sp>
      <p:sp>
        <p:nvSpPr>
          <p:cNvPr id="1864" name="Google Shape;1864;p17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deployment.yaml — give the pod time to deregister and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terminationGracePeriodSeconds: 30        </a:t>
            </a:r>
            <a:r>
              <a:rPr b="0" i="0" lang="en-US" sz="1100" u="none" cap="none" strike="noStrike">
                <a:solidFill>
                  <a:srgbClr val="8FB98F"/>
                </a:solidFill>
                <a:latin typeface="Red Hat Mono"/>
                <a:ea typeface="Red Hat Mono"/>
                <a:cs typeface="Red Hat Mono"/>
                <a:sym typeface="Red Hat Mono"/>
              </a:rPr>
              <a:t># &gt;= preStop + drain + buffer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containers: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name: order-service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readinessProbe:                      </a:t>
            </a:r>
            <a:r>
              <a:rPr b="0" i="0" lang="en-US" sz="1100" u="none" cap="none" strike="noStrike">
                <a:solidFill>
                  <a:srgbClr val="8FB98F"/>
                </a:solidFill>
                <a:latin typeface="Red Hat Mono"/>
                <a:ea typeface="Red Hat Mono"/>
                <a:cs typeface="Red Hat Mono"/>
                <a:sym typeface="Red Hat Mono"/>
              </a:rPr>
              <a:t># flips the pod out of the 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/readyz,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periodSeconds: 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failureThreshold: 2                </a:t>
            </a:r>
            <a:r>
              <a:rPr b="0" i="0" lang="en-US" sz="1100" u="none" cap="none" strike="noStrike">
                <a:solidFill>
                  <a:srgbClr val="8FB98F"/>
                </a:solidFill>
                <a:latin typeface="Red Hat Mono"/>
                <a:ea typeface="Red Hat Mono"/>
                <a:cs typeface="Red Hat Mono"/>
                <a:sym typeface="Red Hat Mono"/>
              </a:rPr>
              <a:t># ~10s to stop routing after 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livenessProbe:                       </a:t>
            </a:r>
            <a:r>
              <a:rPr b="0" i="0" lang="en-US" sz="1100" u="none" cap="none" strike="noStrike">
                <a:solidFill>
                  <a:srgbClr val="8FB98F"/>
                </a:solidFill>
                <a:latin typeface="Red Hat Mono"/>
                <a:ea typeface="Red Hat Mono"/>
                <a:cs typeface="Red Hat Mono"/>
                <a:sym typeface="Red Hat Mono"/>
              </a:rPr>
              <a:t># keeps answering during the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/healthz,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lifecycle: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preStop: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command: ["sh", "-c", "sleep 5"]   # cover async endpoint removal</a:t>
            </a:r>
            <a:endParaRPr b="0" i="0" sz="1100" u="none" cap="none" strike="noStrike">
              <a:solidFill>
                <a:schemeClr val="dk1"/>
              </a:solidFill>
              <a:latin typeface="Calibri"/>
              <a:ea typeface="Calibri"/>
              <a:cs typeface="Calibri"/>
              <a:sym typeface="Calibri"/>
            </a:endParaRPr>
          </a:p>
        </p:txBody>
      </p:sp>
      <p:sp>
        <p:nvSpPr>
          <p:cNvPr id="1865" name="Google Shape;1865;p171"/>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Readiness removes you from the Service; preStop covers the dereg lag; terminationGracePeriodSeconds must exceed your full drain or you get SIGKILLed mid-flight.</a:t>
            </a:r>
            <a:endParaRPr b="0" i="0" sz="1300" u="none" cap="none" strike="noStrike">
              <a:solidFill>
                <a:schemeClr val="dk1"/>
              </a:solidFill>
              <a:latin typeface="Calibri"/>
              <a:ea typeface="Calibri"/>
              <a:cs typeface="Calibri"/>
              <a:sym typeface="Calibri"/>
            </a:endParaRPr>
          </a:p>
        </p:txBody>
      </p:sp>
      <p:sp>
        <p:nvSpPr>
          <p:cNvPr id="1866" name="Google Shape;1866;p1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146</a:t>
            </a:r>
            <a:endParaRPr b="0" i="0" sz="1000" u="none" cap="none" strike="noStrike">
              <a:solidFill>
                <a:schemeClr val="dk1"/>
              </a:solidFill>
              <a:latin typeface="Calibri"/>
              <a:ea typeface="Calibri"/>
              <a:cs typeface="Calibri"/>
              <a:sym typeface="Calibri"/>
            </a:endParaRPr>
          </a:p>
        </p:txBody>
      </p:sp>
      <p:pic>
        <p:nvPicPr>
          <p:cNvPr descr="/home/claude/work/assets/rh-logo.png" id="1867" name="Google Shape;1867;p17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2" name="Shape 1872"/>
        <p:cNvGrpSpPr/>
        <p:nvPr/>
      </p:nvGrpSpPr>
      <p:grpSpPr>
        <a:xfrm>
          <a:off x="0" y="0"/>
          <a:ext cx="0" cy="0"/>
          <a:chOff x="0" y="0"/>
          <a:chExt cx="0" cy="0"/>
        </a:xfrm>
      </p:grpSpPr>
      <p:sp>
        <p:nvSpPr>
          <p:cNvPr id="1873" name="Google Shape;1873;p1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74" name="Google Shape;1874;p1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HTTP: messages, sockets, jobs</a:t>
            </a:r>
            <a:endParaRPr b="0" i="0" sz="3000" u="none" cap="none" strike="noStrike">
              <a:solidFill>
                <a:schemeClr val="dk1"/>
              </a:solidFill>
              <a:latin typeface="Calibri"/>
              <a:ea typeface="Calibri"/>
              <a:cs typeface="Calibri"/>
              <a:sym typeface="Calibri"/>
            </a:endParaRPr>
          </a:p>
        </p:txBody>
      </p:sp>
      <p:sp>
        <p:nvSpPr>
          <p:cNvPr id="1875" name="Google Shape;1875;p17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Only HTTP drains without extra code; everything else needs explicit drain code in your shutdown hook.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Kafka consumers: stop polling, finish the records in hand, commit offsets, and leave the group so the rebalance is clean (ties to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WebSockets: send a close / go-away, let clients reconnect to another pod, and lean on the per-connection seq + backplane from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Jobs and schedulers: don't start new work; let running jobs finish or checkpoint so they resume after restart.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 hard SIGKILL is always possible — idempotent handlers make a redelivered request or message safe, which is your real safety net.</a:t>
            </a:r>
            <a:endParaRPr b="0" i="0" sz="1700" u="none" cap="none" strike="noStrike">
              <a:solidFill>
                <a:schemeClr val="dk1"/>
              </a:solidFill>
              <a:latin typeface="Calibri"/>
              <a:ea typeface="Calibri"/>
              <a:cs typeface="Calibri"/>
              <a:sym typeface="Calibri"/>
            </a:endParaRPr>
          </a:p>
        </p:txBody>
      </p:sp>
      <p:sp>
        <p:nvSpPr>
          <p:cNvPr id="1876" name="Google Shape;1876;p1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147</a:t>
            </a:r>
            <a:endParaRPr b="0" i="0" sz="1000" u="none" cap="none" strike="noStrike">
              <a:solidFill>
                <a:schemeClr val="dk1"/>
              </a:solidFill>
              <a:latin typeface="Calibri"/>
              <a:ea typeface="Calibri"/>
              <a:cs typeface="Calibri"/>
              <a:sym typeface="Calibri"/>
            </a:endParaRPr>
          </a:p>
        </p:txBody>
      </p:sp>
      <p:pic>
        <p:nvPicPr>
          <p:cNvPr descr="/home/claude/work/assets/rh-logo.png" id="1877" name="Google Shape;1877;p17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2" name="Shape 1882"/>
        <p:cNvGrpSpPr/>
        <p:nvPr/>
      </p:nvGrpSpPr>
      <p:grpSpPr>
        <a:xfrm>
          <a:off x="0" y="0"/>
          <a:ext cx="0" cy="0"/>
          <a:chOff x="0" y="0"/>
          <a:chExt cx="0" cy="0"/>
        </a:xfrm>
      </p:grpSpPr>
      <p:sp>
        <p:nvSpPr>
          <p:cNvPr id="1883" name="Google Shape;1883;p17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84" name="Google Shape;1884;p17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checklist</a:t>
            </a:r>
            <a:endParaRPr b="0" i="0" sz="3000" u="none" cap="none" strike="noStrike">
              <a:solidFill>
                <a:schemeClr val="dk1"/>
              </a:solidFill>
              <a:latin typeface="Calibri"/>
              <a:ea typeface="Calibri"/>
              <a:cs typeface="Calibri"/>
              <a:sym typeface="Calibri"/>
            </a:endParaRPr>
          </a:p>
        </p:txBody>
      </p:sp>
      <p:sp>
        <p:nvSpPr>
          <p:cNvPr id="1885" name="Google Shape;1885;p17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Handle SIGTERM; flip readiness DOWN first so the Service stops routing before you stop accepting.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 a short preStop sleep to cover asynchronous endpoint removal; keep liveness UP throughout the drain.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in-flight HTTP, commit consumer offsets, close sockets and pools — all bounded by terminationGracePeriodSeconds.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the work idempotent so the inevitable occasional SIGKILL is survivable.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it under a real SIGTERM during a rolling deploy — not just a happy-path integration test.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Spring Boot 4 reference — “Web / Graceful Shutdown” and “Context lifecycle”; Spring Kafka container drain semantics; Kubernetes “Termination of Pods” documentation.</a:t>
            </a:r>
            <a:endParaRPr b="0" i="0" sz="1700" u="none" cap="none" strike="noStrike">
              <a:solidFill>
                <a:schemeClr val="dk1"/>
              </a:solidFill>
              <a:latin typeface="Calibri"/>
              <a:ea typeface="Calibri"/>
              <a:cs typeface="Calibri"/>
              <a:sym typeface="Calibri"/>
            </a:endParaRPr>
          </a:p>
        </p:txBody>
      </p:sp>
      <p:sp>
        <p:nvSpPr>
          <p:cNvPr id="1886" name="Google Shape;1886;p17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148</a:t>
            </a:r>
            <a:endParaRPr b="0" i="0" sz="1000" u="none" cap="none" strike="noStrike">
              <a:solidFill>
                <a:schemeClr val="dk1"/>
              </a:solidFill>
              <a:latin typeface="Calibri"/>
              <a:ea typeface="Calibri"/>
              <a:cs typeface="Calibri"/>
              <a:sym typeface="Calibri"/>
            </a:endParaRPr>
          </a:p>
        </p:txBody>
      </p:sp>
      <p:pic>
        <p:nvPicPr>
          <p:cNvPr descr="/home/claude/work/assets/rh-logo.png" id="1887" name="Google Shape;1887;p17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892" name="Shape 1892"/>
        <p:cNvGrpSpPr/>
        <p:nvPr/>
      </p:nvGrpSpPr>
      <p:grpSpPr>
        <a:xfrm>
          <a:off x="0" y="0"/>
          <a:ext cx="0" cy="0"/>
          <a:chOff x="0" y="0"/>
          <a:chExt cx="0" cy="0"/>
        </a:xfrm>
      </p:grpSpPr>
      <p:pic>
        <p:nvPicPr>
          <p:cNvPr descr="/home/claude/work/assets/rh-divider-bg.png" id="1893" name="Google Shape;1893;p17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894" name="Google Shape;1894;p17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I</a:t>
            </a:r>
            <a:endParaRPr b="0" i="0" sz="2200" u="none" cap="none" strike="noStrike">
              <a:solidFill>
                <a:schemeClr val="dk1"/>
              </a:solidFill>
              <a:latin typeface="Calibri"/>
              <a:ea typeface="Calibri"/>
              <a:cs typeface="Calibri"/>
              <a:sym typeface="Calibri"/>
            </a:endParaRPr>
          </a:p>
        </p:txBody>
      </p:sp>
      <p:sp>
        <p:nvSpPr>
          <p:cNvPr id="1895" name="Google Shape;1895;p17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I · L7 Routing &amp; Traffic Management</a:t>
            </a:r>
            <a:endParaRPr b="0" i="0" sz="4000" u="none" cap="none" strike="noStrike">
              <a:solidFill>
                <a:schemeClr val="dk1"/>
              </a:solidFill>
              <a:latin typeface="Calibri"/>
              <a:ea typeface="Calibri"/>
              <a:cs typeface="Calibri"/>
              <a:sym typeface="Calibri"/>
            </a:endParaRPr>
          </a:p>
        </p:txBody>
      </p:sp>
      <p:sp>
        <p:nvSpPr>
          <p:cNvPr id="1896" name="Google Shape;1896;p17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Software-defined, north/south and east/west.</a:t>
            </a:r>
            <a:endParaRPr b="0" i="0" sz="1500" u="none" cap="none" strike="noStrike">
              <a:solidFill>
                <a:schemeClr val="dk1"/>
              </a:solidFill>
              <a:latin typeface="Calibri"/>
              <a:ea typeface="Calibri"/>
              <a:cs typeface="Calibri"/>
              <a:sym typeface="Calibri"/>
            </a:endParaRPr>
          </a:p>
        </p:txBody>
      </p:sp>
      <p:pic>
        <p:nvPicPr>
          <p:cNvPr descr="/home/claude/work/assets/rh-logo-white.png" id="1897" name="Google Shape;1897;p17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2" name="Shape 1902"/>
        <p:cNvGrpSpPr/>
        <p:nvPr/>
      </p:nvGrpSpPr>
      <p:grpSpPr>
        <a:xfrm>
          <a:off x="0" y="0"/>
          <a:ext cx="0" cy="0"/>
          <a:chOff x="0" y="0"/>
          <a:chExt cx="0" cy="0"/>
        </a:xfrm>
      </p:grpSpPr>
      <p:sp>
        <p:nvSpPr>
          <p:cNvPr id="1903" name="Google Shape;1903;p1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04" name="Google Shape;1904;p1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software, not silicon</a:t>
            </a:r>
            <a:endParaRPr b="0" i="0" sz="3000" u="none" cap="none" strike="noStrike">
              <a:solidFill>
                <a:schemeClr val="dk1"/>
              </a:solidFill>
              <a:latin typeface="Calibri"/>
              <a:ea typeface="Calibri"/>
              <a:cs typeface="Calibri"/>
              <a:sym typeface="Calibri"/>
            </a:endParaRPr>
          </a:p>
        </p:txBody>
      </p:sp>
      <p:sp>
        <p:nvSpPr>
          <p:cNvPr id="1905" name="Google Shape;1905;p17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hardware load balancer used to be where routing decisions lived. In a cloud-native system that work has moved into software — programmable, observable, and runnable anywhere.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L7 means application layer: the router sees the HTTP or gRPC envelope (host, path, method, headers, cookies, gRPC service.method) and can route on any of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lives in four layers — edge / ingress, API gateway, service mesh, and (sometimes) inside the app itself. Each makes a different type of L7 decision.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runs both directions: north/south (clients into your system) and east/west (service to service). Most L7 decisions happen on internal traffic.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non-hardware stack is open source and composable: HAProxy, Nginx, Envoy, Istio, Linkerd, Kong, Traefik, Apache Camel, Kogito DMN, Drools — plus a YAML or two.</a:t>
            </a:r>
            <a:endParaRPr b="0" i="0" sz="1700" u="none" cap="none" strike="noStrike">
              <a:solidFill>
                <a:schemeClr val="dk1"/>
              </a:solidFill>
              <a:latin typeface="Calibri"/>
              <a:ea typeface="Calibri"/>
              <a:cs typeface="Calibri"/>
              <a:sym typeface="Calibri"/>
            </a:endParaRPr>
          </a:p>
        </p:txBody>
      </p:sp>
      <p:sp>
        <p:nvSpPr>
          <p:cNvPr id="1906" name="Google Shape;1906;p1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149</a:t>
            </a:r>
            <a:endParaRPr b="0" i="0" sz="1000" u="none" cap="none" strike="noStrike">
              <a:solidFill>
                <a:schemeClr val="dk1"/>
              </a:solidFill>
              <a:latin typeface="Calibri"/>
              <a:ea typeface="Calibri"/>
              <a:cs typeface="Calibri"/>
              <a:sym typeface="Calibri"/>
            </a:endParaRPr>
          </a:p>
        </p:txBody>
      </p:sp>
      <p:pic>
        <p:nvPicPr>
          <p:cNvPr descr="/home/claude/work/assets/rh-logo.png" id="1907" name="Google Shape;1907;p17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2" name="Shape 1912"/>
        <p:cNvGrpSpPr/>
        <p:nvPr/>
      </p:nvGrpSpPr>
      <p:grpSpPr>
        <a:xfrm>
          <a:off x="0" y="0"/>
          <a:ext cx="0" cy="0"/>
          <a:chOff x="0" y="0"/>
          <a:chExt cx="0" cy="0"/>
        </a:xfrm>
      </p:grpSpPr>
      <p:sp>
        <p:nvSpPr>
          <p:cNvPr id="1913" name="Google Shape;1913;p1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14" name="Google Shape;1914;p1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L4 vs L7: what each layer can decide on</a:t>
            </a:r>
            <a:endParaRPr b="0" i="0" sz="3000" u="none" cap="none" strike="noStrike">
              <a:solidFill>
                <a:schemeClr val="dk1"/>
              </a:solidFill>
              <a:latin typeface="Calibri"/>
              <a:ea typeface="Calibri"/>
              <a:cs typeface="Calibri"/>
              <a:sym typeface="Calibri"/>
            </a:endParaRPr>
          </a:p>
        </p:txBody>
      </p:sp>
      <p:pic>
        <p:nvPicPr>
          <p:cNvPr descr="/home/claude/work/png-sb/53-appI-l4-vs-l7.png" id="1915" name="Google Shape;1915;p176"/>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916" name="Google Shape;1916;p17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L4 sees connections; L7 sees the conversation — paths, headers, methods, cookies, gRPC service.method.</a:t>
            </a:r>
            <a:endParaRPr b="0" i="0" sz="1200" u="none" cap="none" strike="noStrike">
              <a:solidFill>
                <a:schemeClr val="dk1"/>
              </a:solidFill>
              <a:latin typeface="Calibri"/>
              <a:ea typeface="Calibri"/>
              <a:cs typeface="Calibri"/>
              <a:sym typeface="Calibri"/>
            </a:endParaRPr>
          </a:p>
        </p:txBody>
      </p:sp>
      <p:sp>
        <p:nvSpPr>
          <p:cNvPr id="1917" name="Google Shape;1917;p1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150</a:t>
            </a:r>
            <a:endParaRPr b="0" i="0" sz="1000" u="none" cap="none" strike="noStrike">
              <a:solidFill>
                <a:schemeClr val="dk1"/>
              </a:solidFill>
              <a:latin typeface="Calibri"/>
              <a:ea typeface="Calibri"/>
              <a:cs typeface="Calibri"/>
              <a:sym typeface="Calibri"/>
            </a:endParaRPr>
          </a:p>
        </p:txBody>
      </p:sp>
      <p:pic>
        <p:nvPicPr>
          <p:cNvPr descr="/home/claude/work/assets/rh-logo.png" id="1918" name="Google Shape;1918;p17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3" name="Shape 1923"/>
        <p:cNvGrpSpPr/>
        <p:nvPr/>
      </p:nvGrpSpPr>
      <p:grpSpPr>
        <a:xfrm>
          <a:off x="0" y="0"/>
          <a:ext cx="0" cy="0"/>
          <a:chOff x="0" y="0"/>
          <a:chExt cx="0" cy="0"/>
        </a:xfrm>
      </p:grpSpPr>
      <p:sp>
        <p:nvSpPr>
          <p:cNvPr id="1924" name="Google Shape;1924;p1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25" name="Google Shape;1925;p1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L7 capability menu</a:t>
            </a:r>
            <a:endParaRPr b="0" i="0" sz="3000" u="none" cap="none" strike="noStrike">
              <a:solidFill>
                <a:schemeClr val="dk1"/>
              </a:solidFill>
              <a:latin typeface="Calibri"/>
              <a:ea typeface="Calibri"/>
              <a:cs typeface="Calibri"/>
              <a:sym typeface="Calibri"/>
            </a:endParaRPr>
          </a:p>
        </p:txBody>
      </p:sp>
      <p:sp>
        <p:nvSpPr>
          <p:cNvPr id="1926" name="Google Shape;1926;p17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path / host / header / method / cookie / gRPC method → backend.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termination: decrypt at the edge, re-encrypt (or use mTLS) inward.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Traffic management: canary, blue/green, A/B, header-based, geo, shadow.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Payload modification: inject / strip headers, rewrite URLs, transform bodies.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with backoff + jitter, circuit breakers, outlier ejection — the same toolkit from Appendix E, applied at the network.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authn/authz, rate limiting, WAF, request mirroring, full traces and metrics on every hop.</a:t>
            </a:r>
            <a:endParaRPr b="0" i="0" sz="1700" u="none" cap="none" strike="noStrike">
              <a:solidFill>
                <a:schemeClr val="dk1"/>
              </a:solidFill>
              <a:latin typeface="Calibri"/>
              <a:ea typeface="Calibri"/>
              <a:cs typeface="Calibri"/>
              <a:sym typeface="Calibri"/>
            </a:endParaRPr>
          </a:p>
        </p:txBody>
      </p:sp>
      <p:sp>
        <p:nvSpPr>
          <p:cNvPr id="1927" name="Google Shape;1927;p1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151</a:t>
            </a:r>
            <a:endParaRPr b="0" i="0" sz="1000" u="none" cap="none" strike="noStrike">
              <a:solidFill>
                <a:schemeClr val="dk1"/>
              </a:solidFill>
              <a:latin typeface="Calibri"/>
              <a:ea typeface="Calibri"/>
              <a:cs typeface="Calibri"/>
              <a:sym typeface="Calibri"/>
            </a:endParaRPr>
          </a:p>
        </p:txBody>
      </p:sp>
      <p:pic>
        <p:nvPicPr>
          <p:cNvPr descr="/home/claude/work/assets/rh-logo.png" id="1928" name="Google Shape;1928;p17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3" name="Shape 1933"/>
        <p:cNvGrpSpPr/>
        <p:nvPr/>
      </p:nvGrpSpPr>
      <p:grpSpPr>
        <a:xfrm>
          <a:off x="0" y="0"/>
          <a:ext cx="0" cy="0"/>
          <a:chOff x="0" y="0"/>
          <a:chExt cx="0" cy="0"/>
        </a:xfrm>
      </p:grpSpPr>
      <p:sp>
        <p:nvSpPr>
          <p:cNvPr id="1934" name="Google Shape;1934;p1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35" name="Google Shape;1935;p1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L7 lives: the layered stack</a:t>
            </a:r>
            <a:endParaRPr b="0" i="0" sz="3000" u="none" cap="none" strike="noStrike">
              <a:solidFill>
                <a:schemeClr val="dk1"/>
              </a:solidFill>
              <a:latin typeface="Calibri"/>
              <a:ea typeface="Calibri"/>
              <a:cs typeface="Calibri"/>
              <a:sym typeface="Calibri"/>
            </a:endParaRPr>
          </a:p>
        </p:txBody>
      </p:sp>
      <p:pic>
        <p:nvPicPr>
          <p:cNvPr descr="/home/claude/work/png-sb/54-appI-stack-sb.png" id="1936" name="Google Shape;1936;p178"/>
          <p:cNvPicPr preferRelativeResize="0"/>
          <p:nvPr/>
        </p:nvPicPr>
        <p:blipFill rotWithShape="1">
          <a:blip r:embed="rId5">
            <a:alphaModFix/>
          </a:blip>
          <a:stretch/>
        </p:blipFill>
        <p:spPr>
          <a:xfrm>
            <a:off x="1643484" y="2053772"/>
            <a:ext cx="8904730" cy="3619136"/>
          </a:xfrm>
          <a:prstGeom prst="rect">
            <a:avLst/>
          </a:prstGeom>
          <a:noFill/>
          <a:ln>
            <a:noFill/>
          </a:ln>
        </p:spPr>
      </p:pic>
      <p:sp>
        <p:nvSpPr>
          <p:cNvPr id="1937" name="Google Shape;1937;p17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Four layers, north/south at the top, east/west at the bottom, each making a different type of L7 decision.</a:t>
            </a:r>
            <a:endParaRPr b="0" i="0" sz="1200" u="none" cap="none" strike="noStrike">
              <a:solidFill>
                <a:schemeClr val="dk1"/>
              </a:solidFill>
              <a:latin typeface="Calibri"/>
              <a:ea typeface="Calibri"/>
              <a:cs typeface="Calibri"/>
              <a:sym typeface="Calibri"/>
            </a:endParaRPr>
          </a:p>
        </p:txBody>
      </p:sp>
      <p:sp>
        <p:nvSpPr>
          <p:cNvPr id="1938" name="Google Shape;1938;p1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152</a:t>
            </a:r>
            <a:endParaRPr b="0" i="0" sz="1000" u="none" cap="none" strike="noStrike">
              <a:solidFill>
                <a:schemeClr val="dk1"/>
              </a:solidFill>
              <a:latin typeface="Calibri"/>
              <a:ea typeface="Calibri"/>
              <a:cs typeface="Calibri"/>
              <a:sym typeface="Calibri"/>
            </a:endParaRPr>
          </a:p>
        </p:txBody>
      </p:sp>
      <p:pic>
        <p:nvPicPr>
          <p:cNvPr descr="/home/claude/work/assets/rh-logo.png" id="1939" name="Google Shape;1939;p17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4" name="Shape 1944"/>
        <p:cNvGrpSpPr/>
        <p:nvPr/>
      </p:nvGrpSpPr>
      <p:grpSpPr>
        <a:xfrm>
          <a:off x="0" y="0"/>
          <a:ext cx="0" cy="0"/>
          <a:chOff x="0" y="0"/>
          <a:chExt cx="0" cy="0"/>
        </a:xfrm>
      </p:grpSpPr>
      <p:sp>
        <p:nvSpPr>
          <p:cNvPr id="1945" name="Google Shape;1945;p1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46" name="Google Shape;1946;p1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request's L7 path</a:t>
            </a:r>
            <a:endParaRPr b="0" i="0" sz="3000" u="none" cap="none" strike="noStrike">
              <a:solidFill>
                <a:schemeClr val="dk1"/>
              </a:solidFill>
              <a:latin typeface="Calibri"/>
              <a:ea typeface="Calibri"/>
              <a:cs typeface="Calibri"/>
              <a:sym typeface="Calibri"/>
            </a:endParaRPr>
          </a:p>
        </p:txBody>
      </p:sp>
      <p:pic>
        <p:nvPicPr>
          <p:cNvPr descr="/home/claude/work/png-sb/55-appI-journey.png" id="1947" name="Google Shape;1947;p179"/>
          <p:cNvPicPr preferRelativeResize="0"/>
          <p:nvPr/>
        </p:nvPicPr>
        <p:blipFill rotWithShape="1">
          <a:blip r:embed="rId5">
            <a:alphaModFix/>
          </a:blip>
          <a:stretch/>
        </p:blipFill>
        <p:spPr>
          <a:xfrm>
            <a:off x="1149305" y="2856365"/>
            <a:ext cx="9893084" cy="2013949"/>
          </a:xfrm>
          <a:prstGeom prst="rect">
            <a:avLst/>
          </a:prstGeom>
          <a:noFill/>
          <a:ln>
            <a:noFill/>
          </a:ln>
        </p:spPr>
      </p:pic>
      <p:sp>
        <p:nvSpPr>
          <p:cNvPr id="1948" name="Google Shape;1948;p17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request is a chain of L7 decisions made by four independent components.</a:t>
            </a:r>
            <a:endParaRPr b="0" i="0" sz="1200" u="none" cap="none" strike="noStrike">
              <a:solidFill>
                <a:schemeClr val="dk1"/>
              </a:solidFill>
              <a:latin typeface="Calibri"/>
              <a:ea typeface="Calibri"/>
              <a:cs typeface="Calibri"/>
              <a:sym typeface="Calibri"/>
            </a:endParaRPr>
          </a:p>
        </p:txBody>
      </p:sp>
      <p:sp>
        <p:nvSpPr>
          <p:cNvPr id="1949" name="Google Shape;1949;p1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153</a:t>
            </a:r>
            <a:endParaRPr b="0" i="0" sz="1000" u="none" cap="none" strike="noStrike">
              <a:solidFill>
                <a:schemeClr val="dk1"/>
              </a:solidFill>
              <a:latin typeface="Calibri"/>
              <a:ea typeface="Calibri"/>
              <a:cs typeface="Calibri"/>
              <a:sym typeface="Calibri"/>
            </a:endParaRPr>
          </a:p>
        </p:txBody>
      </p:sp>
      <p:pic>
        <p:nvPicPr>
          <p:cNvPr descr="/home/claude/work/assets/rh-logo.png" id="1950" name="Google Shape;1950;p17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5" name="Shape 1955"/>
        <p:cNvGrpSpPr/>
        <p:nvPr/>
      </p:nvGrpSpPr>
      <p:grpSpPr>
        <a:xfrm>
          <a:off x="0" y="0"/>
          <a:ext cx="0" cy="0"/>
          <a:chOff x="0" y="0"/>
          <a:chExt cx="0" cy="0"/>
        </a:xfrm>
      </p:grpSpPr>
      <p:sp>
        <p:nvSpPr>
          <p:cNvPr id="1956" name="Google Shape;1956;p1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57" name="Google Shape;1957;p1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Open-source L7 building blocks</a:t>
            </a:r>
            <a:endParaRPr b="0" i="0" sz="3000" u="none" cap="none" strike="noStrike">
              <a:solidFill>
                <a:schemeClr val="dk1"/>
              </a:solidFill>
              <a:latin typeface="Calibri"/>
              <a:ea typeface="Calibri"/>
              <a:cs typeface="Calibri"/>
              <a:sym typeface="Calibri"/>
            </a:endParaRPr>
          </a:p>
        </p:txBody>
      </p:sp>
      <p:sp>
        <p:nvSpPr>
          <p:cNvPr id="1958" name="Google Shape;1958;p18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HAProxy: fast, battle-tested L7 LB; ACL-driven config; classic ingress.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Nginx: ubiquitous web server / LB; location-block routing; widely used as ingress controller.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Envoy: the modern L7 proxy; HTTP/2, gRPC, dynamic config; the sidecar of choice.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a control plane built on Envoy; CRDs for routing, security, observability across the mesh.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Kong, Traefik, Spring Cloud Gateway: opinionated API gateways with plugin ecosystems.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Apache Camel + Drools / Kogito DMN: when the routing logic is a business rule, push it into the app — EIP DSL + a rule engine.</a:t>
            </a:r>
            <a:endParaRPr b="0" i="0" sz="1700" u="none" cap="none" strike="noStrike">
              <a:solidFill>
                <a:schemeClr val="dk1"/>
              </a:solidFill>
              <a:latin typeface="Calibri"/>
              <a:ea typeface="Calibri"/>
              <a:cs typeface="Calibri"/>
              <a:sym typeface="Calibri"/>
            </a:endParaRPr>
          </a:p>
        </p:txBody>
      </p:sp>
      <p:sp>
        <p:nvSpPr>
          <p:cNvPr id="1959" name="Google Shape;1959;p1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154</a:t>
            </a:r>
            <a:endParaRPr b="0" i="0" sz="1000" u="none" cap="none" strike="noStrike">
              <a:solidFill>
                <a:schemeClr val="dk1"/>
              </a:solidFill>
              <a:latin typeface="Calibri"/>
              <a:ea typeface="Calibri"/>
              <a:cs typeface="Calibri"/>
              <a:sym typeface="Calibri"/>
            </a:endParaRPr>
          </a:p>
        </p:txBody>
      </p:sp>
      <p:pic>
        <p:nvPicPr>
          <p:cNvPr descr="/home/claude/work/assets/rh-logo.png" id="1960" name="Google Shape;1960;p1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5" name="Shape 1965"/>
        <p:cNvGrpSpPr/>
        <p:nvPr/>
      </p:nvGrpSpPr>
      <p:grpSpPr>
        <a:xfrm>
          <a:off x="0" y="0"/>
          <a:ext cx="0" cy="0"/>
          <a:chOff x="0" y="0"/>
          <a:chExt cx="0" cy="0"/>
        </a:xfrm>
      </p:grpSpPr>
      <p:sp>
        <p:nvSpPr>
          <p:cNvPr id="1966" name="Google Shape;1966;p1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67" name="Google Shape;1967;p1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HAProxy</a:t>
            </a:r>
            <a:endParaRPr b="0" i="0" sz="3000" u="none" cap="none" strike="noStrike">
              <a:solidFill>
                <a:schemeClr val="dk1"/>
              </a:solidFill>
              <a:latin typeface="Calibri"/>
              <a:ea typeface="Calibri"/>
              <a:cs typeface="Calibri"/>
              <a:sym typeface="Calibri"/>
            </a:endParaRPr>
          </a:p>
        </p:txBody>
      </p:sp>
      <p:sp>
        <p:nvSpPr>
          <p:cNvPr id="1968" name="Google Shape;1968;p18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81"/>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haproxy.cfg</a:t>
            </a:r>
            <a:endParaRPr b="0" i="0" sz="1000" u="none" cap="none" strike="noStrike">
              <a:solidFill>
                <a:schemeClr val="dk1"/>
              </a:solidFill>
              <a:latin typeface="Calibri"/>
              <a:ea typeface="Calibri"/>
              <a:cs typeface="Calibri"/>
              <a:sym typeface="Calibri"/>
            </a:endParaRPr>
          </a:p>
        </p:txBody>
      </p:sp>
      <p:sp>
        <p:nvSpPr>
          <p:cNvPr id="1970" name="Google Shape;1970;p18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frontend http_in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bind *:443 ssl crt /etc/haproxy/certs/ alpn h2,http/1.1 </a:t>
            </a:r>
            <a:r>
              <a:rPr b="0" i="0" lang="en-US" sz="1300" u="none" cap="none" strike="noStrike">
                <a:solidFill>
                  <a:srgbClr val="8FB98F"/>
                </a:solidFill>
                <a:latin typeface="Red Hat Mono"/>
                <a:ea typeface="Red Hat Mono"/>
                <a:cs typeface="Red Hat Mono"/>
                <a:sym typeface="Red Hat Mono"/>
              </a:rPr>
              <a:t># TLS here; h2 for 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is_api          path_beg /api/</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is_grpc         req.hdr(content-type) -m beg application/grpc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is_internal     req.hdr(x-internal) -m str 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is_canary       hdr(cookie) -m sub canary=on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grpc_pool      if is_grpc        </a:t>
            </a:r>
            <a:r>
              <a:rPr b="0" i="0" lang="en-US" sz="1300" u="none" cap="none" strike="noStrike">
                <a:solidFill>
                  <a:srgbClr val="8FB98F"/>
                </a:solidFill>
                <a:latin typeface="Red Hat Mono"/>
                <a:ea typeface="Red Hat Mono"/>
                <a:cs typeface="Red Hat Mono"/>
                <a:sym typeface="Red Hat Mono"/>
              </a:rPr>
              <a:t># by content-type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order_v2_pool  if is_canary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order_int_pool if is_internal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order_pool     if is_api         </a:t>
            </a:r>
            <a:r>
              <a:rPr b="0" i="0" lang="en-US" sz="1300" u="none" cap="none" strike="noStrike">
                <a:solidFill>
                  <a:srgbClr val="8FB98F"/>
                </a:solidFill>
                <a:latin typeface="Red Hat Mono"/>
                <a:ea typeface="Red Hat Mono"/>
                <a:cs typeface="Red Hat Mono"/>
                <a:sym typeface="Red Hat Mono"/>
              </a:rPr>
              <a:t># by path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default_backend            web_pool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backend order_v2_pool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balance roundrobin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v2a 10.1.0.10:8080 check</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v2b 10.1.0.11:8080 check</a:t>
            </a:r>
            <a:endParaRPr b="0" i="0" sz="1300" u="none" cap="none" strike="noStrike">
              <a:solidFill>
                <a:schemeClr val="dk1"/>
              </a:solidFill>
              <a:latin typeface="Calibri"/>
              <a:ea typeface="Calibri"/>
              <a:cs typeface="Calibri"/>
              <a:sym typeface="Calibri"/>
            </a:endParaRPr>
          </a:p>
        </p:txBody>
      </p:sp>
      <p:sp>
        <p:nvSpPr>
          <p:cNvPr id="1971" name="Google Shape;1971;p18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ACLs read the L7 envelope (path, header, cookie, content-type) and use_backend dispatches — classic, fast, predictable.</a:t>
            </a:r>
            <a:endParaRPr b="0" i="0" sz="1300" u="none" cap="none" strike="noStrike">
              <a:solidFill>
                <a:schemeClr val="dk1"/>
              </a:solidFill>
              <a:latin typeface="Calibri"/>
              <a:ea typeface="Calibri"/>
              <a:cs typeface="Calibri"/>
              <a:sym typeface="Calibri"/>
            </a:endParaRPr>
          </a:p>
        </p:txBody>
      </p:sp>
      <p:sp>
        <p:nvSpPr>
          <p:cNvPr id="1972" name="Google Shape;1972;p1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155</a:t>
            </a:r>
            <a:endParaRPr b="0" i="0" sz="1000" u="none" cap="none" strike="noStrike">
              <a:solidFill>
                <a:schemeClr val="dk1"/>
              </a:solidFill>
              <a:latin typeface="Calibri"/>
              <a:ea typeface="Calibri"/>
              <a:cs typeface="Calibri"/>
              <a:sym typeface="Calibri"/>
            </a:endParaRPr>
          </a:p>
        </p:txBody>
      </p:sp>
      <p:pic>
        <p:nvPicPr>
          <p:cNvPr descr="/home/claude/work/assets/rh-logo.png" id="1973" name="Google Shape;1973;p18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8" name="Shape 1978"/>
        <p:cNvGrpSpPr/>
        <p:nvPr/>
      </p:nvGrpSpPr>
      <p:grpSpPr>
        <a:xfrm>
          <a:off x="0" y="0"/>
          <a:ext cx="0" cy="0"/>
          <a:chOff x="0" y="0"/>
          <a:chExt cx="0" cy="0"/>
        </a:xfrm>
      </p:grpSpPr>
      <p:sp>
        <p:nvSpPr>
          <p:cNvPr id="1979" name="Google Shape;1979;p1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80" name="Google Shape;1980;p1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Nginx</a:t>
            </a:r>
            <a:endParaRPr b="0" i="0" sz="3000" u="none" cap="none" strike="noStrike">
              <a:solidFill>
                <a:schemeClr val="dk1"/>
              </a:solidFill>
              <a:latin typeface="Calibri"/>
              <a:ea typeface="Calibri"/>
              <a:cs typeface="Calibri"/>
              <a:sym typeface="Calibri"/>
            </a:endParaRPr>
          </a:p>
        </p:txBody>
      </p:sp>
      <p:sp>
        <p:nvSpPr>
          <p:cNvPr id="1981" name="Google Shape;1981;p18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8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nginx.conf</a:t>
            </a:r>
            <a:endParaRPr b="0" i="0" sz="1000" u="none" cap="none" strike="noStrike">
              <a:solidFill>
                <a:schemeClr val="dk1"/>
              </a:solidFill>
              <a:latin typeface="Calibri"/>
              <a:ea typeface="Calibri"/>
              <a:cs typeface="Calibri"/>
              <a:sym typeface="Calibri"/>
            </a:endParaRPr>
          </a:p>
        </p:txBody>
      </p:sp>
      <p:sp>
        <p:nvSpPr>
          <p:cNvPr id="1983" name="Google Shape;1983;p18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map directive — declarative routing table on a header 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map $http_x_app_version $upstream_pool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default   order_v1;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      order_v2;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"v2beta"  order_v2_beta;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server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listen 443 ssl; http2 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     /etc/nginx/certs/tls.crt;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ssl_certificate_key /etc/nginx/certs/tls.key;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/api/orders/ {                       </a:t>
            </a:r>
            <a:r>
              <a:rPr b="0" i="0" lang="en-US" sz="1100" u="none" cap="none" strike="noStrike">
                <a:solidFill>
                  <a:srgbClr val="8FB98F"/>
                </a:solidFill>
                <a:latin typeface="Red Hat Mono"/>
                <a:ea typeface="Red Hat Mono"/>
                <a:cs typeface="Red Hat Mono"/>
                <a:sym typeface="Red Hat Mono"/>
              </a:rPr>
              <a:t># path-based routing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proxy_pass http://$upstream_pool;         </a:t>
            </a:r>
            <a:r>
              <a:rPr b="0" i="0" lang="en-US" sz="1100" u="none" cap="none" strike="noStrike">
                <a:solidFill>
                  <a:srgbClr val="8FB98F"/>
                </a:solidFill>
                <a:latin typeface="Red Hat Mono"/>
                <a:ea typeface="Red Hat Mono"/>
                <a:cs typeface="Red Hat Mono"/>
                <a:sym typeface="Red Hat Mono"/>
              </a:rPr>
              <a:t># picked by the map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proxy_set_header X-Request-Id $request_id;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 ^/api/grpc/ {                       </a:t>
            </a:r>
            <a:r>
              <a:rPr b="0" i="0" lang="en-US" sz="1100" u="none" cap="none" strike="noStrike">
                <a:solidFill>
                  <a:srgbClr val="8FB98F"/>
                </a:solidFill>
                <a:latin typeface="Red Hat Mono"/>
                <a:ea typeface="Red Hat Mono"/>
                <a:cs typeface="Red Hat Mono"/>
                <a:sym typeface="Red Hat Mono"/>
              </a:rPr>
              <a:t># gRPC traffic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grpc_pass grpc://orders_grpc_pool;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1984" name="Google Shape;1984;p18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turns a header value into an upstream pool name; location blocks dispatch by path and protocol — HTTP and gRPC side by side.</a:t>
            </a:r>
            <a:endParaRPr b="0" i="0" sz="1300" u="none" cap="none" strike="noStrike">
              <a:solidFill>
                <a:schemeClr val="dk1"/>
              </a:solidFill>
              <a:latin typeface="Calibri"/>
              <a:ea typeface="Calibri"/>
              <a:cs typeface="Calibri"/>
              <a:sym typeface="Calibri"/>
            </a:endParaRPr>
          </a:p>
        </p:txBody>
      </p:sp>
      <p:sp>
        <p:nvSpPr>
          <p:cNvPr id="1985" name="Google Shape;1985;p1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156</a:t>
            </a:r>
            <a:endParaRPr b="0" i="0" sz="1000" u="none" cap="none" strike="noStrike">
              <a:solidFill>
                <a:schemeClr val="dk1"/>
              </a:solidFill>
              <a:latin typeface="Calibri"/>
              <a:ea typeface="Calibri"/>
              <a:cs typeface="Calibri"/>
              <a:sym typeface="Calibri"/>
            </a:endParaRPr>
          </a:p>
        </p:txBody>
      </p:sp>
      <p:pic>
        <p:nvPicPr>
          <p:cNvPr descr="/home/claude/work/assets/rh-logo.png" id="1986" name="Google Shape;1986;p18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1" name="Shape 1991"/>
        <p:cNvGrpSpPr/>
        <p:nvPr/>
      </p:nvGrpSpPr>
      <p:grpSpPr>
        <a:xfrm>
          <a:off x="0" y="0"/>
          <a:ext cx="0" cy="0"/>
          <a:chOff x="0" y="0"/>
          <a:chExt cx="0" cy="0"/>
        </a:xfrm>
      </p:grpSpPr>
      <p:sp>
        <p:nvSpPr>
          <p:cNvPr id="1992" name="Google Shape;1992;p1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93" name="Google Shape;1993;p1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in the mesh: Istio VirtualService</a:t>
            </a:r>
            <a:endParaRPr b="0" i="0" sz="3000" u="none" cap="none" strike="noStrike">
              <a:solidFill>
                <a:schemeClr val="dk1"/>
              </a:solidFill>
              <a:latin typeface="Calibri"/>
              <a:ea typeface="Calibri"/>
              <a:cs typeface="Calibri"/>
              <a:sym typeface="Calibri"/>
            </a:endParaRPr>
          </a:p>
        </p:txBody>
      </p:sp>
      <p:sp>
        <p:nvSpPr>
          <p:cNvPr id="1994" name="Google Shape;1994;p18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83"/>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VirtualService</a:t>
            </a:r>
            <a:endParaRPr b="0" i="0" sz="1000" u="none" cap="none" strike="noStrike">
              <a:solidFill>
                <a:schemeClr val="dk1"/>
              </a:solidFill>
              <a:latin typeface="Calibri"/>
              <a:ea typeface="Calibri"/>
              <a:cs typeface="Calibri"/>
              <a:sym typeface="Calibri"/>
            </a:endParaRPr>
          </a:p>
        </p:txBody>
      </p:sp>
      <p:sp>
        <p:nvSpPr>
          <p:cNvPr id="1996" name="Google Shape;1996;p18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gRPC by service.method</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uri: { prefix: /acme.orders.v1.OrderService/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x-internal: { exact: "1"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cookie: { regex: ".*canary=on.*"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   </a:t>
            </a:r>
            <a:r>
              <a:rPr b="0" i="0" lang="en-US" sz="1300" u="none" cap="none" strike="noStrike">
                <a:solidFill>
                  <a:srgbClr val="8FB98F"/>
                </a:solidFill>
                <a:latin typeface="Red Hat Mono"/>
                <a:ea typeface="Red Hat Mono"/>
                <a:cs typeface="Red Hat Mono"/>
                <a:sym typeface="Red Hat Mono"/>
              </a:rPr>
              <a:t># default</a:t>
            </a:r>
            <a:endParaRPr b="0" i="0" sz="1300" u="none" cap="none" strike="noStrike">
              <a:solidFill>
                <a:schemeClr val="dk1"/>
              </a:solidFill>
              <a:latin typeface="Calibri"/>
              <a:ea typeface="Calibri"/>
              <a:cs typeface="Calibri"/>
              <a:sym typeface="Calibri"/>
            </a:endParaRPr>
          </a:p>
        </p:txBody>
      </p:sp>
      <p:sp>
        <p:nvSpPr>
          <p:cNvPr id="1997" name="Google Shape;1997;p18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Match by URI prefix (gRPC service.method), header, or cookie — same L7 inputs, expressed as Kubernetes CRDs.</a:t>
            </a:r>
            <a:endParaRPr b="0" i="0" sz="1300" u="none" cap="none" strike="noStrike">
              <a:solidFill>
                <a:schemeClr val="dk1"/>
              </a:solidFill>
              <a:latin typeface="Calibri"/>
              <a:ea typeface="Calibri"/>
              <a:cs typeface="Calibri"/>
              <a:sym typeface="Calibri"/>
            </a:endParaRPr>
          </a:p>
        </p:txBody>
      </p:sp>
      <p:sp>
        <p:nvSpPr>
          <p:cNvPr id="1998" name="Google Shape;1998;p1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157</a:t>
            </a:r>
            <a:endParaRPr b="0" i="0" sz="1000" u="none" cap="none" strike="noStrike">
              <a:solidFill>
                <a:schemeClr val="dk1"/>
              </a:solidFill>
              <a:latin typeface="Calibri"/>
              <a:ea typeface="Calibri"/>
              <a:cs typeface="Calibri"/>
              <a:sym typeface="Calibri"/>
            </a:endParaRPr>
          </a:p>
        </p:txBody>
      </p:sp>
      <p:pic>
        <p:nvPicPr>
          <p:cNvPr descr="/home/claude/work/assets/rh-logo.png" id="1999" name="Google Shape;1999;p18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4" name="Shape 2004"/>
        <p:cNvGrpSpPr/>
        <p:nvPr/>
      </p:nvGrpSpPr>
      <p:grpSpPr>
        <a:xfrm>
          <a:off x="0" y="0"/>
          <a:ext cx="0" cy="0"/>
          <a:chOff x="0" y="0"/>
          <a:chExt cx="0" cy="0"/>
        </a:xfrm>
      </p:grpSpPr>
      <p:sp>
        <p:nvSpPr>
          <p:cNvPr id="2005" name="Google Shape;2005;p1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06" name="Google Shape;2006;p1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SSL / TLS termination at L7</a:t>
            </a:r>
            <a:endParaRPr b="0" i="0" sz="3000" u="none" cap="none" strike="noStrike">
              <a:solidFill>
                <a:schemeClr val="dk1"/>
              </a:solidFill>
              <a:latin typeface="Calibri"/>
              <a:ea typeface="Calibri"/>
              <a:cs typeface="Calibri"/>
              <a:sym typeface="Calibri"/>
            </a:endParaRPr>
          </a:p>
        </p:txBody>
      </p:sp>
      <p:sp>
        <p:nvSpPr>
          <p:cNvPr id="2007" name="Google Shape;2007;p18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terminates TLS so the L7 router can read and route on the request — you cannot inspect headers or paths through an encrypted connection.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Re-encrypt or mTLS inward: terminate at the edge, then either plaintext within the cluster (rare today) or mTLS via the mesh (the modern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Certificate management: cert-manager + Let's Encrypt for public certs; SPIFFE / SDS for service identity inside the mesh; Istio rotates pod certs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passthrough (no termination) when you need end-to-end encryption (gRPC client mTLS, regulated payloads); route by SNI only.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TLS handshakes are real CPU. Modern stacks use session resumption, TLS 1.3 and HTTP/2 to amortise the cost across many requests.</a:t>
            </a:r>
            <a:endParaRPr b="0" i="0" sz="1700" u="none" cap="none" strike="noStrike">
              <a:solidFill>
                <a:schemeClr val="dk1"/>
              </a:solidFill>
              <a:latin typeface="Calibri"/>
              <a:ea typeface="Calibri"/>
              <a:cs typeface="Calibri"/>
              <a:sym typeface="Calibri"/>
            </a:endParaRPr>
          </a:p>
        </p:txBody>
      </p:sp>
      <p:sp>
        <p:nvSpPr>
          <p:cNvPr id="2008" name="Google Shape;2008;p1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158</a:t>
            </a:r>
            <a:endParaRPr b="0" i="0" sz="1000" u="none" cap="none" strike="noStrike">
              <a:solidFill>
                <a:schemeClr val="dk1"/>
              </a:solidFill>
              <a:latin typeface="Calibri"/>
              <a:ea typeface="Calibri"/>
              <a:cs typeface="Calibri"/>
              <a:sym typeface="Calibri"/>
            </a:endParaRPr>
          </a:p>
        </p:txBody>
      </p:sp>
      <p:pic>
        <p:nvPicPr>
          <p:cNvPr descr="/home/claude/work/assets/rh-logo.png" id="2009" name="Google Shape;2009;p18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4" name="Shape 2014"/>
        <p:cNvGrpSpPr/>
        <p:nvPr/>
      </p:nvGrpSpPr>
      <p:grpSpPr>
        <a:xfrm>
          <a:off x="0" y="0"/>
          <a:ext cx="0" cy="0"/>
          <a:chOff x="0" y="0"/>
          <a:chExt cx="0" cy="0"/>
        </a:xfrm>
      </p:grpSpPr>
      <p:sp>
        <p:nvSpPr>
          <p:cNvPr id="2015" name="Google Shape;2015;p1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16" name="Google Shape;2016;p1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cookie vs IP-hash vs none</a:t>
            </a:r>
            <a:endParaRPr b="0" i="0" sz="3000" u="none" cap="none" strike="noStrike">
              <a:solidFill>
                <a:schemeClr val="dk1"/>
              </a:solidFill>
              <a:latin typeface="Calibri"/>
              <a:ea typeface="Calibri"/>
              <a:cs typeface="Calibri"/>
              <a:sym typeface="Calibri"/>
            </a:endParaRPr>
          </a:p>
        </p:txBody>
      </p:sp>
      <p:pic>
        <p:nvPicPr>
          <p:cNvPr descr="/home/claude/work/png-sb/56-appI-sticky.png" id="2017" name="Google Shape;2017;p18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018" name="Google Shape;2018;p18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Convenient for legacy state, hostile to elastic scaling — prefer stateless behind a JWT.</a:t>
            </a:r>
            <a:endParaRPr b="0" i="0" sz="1200" u="none" cap="none" strike="noStrike">
              <a:solidFill>
                <a:schemeClr val="dk1"/>
              </a:solidFill>
              <a:latin typeface="Calibri"/>
              <a:ea typeface="Calibri"/>
              <a:cs typeface="Calibri"/>
              <a:sym typeface="Calibri"/>
            </a:endParaRPr>
          </a:p>
        </p:txBody>
      </p:sp>
      <p:sp>
        <p:nvSpPr>
          <p:cNvPr id="2019" name="Google Shape;2019;p1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159</a:t>
            </a:r>
            <a:endParaRPr b="0" i="0" sz="1000" u="none" cap="none" strike="noStrike">
              <a:solidFill>
                <a:schemeClr val="dk1"/>
              </a:solidFill>
              <a:latin typeface="Calibri"/>
              <a:ea typeface="Calibri"/>
              <a:cs typeface="Calibri"/>
              <a:sym typeface="Calibri"/>
            </a:endParaRPr>
          </a:p>
        </p:txBody>
      </p:sp>
      <p:pic>
        <p:nvPicPr>
          <p:cNvPr descr="/home/claude/work/assets/rh-logo.png" id="2020" name="Google Shape;2020;p18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5" name="Shape 2025"/>
        <p:cNvGrpSpPr/>
        <p:nvPr/>
      </p:nvGrpSpPr>
      <p:grpSpPr>
        <a:xfrm>
          <a:off x="0" y="0"/>
          <a:ext cx="0" cy="0"/>
          <a:chOff x="0" y="0"/>
          <a:chExt cx="0" cy="0"/>
        </a:xfrm>
      </p:grpSpPr>
      <p:sp>
        <p:nvSpPr>
          <p:cNvPr id="2026" name="Google Shape;2026;p1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27" name="Google Shape;2027;p1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in practice</a:t>
            </a:r>
            <a:endParaRPr b="0" i="0" sz="3000" u="none" cap="none" strike="noStrike">
              <a:solidFill>
                <a:schemeClr val="dk1"/>
              </a:solidFill>
              <a:latin typeface="Calibri"/>
              <a:ea typeface="Calibri"/>
              <a:cs typeface="Calibri"/>
              <a:sym typeface="Calibri"/>
            </a:endParaRPr>
          </a:p>
        </p:txBody>
      </p:sp>
      <p:sp>
        <p:nvSpPr>
          <p:cNvPr id="2028" name="Google Shape;2028;p18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you need them: legacy session state, a stateful WebSocket that hasn't been moved off-process yet, certain rate-limit windows tied to a token bucket per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Cookie-based is almost always the right choice over IP-hash: it survives NAT and lets clients explicitly drop the cookie.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What stickiness breaks: even load balancing, fast pod restarts, scale-to-zero, blue/green flips, and a clean Appendix H graceful shutdown for any stateful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right fix is usually upstream: move session state to Redis or the JWT, use a backplane for WebSocket fan-out (see Appendix C), and treat every pod as disposable.</a:t>
            </a:r>
            <a:endParaRPr b="0" i="0" sz="1700" u="none" cap="none" strike="noStrike">
              <a:solidFill>
                <a:schemeClr val="dk1"/>
              </a:solidFill>
              <a:latin typeface="Calibri"/>
              <a:ea typeface="Calibri"/>
              <a:cs typeface="Calibri"/>
              <a:sym typeface="Calibri"/>
            </a:endParaRPr>
          </a:p>
        </p:txBody>
      </p:sp>
      <p:sp>
        <p:nvSpPr>
          <p:cNvPr id="2029" name="Google Shape;2029;p1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160</a:t>
            </a:r>
            <a:endParaRPr b="0" i="0" sz="1000" u="none" cap="none" strike="noStrike">
              <a:solidFill>
                <a:schemeClr val="dk1"/>
              </a:solidFill>
              <a:latin typeface="Calibri"/>
              <a:ea typeface="Calibri"/>
              <a:cs typeface="Calibri"/>
              <a:sym typeface="Calibri"/>
            </a:endParaRPr>
          </a:p>
        </p:txBody>
      </p:sp>
      <p:pic>
        <p:nvPicPr>
          <p:cNvPr descr="/home/claude/work/assets/rh-logo.png" id="2030" name="Google Shape;2030;p18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5" name="Shape 2035"/>
        <p:cNvGrpSpPr/>
        <p:nvPr/>
      </p:nvGrpSpPr>
      <p:grpSpPr>
        <a:xfrm>
          <a:off x="0" y="0"/>
          <a:ext cx="0" cy="0"/>
          <a:chOff x="0" y="0"/>
          <a:chExt cx="0" cy="0"/>
        </a:xfrm>
      </p:grpSpPr>
      <p:sp>
        <p:nvSpPr>
          <p:cNvPr id="2036" name="Google Shape;2036;p1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37" name="Google Shape;2037;p1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Intelligent traffic steering</a:t>
            </a:r>
            <a:endParaRPr b="0" i="0" sz="3000" u="none" cap="none" strike="noStrike">
              <a:solidFill>
                <a:schemeClr val="dk1"/>
              </a:solidFill>
              <a:latin typeface="Calibri"/>
              <a:ea typeface="Calibri"/>
              <a:cs typeface="Calibri"/>
              <a:sym typeface="Calibri"/>
            </a:endParaRPr>
          </a:p>
        </p:txBody>
      </p:sp>
      <p:pic>
        <p:nvPicPr>
          <p:cNvPr descr="/home/claude/work/png-sb/57-appI-steering.png" id="2038" name="Google Shape;2038;p18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2039" name="Google Shape;2039;p18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Six familiar shapes — each is a header or weight rule away.</a:t>
            </a:r>
            <a:endParaRPr b="0" i="0" sz="1200" u="none" cap="none" strike="noStrike">
              <a:solidFill>
                <a:schemeClr val="dk1"/>
              </a:solidFill>
              <a:latin typeface="Calibri"/>
              <a:ea typeface="Calibri"/>
              <a:cs typeface="Calibri"/>
              <a:sym typeface="Calibri"/>
            </a:endParaRPr>
          </a:p>
        </p:txBody>
      </p:sp>
      <p:sp>
        <p:nvSpPr>
          <p:cNvPr id="2040" name="Google Shape;2040;p1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161</a:t>
            </a:r>
            <a:endParaRPr b="0" i="0" sz="1000" u="none" cap="none" strike="noStrike">
              <a:solidFill>
                <a:schemeClr val="dk1"/>
              </a:solidFill>
              <a:latin typeface="Calibri"/>
              <a:ea typeface="Calibri"/>
              <a:cs typeface="Calibri"/>
              <a:sym typeface="Calibri"/>
            </a:endParaRPr>
          </a:p>
        </p:txBody>
      </p:sp>
      <p:pic>
        <p:nvPicPr>
          <p:cNvPr descr="/home/claude/work/assets/rh-logo.png" id="2041" name="Google Shape;2041;p18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6" name="Shape 2046"/>
        <p:cNvGrpSpPr/>
        <p:nvPr/>
      </p:nvGrpSpPr>
      <p:grpSpPr>
        <a:xfrm>
          <a:off x="0" y="0"/>
          <a:ext cx="0" cy="0"/>
          <a:chOff x="0" y="0"/>
          <a:chExt cx="0" cy="0"/>
        </a:xfrm>
      </p:grpSpPr>
      <p:sp>
        <p:nvSpPr>
          <p:cNvPr id="2047" name="Google Shape;2047;p1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48" name="Google Shape;2048;p1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Canary release: weighted Istio routing</a:t>
            </a:r>
            <a:endParaRPr b="0" i="0" sz="3000" u="none" cap="none" strike="noStrike">
              <a:solidFill>
                <a:schemeClr val="dk1"/>
              </a:solidFill>
              <a:latin typeface="Calibri"/>
              <a:ea typeface="Calibri"/>
              <a:cs typeface="Calibri"/>
              <a:sym typeface="Calibri"/>
            </a:endParaRPr>
          </a:p>
        </p:txBody>
      </p:sp>
      <p:sp>
        <p:nvSpPr>
          <p:cNvPr id="2049" name="Google Shape;2049;p18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188"/>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canary</a:t>
            </a:r>
            <a:endParaRPr b="0" i="0" sz="1000" u="none" cap="none" strike="noStrike">
              <a:solidFill>
                <a:schemeClr val="dk1"/>
              </a:solidFill>
              <a:latin typeface="Calibri"/>
              <a:ea typeface="Calibri"/>
              <a:cs typeface="Calibri"/>
              <a:sym typeface="Calibri"/>
            </a:endParaRPr>
          </a:p>
        </p:txBody>
      </p:sp>
      <p:sp>
        <p:nvSpPr>
          <p:cNvPr id="2051" name="Google Shape;2051;p18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VirtualService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hosts: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route: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90                              </a:t>
            </a:r>
            <a:r>
              <a:rPr b="0" i="0" lang="en-US" sz="1000" u="none" cap="none" strike="noStrike">
                <a:solidFill>
                  <a:srgbClr val="8FB98F"/>
                </a:solidFill>
                <a:latin typeface="Red Hat Mono"/>
                <a:ea typeface="Red Hat Mono"/>
                <a:cs typeface="Red Hat Mono"/>
                <a:sym typeface="Red Hat Mono"/>
              </a:rPr>
              <a:t># 90% on the stable version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v2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10                              </a:t>
            </a:r>
            <a:r>
              <a:rPr b="0" i="0" lang="en-US" sz="1000" u="none" cap="none" strike="noStrike">
                <a:solidFill>
                  <a:srgbClr val="8FB98F"/>
                </a:solidFill>
                <a:latin typeface="Red Hat Mono"/>
                <a:ea typeface="Red Hat Mono"/>
                <a:cs typeface="Red Hat Mono"/>
                <a:sym typeface="Red Hat Mono"/>
              </a:rPr>
              <a:t># 10% on the canary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DestinationRule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subsets: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v2</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v2 }</a:t>
            </a:r>
            <a:endParaRPr b="0" i="0" sz="1000" u="none" cap="none" strike="noStrike">
              <a:solidFill>
                <a:schemeClr val="dk1"/>
              </a:solidFill>
              <a:latin typeface="Calibri"/>
              <a:ea typeface="Calibri"/>
              <a:cs typeface="Calibri"/>
              <a:sym typeface="Calibri"/>
            </a:endParaRPr>
          </a:p>
        </p:txBody>
      </p:sp>
      <p:sp>
        <p:nvSpPr>
          <p:cNvPr id="2052" name="Google Shape;2052;p18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VirtualService splits traffic by weight; DestinationRule defines the subsets by pod labels — the canonical canary release pattern.</a:t>
            </a:r>
            <a:endParaRPr b="0" i="0" sz="1300" u="none" cap="none" strike="noStrike">
              <a:solidFill>
                <a:schemeClr val="dk1"/>
              </a:solidFill>
              <a:latin typeface="Calibri"/>
              <a:ea typeface="Calibri"/>
              <a:cs typeface="Calibri"/>
              <a:sym typeface="Calibri"/>
            </a:endParaRPr>
          </a:p>
        </p:txBody>
      </p:sp>
      <p:sp>
        <p:nvSpPr>
          <p:cNvPr id="2053" name="Google Shape;2053;p1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162</a:t>
            </a:r>
            <a:endParaRPr b="0" i="0" sz="1000" u="none" cap="none" strike="noStrike">
              <a:solidFill>
                <a:schemeClr val="dk1"/>
              </a:solidFill>
              <a:latin typeface="Calibri"/>
              <a:ea typeface="Calibri"/>
              <a:cs typeface="Calibri"/>
              <a:sym typeface="Calibri"/>
            </a:endParaRPr>
          </a:p>
        </p:txBody>
      </p:sp>
      <p:pic>
        <p:nvPicPr>
          <p:cNvPr descr="/home/claude/work/assets/rh-logo.png" id="2054" name="Google Shape;2054;p18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9" name="Shape 2059"/>
        <p:cNvGrpSpPr/>
        <p:nvPr/>
      </p:nvGrpSpPr>
      <p:grpSpPr>
        <a:xfrm>
          <a:off x="0" y="0"/>
          <a:ext cx="0" cy="0"/>
          <a:chOff x="0" y="0"/>
          <a:chExt cx="0" cy="0"/>
        </a:xfrm>
      </p:grpSpPr>
      <p:sp>
        <p:nvSpPr>
          <p:cNvPr id="2060" name="Google Shape;2060;p1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61" name="Google Shape;2061;p1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Header-based steering: dark launches</a:t>
            </a:r>
            <a:endParaRPr b="0" i="0" sz="3000" u="none" cap="none" strike="noStrike">
              <a:solidFill>
                <a:schemeClr val="dk1"/>
              </a:solidFill>
              <a:latin typeface="Calibri"/>
              <a:ea typeface="Calibri"/>
              <a:cs typeface="Calibri"/>
              <a:sym typeface="Calibri"/>
            </a:endParaRPr>
          </a:p>
        </p:txBody>
      </p:sp>
      <p:sp>
        <p:nvSpPr>
          <p:cNvPr id="2062" name="Google Shape;2062;p18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89"/>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header-based</a:t>
            </a:r>
            <a:endParaRPr b="0" i="0" sz="1000" u="none" cap="none" strike="noStrike">
              <a:solidFill>
                <a:schemeClr val="dk1"/>
              </a:solidFill>
              <a:latin typeface="Calibri"/>
              <a:ea typeface="Calibri"/>
              <a:cs typeface="Calibri"/>
              <a:sym typeface="Calibri"/>
            </a:endParaRPr>
          </a:p>
        </p:txBody>
      </p:sp>
      <p:sp>
        <p:nvSpPr>
          <p:cNvPr id="2064" name="Google Shape;2064;p18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route internal beta users to v2; everyone else stays on 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x-acme-beta: { exact: "true" }        # set by your auth proxy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user-agent: { regex: ".*AcmeInternal.*"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a:t>
            </a:r>
            <a:endParaRPr b="0" i="0" sz="1300" u="none" cap="none" strike="noStrike">
              <a:solidFill>
                <a:schemeClr val="dk1"/>
              </a:solidFill>
              <a:latin typeface="Calibri"/>
              <a:ea typeface="Calibri"/>
              <a:cs typeface="Calibri"/>
              <a:sym typeface="Calibri"/>
            </a:endParaRPr>
          </a:p>
        </p:txBody>
      </p:sp>
      <p:sp>
        <p:nvSpPr>
          <p:cNvPr id="2065" name="Google Shape;2065;p18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First match wins; an internal-only header (set upstream by auth) hands real production traffic to v2 — with zero blast radius.</a:t>
            </a:r>
            <a:endParaRPr b="0" i="0" sz="1300" u="none" cap="none" strike="noStrike">
              <a:solidFill>
                <a:schemeClr val="dk1"/>
              </a:solidFill>
              <a:latin typeface="Calibri"/>
              <a:ea typeface="Calibri"/>
              <a:cs typeface="Calibri"/>
              <a:sym typeface="Calibri"/>
            </a:endParaRPr>
          </a:p>
        </p:txBody>
      </p:sp>
      <p:sp>
        <p:nvSpPr>
          <p:cNvPr id="2066" name="Google Shape;2066;p1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163</a:t>
            </a:r>
            <a:endParaRPr b="0" i="0" sz="1000" u="none" cap="none" strike="noStrike">
              <a:solidFill>
                <a:schemeClr val="dk1"/>
              </a:solidFill>
              <a:latin typeface="Calibri"/>
              <a:ea typeface="Calibri"/>
              <a:cs typeface="Calibri"/>
              <a:sym typeface="Calibri"/>
            </a:endParaRPr>
          </a:p>
        </p:txBody>
      </p:sp>
      <p:pic>
        <p:nvPicPr>
          <p:cNvPr descr="/home/claude/work/assets/rh-logo.png" id="2067" name="Google Shape;2067;p18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2" name="Shape 2072"/>
        <p:cNvGrpSpPr/>
        <p:nvPr/>
      </p:nvGrpSpPr>
      <p:grpSpPr>
        <a:xfrm>
          <a:off x="0" y="0"/>
          <a:ext cx="0" cy="0"/>
          <a:chOff x="0" y="0"/>
          <a:chExt cx="0" cy="0"/>
        </a:xfrm>
      </p:grpSpPr>
      <p:sp>
        <p:nvSpPr>
          <p:cNvPr id="2073" name="Google Shape;2073;p1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74" name="Google Shape;2074;p1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Payload modifications</a:t>
            </a:r>
            <a:endParaRPr b="0" i="0" sz="3000" u="none" cap="none" strike="noStrike">
              <a:solidFill>
                <a:schemeClr val="dk1"/>
              </a:solidFill>
              <a:latin typeface="Calibri"/>
              <a:ea typeface="Calibri"/>
              <a:cs typeface="Calibri"/>
              <a:sym typeface="Calibri"/>
            </a:endParaRPr>
          </a:p>
        </p:txBody>
      </p:sp>
      <p:sp>
        <p:nvSpPr>
          <p:cNvPr id="2075" name="Google Shape;2075;p19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injection: X-Request-Id, traceparent, X-Forwarded-For, identity claims — propagate context downstream so the trace stitches together.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stripping: drop Authorization or PII headers before forwarding to a less-trusted backend; strip Server / X-Powered-By outbound.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URL rewrites: /api/v1/orders → /orders internally; clean public URLs over messy service paths.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transformation: rare but possible — protocol translation, redaction, format conversion (Envoy filters, Camel transforms).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body inspection means reading the full request into memory — the slowest L7 thing you can do. Use it sparingly, never on every request.</a:t>
            </a:r>
            <a:endParaRPr b="0" i="0" sz="1700" u="none" cap="none" strike="noStrike">
              <a:solidFill>
                <a:schemeClr val="dk1"/>
              </a:solidFill>
              <a:latin typeface="Calibri"/>
              <a:ea typeface="Calibri"/>
              <a:cs typeface="Calibri"/>
              <a:sym typeface="Calibri"/>
            </a:endParaRPr>
          </a:p>
        </p:txBody>
      </p:sp>
      <p:sp>
        <p:nvSpPr>
          <p:cNvPr id="2076" name="Google Shape;2076;p1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164</a:t>
            </a:r>
            <a:endParaRPr b="0" i="0" sz="1000" u="none" cap="none" strike="noStrike">
              <a:solidFill>
                <a:schemeClr val="dk1"/>
              </a:solidFill>
              <a:latin typeface="Calibri"/>
              <a:ea typeface="Calibri"/>
              <a:cs typeface="Calibri"/>
              <a:sym typeface="Calibri"/>
            </a:endParaRPr>
          </a:p>
        </p:txBody>
      </p:sp>
      <p:pic>
        <p:nvPicPr>
          <p:cNvPr descr="/home/claude/work/assets/rh-logo.png" id="2077" name="Google Shape;2077;p1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2" name="Shape 2082"/>
        <p:cNvGrpSpPr/>
        <p:nvPr/>
      </p:nvGrpSpPr>
      <p:grpSpPr>
        <a:xfrm>
          <a:off x="0" y="0"/>
          <a:ext cx="0" cy="0"/>
          <a:chOff x="0" y="0"/>
          <a:chExt cx="0" cy="0"/>
        </a:xfrm>
      </p:grpSpPr>
      <p:sp>
        <p:nvSpPr>
          <p:cNvPr id="2083" name="Google Shape;2083;p1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84" name="Google Shape;2084;p1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 injection and URL rewrites</a:t>
            </a:r>
            <a:endParaRPr b="0" i="0" sz="3000" u="none" cap="none" strike="noStrike">
              <a:solidFill>
                <a:schemeClr val="dk1"/>
              </a:solidFill>
              <a:latin typeface="Calibri"/>
              <a:ea typeface="Calibri"/>
              <a:cs typeface="Calibri"/>
              <a:sym typeface="Calibri"/>
            </a:endParaRPr>
          </a:p>
        </p:txBody>
      </p:sp>
      <p:sp>
        <p:nvSpPr>
          <p:cNvPr id="2085" name="Google Shape;2085;p19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91"/>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Envoy / Istio</a:t>
            </a:r>
            <a:endParaRPr b="0" i="0" sz="1000" u="none" cap="none" strike="noStrike">
              <a:solidFill>
                <a:schemeClr val="dk1"/>
              </a:solidFill>
              <a:latin typeface="Calibri"/>
              <a:ea typeface="Calibri"/>
              <a:cs typeface="Calibri"/>
              <a:sym typeface="Calibri"/>
            </a:endParaRPr>
          </a:p>
        </p:txBody>
      </p:sp>
      <p:sp>
        <p:nvSpPr>
          <p:cNvPr id="2087" name="Google Shape;2087;p19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Envoy / Istio: inject identity headers, strip secrets, rewrite paths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networking.istio.io/v1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VirtualService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[orders.acme.io]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match: [{ uri: { prefix: /api/v1/orders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uri: /orders                                  </a:t>
            </a:r>
            <a:r>
              <a:rPr b="0" i="0" lang="en-US" sz="1100" u="none" cap="none" strike="noStrike">
                <a:solidFill>
                  <a:srgbClr val="8FB98F"/>
                </a:solidFill>
                <a:latin typeface="Red Hat Mono"/>
                <a:ea typeface="Red Hat Mono"/>
                <a:cs typeface="Red Hat Mono"/>
                <a:sym typeface="Red Hat Mono"/>
              </a:rPr>
              <a:t># external -&gt; internal path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route: [{ destination: { host: 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request: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x-client-ip: "%DOWNSTREAM_REMOTE_ADDRESS_WITHOUT_PORT%"      # caller address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x-peer-identity: "%DOWNSTREAM_PEER_URI_SAN%"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authorization, cookie ]            </a:t>
            </a:r>
            <a:r>
              <a:rPr b="0" i="0" lang="en-US" sz="1100" u="none" cap="none" strike="noStrike">
                <a:solidFill>
                  <a:srgbClr val="8FB98F"/>
                </a:solidFill>
                <a:latin typeface="Red Hat Mono"/>
                <a:ea typeface="Red Hat Mono"/>
                <a:cs typeface="Red Hat Mono"/>
                <a:sym typeface="Red Hat Mono"/>
              </a:rPr>
              <a:t># don't leak inward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response: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server, x-powered-by ]             </a:t>
            </a:r>
            <a:r>
              <a:rPr b="0" i="0" lang="en-US" sz="1100" u="none" cap="none" strike="noStrike">
                <a:solidFill>
                  <a:srgbClr val="8FB98F"/>
                </a:solidFill>
                <a:latin typeface="Red Hat Mono"/>
                <a:ea typeface="Red Hat Mono"/>
                <a:cs typeface="Red Hat Mono"/>
                <a:sym typeface="Red Hat Mono"/>
              </a:rPr>
              <a:t># don't leak outward</a:t>
            </a:r>
            <a:endParaRPr b="0" i="0" sz="1100" u="none" cap="none" strike="noStrike">
              <a:solidFill>
                <a:schemeClr val="dk1"/>
              </a:solidFill>
              <a:latin typeface="Calibri"/>
              <a:ea typeface="Calibri"/>
              <a:cs typeface="Calibri"/>
              <a:sym typeface="Calibri"/>
            </a:endParaRPr>
          </a:p>
        </p:txBody>
      </p:sp>
      <p:sp>
        <p:nvSpPr>
          <p:cNvPr id="2088" name="Google Shape;2088;p19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Rewrite paths, inject the caller address and identity, strip secrets — all declaratively in the VirtualService.</a:t>
            </a:r>
            <a:endParaRPr b="0" i="0" sz="1300" u="none" cap="none" strike="noStrike">
              <a:solidFill>
                <a:schemeClr val="dk1"/>
              </a:solidFill>
              <a:latin typeface="Calibri"/>
              <a:ea typeface="Calibri"/>
              <a:cs typeface="Calibri"/>
              <a:sym typeface="Calibri"/>
            </a:endParaRPr>
          </a:p>
        </p:txBody>
      </p:sp>
      <p:sp>
        <p:nvSpPr>
          <p:cNvPr id="2089" name="Google Shape;2089;p1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165</a:t>
            </a:r>
            <a:endParaRPr b="0" i="0" sz="1000" u="none" cap="none" strike="noStrike">
              <a:solidFill>
                <a:schemeClr val="dk1"/>
              </a:solidFill>
              <a:latin typeface="Calibri"/>
              <a:ea typeface="Calibri"/>
              <a:cs typeface="Calibri"/>
              <a:sym typeface="Calibri"/>
            </a:endParaRPr>
          </a:p>
        </p:txBody>
      </p:sp>
      <p:pic>
        <p:nvPicPr>
          <p:cNvPr descr="/home/claude/work/assets/rh-logo.png" id="2090" name="Google Shape;2090;p1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5" name="Shape 2095"/>
        <p:cNvGrpSpPr/>
        <p:nvPr/>
      </p:nvGrpSpPr>
      <p:grpSpPr>
        <a:xfrm>
          <a:off x="0" y="0"/>
          <a:ext cx="0" cy="0"/>
          <a:chOff x="0" y="0"/>
          <a:chExt cx="0" cy="0"/>
        </a:xfrm>
      </p:grpSpPr>
      <p:sp>
        <p:nvSpPr>
          <p:cNvPr id="2096" name="Google Shape;2096;p19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97" name="Google Shape;2097;p19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the edge: routing inside the app</a:t>
            </a:r>
            <a:endParaRPr b="0" i="0" sz="3000" u="none" cap="none" strike="noStrike">
              <a:solidFill>
                <a:schemeClr val="dk1"/>
              </a:solidFill>
              <a:latin typeface="Calibri"/>
              <a:ea typeface="Calibri"/>
              <a:cs typeface="Calibri"/>
              <a:sym typeface="Calibri"/>
            </a:endParaRPr>
          </a:p>
        </p:txBody>
      </p:sp>
      <p:sp>
        <p:nvSpPr>
          <p:cNvPr id="2098" name="Google Shape;2098;p19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Sometimes the routing decision is a business rule the platform doesn't know about: route 'high-value-customer claims' here, 'European HL7 messages of type A03'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Pushing those rules into HAProxy ACLs or VirtualService matches does not scale: domain experts own them, they change often, and they depend on the payload, not just the envelope.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pattern: an in-app router (Apache Camel, Spring Integration, a custom dispatcher) calls a rule engine (Drools, Kogito DMN) and routes on the result.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 runs inside one service, behind the mesh — not on the network. The mesh still does mTLS, retries and locality; the rule engine just decides where to send the message next.</a:t>
            </a:r>
            <a:endParaRPr b="0" i="0" sz="1700" u="none" cap="none" strike="noStrike">
              <a:solidFill>
                <a:schemeClr val="dk1"/>
              </a:solidFill>
              <a:latin typeface="Calibri"/>
              <a:ea typeface="Calibri"/>
              <a:cs typeface="Calibri"/>
              <a:sym typeface="Calibri"/>
            </a:endParaRPr>
          </a:p>
        </p:txBody>
      </p:sp>
      <p:sp>
        <p:nvSpPr>
          <p:cNvPr id="2099" name="Google Shape;2099;p19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166</a:t>
            </a:r>
            <a:endParaRPr b="0" i="0" sz="1000" u="none" cap="none" strike="noStrike">
              <a:solidFill>
                <a:schemeClr val="dk1"/>
              </a:solidFill>
              <a:latin typeface="Calibri"/>
              <a:ea typeface="Calibri"/>
              <a:cs typeface="Calibri"/>
              <a:sym typeface="Calibri"/>
            </a:endParaRPr>
          </a:p>
        </p:txBody>
      </p:sp>
      <p:pic>
        <p:nvPicPr>
          <p:cNvPr descr="/home/claude/work/assets/rh-logo.png" id="2100" name="Google Shape;2100;p19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5" name="Shape 2105"/>
        <p:cNvGrpSpPr/>
        <p:nvPr/>
      </p:nvGrpSpPr>
      <p:grpSpPr>
        <a:xfrm>
          <a:off x="0" y="0"/>
          <a:ext cx="0" cy="0"/>
          <a:chOff x="0" y="0"/>
          <a:chExt cx="0" cy="0"/>
        </a:xfrm>
      </p:grpSpPr>
      <p:sp>
        <p:nvSpPr>
          <p:cNvPr id="2106" name="Google Shape;2106;p1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07" name="Google Shape;2107;p1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Spring Boot + Camel + Drools: rule-based routing</a:t>
            </a:r>
            <a:endParaRPr b="0" i="0" sz="3000" u="none" cap="none" strike="noStrike">
              <a:solidFill>
                <a:schemeClr val="dk1"/>
              </a:solidFill>
              <a:latin typeface="Calibri"/>
              <a:ea typeface="Calibri"/>
              <a:cs typeface="Calibri"/>
              <a:sym typeface="Calibri"/>
            </a:endParaRPr>
          </a:p>
        </p:txBody>
      </p:sp>
      <p:pic>
        <p:nvPicPr>
          <p:cNvPr descr="/home/claude/work/png-sb/58-appI-camel-drools-sb.png" id="2108" name="Google Shape;2108;p19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109" name="Google Shape;2109;p19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Camel is the EIP DSL; Drools is the decision engine; Spring Boot wires them together.</a:t>
            </a:r>
            <a:endParaRPr b="0" i="0" sz="1200" u="none" cap="none" strike="noStrike">
              <a:solidFill>
                <a:schemeClr val="dk1"/>
              </a:solidFill>
              <a:latin typeface="Calibri"/>
              <a:ea typeface="Calibri"/>
              <a:cs typeface="Calibri"/>
              <a:sym typeface="Calibri"/>
            </a:endParaRPr>
          </a:p>
        </p:txBody>
      </p:sp>
      <p:sp>
        <p:nvSpPr>
          <p:cNvPr id="2110" name="Google Shape;2110;p1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167</a:t>
            </a:r>
            <a:endParaRPr b="0" i="0" sz="1000" u="none" cap="none" strike="noStrike">
              <a:solidFill>
                <a:schemeClr val="dk1"/>
              </a:solidFill>
              <a:latin typeface="Calibri"/>
              <a:ea typeface="Calibri"/>
              <a:cs typeface="Calibri"/>
              <a:sym typeface="Calibri"/>
            </a:endParaRPr>
          </a:p>
        </p:txBody>
      </p:sp>
      <p:pic>
        <p:nvPicPr>
          <p:cNvPr descr="/home/claude/work/assets/rh-logo.png" id="2111" name="Google Shape;2111;p19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6" name="Shape 2116"/>
        <p:cNvGrpSpPr/>
        <p:nvPr/>
      </p:nvGrpSpPr>
      <p:grpSpPr>
        <a:xfrm>
          <a:off x="0" y="0"/>
          <a:ext cx="0" cy="0"/>
          <a:chOff x="0" y="0"/>
          <a:chExt cx="0" cy="0"/>
        </a:xfrm>
      </p:grpSpPr>
      <p:sp>
        <p:nvSpPr>
          <p:cNvPr id="2117" name="Google Shape;2117;p1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18" name="Google Shape;2118;p1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Camel route in Spring Boot, calling Drools</a:t>
            </a:r>
            <a:endParaRPr b="0" i="0" sz="3000" u="none" cap="none" strike="noStrike">
              <a:solidFill>
                <a:schemeClr val="dk1"/>
              </a:solidFill>
              <a:latin typeface="Calibri"/>
              <a:ea typeface="Calibri"/>
              <a:cs typeface="Calibri"/>
              <a:sym typeface="Calibri"/>
            </a:endParaRPr>
          </a:p>
        </p:txBody>
      </p:sp>
      <p:sp>
        <p:nvSpPr>
          <p:cNvPr id="2119" name="Google Shape;2119;p19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94"/>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Apache Camel</a:t>
            </a:r>
            <a:endParaRPr b="0" i="0" sz="1000" u="none" cap="none" strike="noStrike">
              <a:solidFill>
                <a:schemeClr val="dk1"/>
              </a:solidFill>
              <a:latin typeface="Calibri"/>
              <a:ea typeface="Calibri"/>
              <a:cs typeface="Calibri"/>
              <a:sym typeface="Calibri"/>
            </a:endParaRPr>
          </a:p>
        </p:txBody>
      </p:sp>
      <p:sp>
        <p:nvSpPr>
          <p:cNvPr id="2121" name="Google Shape;2121;p19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pom.xml: camel-spring-boot-starter, camel-kafka-starter, drools-spring-boot-starter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@Component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public class OrderRoutes extends RouteBuilder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private final RulesEvaluator rules;            // wraps a Drools KieSession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public OrderRoutes(RulesEvaluator rules) { this.rules = rules;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@Override public void configure()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from("kafka:orders.inbound")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.enrich("direct:lookupCustomer", aggregateStrategy)  // context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.process(rules::evaluate)                // sets "whereTo" header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.log("routing ${header.whereTo}")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.routingSlip(header("whereTo"))          // dynamic dispatch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.end();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from("direct:lookupCustomer")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.to("http:customer-svc/lookup")          // enrich w/ HTTP call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.unmarshal().json();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2122" name="Google Shape;2122;p19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from → enrich → rules.evaluate → routingSlip — the canonical content-based-router EIP, with the decision externalised to Drools.</a:t>
            </a:r>
            <a:endParaRPr b="0" i="0" sz="1300" u="none" cap="none" strike="noStrike">
              <a:solidFill>
                <a:schemeClr val="dk1"/>
              </a:solidFill>
              <a:latin typeface="Calibri"/>
              <a:ea typeface="Calibri"/>
              <a:cs typeface="Calibri"/>
              <a:sym typeface="Calibri"/>
            </a:endParaRPr>
          </a:p>
        </p:txBody>
      </p:sp>
      <p:sp>
        <p:nvSpPr>
          <p:cNvPr id="2123" name="Google Shape;2123;p1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168</a:t>
            </a:r>
            <a:endParaRPr b="0" i="0" sz="1000" u="none" cap="none" strike="noStrike">
              <a:solidFill>
                <a:schemeClr val="dk1"/>
              </a:solidFill>
              <a:latin typeface="Calibri"/>
              <a:ea typeface="Calibri"/>
              <a:cs typeface="Calibri"/>
              <a:sym typeface="Calibri"/>
            </a:endParaRPr>
          </a:p>
        </p:txBody>
      </p:sp>
      <p:pic>
        <p:nvPicPr>
          <p:cNvPr descr="/home/claude/work/assets/rh-logo.png" id="2124" name="Google Shape;2124;p19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9" name="Shape 2129"/>
        <p:cNvGrpSpPr/>
        <p:nvPr/>
      </p:nvGrpSpPr>
      <p:grpSpPr>
        <a:xfrm>
          <a:off x="0" y="0"/>
          <a:ext cx="0" cy="0"/>
          <a:chOff x="0" y="0"/>
          <a:chExt cx="0" cy="0"/>
        </a:xfrm>
      </p:grpSpPr>
      <p:sp>
        <p:nvSpPr>
          <p:cNvPr id="2130" name="Google Shape;2130;p1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31" name="Google Shape;2131;p1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Drools rule: the decision, externalised</a:t>
            </a:r>
            <a:endParaRPr b="0" i="0" sz="3000" u="none" cap="none" strike="noStrike">
              <a:solidFill>
                <a:schemeClr val="dk1"/>
              </a:solidFill>
              <a:latin typeface="Calibri"/>
              <a:ea typeface="Calibri"/>
              <a:cs typeface="Calibri"/>
              <a:sym typeface="Calibri"/>
            </a:endParaRPr>
          </a:p>
        </p:txBody>
      </p:sp>
      <p:sp>
        <p:nvSpPr>
          <p:cNvPr id="2132" name="Google Shape;2132;p19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9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drl · Drools rules</a:t>
            </a:r>
            <a:endParaRPr b="0" i="0" sz="1000" u="none" cap="none" strike="noStrike">
              <a:solidFill>
                <a:schemeClr val="dk1"/>
              </a:solidFill>
              <a:latin typeface="Calibri"/>
              <a:ea typeface="Calibri"/>
              <a:cs typeface="Calibri"/>
              <a:sym typeface="Calibri"/>
            </a:endParaRPr>
          </a:p>
        </p:txBody>
      </p:sp>
      <p:sp>
        <p:nvSpPr>
          <p:cNvPr id="2134" name="Google Shape;2134;p19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orders.drl  —  edited by domain experts, not developers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package com.acme.orders;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import com.acme.orders.OrderFact;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rule "High-value VIP orders go to the priority queue"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 : OrderFact( amountCents &gt; 50_000, customer.tier == "VIP"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$o.setWhereTo("kafka:orders.priority,http:notify-vip");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rule "European orders go to the EU region"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 : OrderFact( customer.region == "EU"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$o.setWhereTo("kafka:orders.eu");</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rule "Default route"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salience -100                                  // last resort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   $o : OrderFact( whereTo == null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   $o.setWhereTo("kafka:orders.default");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end</a:t>
            </a:r>
            <a:endParaRPr b="0" i="0" sz="900" u="none" cap="none" strike="noStrike">
              <a:solidFill>
                <a:schemeClr val="dk1"/>
              </a:solidFill>
              <a:latin typeface="Calibri"/>
              <a:ea typeface="Calibri"/>
              <a:cs typeface="Calibri"/>
              <a:sym typeface="Calibri"/>
            </a:endParaRPr>
          </a:p>
        </p:txBody>
      </p:sp>
      <p:sp>
        <p:nvSpPr>
          <p:cNvPr id="2135" name="Google Shape;2135;p19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rule is a small business statement: when X is true, then route to Y. Edited and reviewed by domain experts.</a:t>
            </a:r>
            <a:endParaRPr b="0" i="0" sz="1300" u="none" cap="none" strike="noStrike">
              <a:solidFill>
                <a:schemeClr val="dk1"/>
              </a:solidFill>
              <a:latin typeface="Calibri"/>
              <a:ea typeface="Calibri"/>
              <a:cs typeface="Calibri"/>
              <a:sym typeface="Calibri"/>
            </a:endParaRPr>
          </a:p>
        </p:txBody>
      </p:sp>
      <p:sp>
        <p:nvSpPr>
          <p:cNvPr id="2136" name="Google Shape;2136;p1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169</a:t>
            </a:r>
            <a:endParaRPr b="0" i="0" sz="1000" u="none" cap="none" strike="noStrike">
              <a:solidFill>
                <a:schemeClr val="dk1"/>
              </a:solidFill>
              <a:latin typeface="Calibri"/>
              <a:ea typeface="Calibri"/>
              <a:cs typeface="Calibri"/>
              <a:sym typeface="Calibri"/>
            </a:endParaRPr>
          </a:p>
        </p:txBody>
      </p:sp>
      <p:pic>
        <p:nvPicPr>
          <p:cNvPr descr="/home/claude/work/assets/rh-logo.png" id="2137" name="Google Shape;2137;p1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2" name="Shape 2142"/>
        <p:cNvGrpSpPr/>
        <p:nvPr/>
      </p:nvGrpSpPr>
      <p:grpSpPr>
        <a:xfrm>
          <a:off x="0" y="0"/>
          <a:ext cx="0" cy="0"/>
          <a:chOff x="0" y="0"/>
          <a:chExt cx="0" cy="0"/>
        </a:xfrm>
      </p:grpSpPr>
      <p:sp>
        <p:nvSpPr>
          <p:cNvPr id="2143" name="Google Shape;2143;p1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44" name="Google Shape;2144;p1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Every L7 hop costs time</a:t>
            </a:r>
            <a:endParaRPr b="0" i="0" sz="3000" u="none" cap="none" strike="noStrike">
              <a:solidFill>
                <a:schemeClr val="dk1"/>
              </a:solidFill>
              <a:latin typeface="Calibri"/>
              <a:ea typeface="Calibri"/>
              <a:cs typeface="Calibri"/>
              <a:sym typeface="Calibri"/>
            </a:endParaRPr>
          </a:p>
        </p:txBody>
      </p:sp>
      <p:pic>
        <p:nvPicPr>
          <p:cNvPr descr="/home/claude/work/png-sb/59-appI-latency-sb.png" id="2145" name="Google Shape;2145;p196"/>
          <p:cNvPicPr preferRelativeResize="0"/>
          <p:nvPr/>
        </p:nvPicPr>
        <p:blipFill rotWithShape="1">
          <a:blip r:embed="rId3">
            <a:alphaModFix/>
          </a:blip>
          <a:stretch/>
        </p:blipFill>
        <p:spPr>
          <a:xfrm>
            <a:off x="1327421" y="1680082"/>
            <a:ext cx="9536854" cy="4366517"/>
          </a:xfrm>
          <a:prstGeom prst="rect">
            <a:avLst/>
          </a:prstGeom>
          <a:noFill/>
          <a:ln>
            <a:noFill/>
          </a:ln>
        </p:spPr>
      </p:pic>
      <p:sp>
        <p:nvSpPr>
          <p:cNvPr id="2146" name="Google Shape;2146;p19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Typical p50/p99 added per stage — the budget you spend before your service even runs.</a:t>
            </a:r>
            <a:endParaRPr b="0" i="0" sz="1200" u="none" cap="none" strike="noStrike">
              <a:solidFill>
                <a:schemeClr val="dk1"/>
              </a:solidFill>
              <a:latin typeface="Calibri"/>
              <a:ea typeface="Calibri"/>
              <a:cs typeface="Calibri"/>
              <a:sym typeface="Calibri"/>
            </a:endParaRPr>
          </a:p>
        </p:txBody>
      </p:sp>
      <p:sp>
        <p:nvSpPr>
          <p:cNvPr id="2147" name="Google Shape;2147;p1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170</a:t>
            </a:r>
            <a:endParaRPr b="0" i="0" sz="1000" u="none" cap="none" strike="noStrike">
              <a:solidFill>
                <a:schemeClr val="dk1"/>
              </a:solidFill>
              <a:latin typeface="Calibri"/>
              <a:ea typeface="Calibri"/>
              <a:cs typeface="Calibri"/>
              <a:sym typeface="Calibri"/>
            </a:endParaRPr>
          </a:p>
        </p:txBody>
      </p:sp>
      <p:pic>
        <p:nvPicPr>
          <p:cNvPr descr="/home/claude/work/assets/rh-logo.png" id="2148" name="Google Shape;2148;p19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3" name="Shape 2153"/>
        <p:cNvGrpSpPr/>
        <p:nvPr/>
      </p:nvGrpSpPr>
      <p:grpSpPr>
        <a:xfrm>
          <a:off x="0" y="0"/>
          <a:ext cx="0" cy="0"/>
          <a:chOff x="0" y="0"/>
          <a:chExt cx="0" cy="0"/>
        </a:xfrm>
      </p:grpSpPr>
      <p:sp>
        <p:nvSpPr>
          <p:cNvPr id="2154" name="Google Shape;2154;p19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55" name="Google Shape;2155;p19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pitfalls and how to avoid them</a:t>
            </a:r>
            <a:endParaRPr b="0" i="0" sz="3000" u="none" cap="none" strike="noStrike">
              <a:solidFill>
                <a:schemeClr val="dk1"/>
              </a:solidFill>
              <a:latin typeface="Calibri"/>
              <a:ea typeface="Calibri"/>
              <a:cs typeface="Calibri"/>
              <a:sym typeface="Calibri"/>
            </a:endParaRPr>
          </a:p>
        </p:txBody>
      </p:sp>
      <p:sp>
        <p:nvSpPr>
          <p:cNvPr id="2156" name="Google Shape;2156;p19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Too many hops: edge → gateway → ingress → mesh sidecar in → mesh sidecar out adds up fast. Collapse layers that aren't earning their place.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Regex-heavy ACLs / matches: each regex evaluation is real CPU. Prefer exact / prefix matches; use regex only when needed.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Sticky sessions break elasticity without any error: the auto-scaler can't rebalance, restarts are painful, scale-to-zero is gone.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inspection on every request: blows memory, kills streaming. If you must transform bodies, do it on a small percentage or just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Sync auth lookups on the hot path: cache validated tokens, validate JWT signatures locally, never do a per-request DB lookup for identity.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Misaligned timeouts and retries between layers — a 30s gateway timeout + 3 mesh retries with 10s each = a retry storm at the bottom (see Appendix E).</a:t>
            </a:r>
            <a:endParaRPr b="0" i="0" sz="1700" u="none" cap="none" strike="noStrike">
              <a:solidFill>
                <a:schemeClr val="dk1"/>
              </a:solidFill>
              <a:latin typeface="Calibri"/>
              <a:ea typeface="Calibri"/>
              <a:cs typeface="Calibri"/>
              <a:sym typeface="Calibri"/>
            </a:endParaRPr>
          </a:p>
        </p:txBody>
      </p:sp>
      <p:sp>
        <p:nvSpPr>
          <p:cNvPr id="2157" name="Google Shape;2157;p19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171</a:t>
            </a:r>
            <a:endParaRPr b="0" i="0" sz="1000" u="none" cap="none" strike="noStrike">
              <a:solidFill>
                <a:schemeClr val="dk1"/>
              </a:solidFill>
              <a:latin typeface="Calibri"/>
              <a:ea typeface="Calibri"/>
              <a:cs typeface="Calibri"/>
              <a:sym typeface="Calibri"/>
            </a:endParaRPr>
          </a:p>
        </p:txBody>
      </p:sp>
      <p:pic>
        <p:nvPicPr>
          <p:cNvPr descr="/home/claude/work/assets/rh-logo.png" id="2158" name="Google Shape;2158;p19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3" name="Shape 2163"/>
        <p:cNvGrpSpPr/>
        <p:nvPr/>
      </p:nvGrpSpPr>
      <p:grpSpPr>
        <a:xfrm>
          <a:off x="0" y="0"/>
          <a:ext cx="0" cy="0"/>
          <a:chOff x="0" y="0"/>
          <a:chExt cx="0" cy="0"/>
        </a:xfrm>
      </p:grpSpPr>
      <p:sp>
        <p:nvSpPr>
          <p:cNvPr id="2164" name="Google Shape;2164;p1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65" name="Google Shape;2165;p1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East / West: L7 between services, inside the mesh</a:t>
            </a:r>
            <a:endParaRPr b="0" i="0" sz="3000" u="none" cap="none" strike="noStrike">
              <a:solidFill>
                <a:schemeClr val="dk1"/>
              </a:solidFill>
              <a:latin typeface="Calibri"/>
              <a:ea typeface="Calibri"/>
              <a:cs typeface="Calibri"/>
              <a:sym typeface="Calibri"/>
            </a:endParaRPr>
          </a:p>
        </p:txBody>
      </p:sp>
      <p:pic>
        <p:nvPicPr>
          <p:cNvPr descr="/home/claude/work/png-sb/60-appI-east-west.png" id="2166" name="Google Shape;2166;p198"/>
          <p:cNvPicPr preferRelativeResize="0"/>
          <p:nvPr/>
        </p:nvPicPr>
        <p:blipFill rotWithShape="1">
          <a:blip r:embed="rId5">
            <a:alphaModFix/>
          </a:blip>
          <a:stretch/>
        </p:blipFill>
        <p:spPr>
          <a:xfrm>
            <a:off x="1493156" y="2186645"/>
            <a:ext cx="9205386" cy="3353390"/>
          </a:xfrm>
          <a:prstGeom prst="rect">
            <a:avLst/>
          </a:prstGeom>
          <a:noFill/>
          <a:ln>
            <a:noFill/>
          </a:ln>
        </p:spPr>
      </p:pic>
      <p:sp>
        <p:nvSpPr>
          <p:cNvPr id="2167" name="Google Shape;2167;p19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service-to-service call is L7-routable through the sidecars.</a:t>
            </a:r>
            <a:endParaRPr b="0" i="0" sz="1200" u="none" cap="none" strike="noStrike">
              <a:solidFill>
                <a:schemeClr val="dk1"/>
              </a:solidFill>
              <a:latin typeface="Calibri"/>
              <a:ea typeface="Calibri"/>
              <a:cs typeface="Calibri"/>
              <a:sym typeface="Calibri"/>
            </a:endParaRPr>
          </a:p>
        </p:txBody>
      </p:sp>
      <p:sp>
        <p:nvSpPr>
          <p:cNvPr id="2168" name="Google Shape;2168;p1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172</a:t>
            </a:r>
            <a:endParaRPr b="0" i="0" sz="1000" u="none" cap="none" strike="noStrike">
              <a:solidFill>
                <a:schemeClr val="dk1"/>
              </a:solidFill>
              <a:latin typeface="Calibri"/>
              <a:ea typeface="Calibri"/>
              <a:cs typeface="Calibri"/>
              <a:sym typeface="Calibri"/>
            </a:endParaRPr>
          </a:p>
        </p:txBody>
      </p:sp>
      <p:pic>
        <p:nvPicPr>
          <p:cNvPr descr="/home/claude/work/assets/rh-logo.png" id="2169" name="Google Shape;2169;p19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4" name="Shape 2174"/>
        <p:cNvGrpSpPr/>
        <p:nvPr/>
      </p:nvGrpSpPr>
      <p:grpSpPr>
        <a:xfrm>
          <a:off x="0" y="0"/>
          <a:ext cx="0" cy="0"/>
          <a:chOff x="0" y="0"/>
          <a:chExt cx="0" cy="0"/>
        </a:xfrm>
      </p:grpSpPr>
      <p:sp>
        <p:nvSpPr>
          <p:cNvPr id="2175" name="Google Shape;2175;p1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76" name="Google Shape;2176;p1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east/west L7 matters</a:t>
            </a:r>
            <a:endParaRPr b="0" i="0" sz="3000" u="none" cap="none" strike="noStrike">
              <a:solidFill>
                <a:schemeClr val="dk1"/>
              </a:solidFill>
              <a:latin typeface="Calibri"/>
              <a:ea typeface="Calibri"/>
              <a:cs typeface="Calibri"/>
              <a:sym typeface="Calibri"/>
            </a:endParaRPr>
          </a:p>
        </p:txBody>
      </p:sp>
      <p:sp>
        <p:nvSpPr>
          <p:cNvPr id="2177" name="Google Shape;2177;p19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traffic dominates: in a microservices system the volume of east/west calls dwarfs north/south by 10x or more.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Security: mTLS everywhere by default — every internal call has an identity, encryption and an audit trail without per-service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circuit breakers and outlier ejection live in the sidecar, applied uniformly to every internal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Observability: every internal call gets a span, latency histogram and per-route success rate — the request lifecycle from section 11, populated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Locality: prefer same-zone or same-region pods so internal RTT stays in single-digit milliseconds, and graceful failover when a zone goes.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Routing decisions: header-based canaries and weighted releases work east/west too — you can canary a backend service that has no external traffic at all.</a:t>
            </a:r>
            <a:endParaRPr b="0" i="0" sz="1700" u="none" cap="none" strike="noStrike">
              <a:solidFill>
                <a:schemeClr val="dk1"/>
              </a:solidFill>
              <a:latin typeface="Calibri"/>
              <a:ea typeface="Calibri"/>
              <a:cs typeface="Calibri"/>
              <a:sym typeface="Calibri"/>
            </a:endParaRPr>
          </a:p>
        </p:txBody>
      </p:sp>
      <p:sp>
        <p:nvSpPr>
          <p:cNvPr id="2178" name="Google Shape;2178;p1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173</a:t>
            </a:r>
            <a:endParaRPr b="0" i="0" sz="1000" u="none" cap="none" strike="noStrike">
              <a:solidFill>
                <a:schemeClr val="dk1"/>
              </a:solidFill>
              <a:latin typeface="Calibri"/>
              <a:ea typeface="Calibri"/>
              <a:cs typeface="Calibri"/>
              <a:sym typeface="Calibri"/>
            </a:endParaRPr>
          </a:p>
        </p:txBody>
      </p:sp>
      <p:pic>
        <p:nvPicPr>
          <p:cNvPr descr="/home/claude/work/assets/rh-logo.png" id="2179" name="Google Shape;2179;p1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4" name="Shape 2184"/>
        <p:cNvGrpSpPr/>
        <p:nvPr/>
      </p:nvGrpSpPr>
      <p:grpSpPr>
        <a:xfrm>
          <a:off x="0" y="0"/>
          <a:ext cx="0" cy="0"/>
          <a:chOff x="0" y="0"/>
          <a:chExt cx="0" cy="0"/>
        </a:xfrm>
      </p:grpSpPr>
      <p:sp>
        <p:nvSpPr>
          <p:cNvPr id="2185" name="Google Shape;2185;p20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86" name="Google Shape;2186;p20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for east/west: DestinationRule + VirtualService</a:t>
            </a:r>
            <a:endParaRPr b="0" i="0" sz="3000" u="none" cap="none" strike="noStrike">
              <a:solidFill>
                <a:schemeClr val="dk1"/>
              </a:solidFill>
              <a:latin typeface="Calibri"/>
              <a:ea typeface="Calibri"/>
              <a:cs typeface="Calibri"/>
              <a:sym typeface="Calibri"/>
            </a:endParaRPr>
          </a:p>
        </p:txBody>
      </p:sp>
      <p:sp>
        <p:nvSpPr>
          <p:cNvPr id="2187" name="Google Shape;2187;p20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00"/>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east/west</a:t>
            </a:r>
            <a:endParaRPr b="0" i="0" sz="1000" u="none" cap="none" strike="noStrike">
              <a:solidFill>
                <a:schemeClr val="dk1"/>
              </a:solidFill>
              <a:latin typeface="Calibri"/>
              <a:ea typeface="Calibri"/>
              <a:cs typeface="Calibri"/>
              <a:sym typeface="Calibri"/>
            </a:endParaRPr>
          </a:p>
        </p:txBody>
      </p:sp>
      <p:sp>
        <p:nvSpPr>
          <p:cNvPr id="2189" name="Google Shape;2189;p20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DestinationRule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 payments.acme.svc.cluster.local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trafficPolicy: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connectionPool: http2MaxRequests 1000, maxRequestsPerConnection 10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outlierDetection:                              </a:t>
            </a:r>
            <a:r>
              <a:rPr b="0" i="0" lang="en-US" sz="900" u="none" cap="none" strike="noStrike">
                <a:solidFill>
                  <a:srgbClr val="8FB98F"/>
                </a:solidFill>
                <a:latin typeface="Red Hat Mono"/>
                <a:ea typeface="Red Hat Mono"/>
                <a:cs typeface="Red Hat Mono"/>
                <a:sym typeface="Red Hat Mono"/>
              </a:rPr>
              <a:t># eject bad pods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consecutive5xxErrors: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interval: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baseEjectionTime: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loadBalancer: localityLbSetting enabled (prefer same zone)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subsets: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v1, labels: { version: v1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v2, labels: { version: v2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VirtualService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hosts: [payments.acme.svc.cluster.local]            </a:t>
            </a:r>
            <a:r>
              <a:rPr b="0" i="0" lang="en-US" sz="900" u="none" cap="none" strike="noStrike">
                <a:solidFill>
                  <a:srgbClr val="8FB98F"/>
                </a:solidFill>
                <a:latin typeface="Red Hat Mono"/>
                <a:ea typeface="Red Hat Mono"/>
                <a:cs typeface="Red Hat Mono"/>
                <a:sym typeface="Red Hat Mono"/>
              </a:rPr>
              <a:t># internal DNS — east/west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route: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v1 }, weight: 95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v2 }, weight: 5 }</a:t>
            </a:r>
            <a:endParaRPr b="0" i="0" sz="900" u="none" cap="none" strike="noStrike">
              <a:solidFill>
                <a:schemeClr val="dk1"/>
              </a:solidFill>
              <a:latin typeface="Calibri"/>
              <a:ea typeface="Calibri"/>
              <a:cs typeface="Calibri"/>
              <a:sym typeface="Calibri"/>
            </a:endParaRPr>
          </a:p>
        </p:txBody>
      </p:sp>
      <p:sp>
        <p:nvSpPr>
          <p:cNvPr id="2190" name="Google Shape;2190;p20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Same CRDs as north/south, but pointed at an internal host — outlier detection, locality LB, canary weights, all between services with no app code.</a:t>
            </a:r>
            <a:endParaRPr b="0" i="0" sz="1300" u="none" cap="none" strike="noStrike">
              <a:solidFill>
                <a:schemeClr val="dk1"/>
              </a:solidFill>
              <a:latin typeface="Calibri"/>
              <a:ea typeface="Calibri"/>
              <a:cs typeface="Calibri"/>
              <a:sym typeface="Calibri"/>
            </a:endParaRPr>
          </a:p>
        </p:txBody>
      </p:sp>
      <p:sp>
        <p:nvSpPr>
          <p:cNvPr id="2191" name="Google Shape;2191;p20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174</a:t>
            </a:r>
            <a:endParaRPr b="0" i="0" sz="1000" u="none" cap="none" strike="noStrike">
              <a:solidFill>
                <a:schemeClr val="dk1"/>
              </a:solidFill>
              <a:latin typeface="Calibri"/>
              <a:ea typeface="Calibri"/>
              <a:cs typeface="Calibri"/>
              <a:sym typeface="Calibri"/>
            </a:endParaRPr>
          </a:p>
        </p:txBody>
      </p:sp>
      <p:pic>
        <p:nvPicPr>
          <p:cNvPr descr="/home/claude/work/assets/rh-logo.png" id="2192" name="Google Shape;2192;p20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7" name="Shape 2197"/>
        <p:cNvGrpSpPr/>
        <p:nvPr/>
      </p:nvGrpSpPr>
      <p:grpSpPr>
        <a:xfrm>
          <a:off x="0" y="0"/>
          <a:ext cx="0" cy="0"/>
          <a:chOff x="0" y="0"/>
          <a:chExt cx="0" cy="0"/>
        </a:xfrm>
      </p:grpSpPr>
      <p:sp>
        <p:nvSpPr>
          <p:cNvPr id="2198" name="Google Shape;2198;p2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99" name="Google Shape;2199;p2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east/west specifics</a:t>
            </a:r>
            <a:endParaRPr b="0" i="0" sz="3000" u="none" cap="none" strike="noStrike">
              <a:solidFill>
                <a:schemeClr val="dk1"/>
              </a:solidFill>
              <a:latin typeface="Calibri"/>
              <a:ea typeface="Calibri"/>
              <a:cs typeface="Calibri"/>
              <a:sym typeface="Calibri"/>
            </a:endParaRPr>
          </a:p>
        </p:txBody>
      </p:sp>
      <p:sp>
        <p:nvSpPr>
          <p:cNvPr id="2200" name="Google Shape;2200;p20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is HTTP/2 under the hood, so it works natively in any L7 router that speaks HTTP/2 (Envoy, Istio, modern HAProxy/Nginx).</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Route by gRPC service.method: the URI path is /package.Service/Method — use a uri prefix match in Istio, grpc_pass in Nginx, or path_beg in HAProxy.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Header-based balancing matters more for gRPC: connections are long-lived and multiplexed, so least-request or per-request load balancing beats round-robin.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Streaming RPCs (server-streaming, client-streaming, bidi): retries are dangerous if the stream is non-idempotent — cap retries to UNARY calls in the mesh policy.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Trailers carry status: a 200 + a non-OK trailer is the gRPC equivalent of a 5xx — outlier detection has to be configured to read trailers, not just the status line.</a:t>
            </a:r>
            <a:endParaRPr b="0" i="0" sz="1700" u="none" cap="none" strike="noStrike">
              <a:solidFill>
                <a:schemeClr val="dk1"/>
              </a:solidFill>
              <a:latin typeface="Calibri"/>
              <a:ea typeface="Calibri"/>
              <a:cs typeface="Calibri"/>
              <a:sym typeface="Calibri"/>
            </a:endParaRPr>
          </a:p>
        </p:txBody>
      </p:sp>
      <p:sp>
        <p:nvSpPr>
          <p:cNvPr id="2201" name="Google Shape;2201;p2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175</a:t>
            </a:r>
            <a:endParaRPr b="0" i="0" sz="1000" u="none" cap="none" strike="noStrike">
              <a:solidFill>
                <a:schemeClr val="dk1"/>
              </a:solidFill>
              <a:latin typeface="Calibri"/>
              <a:ea typeface="Calibri"/>
              <a:cs typeface="Calibri"/>
              <a:sym typeface="Calibri"/>
            </a:endParaRPr>
          </a:p>
        </p:txBody>
      </p:sp>
      <p:pic>
        <p:nvPicPr>
          <p:cNvPr descr="/home/claude/work/assets/rh-logo.png" id="2202" name="Google Shape;2202;p20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7" name="Shape 2207"/>
        <p:cNvGrpSpPr/>
        <p:nvPr/>
      </p:nvGrpSpPr>
      <p:grpSpPr>
        <a:xfrm>
          <a:off x="0" y="0"/>
          <a:ext cx="0" cy="0"/>
          <a:chOff x="0" y="0"/>
          <a:chExt cx="0" cy="0"/>
        </a:xfrm>
      </p:grpSpPr>
      <p:sp>
        <p:nvSpPr>
          <p:cNvPr id="2208" name="Google Shape;2208;p2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09" name="Google Shape;2209;p2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to use which L7 layer</a:t>
            </a:r>
            <a:endParaRPr b="0" i="0" sz="3000" u="none" cap="none" strike="noStrike">
              <a:solidFill>
                <a:schemeClr val="dk1"/>
              </a:solidFill>
              <a:latin typeface="Calibri"/>
              <a:ea typeface="Calibri"/>
              <a:cs typeface="Calibri"/>
              <a:sym typeface="Calibri"/>
            </a:endParaRPr>
          </a:p>
        </p:txBody>
      </p:sp>
      <p:sp>
        <p:nvSpPr>
          <p:cNvPr id="2210" name="Google Shape;2210;p20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 ingress: TLS termination, host/path routing, WAF, public-facing rate limits. Anything north/south that affects all clients.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API gateway: cross-cutting product policy — auth, per-consumer rate limits, request transformation, monetisation, key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Service mesh: east/west routing, mTLS, retries, outlier detection, canaries between internal services. The default home for service-to-service L7.</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In-app router (Apache Camel + Drools): when routing depends on business rules, payload content, or decisions that domain experts must 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Rule of thumb: prefer the lowest layer that can fully express the decision, and never push business rules into mesh CRDs.</a:t>
            </a:r>
            <a:endParaRPr b="0" i="0" sz="1700" u="none" cap="none" strike="noStrike">
              <a:solidFill>
                <a:schemeClr val="dk1"/>
              </a:solidFill>
              <a:latin typeface="Calibri"/>
              <a:ea typeface="Calibri"/>
              <a:cs typeface="Calibri"/>
              <a:sym typeface="Calibri"/>
            </a:endParaRPr>
          </a:p>
        </p:txBody>
      </p:sp>
      <p:sp>
        <p:nvSpPr>
          <p:cNvPr id="2211" name="Google Shape;2211;p2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176</a:t>
            </a:r>
            <a:endParaRPr b="0" i="0" sz="1000" u="none" cap="none" strike="noStrike">
              <a:solidFill>
                <a:schemeClr val="dk1"/>
              </a:solidFill>
              <a:latin typeface="Calibri"/>
              <a:ea typeface="Calibri"/>
              <a:cs typeface="Calibri"/>
              <a:sym typeface="Calibri"/>
            </a:endParaRPr>
          </a:p>
        </p:txBody>
      </p:sp>
      <p:pic>
        <p:nvPicPr>
          <p:cNvPr descr="/home/claude/work/assets/rh-logo.png" id="2212" name="Google Shape;2212;p20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7" name="Shape 2217"/>
        <p:cNvGrpSpPr/>
        <p:nvPr/>
      </p:nvGrpSpPr>
      <p:grpSpPr>
        <a:xfrm>
          <a:off x="0" y="0"/>
          <a:ext cx="0" cy="0"/>
          <a:chOff x="0" y="0"/>
          <a:chExt cx="0" cy="0"/>
        </a:xfrm>
      </p:grpSpPr>
      <p:sp>
        <p:nvSpPr>
          <p:cNvPr id="2218" name="Google Shape;2218;p2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19" name="Google Shape;2219;p2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checklist</a:t>
            </a:r>
            <a:endParaRPr b="0" i="0" sz="3000" u="none" cap="none" strike="noStrike">
              <a:solidFill>
                <a:schemeClr val="dk1"/>
              </a:solidFill>
              <a:latin typeface="Calibri"/>
              <a:ea typeface="Calibri"/>
              <a:cs typeface="Calibri"/>
              <a:sym typeface="Calibri"/>
            </a:endParaRPr>
          </a:p>
        </p:txBody>
      </p:sp>
      <p:sp>
        <p:nvSpPr>
          <p:cNvPr id="2220" name="Google Shape;2220;p20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Pick one ingress, one gateway, one mesh — don't run three competing L7 layers because each team had a favourite.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terminates at the edge; mTLS between services in the mesh; cert rotation is automatic (cert-manager + SDS), not a quarterly outage.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live in Git, reviewed like code; GitOps reconciles them; rollback is a git revert.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L7 layer emits traces and metrics — sample the spans, alert on per-route SLOs, watch for retry budget exhaustion.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Stickiness is an exception, not a default; business rules belong in a rule engine inside a service, not in network YAML.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under load and under failure: bring a pod down, eject a zone, ramp a canary, verify the mesh does what the YAML says.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HAProxy / Nginx / Envoy docs; Istio traffic management guide; Apache Camel Spring Boot starter guide; Drools / Kogito DMN docs; the Camel Content-Based Router EIP (choice/when/otherwise) in the official apache/camel-spring-boot-examples repo.</a:t>
            </a:r>
            <a:endParaRPr b="0" i="0" sz="1700" u="none" cap="none" strike="noStrike">
              <a:solidFill>
                <a:schemeClr val="dk1"/>
              </a:solidFill>
              <a:latin typeface="Calibri"/>
              <a:ea typeface="Calibri"/>
              <a:cs typeface="Calibri"/>
              <a:sym typeface="Calibri"/>
            </a:endParaRPr>
          </a:p>
        </p:txBody>
      </p:sp>
      <p:sp>
        <p:nvSpPr>
          <p:cNvPr id="2221" name="Google Shape;2221;p2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177</a:t>
            </a:r>
            <a:endParaRPr b="0" i="0" sz="1000" u="none" cap="none" strike="noStrike">
              <a:solidFill>
                <a:schemeClr val="dk1"/>
              </a:solidFill>
              <a:latin typeface="Calibri"/>
              <a:ea typeface="Calibri"/>
              <a:cs typeface="Calibri"/>
              <a:sym typeface="Calibri"/>
            </a:endParaRPr>
          </a:p>
        </p:txBody>
      </p:sp>
      <p:pic>
        <p:nvPicPr>
          <p:cNvPr descr="/home/claude/work/assets/rh-logo.png" id="2222" name="Google Shape;2222;p20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227" name="Shape 2227"/>
        <p:cNvGrpSpPr/>
        <p:nvPr/>
      </p:nvGrpSpPr>
      <p:grpSpPr>
        <a:xfrm>
          <a:off x="0" y="0"/>
          <a:ext cx="0" cy="0"/>
          <a:chOff x="0" y="0"/>
          <a:chExt cx="0" cy="0"/>
        </a:xfrm>
      </p:grpSpPr>
      <p:pic>
        <p:nvPicPr>
          <p:cNvPr descr="/home/claude/work/assets/rh-divider-bg.png" id="2228" name="Google Shape;2228;p20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229" name="Google Shape;2229;p20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K</a:t>
            </a:r>
            <a:endParaRPr b="0" i="0" sz="2200" u="none" cap="none" strike="noStrike">
              <a:solidFill>
                <a:schemeClr val="dk1"/>
              </a:solidFill>
              <a:latin typeface="Calibri"/>
              <a:ea typeface="Calibri"/>
              <a:cs typeface="Calibri"/>
              <a:sym typeface="Calibri"/>
            </a:endParaRPr>
          </a:p>
        </p:txBody>
      </p:sp>
      <p:sp>
        <p:nvSpPr>
          <p:cNvPr id="2230" name="Google Shape;2230;p20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K · Monolith to Microservices</a:t>
            </a:r>
            <a:endParaRPr b="0" i="0" sz="4000" u="none" cap="none" strike="noStrike">
              <a:solidFill>
                <a:schemeClr val="dk1"/>
              </a:solidFill>
              <a:latin typeface="Calibri"/>
              <a:ea typeface="Calibri"/>
              <a:cs typeface="Calibri"/>
              <a:sym typeface="Calibri"/>
            </a:endParaRPr>
          </a:p>
        </p:txBody>
      </p:sp>
      <p:sp>
        <p:nvSpPr>
          <p:cNvPr id="2231" name="Google Shape;2231;p20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Patterns that survive the migration with the system still running.</a:t>
            </a:r>
            <a:endParaRPr b="0" i="0" sz="1500" u="none" cap="none" strike="noStrike">
              <a:solidFill>
                <a:schemeClr val="dk1"/>
              </a:solidFill>
              <a:latin typeface="Calibri"/>
              <a:ea typeface="Calibri"/>
              <a:cs typeface="Calibri"/>
              <a:sym typeface="Calibri"/>
            </a:endParaRPr>
          </a:p>
        </p:txBody>
      </p:sp>
      <p:pic>
        <p:nvPicPr>
          <p:cNvPr descr="/home/claude/work/assets/rh-logo-white.png" id="2232" name="Google Shape;2232;p20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7" name="Shape 2237"/>
        <p:cNvGrpSpPr/>
        <p:nvPr/>
      </p:nvGrpSpPr>
      <p:grpSpPr>
        <a:xfrm>
          <a:off x="0" y="0"/>
          <a:ext cx="0" cy="0"/>
          <a:chOff x="0" y="0"/>
          <a:chExt cx="0" cy="0"/>
        </a:xfrm>
      </p:grpSpPr>
      <p:sp>
        <p:nvSpPr>
          <p:cNvPr id="2238" name="Google Shape;2238;p2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MONOLITH</a:t>
            </a:r>
            <a:endParaRPr b="0" i="0" sz="1200" u="none" cap="none" strike="noStrike">
              <a:solidFill>
                <a:schemeClr val="dk1"/>
              </a:solidFill>
              <a:latin typeface="Calibri"/>
              <a:ea typeface="Calibri"/>
              <a:cs typeface="Calibri"/>
              <a:sym typeface="Calibri"/>
            </a:endParaRPr>
          </a:p>
        </p:txBody>
      </p:sp>
      <p:sp>
        <p:nvSpPr>
          <p:cNvPr id="2239" name="Google Shape;2239;p2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monolith is a unit of deployment</a:t>
            </a:r>
            <a:endParaRPr b="0" i="0" sz="3000" u="none" cap="none" strike="noStrike">
              <a:solidFill>
                <a:schemeClr val="dk1"/>
              </a:solidFill>
              <a:latin typeface="Calibri"/>
              <a:ea typeface="Calibri"/>
              <a:cs typeface="Calibri"/>
              <a:sym typeface="Calibri"/>
            </a:endParaRPr>
          </a:p>
        </p:txBody>
      </p:sp>
      <p:pic>
        <p:nvPicPr>
          <p:cNvPr descr="/home/claude/work/png-sb/80-appK-monolith-deployment.png" id="2240" name="Google Shape;2240;p20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41" name="Google Shape;2241;p20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process, one binary, one heartbeat. All modules live or die together. Often the right starting point — don't be ashamed of it.</a:t>
            </a:r>
            <a:endParaRPr b="0" i="0" sz="1200" u="none" cap="none" strike="noStrike">
              <a:solidFill>
                <a:schemeClr val="dk1"/>
              </a:solidFill>
              <a:latin typeface="Calibri"/>
              <a:ea typeface="Calibri"/>
              <a:cs typeface="Calibri"/>
              <a:sym typeface="Calibri"/>
            </a:endParaRPr>
          </a:p>
        </p:txBody>
      </p:sp>
      <p:sp>
        <p:nvSpPr>
          <p:cNvPr id="2242" name="Google Shape;2242;p2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178</a:t>
            </a:r>
            <a:endParaRPr b="0" i="0" sz="1000" u="none" cap="none" strike="noStrike">
              <a:solidFill>
                <a:schemeClr val="dk1"/>
              </a:solidFill>
              <a:latin typeface="Calibri"/>
              <a:ea typeface="Calibri"/>
              <a:cs typeface="Calibri"/>
              <a:sym typeface="Calibri"/>
            </a:endParaRPr>
          </a:p>
        </p:txBody>
      </p:sp>
      <p:pic>
        <p:nvPicPr>
          <p:cNvPr descr="/home/claude/work/assets/rh-logo.png" id="2243" name="Google Shape;2243;p20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8" name="Shape 2248"/>
        <p:cNvGrpSpPr/>
        <p:nvPr/>
      </p:nvGrpSpPr>
      <p:grpSpPr>
        <a:xfrm>
          <a:off x="0" y="0"/>
          <a:ext cx="0" cy="0"/>
          <a:chOff x="0" y="0"/>
          <a:chExt cx="0" cy="0"/>
        </a:xfrm>
      </p:grpSpPr>
      <p:sp>
        <p:nvSpPr>
          <p:cNvPr id="2249" name="Google Shape;2249;p20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MODULAR MONOLITH</a:t>
            </a:r>
            <a:endParaRPr b="0" i="0" sz="1200" u="none" cap="none" strike="noStrike">
              <a:solidFill>
                <a:schemeClr val="dk1"/>
              </a:solidFill>
              <a:latin typeface="Calibri"/>
              <a:ea typeface="Calibri"/>
              <a:cs typeface="Calibri"/>
              <a:sym typeface="Calibri"/>
            </a:endParaRPr>
          </a:p>
        </p:txBody>
      </p:sp>
      <p:sp>
        <p:nvSpPr>
          <p:cNvPr id="2250" name="Google Shape;2250;p20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modular monolith — often the right destination</a:t>
            </a:r>
            <a:endParaRPr b="0" i="0" sz="3000" u="none" cap="none" strike="noStrike">
              <a:solidFill>
                <a:schemeClr val="dk1"/>
              </a:solidFill>
              <a:latin typeface="Calibri"/>
              <a:ea typeface="Calibri"/>
              <a:cs typeface="Calibri"/>
              <a:sym typeface="Calibri"/>
            </a:endParaRPr>
          </a:p>
        </p:txBody>
      </p:sp>
      <p:pic>
        <p:nvPicPr>
          <p:cNvPr descr="/home/claude/work/png-sb/81-appK-modular-monolith.png" id="2251" name="Google Shape;2251;p20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52" name="Google Shape;2252;p20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Still one deployable, but with strict in-process module boundaries enforced by build tooling — not by gentlemen's agreement.</a:t>
            </a:r>
            <a:endParaRPr b="0" i="0" sz="1200" u="none" cap="none" strike="noStrike">
              <a:solidFill>
                <a:schemeClr val="dk1"/>
              </a:solidFill>
              <a:latin typeface="Calibri"/>
              <a:ea typeface="Calibri"/>
              <a:cs typeface="Calibri"/>
              <a:sym typeface="Calibri"/>
            </a:endParaRPr>
          </a:p>
        </p:txBody>
      </p:sp>
      <p:sp>
        <p:nvSpPr>
          <p:cNvPr id="2253" name="Google Shape;2253;p20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179</a:t>
            </a:r>
            <a:endParaRPr b="0" i="0" sz="1000" u="none" cap="none" strike="noStrike">
              <a:solidFill>
                <a:schemeClr val="dk1"/>
              </a:solidFill>
              <a:latin typeface="Calibri"/>
              <a:ea typeface="Calibri"/>
              <a:cs typeface="Calibri"/>
              <a:sym typeface="Calibri"/>
            </a:endParaRPr>
          </a:p>
        </p:txBody>
      </p:sp>
      <p:pic>
        <p:nvPicPr>
          <p:cNvPr descr="/home/claude/work/assets/rh-logo.png" id="2254" name="Google Shape;2254;p20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9" name="Shape 2259"/>
        <p:cNvGrpSpPr/>
        <p:nvPr/>
      </p:nvGrpSpPr>
      <p:grpSpPr>
        <a:xfrm>
          <a:off x="0" y="0"/>
          <a:ext cx="0" cy="0"/>
          <a:chOff x="0" y="0"/>
          <a:chExt cx="0" cy="0"/>
        </a:xfrm>
      </p:grpSpPr>
      <p:sp>
        <p:nvSpPr>
          <p:cNvPr id="2260" name="Google Shape;2260;p2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DECOMPOSED DBS</a:t>
            </a:r>
            <a:endParaRPr b="0" i="0" sz="1200" u="none" cap="none" strike="noStrike">
              <a:solidFill>
                <a:schemeClr val="dk1"/>
              </a:solidFill>
              <a:latin typeface="Calibri"/>
              <a:ea typeface="Calibri"/>
              <a:cs typeface="Calibri"/>
              <a:sym typeface="Calibri"/>
            </a:endParaRPr>
          </a:p>
        </p:txBody>
      </p:sp>
      <p:sp>
        <p:nvSpPr>
          <p:cNvPr id="2261" name="Google Shape;2261;p2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Modular monolith with decomposed databases</a:t>
            </a:r>
            <a:endParaRPr b="0" i="0" sz="3000" u="none" cap="none" strike="noStrike">
              <a:solidFill>
                <a:schemeClr val="dk1"/>
              </a:solidFill>
              <a:latin typeface="Calibri"/>
              <a:ea typeface="Calibri"/>
              <a:cs typeface="Calibri"/>
              <a:sym typeface="Calibri"/>
            </a:endParaRPr>
          </a:p>
        </p:txBody>
      </p:sp>
      <p:pic>
        <p:nvPicPr>
          <p:cNvPr descr="/home/claude/work/png-sb/82-appK-modular-monolith-decomposed-db.png" id="2262" name="Google Shape;2262;p207"/>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63" name="Google Shape;2263;p20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Data ownership becomes per-module — the hardest part of the split, done while still one process. The next step is mechanical.</a:t>
            </a:r>
            <a:endParaRPr b="0" i="0" sz="1200" u="none" cap="none" strike="noStrike">
              <a:solidFill>
                <a:schemeClr val="dk1"/>
              </a:solidFill>
              <a:latin typeface="Calibri"/>
              <a:ea typeface="Calibri"/>
              <a:cs typeface="Calibri"/>
              <a:sym typeface="Calibri"/>
            </a:endParaRPr>
          </a:p>
        </p:txBody>
      </p:sp>
      <p:sp>
        <p:nvSpPr>
          <p:cNvPr id="2264" name="Google Shape;2264;p2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180</a:t>
            </a:r>
            <a:endParaRPr b="0" i="0" sz="1000" u="none" cap="none" strike="noStrike">
              <a:solidFill>
                <a:schemeClr val="dk1"/>
              </a:solidFill>
              <a:latin typeface="Calibri"/>
              <a:ea typeface="Calibri"/>
              <a:cs typeface="Calibri"/>
              <a:sym typeface="Calibri"/>
            </a:endParaRPr>
          </a:p>
        </p:txBody>
      </p:sp>
      <p:pic>
        <p:nvPicPr>
          <p:cNvPr descr="/home/claude/work/assets/rh-logo.png" id="2265" name="Google Shape;2265;p20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0" name="Shape 2270"/>
        <p:cNvGrpSpPr/>
        <p:nvPr/>
      </p:nvGrpSpPr>
      <p:grpSpPr>
        <a:xfrm>
          <a:off x="0" y="0"/>
          <a:ext cx="0" cy="0"/>
          <a:chOff x="0" y="0"/>
          <a:chExt cx="0" cy="0"/>
        </a:xfrm>
      </p:grpSpPr>
      <p:sp>
        <p:nvSpPr>
          <p:cNvPr id="2271" name="Google Shape;2271;p20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72" name="Google Shape;2272;p20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Identify → move → redirect</a:t>
            </a:r>
            <a:endParaRPr b="0" i="0" sz="3000" u="none" cap="none" strike="noStrike">
              <a:solidFill>
                <a:schemeClr val="dk1"/>
              </a:solidFill>
              <a:latin typeface="Calibri"/>
              <a:ea typeface="Calibri"/>
              <a:cs typeface="Calibri"/>
              <a:sym typeface="Calibri"/>
            </a:endParaRPr>
          </a:p>
        </p:txBody>
      </p:sp>
      <p:pic>
        <p:nvPicPr>
          <p:cNvPr descr="/home/claude/work/png-sb/83-appK-strangler-identify-move-redirect.png" id="2273" name="Google Shape;2273;p20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274" name="Google Shape;2274;p20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Named after the strangler fig vine: grow the new system around the old until the old can be removed.</a:t>
            </a:r>
            <a:endParaRPr b="0" i="0" sz="1200" u="none" cap="none" strike="noStrike">
              <a:solidFill>
                <a:schemeClr val="dk1"/>
              </a:solidFill>
              <a:latin typeface="Calibri"/>
              <a:ea typeface="Calibri"/>
              <a:cs typeface="Calibri"/>
              <a:sym typeface="Calibri"/>
            </a:endParaRPr>
          </a:p>
        </p:txBody>
      </p:sp>
      <p:sp>
        <p:nvSpPr>
          <p:cNvPr id="2275" name="Google Shape;2275;p20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181</a:t>
            </a:r>
            <a:endParaRPr b="0" i="0" sz="1000" u="none" cap="none" strike="noStrike">
              <a:solidFill>
                <a:schemeClr val="dk1"/>
              </a:solidFill>
              <a:latin typeface="Calibri"/>
              <a:ea typeface="Calibri"/>
              <a:cs typeface="Calibri"/>
              <a:sym typeface="Calibri"/>
            </a:endParaRPr>
          </a:p>
        </p:txBody>
      </p:sp>
      <p:pic>
        <p:nvPicPr>
          <p:cNvPr descr="/home/claude/work/assets/rh-logo.png" id="2276" name="Google Shape;2276;p20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1" name="Shape 2281"/>
        <p:cNvGrpSpPr/>
        <p:nvPr/>
      </p:nvGrpSpPr>
      <p:grpSpPr>
        <a:xfrm>
          <a:off x="0" y="0"/>
          <a:ext cx="0" cy="0"/>
          <a:chOff x="0" y="0"/>
          <a:chExt cx="0" cy="0"/>
        </a:xfrm>
      </p:grpSpPr>
      <p:sp>
        <p:nvSpPr>
          <p:cNvPr id="2282" name="Google Shape;2282;p2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83" name="Google Shape;2283;p2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proxy — step zero of every migration</a:t>
            </a:r>
            <a:endParaRPr b="0" i="0" sz="3000" u="none" cap="none" strike="noStrike">
              <a:solidFill>
                <a:schemeClr val="dk1"/>
              </a:solidFill>
              <a:latin typeface="Calibri"/>
              <a:ea typeface="Calibri"/>
              <a:cs typeface="Calibri"/>
              <a:sym typeface="Calibri"/>
            </a:endParaRPr>
          </a:p>
        </p:txBody>
      </p:sp>
      <p:pic>
        <p:nvPicPr>
          <p:cNvPr descr="/home/claude/work/png-sb/84-appK-strangler-proxy.png" id="2284" name="Google Shape;2284;p20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85" name="Google Shape;2285;p2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Introduce the routing layer first, before extracting anything. Then redirection becomes a config change, not a release.</a:t>
            </a:r>
            <a:endParaRPr b="0" i="0" sz="1200" u="none" cap="none" strike="noStrike">
              <a:solidFill>
                <a:schemeClr val="dk1"/>
              </a:solidFill>
              <a:latin typeface="Calibri"/>
              <a:ea typeface="Calibri"/>
              <a:cs typeface="Calibri"/>
              <a:sym typeface="Calibri"/>
            </a:endParaRPr>
          </a:p>
        </p:txBody>
      </p:sp>
      <p:sp>
        <p:nvSpPr>
          <p:cNvPr id="2286" name="Google Shape;2286;p2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182</a:t>
            </a:r>
            <a:endParaRPr b="0" i="0" sz="1000" u="none" cap="none" strike="noStrike">
              <a:solidFill>
                <a:schemeClr val="dk1"/>
              </a:solidFill>
              <a:latin typeface="Calibri"/>
              <a:ea typeface="Calibri"/>
              <a:cs typeface="Calibri"/>
              <a:sym typeface="Calibri"/>
            </a:endParaRPr>
          </a:p>
        </p:txBody>
      </p:sp>
      <p:pic>
        <p:nvPicPr>
          <p:cNvPr descr="/home/claude/work/assets/rh-logo.png" id="2287" name="Google Shape;2287;p2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2" name="Shape 2292"/>
        <p:cNvGrpSpPr/>
        <p:nvPr/>
      </p:nvGrpSpPr>
      <p:grpSpPr>
        <a:xfrm>
          <a:off x="0" y="0"/>
          <a:ext cx="0" cy="0"/>
          <a:chOff x="0" y="0"/>
          <a:chExt cx="0" cy="0"/>
        </a:xfrm>
      </p:grpSpPr>
      <p:sp>
        <p:nvSpPr>
          <p:cNvPr id="2293" name="Google Shape;2293;p2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94" name="Google Shape;2294;p2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proxy + redirection</a:t>
            </a:r>
            <a:endParaRPr b="0" i="0" sz="3000" u="none" cap="none" strike="noStrike">
              <a:solidFill>
                <a:schemeClr val="dk1"/>
              </a:solidFill>
              <a:latin typeface="Calibri"/>
              <a:ea typeface="Calibri"/>
              <a:cs typeface="Calibri"/>
              <a:sym typeface="Calibri"/>
            </a:endParaRPr>
          </a:p>
        </p:txBody>
      </p:sp>
      <p:pic>
        <p:nvPicPr>
          <p:cNvPr descr="/home/claude/work/png-sb/85-appK-strangler-proxy-redirection.png" id="2295" name="Google Shape;2295;p21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296" name="Google Shape;2296;p2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proxy splits traffic between the new service and the shrinking monolith. Roll forward by widening the route; roll back by narrowing.</a:t>
            </a:r>
            <a:endParaRPr b="0" i="0" sz="1200" u="none" cap="none" strike="noStrike">
              <a:solidFill>
                <a:schemeClr val="dk1"/>
              </a:solidFill>
              <a:latin typeface="Calibri"/>
              <a:ea typeface="Calibri"/>
              <a:cs typeface="Calibri"/>
              <a:sym typeface="Calibri"/>
            </a:endParaRPr>
          </a:p>
        </p:txBody>
      </p:sp>
      <p:sp>
        <p:nvSpPr>
          <p:cNvPr id="2297" name="Google Shape;2297;p2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183</a:t>
            </a:r>
            <a:endParaRPr b="0" i="0" sz="1000" u="none" cap="none" strike="noStrike">
              <a:solidFill>
                <a:schemeClr val="dk1"/>
              </a:solidFill>
              <a:latin typeface="Calibri"/>
              <a:ea typeface="Calibri"/>
              <a:cs typeface="Calibri"/>
              <a:sym typeface="Calibri"/>
            </a:endParaRPr>
          </a:p>
        </p:txBody>
      </p:sp>
      <p:pic>
        <p:nvPicPr>
          <p:cNvPr descr="/home/claude/work/assets/rh-logo.png" id="2298" name="Google Shape;2298;p2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3" name="Shape 2303"/>
        <p:cNvGrpSpPr/>
        <p:nvPr/>
      </p:nvGrpSpPr>
      <p:grpSpPr>
        <a:xfrm>
          <a:off x="0" y="0"/>
          <a:ext cx="0" cy="0"/>
          <a:chOff x="0" y="0"/>
          <a:chExt cx="0" cy="0"/>
        </a:xfrm>
      </p:grpSpPr>
      <p:sp>
        <p:nvSpPr>
          <p:cNvPr id="2304" name="Google Shape;2304;p2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305" name="Google Shape;2305;p2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shared database — a deliberate intermediate state</a:t>
            </a:r>
            <a:endParaRPr b="0" i="0" sz="3000" u="none" cap="none" strike="noStrike">
              <a:solidFill>
                <a:schemeClr val="dk1"/>
              </a:solidFill>
              <a:latin typeface="Calibri"/>
              <a:ea typeface="Calibri"/>
              <a:cs typeface="Calibri"/>
              <a:sym typeface="Calibri"/>
            </a:endParaRPr>
          </a:p>
        </p:txBody>
      </p:sp>
      <p:pic>
        <p:nvPicPr>
          <p:cNvPr descr="/home/claude/work/png-sb/86-appK-strangler-shared-database.png" id="2306" name="Google Shape;2306;p211"/>
          <p:cNvPicPr preferRelativeResize="0"/>
          <p:nvPr/>
        </p:nvPicPr>
        <p:blipFill rotWithShape="1">
          <a:blip r:embed="rId5">
            <a:alphaModFix/>
          </a:blip>
          <a:stretch/>
        </p:blipFill>
        <p:spPr>
          <a:xfrm>
            <a:off x="1149305" y="2018986"/>
            <a:ext cx="9893084" cy="3688707"/>
          </a:xfrm>
          <a:prstGeom prst="rect">
            <a:avLst/>
          </a:prstGeom>
          <a:noFill/>
          <a:ln>
            <a:noFill/>
          </a:ln>
        </p:spPr>
      </p:pic>
      <p:sp>
        <p:nvSpPr>
          <p:cNvPr id="2307" name="Google Shape;2307;p2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Process boundary first, data boundary later. Useful intermediate state, not a destination. Schema coupling will bite eventually.</a:t>
            </a:r>
            <a:endParaRPr b="0" i="0" sz="1200" u="none" cap="none" strike="noStrike">
              <a:solidFill>
                <a:schemeClr val="dk1"/>
              </a:solidFill>
              <a:latin typeface="Calibri"/>
              <a:ea typeface="Calibri"/>
              <a:cs typeface="Calibri"/>
              <a:sym typeface="Calibri"/>
            </a:endParaRPr>
          </a:p>
        </p:txBody>
      </p:sp>
      <p:sp>
        <p:nvSpPr>
          <p:cNvPr id="2308" name="Google Shape;2308;p2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184</a:t>
            </a:r>
            <a:endParaRPr b="0" i="0" sz="1000" u="none" cap="none" strike="noStrike">
              <a:solidFill>
                <a:schemeClr val="dk1"/>
              </a:solidFill>
              <a:latin typeface="Calibri"/>
              <a:ea typeface="Calibri"/>
              <a:cs typeface="Calibri"/>
              <a:sym typeface="Calibri"/>
            </a:endParaRPr>
          </a:p>
        </p:txBody>
      </p:sp>
      <p:pic>
        <p:nvPicPr>
          <p:cNvPr descr="/home/claude/work/assets/rh-logo.png" id="2309" name="Google Shape;2309;p2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4" name="Shape 2314"/>
        <p:cNvGrpSpPr/>
        <p:nvPr/>
      </p:nvGrpSpPr>
      <p:grpSpPr>
        <a:xfrm>
          <a:off x="0" y="0"/>
          <a:ext cx="0" cy="0"/>
          <a:chOff x="0" y="0"/>
          <a:chExt cx="0" cy="0"/>
        </a:xfrm>
      </p:grpSpPr>
      <p:sp>
        <p:nvSpPr>
          <p:cNvPr id="2315" name="Google Shape;2315;p2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ROUTING</a:t>
            </a:r>
            <a:endParaRPr b="0" i="0" sz="1200" u="none" cap="none" strike="noStrike">
              <a:solidFill>
                <a:schemeClr val="dk1"/>
              </a:solidFill>
              <a:latin typeface="Calibri"/>
              <a:ea typeface="Calibri"/>
              <a:cs typeface="Calibri"/>
              <a:sym typeface="Calibri"/>
            </a:endParaRPr>
          </a:p>
        </p:txBody>
      </p:sp>
      <p:sp>
        <p:nvSpPr>
          <p:cNvPr id="2316" name="Google Shape;2316;p2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during migration</a:t>
            </a:r>
            <a:endParaRPr b="0" i="0" sz="3000" u="none" cap="none" strike="noStrike">
              <a:solidFill>
                <a:schemeClr val="dk1"/>
              </a:solidFill>
              <a:latin typeface="Calibri"/>
              <a:ea typeface="Calibri"/>
              <a:cs typeface="Calibri"/>
              <a:sym typeface="Calibri"/>
            </a:endParaRPr>
          </a:p>
        </p:txBody>
      </p:sp>
      <p:sp>
        <p:nvSpPr>
          <p:cNvPr id="2317" name="Google Shape;2317;p21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12"/>
          <p:cNvSpPr/>
          <p:nvPr/>
        </p:nvSpPr>
        <p:spPr>
          <a:xfrm>
            <a:off x="7794417" y="1700784"/>
            <a:ext cx="37388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Web + RestClient</a:t>
            </a:r>
            <a:endParaRPr b="0" i="0" sz="1000" u="none" cap="none" strike="noStrike">
              <a:solidFill>
                <a:schemeClr val="dk1"/>
              </a:solidFill>
              <a:latin typeface="Calibri"/>
              <a:ea typeface="Calibri"/>
              <a:cs typeface="Calibri"/>
              <a:sym typeface="Calibri"/>
            </a:endParaRPr>
          </a:p>
        </p:txBody>
      </p:sp>
      <p:sp>
        <p:nvSpPr>
          <p:cNvPr id="2319" name="Google Shape;2319;p21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Spring Web + RestClient — a content-aware proxy that reads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the request body and forwards to the new service or the monolith.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@RequestMapping("/orders")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OrderRouter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RestClient monolith;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RestClient newSvc;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RestClient euSvc;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the constructor builds the monolith, orders and orders-eu RestClients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@PostMapping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ResponseEntity&lt;Order&gt; route(@RequestBody Map&lt;String,Object&gt; 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@RequestHeader Map&lt;String,String&gt; headers)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tenant = (String) body.getOrDefault("tenant",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region = (String) body.getOrDefault("region",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RestClient upstream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"acme".equals(tenant) ? newSvc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"EU".equals(region)   ? euSvc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monolith;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upstream.post()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.headers(h -&gt; h.setAll(headers))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.retrieve()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.toEntity(Order.class);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320" name="Google Shape;2320;p21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 body, decide by content (tenant / region / feature flag), forward via RestClient.</a:t>
            </a:r>
            <a:endParaRPr b="0" i="0" sz="1300" u="none" cap="none" strike="noStrike">
              <a:solidFill>
                <a:schemeClr val="dk1"/>
              </a:solidFill>
              <a:latin typeface="Calibri"/>
              <a:ea typeface="Calibri"/>
              <a:cs typeface="Calibri"/>
              <a:sym typeface="Calibri"/>
            </a:endParaRPr>
          </a:p>
        </p:txBody>
      </p:sp>
      <p:sp>
        <p:nvSpPr>
          <p:cNvPr id="2321" name="Google Shape;2321;p2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185</a:t>
            </a:r>
            <a:endParaRPr b="0" i="0" sz="1000" u="none" cap="none" strike="noStrike">
              <a:solidFill>
                <a:schemeClr val="dk1"/>
              </a:solidFill>
              <a:latin typeface="Calibri"/>
              <a:ea typeface="Calibri"/>
              <a:cs typeface="Calibri"/>
              <a:sym typeface="Calibri"/>
            </a:endParaRPr>
          </a:p>
        </p:txBody>
      </p:sp>
      <p:pic>
        <p:nvPicPr>
          <p:cNvPr descr="/home/claude/work/assets/rh-logo.png" id="2322" name="Google Shape;2322;p2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7" name="Shape 2327"/>
        <p:cNvGrpSpPr/>
        <p:nvPr/>
      </p:nvGrpSpPr>
      <p:grpSpPr>
        <a:xfrm>
          <a:off x="0" y="0"/>
          <a:ext cx="0" cy="0"/>
          <a:chOff x="0" y="0"/>
          <a:chExt cx="0" cy="0"/>
        </a:xfrm>
      </p:grpSpPr>
      <p:sp>
        <p:nvSpPr>
          <p:cNvPr id="2328" name="Google Shape;2328;p2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329" name="Google Shape;2329;p2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decorating collaborator</a:t>
            </a:r>
            <a:endParaRPr b="0" i="0" sz="3000" u="none" cap="none" strike="noStrike">
              <a:solidFill>
                <a:schemeClr val="dk1"/>
              </a:solidFill>
              <a:latin typeface="Calibri"/>
              <a:ea typeface="Calibri"/>
              <a:cs typeface="Calibri"/>
              <a:sym typeface="Calibri"/>
            </a:endParaRPr>
          </a:p>
        </p:txBody>
      </p:sp>
      <p:pic>
        <p:nvPicPr>
          <p:cNvPr descr="/home/claude/work/png-sb/88-appK-decorating-collaborator.png" id="2330" name="Google Shape;2330;p21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31" name="Google Shape;2331;p21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new service wraps the legacy one, adds capability, then becomes the API. Useful when you can't modify the legacy code.</a:t>
            </a:r>
            <a:endParaRPr b="0" i="0" sz="1200" u="none" cap="none" strike="noStrike">
              <a:solidFill>
                <a:schemeClr val="dk1"/>
              </a:solidFill>
              <a:latin typeface="Calibri"/>
              <a:ea typeface="Calibri"/>
              <a:cs typeface="Calibri"/>
              <a:sym typeface="Calibri"/>
            </a:endParaRPr>
          </a:p>
        </p:txBody>
      </p:sp>
      <p:sp>
        <p:nvSpPr>
          <p:cNvPr id="2332" name="Google Shape;2332;p2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186</a:t>
            </a:r>
            <a:endParaRPr b="0" i="0" sz="1000" u="none" cap="none" strike="noStrike">
              <a:solidFill>
                <a:schemeClr val="dk1"/>
              </a:solidFill>
              <a:latin typeface="Calibri"/>
              <a:ea typeface="Calibri"/>
              <a:cs typeface="Calibri"/>
              <a:sym typeface="Calibri"/>
            </a:endParaRPr>
          </a:p>
        </p:txBody>
      </p:sp>
      <p:pic>
        <p:nvPicPr>
          <p:cNvPr descr="/home/claude/work/assets/rh-logo.png" id="2333" name="Google Shape;2333;p21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8" name="Shape 2338"/>
        <p:cNvGrpSpPr/>
        <p:nvPr/>
      </p:nvGrpSpPr>
      <p:grpSpPr>
        <a:xfrm>
          <a:off x="0" y="0"/>
          <a:ext cx="0" cy="0"/>
          <a:chOff x="0" y="0"/>
          <a:chExt cx="0" cy="0"/>
        </a:xfrm>
      </p:grpSpPr>
      <p:sp>
        <p:nvSpPr>
          <p:cNvPr id="2339" name="Google Shape;2339;p2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340" name="Google Shape;2340;p2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decorating collaborator in Spring Boot</a:t>
            </a:r>
            <a:endParaRPr b="0" i="0" sz="3000" u="none" cap="none" strike="noStrike">
              <a:solidFill>
                <a:schemeClr val="dk1"/>
              </a:solidFill>
              <a:latin typeface="Calibri"/>
              <a:ea typeface="Calibri"/>
              <a:cs typeface="Calibri"/>
              <a:sym typeface="Calibri"/>
            </a:endParaRPr>
          </a:p>
        </p:txBody>
      </p:sp>
      <p:sp>
        <p:nvSpPr>
          <p:cNvPr id="2341" name="Google Shape;2341;p21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14"/>
          <p:cNvSpPr/>
          <p:nvPr/>
        </p:nvSpPr>
        <p:spPr>
          <a:xfrm>
            <a:off x="6118017" y="1700784"/>
            <a:ext cx="5415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RestClient + Spring Data Redis + Spring Kafka</a:t>
            </a:r>
            <a:endParaRPr b="0" i="0" sz="1000" u="none" cap="none" strike="noStrike">
              <a:solidFill>
                <a:schemeClr val="dk1"/>
              </a:solidFill>
              <a:latin typeface="Calibri"/>
              <a:ea typeface="Calibri"/>
              <a:cs typeface="Calibri"/>
              <a:sym typeface="Calibri"/>
            </a:endParaRPr>
          </a:p>
        </p:txBody>
      </p:sp>
      <p:sp>
        <p:nvSpPr>
          <p:cNvPr id="2343" name="Google Shape;2343;p21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@RequestMapping("/orders")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OrdersDecorator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fields and constructor: RestClient legacy, RedisTemplate cache, KafkaTemplate kafka, TTL 60 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@GetMapping("/{id}")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get(@PathVariable String 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key = "order:" + 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cached = cache.opsForValue().get(key);          // 1. cache hit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null) return cached;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legacy.get().uri("/orders/{id}", id)     // 2. legacy fallback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.retrieve().body(Order.class);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cache.opsForValue().set(key, order, TTL);             // 3. populate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@PostMapping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Order place(@RequestBody Order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 order = legacy.post().uri("/orders")            // 1. legacy first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.body(body).retrieve().body(Order.class);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kafka.send("order.placed", order.id(), order);        // 2. emit event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cache.delete("order:" + order.id());                  // 3. invalidate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344" name="Google Shape;2344;p21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decorator adds caching, event emission — capabilities the legacy service can't add on its own.</a:t>
            </a:r>
            <a:endParaRPr b="0" i="0" sz="1300" u="none" cap="none" strike="noStrike">
              <a:solidFill>
                <a:schemeClr val="dk1"/>
              </a:solidFill>
              <a:latin typeface="Calibri"/>
              <a:ea typeface="Calibri"/>
              <a:cs typeface="Calibri"/>
              <a:sym typeface="Calibri"/>
            </a:endParaRPr>
          </a:p>
        </p:txBody>
      </p:sp>
      <p:sp>
        <p:nvSpPr>
          <p:cNvPr id="2345" name="Google Shape;2345;p2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187</a:t>
            </a:r>
            <a:endParaRPr b="0" i="0" sz="1000" u="none" cap="none" strike="noStrike">
              <a:solidFill>
                <a:schemeClr val="dk1"/>
              </a:solidFill>
              <a:latin typeface="Calibri"/>
              <a:ea typeface="Calibri"/>
              <a:cs typeface="Calibri"/>
              <a:sym typeface="Calibri"/>
            </a:endParaRPr>
          </a:p>
        </p:txBody>
      </p:sp>
      <p:pic>
        <p:nvPicPr>
          <p:cNvPr descr="/home/claude/work/assets/rh-logo.png" id="2346" name="Google Shape;2346;p21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1" name="Shape 2351"/>
        <p:cNvGrpSpPr/>
        <p:nvPr/>
      </p:nvGrpSpPr>
      <p:grpSpPr>
        <a:xfrm>
          <a:off x="0" y="0"/>
          <a:ext cx="0" cy="0"/>
          <a:chOff x="0" y="0"/>
          <a:chExt cx="0" cy="0"/>
        </a:xfrm>
      </p:grpSpPr>
      <p:sp>
        <p:nvSpPr>
          <p:cNvPr id="2352" name="Google Shape;2352;p2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DECISIONS</a:t>
            </a:r>
            <a:endParaRPr b="0" i="0" sz="1200" u="none" cap="none" strike="noStrike">
              <a:solidFill>
                <a:schemeClr val="dk1"/>
              </a:solidFill>
              <a:latin typeface="Calibri"/>
              <a:ea typeface="Calibri"/>
              <a:cs typeface="Calibri"/>
              <a:sym typeface="Calibri"/>
            </a:endParaRPr>
          </a:p>
        </p:txBody>
      </p:sp>
      <p:sp>
        <p:nvSpPr>
          <p:cNvPr id="2353" name="Google Shape;2353;p2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migration pattern</a:t>
            </a:r>
            <a:endParaRPr b="0" i="0" sz="3000" u="none" cap="none" strike="noStrike">
              <a:solidFill>
                <a:schemeClr val="dk1"/>
              </a:solidFill>
              <a:latin typeface="Calibri"/>
              <a:ea typeface="Calibri"/>
              <a:cs typeface="Calibri"/>
              <a:sym typeface="Calibri"/>
            </a:endParaRPr>
          </a:p>
        </p:txBody>
      </p:sp>
      <p:sp>
        <p:nvSpPr>
          <p:cNvPr id="2354" name="Google Shape;2354;p215"/>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Modular monolith first, microservices later — with Spring Modulith giving first-class module boundaries, the cheapest decomposition is often inside one Spring Boot process. Many systems never need to leave this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Decompose the database before decomposing the deployment. The data split is the hard part; doing it with multiple Spring DataSource beans is much cheaper than coordinating across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Always introduce the proxy first — the routing layer is what makes incremental cutover possible. No proxy = no incremental migration.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with shared database is a transition state. Plan its end before you start it. Schema coupling is debt that accrues.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Content-based routing when you need to cut over by tenant / region / segment instead of by URL. Costs CPU at the proxy; buys precise risk control.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Decorating collaborator when you need to add behaviour to a system you can't modify. Best suited to vendor / 3rd-party / legacy wrappers.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Reversibility is the design property to optimise for. Every migration step should be undo-able by a config change, not a release.</a:t>
            </a:r>
            <a:endParaRPr b="0" i="0" sz="1700" u="none" cap="none" strike="noStrike">
              <a:solidFill>
                <a:schemeClr val="dk1"/>
              </a:solidFill>
              <a:latin typeface="Calibri"/>
              <a:ea typeface="Calibri"/>
              <a:cs typeface="Calibri"/>
              <a:sym typeface="Calibri"/>
            </a:endParaRPr>
          </a:p>
        </p:txBody>
      </p:sp>
      <p:sp>
        <p:nvSpPr>
          <p:cNvPr id="2355" name="Google Shape;2355;p2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188</a:t>
            </a:r>
            <a:endParaRPr b="0" i="0" sz="1000" u="none" cap="none" strike="noStrike">
              <a:solidFill>
                <a:schemeClr val="dk1"/>
              </a:solidFill>
              <a:latin typeface="Calibri"/>
              <a:ea typeface="Calibri"/>
              <a:cs typeface="Calibri"/>
              <a:sym typeface="Calibri"/>
            </a:endParaRPr>
          </a:p>
        </p:txBody>
      </p:sp>
      <p:pic>
        <p:nvPicPr>
          <p:cNvPr descr="/home/claude/work/assets/rh-logo.png" id="2356" name="Google Shape;2356;p2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361" name="Shape 2361"/>
        <p:cNvGrpSpPr/>
        <p:nvPr/>
      </p:nvGrpSpPr>
      <p:grpSpPr>
        <a:xfrm>
          <a:off x="0" y="0"/>
          <a:ext cx="0" cy="0"/>
          <a:chOff x="0" y="0"/>
          <a:chExt cx="0" cy="0"/>
        </a:xfrm>
      </p:grpSpPr>
      <p:pic>
        <p:nvPicPr>
          <p:cNvPr descr="/home/claude/work/assets/rh-divider-bg.png" id="2362" name="Google Shape;2362;p21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363" name="Google Shape;2363;p21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L</a:t>
            </a:r>
            <a:endParaRPr b="0" i="0" sz="2200" u="none" cap="none" strike="noStrike">
              <a:solidFill>
                <a:schemeClr val="dk1"/>
              </a:solidFill>
              <a:latin typeface="Calibri"/>
              <a:ea typeface="Calibri"/>
              <a:cs typeface="Calibri"/>
              <a:sym typeface="Calibri"/>
            </a:endParaRPr>
          </a:p>
        </p:txBody>
      </p:sp>
      <p:sp>
        <p:nvSpPr>
          <p:cNvPr id="2364" name="Google Shape;2364;p21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L · Caching patterns</a:t>
            </a:r>
            <a:endParaRPr b="0" i="0" sz="4000" u="none" cap="none" strike="noStrike">
              <a:solidFill>
                <a:schemeClr val="dk1"/>
              </a:solidFill>
              <a:latin typeface="Calibri"/>
              <a:ea typeface="Calibri"/>
              <a:cs typeface="Calibri"/>
              <a:sym typeface="Calibri"/>
            </a:endParaRPr>
          </a:p>
        </p:txBody>
      </p:sp>
      <p:sp>
        <p:nvSpPr>
          <p:cNvPr id="2365" name="Google Shape;2365;p21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Six patterns for keeping a cache useful and your data correct.</a:t>
            </a:r>
            <a:endParaRPr b="0" i="0" sz="1500" u="none" cap="none" strike="noStrike">
              <a:solidFill>
                <a:schemeClr val="dk1"/>
              </a:solidFill>
              <a:latin typeface="Calibri"/>
              <a:ea typeface="Calibri"/>
              <a:cs typeface="Calibri"/>
              <a:sym typeface="Calibri"/>
            </a:endParaRPr>
          </a:p>
        </p:txBody>
      </p:sp>
      <p:pic>
        <p:nvPicPr>
          <p:cNvPr descr="/home/claude/work/assets/rh-logo-white.png" id="2366" name="Google Shape;2366;p2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1" name="Shape 2371"/>
        <p:cNvGrpSpPr/>
        <p:nvPr/>
      </p:nvGrpSpPr>
      <p:grpSpPr>
        <a:xfrm>
          <a:off x="0" y="0"/>
          <a:ext cx="0" cy="0"/>
          <a:chOff x="0" y="0"/>
          <a:chExt cx="0" cy="0"/>
        </a:xfrm>
      </p:grpSpPr>
      <p:sp>
        <p:nvSpPr>
          <p:cNvPr id="2372" name="Google Shape;2372;p2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WHY CACHE</a:t>
            </a:r>
            <a:endParaRPr b="0" i="0" sz="1200" u="none" cap="none" strike="noStrike">
              <a:solidFill>
                <a:schemeClr val="dk1"/>
              </a:solidFill>
              <a:latin typeface="Calibri"/>
              <a:ea typeface="Calibri"/>
              <a:cs typeface="Calibri"/>
              <a:sym typeface="Calibri"/>
            </a:endParaRPr>
          </a:p>
        </p:txBody>
      </p:sp>
      <p:sp>
        <p:nvSpPr>
          <p:cNvPr id="2373" name="Google Shape;2373;p2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Five things a cache earns you</a:t>
            </a:r>
            <a:endParaRPr b="0" i="0" sz="3000" u="none" cap="none" strike="noStrike">
              <a:solidFill>
                <a:schemeClr val="dk1"/>
              </a:solidFill>
              <a:latin typeface="Calibri"/>
              <a:ea typeface="Calibri"/>
              <a:cs typeface="Calibri"/>
              <a:sym typeface="Calibri"/>
            </a:endParaRPr>
          </a:p>
        </p:txBody>
      </p:sp>
      <p:sp>
        <p:nvSpPr>
          <p:cNvPr id="2374" name="Google Shape;2374;p21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Application performance — a cache hit is microseconds; a database round trip is milliseconds. The hot path becomes ~100x faster on hits.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Backend load — caching shields the database from repeated reads of unchanged data. Read-heavy workloads can offload 80-95% of queries with a sensible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Throughput — the same Pod fleet serves dramatically more requests because it spends less time waiting on the DB. Vertical scaling without buying anything.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Predictable performance — p99 latency stops being a function of DB load. Tail latencies flatten because the hot path doesn't contend on the same lock-bound resource as everyone else.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Database cost — fewer queries means smaller (or fewer) DB instances, smaller IOPS budgets, less replication bandwidth. Cache is almost always cheaper than the DB tier it offloads.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every cache adds a consistency story, an invalidation story, and a failure-mode story. Pick the pattern that matches the consistency you need.</a:t>
            </a:r>
            <a:endParaRPr b="0" i="0" sz="1700" u="none" cap="none" strike="noStrike">
              <a:solidFill>
                <a:schemeClr val="dk1"/>
              </a:solidFill>
              <a:latin typeface="Calibri"/>
              <a:ea typeface="Calibri"/>
              <a:cs typeface="Calibri"/>
              <a:sym typeface="Calibri"/>
            </a:endParaRPr>
          </a:p>
        </p:txBody>
      </p:sp>
      <p:sp>
        <p:nvSpPr>
          <p:cNvPr id="2375" name="Google Shape;2375;p2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189</a:t>
            </a:r>
            <a:endParaRPr b="0" i="0" sz="1000" u="none" cap="none" strike="noStrike">
              <a:solidFill>
                <a:schemeClr val="dk1"/>
              </a:solidFill>
              <a:latin typeface="Calibri"/>
              <a:ea typeface="Calibri"/>
              <a:cs typeface="Calibri"/>
              <a:sym typeface="Calibri"/>
            </a:endParaRPr>
          </a:p>
        </p:txBody>
      </p:sp>
      <p:pic>
        <p:nvPicPr>
          <p:cNvPr descr="/home/claude/work/assets/rh-logo.png" id="2376" name="Google Shape;2376;p2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1" name="Shape 2381"/>
        <p:cNvGrpSpPr/>
        <p:nvPr/>
      </p:nvGrpSpPr>
      <p:grpSpPr>
        <a:xfrm>
          <a:off x="0" y="0"/>
          <a:ext cx="0" cy="0"/>
          <a:chOff x="0" y="0"/>
          <a:chExt cx="0" cy="0"/>
        </a:xfrm>
      </p:grpSpPr>
      <p:sp>
        <p:nvSpPr>
          <p:cNvPr id="2382" name="Google Shape;2382;p2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83" name="Google Shape;2383;p2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(look-aside) — the default</a:t>
            </a:r>
            <a:endParaRPr b="0" i="0" sz="3000" u="none" cap="none" strike="noStrike">
              <a:solidFill>
                <a:schemeClr val="dk1"/>
              </a:solidFill>
              <a:latin typeface="Calibri"/>
              <a:ea typeface="Calibri"/>
              <a:cs typeface="Calibri"/>
              <a:sym typeface="Calibri"/>
            </a:endParaRPr>
          </a:p>
        </p:txBody>
      </p:sp>
      <p:pic>
        <p:nvPicPr>
          <p:cNvPr descr="/home/claude/work/png-sb/90-appL-cache-aside.png" id="2384" name="Google Shape;2384;p21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85" name="Google Shape;2385;p2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application reads cache, falls back to DB, populates cache. Explicit and simple; the most common pattern.</a:t>
            </a:r>
            <a:endParaRPr b="0" i="0" sz="1200" u="none" cap="none" strike="noStrike">
              <a:solidFill>
                <a:schemeClr val="dk1"/>
              </a:solidFill>
              <a:latin typeface="Calibri"/>
              <a:ea typeface="Calibri"/>
              <a:cs typeface="Calibri"/>
              <a:sym typeface="Calibri"/>
            </a:endParaRPr>
          </a:p>
        </p:txBody>
      </p:sp>
      <p:sp>
        <p:nvSpPr>
          <p:cNvPr id="2386" name="Google Shape;2386;p2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190</a:t>
            </a:r>
            <a:endParaRPr b="0" i="0" sz="1000" u="none" cap="none" strike="noStrike">
              <a:solidFill>
                <a:schemeClr val="dk1"/>
              </a:solidFill>
              <a:latin typeface="Calibri"/>
              <a:ea typeface="Calibri"/>
              <a:cs typeface="Calibri"/>
              <a:sym typeface="Calibri"/>
            </a:endParaRPr>
          </a:p>
        </p:txBody>
      </p:sp>
      <p:pic>
        <p:nvPicPr>
          <p:cNvPr descr="/home/claude/work/assets/rh-logo.png" id="2387" name="Google Shape;2387;p2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2" name="Shape 2392"/>
        <p:cNvGrpSpPr/>
        <p:nvPr/>
      </p:nvGrpSpPr>
      <p:grpSpPr>
        <a:xfrm>
          <a:off x="0" y="0"/>
          <a:ext cx="0" cy="0"/>
          <a:chOff x="0" y="0"/>
          <a:chExt cx="0" cy="0"/>
        </a:xfrm>
      </p:grpSpPr>
      <p:sp>
        <p:nvSpPr>
          <p:cNvPr id="2393" name="Google Shape;2393;p2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94" name="Google Shape;2394;p2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in Spring Boot with Redis</a:t>
            </a:r>
            <a:endParaRPr b="0" i="0" sz="3000" u="none" cap="none" strike="noStrike">
              <a:solidFill>
                <a:schemeClr val="dk1"/>
              </a:solidFill>
              <a:latin typeface="Calibri"/>
              <a:ea typeface="Calibri"/>
              <a:cs typeface="Calibri"/>
              <a:sym typeface="Calibri"/>
            </a:endParaRPr>
          </a:p>
        </p:txBody>
      </p:sp>
      <p:sp>
        <p:nvSpPr>
          <p:cNvPr id="2395" name="Google Shape;2395;p21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19"/>
          <p:cNvSpPr/>
          <p:nvPr/>
        </p:nvSpPr>
        <p:spPr>
          <a:xfrm>
            <a:off x="6880017" y="1700784"/>
            <a:ext cx="46532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Data JPA + Spring Data Redis</a:t>
            </a:r>
            <a:endParaRPr b="0" i="0" sz="1000" u="none" cap="none" strike="noStrike">
              <a:solidFill>
                <a:schemeClr val="dk1"/>
              </a:solidFill>
              <a:latin typeface="Calibri"/>
              <a:ea typeface="Calibri"/>
              <a:cs typeface="Calibri"/>
              <a:sym typeface="Calibri"/>
            </a:endParaRPr>
          </a:p>
        </p:txBody>
      </p:sp>
      <p:sp>
        <p:nvSpPr>
          <p:cNvPr id="2397" name="Google Shape;2397;p21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Spring Web + Spring Data JPA + Spring Data Redis — explicit cache-aside.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@RestController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@RequestMapping("/products")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ProductController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TTL 60 s; ProductRepository repo and RedisTemplate cache injected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@GetMapping("/{id}")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get(@PathVariable String 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key = "product:" + 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cached = cache.opsForValue().get(key);            // 1. cache lookup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 null) return cached;                        //    hit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repo.findById(id)                             // 2. DB on miss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.orElseThrow(() -&gt; new ResponseStatusException(NOT_FOUND));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cache.opsForValue().set(key, p, TTL);                     // 3. populate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@PutMapping("/{id}")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@Transactional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update(@PathVariable String id, @RequestBody Product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repo.findById(id).orElseThrow();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p.update(body);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cache.delete("product:" + id);                            // 4. invalidate on write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repo.save(p);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398" name="Google Shape;2398;p21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Try cache; on miss, JPA query and populate. Invalidate on write. Three operations; the rest is naming conventions.</a:t>
            </a:r>
            <a:endParaRPr b="0" i="0" sz="1300" u="none" cap="none" strike="noStrike">
              <a:solidFill>
                <a:schemeClr val="dk1"/>
              </a:solidFill>
              <a:latin typeface="Calibri"/>
              <a:ea typeface="Calibri"/>
              <a:cs typeface="Calibri"/>
              <a:sym typeface="Calibri"/>
            </a:endParaRPr>
          </a:p>
        </p:txBody>
      </p:sp>
      <p:sp>
        <p:nvSpPr>
          <p:cNvPr id="2399" name="Google Shape;2399;p2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191</a:t>
            </a:r>
            <a:endParaRPr b="0" i="0" sz="1000" u="none" cap="none" strike="noStrike">
              <a:solidFill>
                <a:schemeClr val="dk1"/>
              </a:solidFill>
              <a:latin typeface="Calibri"/>
              <a:ea typeface="Calibri"/>
              <a:cs typeface="Calibri"/>
              <a:sym typeface="Calibri"/>
            </a:endParaRPr>
          </a:p>
        </p:txBody>
      </p:sp>
      <p:pic>
        <p:nvPicPr>
          <p:cNvPr descr="/home/claude/work/assets/rh-logo.png" id="2400" name="Google Shape;2400;p2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5" name="Shape 2405"/>
        <p:cNvGrpSpPr/>
        <p:nvPr/>
      </p:nvGrpSpPr>
      <p:grpSpPr>
        <a:xfrm>
          <a:off x="0" y="0"/>
          <a:ext cx="0" cy="0"/>
          <a:chOff x="0" y="0"/>
          <a:chExt cx="0" cy="0"/>
        </a:xfrm>
      </p:grpSpPr>
      <p:sp>
        <p:nvSpPr>
          <p:cNvPr id="2406" name="Google Shape;2406;p2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407" name="Google Shape;2407;p2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 the cache fetches on miss</a:t>
            </a:r>
            <a:endParaRPr b="0" i="0" sz="3000" u="none" cap="none" strike="noStrike">
              <a:solidFill>
                <a:schemeClr val="dk1"/>
              </a:solidFill>
              <a:latin typeface="Calibri"/>
              <a:ea typeface="Calibri"/>
              <a:cs typeface="Calibri"/>
              <a:sym typeface="Calibri"/>
            </a:endParaRPr>
          </a:p>
        </p:txBody>
      </p:sp>
      <p:pic>
        <p:nvPicPr>
          <p:cNvPr descr="/home/claude/work/png-sb/91-appL-read-through.png" id="2408" name="Google Shape;2408;p22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09" name="Google Shape;2409;p2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Application sees one interface; the cache library handles DB fallback transparently.</a:t>
            </a:r>
            <a:endParaRPr b="0" i="0" sz="1200" u="none" cap="none" strike="noStrike">
              <a:solidFill>
                <a:schemeClr val="dk1"/>
              </a:solidFill>
              <a:latin typeface="Calibri"/>
              <a:ea typeface="Calibri"/>
              <a:cs typeface="Calibri"/>
              <a:sym typeface="Calibri"/>
            </a:endParaRPr>
          </a:p>
        </p:txBody>
      </p:sp>
      <p:sp>
        <p:nvSpPr>
          <p:cNvPr id="2410" name="Google Shape;2410;p2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192</a:t>
            </a:r>
            <a:endParaRPr b="0" i="0" sz="1000" u="none" cap="none" strike="noStrike">
              <a:solidFill>
                <a:schemeClr val="dk1"/>
              </a:solidFill>
              <a:latin typeface="Calibri"/>
              <a:ea typeface="Calibri"/>
              <a:cs typeface="Calibri"/>
              <a:sym typeface="Calibri"/>
            </a:endParaRPr>
          </a:p>
        </p:txBody>
      </p:sp>
      <p:pic>
        <p:nvPicPr>
          <p:cNvPr descr="/home/claude/work/assets/rh-logo.png" id="2411" name="Google Shape;2411;p2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6" name="Shape 2416"/>
        <p:cNvGrpSpPr/>
        <p:nvPr/>
      </p:nvGrpSpPr>
      <p:grpSpPr>
        <a:xfrm>
          <a:off x="0" y="0"/>
          <a:ext cx="0" cy="0"/>
          <a:chOff x="0" y="0"/>
          <a:chExt cx="0" cy="0"/>
        </a:xfrm>
      </p:grpSpPr>
      <p:sp>
        <p:nvSpPr>
          <p:cNvPr id="2417" name="Google Shape;2417;p2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418" name="Google Shape;2418;p2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in Spring Boot with Cache.get</a:t>
            </a:r>
            <a:endParaRPr b="0" i="0" sz="3000" u="none" cap="none" strike="noStrike">
              <a:solidFill>
                <a:schemeClr val="dk1"/>
              </a:solidFill>
              <a:latin typeface="Calibri"/>
              <a:ea typeface="Calibri"/>
              <a:cs typeface="Calibri"/>
              <a:sym typeface="Calibri"/>
            </a:endParaRPr>
          </a:p>
        </p:txBody>
      </p:sp>
      <p:sp>
        <p:nvSpPr>
          <p:cNvPr id="2419" name="Google Shape;2419;p22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21"/>
          <p:cNvSpPr/>
          <p:nvPr/>
        </p:nvSpPr>
        <p:spPr>
          <a:xfrm>
            <a:off x="7108617" y="1700784"/>
            <a:ext cx="4424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Cache + Spring Data Redis</a:t>
            </a:r>
            <a:endParaRPr b="0" i="0" sz="1000" u="none" cap="none" strike="noStrike">
              <a:solidFill>
                <a:schemeClr val="dk1"/>
              </a:solidFill>
              <a:latin typeface="Calibri"/>
              <a:ea typeface="Calibri"/>
              <a:cs typeface="Calibri"/>
              <a:sym typeface="Calibri"/>
            </a:endParaRPr>
          </a:p>
        </p:txBody>
      </p:sp>
      <p:sp>
        <p:nvSpPr>
          <p:cNvPr id="2421" name="Google Shape;2421;p22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Spring Cache with Redis backing (Spring Boot 4, Jackson 3), examples/25-caching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@Configuration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class ReadThroughCacheConfig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@Bean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RedisCacheManager cacheManager(RedisConnectionFactory cf, CacheServiceProperties props)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products = RedisCacheConfiguration.defaultCacheConfig()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.entryTtl(Duration.ofSeconds(props.ttlSeconds()))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.disableCachingNullValues()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.computePrefixWith(cacheName -&gt; "rt:product:")        // keys: rt:product:&lt;id&gt;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.serializeValuesWith(SerializationPair.fromSerializer(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JacksonJsonRedisSerializer&lt;&gt;(ProductView.class)));   // plain JSON values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RedisCacheManager.builder(cf)</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.withInitialCacheConfigurations(Map.of("read-through-products", products))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@GetMapping("/read-through/products/{pid}")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ResponseEntity&lt;ProductResponse&gt; readThroughGet(@PathVariable String pid)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loaded = new AtomicBoolean();                   // set only when the loader ran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ProductView product = readThroughCache.get(pid, () -&gt; {   // hit: cached; miss: loader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loaded.set(true);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products.find(pid).orElseThrow(() -&gt; new UnknownProduct(pid));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ResponseEntity.ok(product.from(loaded.get() ? "db" : "cache"));   // "source"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22" name="Google Shape;2422;p22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Cache.get(key, loader) runs the loader only on a miss. Callers see one interface; a hit never touches the database.</a:t>
            </a:r>
            <a:endParaRPr b="0" i="0" sz="1300" u="none" cap="none" strike="noStrike">
              <a:solidFill>
                <a:schemeClr val="dk1"/>
              </a:solidFill>
              <a:latin typeface="Calibri"/>
              <a:ea typeface="Calibri"/>
              <a:cs typeface="Calibri"/>
              <a:sym typeface="Calibri"/>
            </a:endParaRPr>
          </a:p>
        </p:txBody>
      </p:sp>
      <p:sp>
        <p:nvSpPr>
          <p:cNvPr id="2423" name="Google Shape;2423;p2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193</a:t>
            </a:r>
            <a:endParaRPr b="0" i="0" sz="1000" u="none" cap="none" strike="noStrike">
              <a:solidFill>
                <a:schemeClr val="dk1"/>
              </a:solidFill>
              <a:latin typeface="Calibri"/>
              <a:ea typeface="Calibri"/>
              <a:cs typeface="Calibri"/>
              <a:sym typeface="Calibri"/>
            </a:endParaRPr>
          </a:p>
        </p:txBody>
      </p:sp>
      <p:pic>
        <p:nvPicPr>
          <p:cNvPr descr="/home/claude/work/assets/rh-logo.png" id="2424" name="Google Shape;2424;p2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29" name="Shape 2429"/>
        <p:cNvGrpSpPr/>
        <p:nvPr/>
      </p:nvGrpSpPr>
      <p:grpSpPr>
        <a:xfrm>
          <a:off x="0" y="0"/>
          <a:ext cx="0" cy="0"/>
          <a:chOff x="0" y="0"/>
          <a:chExt cx="0" cy="0"/>
        </a:xfrm>
      </p:grpSpPr>
      <p:sp>
        <p:nvSpPr>
          <p:cNvPr id="2430" name="Google Shape;2430;p2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431" name="Google Shape;2431;p2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 cache and DB written synchronously</a:t>
            </a:r>
            <a:endParaRPr b="0" i="0" sz="3000" u="none" cap="none" strike="noStrike">
              <a:solidFill>
                <a:schemeClr val="dk1"/>
              </a:solidFill>
              <a:latin typeface="Calibri"/>
              <a:ea typeface="Calibri"/>
              <a:cs typeface="Calibri"/>
              <a:sym typeface="Calibri"/>
            </a:endParaRPr>
          </a:p>
        </p:txBody>
      </p:sp>
      <p:pic>
        <p:nvPicPr>
          <p:cNvPr descr="/home/claude/work/png-sb/92-appL-write-through.png" id="2432" name="Google Shape;2432;p22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33" name="Google Shape;2433;p2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write hits both the cache and the DB. Cache is never stale; writes pay both latencies.</a:t>
            </a:r>
            <a:endParaRPr b="0" i="0" sz="1200" u="none" cap="none" strike="noStrike">
              <a:solidFill>
                <a:schemeClr val="dk1"/>
              </a:solidFill>
              <a:latin typeface="Calibri"/>
              <a:ea typeface="Calibri"/>
              <a:cs typeface="Calibri"/>
              <a:sym typeface="Calibri"/>
            </a:endParaRPr>
          </a:p>
        </p:txBody>
      </p:sp>
      <p:sp>
        <p:nvSpPr>
          <p:cNvPr id="2434" name="Google Shape;2434;p2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194</a:t>
            </a:r>
            <a:endParaRPr b="0" i="0" sz="1000" u="none" cap="none" strike="noStrike">
              <a:solidFill>
                <a:schemeClr val="dk1"/>
              </a:solidFill>
              <a:latin typeface="Calibri"/>
              <a:ea typeface="Calibri"/>
              <a:cs typeface="Calibri"/>
              <a:sym typeface="Calibri"/>
            </a:endParaRPr>
          </a:p>
        </p:txBody>
      </p:sp>
      <p:pic>
        <p:nvPicPr>
          <p:cNvPr descr="/home/claude/work/assets/rh-logo.png" id="2435" name="Google Shape;2435;p2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0" name="Shape 2440"/>
        <p:cNvGrpSpPr/>
        <p:nvPr/>
      </p:nvGrpSpPr>
      <p:grpSpPr>
        <a:xfrm>
          <a:off x="0" y="0"/>
          <a:ext cx="0" cy="0"/>
          <a:chOff x="0" y="0"/>
          <a:chExt cx="0" cy="0"/>
        </a:xfrm>
      </p:grpSpPr>
      <p:sp>
        <p:nvSpPr>
          <p:cNvPr id="2441" name="Google Shape;2441;p2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442" name="Google Shape;2442;p2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in Spring Boot</a:t>
            </a:r>
            <a:endParaRPr b="0" i="0" sz="3000" u="none" cap="none" strike="noStrike">
              <a:solidFill>
                <a:schemeClr val="dk1"/>
              </a:solidFill>
              <a:latin typeface="Calibri"/>
              <a:ea typeface="Calibri"/>
              <a:cs typeface="Calibri"/>
              <a:sym typeface="Calibri"/>
            </a:endParaRPr>
          </a:p>
        </p:txBody>
      </p:sp>
      <p:sp>
        <p:nvSpPr>
          <p:cNvPr id="2443" name="Google Shape;2443;p22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23"/>
          <p:cNvSpPr/>
          <p:nvPr/>
        </p:nvSpPr>
        <p:spPr>
          <a:xfrm>
            <a:off x="6041817" y="1700784"/>
            <a:ext cx="5491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Cache + Spring Data Redis + @TransactionalEventListener</a:t>
            </a:r>
            <a:endParaRPr b="0" i="0" sz="1000" u="none" cap="none" strike="noStrike">
              <a:solidFill>
                <a:schemeClr val="dk1"/>
              </a:solidFill>
              <a:latin typeface="Calibri"/>
              <a:ea typeface="Calibri"/>
              <a:cs typeface="Calibri"/>
              <a:sym typeface="Calibri"/>
            </a:endParaRPr>
          </a:p>
        </p:txBody>
      </p:sp>
      <p:sp>
        <p:nvSpPr>
          <p:cNvPr id="2445" name="Google Shape;2445;p22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Spring Cache: @CachePut is the write-through annotation.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Always runs the method body and writes the return value to the cache.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ProductService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final ProductRepository repo;</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ProductService(ProductRepository repo) { this.repo = repo;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@CachePut(value = "products", key = "#id")             // ← write-through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@Transactional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update(String id, Product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Product p = repo.findById(id).orElseThrow();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p.update(body);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repo.save(p);                                // saved + cached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Explicit RedisTemplate alternative — useful when you need control: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ProductServiceExplicit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fields repo, cache, events; @Transactional update() saves, then publishes ProductUpdatedEvent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@TransactionalEventListener(phase = TransactionPhase.AFTER_COMMIT)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cacheAfterCommit(ProductUpdatedEvent ev)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cache.opsForValue().set("product:" + ev.product().id(),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ev.product(), Duration.ofSeconds(60));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46" name="Google Shape;2446;p22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@CachePut is the one-line write-through. The explicit version with @TransactionalEventListener ties cache writes to DB commit.</a:t>
            </a:r>
            <a:endParaRPr b="0" i="0" sz="1300" u="none" cap="none" strike="noStrike">
              <a:solidFill>
                <a:schemeClr val="dk1"/>
              </a:solidFill>
              <a:latin typeface="Calibri"/>
              <a:ea typeface="Calibri"/>
              <a:cs typeface="Calibri"/>
              <a:sym typeface="Calibri"/>
            </a:endParaRPr>
          </a:p>
        </p:txBody>
      </p:sp>
      <p:sp>
        <p:nvSpPr>
          <p:cNvPr id="2447" name="Google Shape;2447;p2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195</a:t>
            </a:r>
            <a:endParaRPr b="0" i="0" sz="1000" u="none" cap="none" strike="noStrike">
              <a:solidFill>
                <a:schemeClr val="dk1"/>
              </a:solidFill>
              <a:latin typeface="Calibri"/>
              <a:ea typeface="Calibri"/>
              <a:cs typeface="Calibri"/>
              <a:sym typeface="Calibri"/>
            </a:endParaRPr>
          </a:p>
        </p:txBody>
      </p:sp>
      <p:pic>
        <p:nvPicPr>
          <p:cNvPr descr="/home/claude/work/assets/rh-logo.png" id="2448" name="Google Shape;2448;p2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3" name="Shape 2453"/>
        <p:cNvGrpSpPr/>
        <p:nvPr/>
      </p:nvGrpSpPr>
      <p:grpSpPr>
        <a:xfrm>
          <a:off x="0" y="0"/>
          <a:ext cx="0" cy="0"/>
          <a:chOff x="0" y="0"/>
          <a:chExt cx="0" cy="0"/>
        </a:xfrm>
      </p:grpSpPr>
      <p:sp>
        <p:nvSpPr>
          <p:cNvPr id="2454" name="Google Shape;2454;p2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55" name="Google Shape;2455;p2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 writes skip the cache</a:t>
            </a:r>
            <a:endParaRPr b="0" i="0" sz="3000" u="none" cap="none" strike="noStrike">
              <a:solidFill>
                <a:schemeClr val="dk1"/>
              </a:solidFill>
              <a:latin typeface="Calibri"/>
              <a:ea typeface="Calibri"/>
              <a:cs typeface="Calibri"/>
              <a:sym typeface="Calibri"/>
            </a:endParaRPr>
          </a:p>
        </p:txBody>
      </p:sp>
      <p:pic>
        <p:nvPicPr>
          <p:cNvPr descr="/home/claude/work/png-sb/93-appL-write-around.png" id="2456" name="Google Shape;2456;p22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57" name="Google Shape;2457;p22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go to the DB only. The next read populates the cache lazily. Good for write-heavy, low-re-read workloads.</a:t>
            </a:r>
            <a:endParaRPr b="0" i="0" sz="1200" u="none" cap="none" strike="noStrike">
              <a:solidFill>
                <a:schemeClr val="dk1"/>
              </a:solidFill>
              <a:latin typeface="Calibri"/>
              <a:ea typeface="Calibri"/>
              <a:cs typeface="Calibri"/>
              <a:sym typeface="Calibri"/>
            </a:endParaRPr>
          </a:p>
        </p:txBody>
      </p:sp>
      <p:sp>
        <p:nvSpPr>
          <p:cNvPr id="2458" name="Google Shape;2458;p2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196</a:t>
            </a:r>
            <a:endParaRPr b="0" i="0" sz="1000" u="none" cap="none" strike="noStrike">
              <a:solidFill>
                <a:schemeClr val="dk1"/>
              </a:solidFill>
              <a:latin typeface="Calibri"/>
              <a:ea typeface="Calibri"/>
              <a:cs typeface="Calibri"/>
              <a:sym typeface="Calibri"/>
            </a:endParaRPr>
          </a:p>
        </p:txBody>
      </p:sp>
      <p:pic>
        <p:nvPicPr>
          <p:cNvPr descr="/home/claude/work/assets/rh-logo.png" id="2459" name="Google Shape;2459;p2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4" name="Shape 2464"/>
        <p:cNvGrpSpPr/>
        <p:nvPr/>
      </p:nvGrpSpPr>
      <p:grpSpPr>
        <a:xfrm>
          <a:off x="0" y="0"/>
          <a:ext cx="0" cy="0"/>
          <a:chOff x="0" y="0"/>
          <a:chExt cx="0" cy="0"/>
        </a:xfrm>
      </p:grpSpPr>
      <p:sp>
        <p:nvSpPr>
          <p:cNvPr id="2465" name="Google Shape;2465;p2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66" name="Google Shape;2466;p2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in Spring Boot</a:t>
            </a:r>
            <a:endParaRPr b="0" i="0" sz="3000" u="none" cap="none" strike="noStrike">
              <a:solidFill>
                <a:schemeClr val="dk1"/>
              </a:solidFill>
              <a:latin typeface="Calibri"/>
              <a:ea typeface="Calibri"/>
              <a:cs typeface="Calibri"/>
              <a:sym typeface="Calibri"/>
            </a:endParaRPr>
          </a:p>
        </p:txBody>
      </p:sp>
      <p:sp>
        <p:nvSpPr>
          <p:cNvPr id="2467" name="Google Shape;2467;p22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25"/>
          <p:cNvSpPr/>
          <p:nvPr/>
        </p:nvSpPr>
        <p:spPr>
          <a:xfrm>
            <a:off x="7108617" y="1700784"/>
            <a:ext cx="4424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Spring Cache + Spring Data Redis</a:t>
            </a:r>
            <a:endParaRPr b="0" i="0" sz="1000" u="none" cap="none" strike="noStrike">
              <a:solidFill>
                <a:schemeClr val="dk1"/>
              </a:solidFill>
              <a:latin typeface="Calibri"/>
              <a:ea typeface="Calibri"/>
              <a:cs typeface="Calibri"/>
              <a:sym typeface="Calibri"/>
            </a:endParaRPr>
          </a:p>
        </p:txBody>
      </p:sp>
      <p:sp>
        <p:nvSpPr>
          <p:cNvPr id="2469" name="Google Shape;2469;p22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Append-heavy data: events, audit logs, telemetry. Writes hit the DB only.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@RestController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@RequestMapping("/events")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EventController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private final EventRepository repo;</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EventController(EventRepository repo) { this.repo = repo;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@PostMapping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@Transactional</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Event record(@RequestBody Event body)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repo.save(body);                              // DB only, cache untouched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@GetMapping("/{id}")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@Cacheable(value = "events", key = "#id")               // read side populates lazily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Event get(@PathVariable String id)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repo.findById(id)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.orElseThrow(() -&gt; new ResponseStatusException(NOT_FOUND));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470" name="Google Shape;2470;p22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skip the cache; first read populates via @Cacheable. Avoids cache thrash from one-time writes.</a:t>
            </a:r>
            <a:endParaRPr b="0" i="0" sz="1300" u="none" cap="none" strike="noStrike">
              <a:solidFill>
                <a:schemeClr val="dk1"/>
              </a:solidFill>
              <a:latin typeface="Calibri"/>
              <a:ea typeface="Calibri"/>
              <a:cs typeface="Calibri"/>
              <a:sym typeface="Calibri"/>
            </a:endParaRPr>
          </a:p>
        </p:txBody>
      </p:sp>
      <p:sp>
        <p:nvSpPr>
          <p:cNvPr id="2471" name="Google Shape;2471;p2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197</a:t>
            </a:r>
            <a:endParaRPr b="0" i="0" sz="1000" u="none" cap="none" strike="noStrike">
              <a:solidFill>
                <a:schemeClr val="dk1"/>
              </a:solidFill>
              <a:latin typeface="Calibri"/>
              <a:ea typeface="Calibri"/>
              <a:cs typeface="Calibri"/>
              <a:sym typeface="Calibri"/>
            </a:endParaRPr>
          </a:p>
        </p:txBody>
      </p:sp>
      <p:pic>
        <p:nvPicPr>
          <p:cNvPr descr="/home/claude/work/assets/rh-logo.png" id="2472" name="Google Shape;2472;p22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7" name="Shape 2477"/>
        <p:cNvGrpSpPr/>
        <p:nvPr/>
      </p:nvGrpSpPr>
      <p:grpSpPr>
        <a:xfrm>
          <a:off x="0" y="0"/>
          <a:ext cx="0" cy="0"/>
          <a:chOff x="0" y="0"/>
          <a:chExt cx="0" cy="0"/>
        </a:xfrm>
      </p:grpSpPr>
      <p:sp>
        <p:nvSpPr>
          <p:cNvPr id="2478" name="Google Shape;2478;p2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79" name="Google Shape;2479;p2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(write-behind) — fast writes, eventual durability</a:t>
            </a:r>
            <a:endParaRPr b="0" i="0" sz="3000" u="none" cap="none" strike="noStrike">
              <a:solidFill>
                <a:schemeClr val="dk1"/>
              </a:solidFill>
              <a:latin typeface="Calibri"/>
              <a:ea typeface="Calibri"/>
              <a:cs typeface="Calibri"/>
              <a:sym typeface="Calibri"/>
            </a:endParaRPr>
          </a:p>
        </p:txBody>
      </p:sp>
      <p:pic>
        <p:nvPicPr>
          <p:cNvPr descr="/home/claude/work/png-sb/94-appL-write-back.png" id="2480" name="Google Shape;2480;p22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81" name="Google Shape;2481;p22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return immediately after touching the cache; a background flusher persists to the DB asynchronously.</a:t>
            </a:r>
            <a:endParaRPr b="0" i="0" sz="1200" u="none" cap="none" strike="noStrike">
              <a:solidFill>
                <a:schemeClr val="dk1"/>
              </a:solidFill>
              <a:latin typeface="Calibri"/>
              <a:ea typeface="Calibri"/>
              <a:cs typeface="Calibri"/>
              <a:sym typeface="Calibri"/>
            </a:endParaRPr>
          </a:p>
        </p:txBody>
      </p:sp>
      <p:sp>
        <p:nvSpPr>
          <p:cNvPr id="2482" name="Google Shape;2482;p2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198</a:t>
            </a:r>
            <a:endParaRPr b="0" i="0" sz="1000" u="none" cap="none" strike="noStrike">
              <a:solidFill>
                <a:schemeClr val="dk1"/>
              </a:solidFill>
              <a:latin typeface="Calibri"/>
              <a:ea typeface="Calibri"/>
              <a:cs typeface="Calibri"/>
              <a:sym typeface="Calibri"/>
            </a:endParaRPr>
          </a:p>
        </p:txBody>
      </p:sp>
      <p:pic>
        <p:nvPicPr>
          <p:cNvPr descr="/home/claude/work/assets/rh-logo.png" id="2483" name="Google Shape;2483;p22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8" name="Shape 2488"/>
        <p:cNvGrpSpPr/>
        <p:nvPr/>
      </p:nvGrpSpPr>
      <p:grpSpPr>
        <a:xfrm>
          <a:off x="0" y="0"/>
          <a:ext cx="0" cy="0"/>
          <a:chOff x="0" y="0"/>
          <a:chExt cx="0" cy="0"/>
        </a:xfrm>
      </p:grpSpPr>
      <p:sp>
        <p:nvSpPr>
          <p:cNvPr id="2489" name="Google Shape;2489;p2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90" name="Google Shape;2490;p2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with @Scheduled in Spring Boot</a:t>
            </a:r>
            <a:endParaRPr b="0" i="0" sz="3000" u="none" cap="none" strike="noStrike">
              <a:solidFill>
                <a:schemeClr val="dk1"/>
              </a:solidFill>
              <a:latin typeface="Calibri"/>
              <a:ea typeface="Calibri"/>
              <a:cs typeface="Calibri"/>
              <a:sym typeface="Calibri"/>
            </a:endParaRPr>
          </a:p>
        </p:txBody>
      </p:sp>
      <p:sp>
        <p:nvSpPr>
          <p:cNvPr id="2491" name="Google Shape;2491;p22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227"/>
          <p:cNvSpPr/>
          <p:nvPr/>
        </p:nvSpPr>
        <p:spPr>
          <a:xfrm>
            <a:off x="5965617" y="1700784"/>
            <a:ext cx="5567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@Scheduled + Spring Data Redis + JPA</a:t>
            </a:r>
            <a:endParaRPr b="0" i="0" sz="1000" u="none" cap="none" strike="noStrike">
              <a:solidFill>
                <a:schemeClr val="dk1"/>
              </a:solidFill>
              <a:latin typeface="Calibri"/>
              <a:ea typeface="Calibri"/>
              <a:cs typeface="Calibri"/>
              <a:sym typeface="Calibri"/>
            </a:endParaRPr>
          </a:p>
        </p:txBody>
      </p:sp>
      <p:sp>
        <p:nvSpPr>
          <p:cNvPr id="2493" name="Google Shape;2493;p22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@PutMapping("/write-back/metrics/{mid}")   // CacheController (excerpt)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ResponseEntity&lt;Map&lt;String, Object&gt;&gt; writeBackWrite(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@PathVariable String mid, @RequestBody Map&lt;String, Object&gt; body)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HSET metric:&lt;mid&gt; {value, tags}; SADD metric:dirty &lt;mid&gt; (503 when Redis is down)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ResponseEntity.accepted().body(Map.of("ok", true, "pattern", "write-back",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"action", "cached-for-flush"));               // 202: queued, not yet durable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examples/25-caching/spring-boot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@Scheduled(fixedDelayString = "${cache-service.flush-period-ms:1000}")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void flusher() {                                // BackgroundTasks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(System.currentTimeMillis() &lt; nextFlushAt) return;   // backing off after a failure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Set&lt;String&gt; ids = cache.spop("metric:dirty", FLUSH_BATCH);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(ids == null || ids.isEmpty()) return;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List&lt;String&gt; failed = new ArrayList&lt;&gt;();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 (String mid : ids)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                                     // upsert: an id flushed twice is one row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metrics.upsert(mid, json);             // MetricRepository: @Modifying native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cache.hdel("metric:attempts", mid);    // INSERT ... ON CONFLICT (id) DO UPDATE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catch (Exception e) { failed.add(mid); }     // logged: flush failed for &lt;mid&gt;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(failed.isEmpty()) { failures = 0; return;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nextFlushAt = System.currentTimeMillis() + Math.min(flushPeriodMs &lt;&lt; ++failures, 8000);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requeue(failed);   // HINCRBY metric:attempts; SADD metric:dirty, or metric:failed at 5</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94" name="Google Shape;2494;p22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write answers 202 Accepted. A failed flush re-queues its ids with backoff; after five attempts an id is parked on metric:failed.</a:t>
            </a:r>
            <a:endParaRPr b="0" i="0" sz="1300" u="none" cap="none" strike="noStrike">
              <a:solidFill>
                <a:schemeClr val="dk1"/>
              </a:solidFill>
              <a:latin typeface="Calibri"/>
              <a:ea typeface="Calibri"/>
              <a:cs typeface="Calibri"/>
              <a:sym typeface="Calibri"/>
            </a:endParaRPr>
          </a:p>
        </p:txBody>
      </p:sp>
      <p:sp>
        <p:nvSpPr>
          <p:cNvPr id="2495" name="Google Shape;2495;p2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199</a:t>
            </a:r>
            <a:endParaRPr b="0" i="0" sz="1000" u="none" cap="none" strike="noStrike">
              <a:solidFill>
                <a:schemeClr val="dk1"/>
              </a:solidFill>
              <a:latin typeface="Calibri"/>
              <a:ea typeface="Calibri"/>
              <a:cs typeface="Calibri"/>
              <a:sym typeface="Calibri"/>
            </a:endParaRPr>
          </a:p>
        </p:txBody>
      </p:sp>
      <p:pic>
        <p:nvPicPr>
          <p:cNvPr descr="/home/claude/work/assets/rh-logo.png" id="2496" name="Google Shape;2496;p22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1" name="Shape 2501"/>
        <p:cNvGrpSpPr/>
        <p:nvPr/>
      </p:nvGrpSpPr>
      <p:grpSpPr>
        <a:xfrm>
          <a:off x="0" y="0"/>
          <a:ext cx="0" cy="0"/>
          <a:chOff x="0" y="0"/>
          <a:chExt cx="0" cy="0"/>
        </a:xfrm>
      </p:grpSpPr>
      <p:sp>
        <p:nvSpPr>
          <p:cNvPr id="2502" name="Google Shape;2502;p2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503" name="Google Shape;2503;p2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 keep hot keys warm</a:t>
            </a:r>
            <a:endParaRPr b="0" i="0" sz="3000" u="none" cap="none" strike="noStrike">
              <a:solidFill>
                <a:schemeClr val="dk1"/>
              </a:solidFill>
              <a:latin typeface="Calibri"/>
              <a:ea typeface="Calibri"/>
              <a:cs typeface="Calibri"/>
              <a:sym typeface="Calibri"/>
            </a:endParaRPr>
          </a:p>
        </p:txBody>
      </p:sp>
      <p:pic>
        <p:nvPicPr>
          <p:cNvPr descr="/home/claude/work/png-sb/95-appL-refresh-ahead.png" id="2504" name="Google Shape;2504;p22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05" name="Google Shape;2505;p22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background task refreshes hot keys before their TTL expires. Users never see a cold miss on popular items.</a:t>
            </a:r>
            <a:endParaRPr b="0" i="0" sz="1200" u="none" cap="none" strike="noStrike">
              <a:solidFill>
                <a:schemeClr val="dk1"/>
              </a:solidFill>
              <a:latin typeface="Calibri"/>
              <a:ea typeface="Calibri"/>
              <a:cs typeface="Calibri"/>
              <a:sym typeface="Calibri"/>
            </a:endParaRPr>
          </a:p>
        </p:txBody>
      </p:sp>
      <p:sp>
        <p:nvSpPr>
          <p:cNvPr id="2506" name="Google Shape;2506;p2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200</a:t>
            </a:r>
            <a:endParaRPr b="0" i="0" sz="1000" u="none" cap="none" strike="noStrike">
              <a:solidFill>
                <a:schemeClr val="dk1"/>
              </a:solidFill>
              <a:latin typeface="Calibri"/>
              <a:ea typeface="Calibri"/>
              <a:cs typeface="Calibri"/>
              <a:sym typeface="Calibri"/>
            </a:endParaRPr>
          </a:p>
        </p:txBody>
      </p:sp>
      <p:pic>
        <p:nvPicPr>
          <p:cNvPr descr="/home/claude/work/assets/rh-logo.png" id="2507" name="Google Shape;2507;p2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2" name="Shape 2512"/>
        <p:cNvGrpSpPr/>
        <p:nvPr/>
      </p:nvGrpSpPr>
      <p:grpSpPr>
        <a:xfrm>
          <a:off x="0" y="0"/>
          <a:ext cx="0" cy="0"/>
          <a:chOff x="0" y="0"/>
          <a:chExt cx="0" cy="0"/>
        </a:xfrm>
      </p:grpSpPr>
      <p:sp>
        <p:nvSpPr>
          <p:cNvPr id="2513" name="Google Shape;2513;p2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514" name="Google Shape;2514;p2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in Spring Boot</a:t>
            </a:r>
            <a:endParaRPr b="0" i="0" sz="3000" u="none" cap="none" strike="noStrike">
              <a:solidFill>
                <a:schemeClr val="dk1"/>
              </a:solidFill>
              <a:latin typeface="Calibri"/>
              <a:ea typeface="Calibri"/>
              <a:cs typeface="Calibri"/>
              <a:sym typeface="Calibri"/>
            </a:endParaRPr>
          </a:p>
        </p:txBody>
      </p:sp>
      <p:sp>
        <p:nvSpPr>
          <p:cNvPr id="2515" name="Google Shape;2515;p22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29"/>
          <p:cNvSpPr/>
          <p:nvPr/>
        </p:nvSpPr>
        <p:spPr>
          <a:xfrm>
            <a:off x="6422817" y="1700784"/>
            <a:ext cx="51104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@Scheduled + ShedLock + Spring Data Redis</a:t>
            </a:r>
            <a:endParaRPr b="0" i="0" sz="1000" u="none" cap="none" strike="noStrike">
              <a:solidFill>
                <a:schemeClr val="dk1"/>
              </a:solidFill>
              <a:latin typeface="Calibri"/>
              <a:ea typeface="Calibri"/>
              <a:cs typeface="Calibri"/>
              <a:sym typeface="Calibri"/>
            </a:endParaRPr>
          </a:p>
        </p:txBody>
      </p:sp>
      <p:sp>
        <p:nvSpPr>
          <p:cNvPr id="2517" name="Google Shape;2517;p22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ProductService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TTL 60 s, REFRESH_BEFORE_S 10; repo, cache and hot (RedisTemplate) injected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Product findById(String id)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hot.opsForZSet().add("product:hot", id, System.currentTimeMillis());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then cache-aside on product:{id} with TTL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@Scheduled(fixedDelay = 5000)                      // every 5 seconds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@SchedulerLock(name = "refresh-hot")              // ShedLock: only one node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void refreshHot()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long cutoff = System.currentTimeMillis() - 5 * 60_000L;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hot.opsForZSet().removeRangeByScore("product:hot", 0, cutoff);</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Set&lt;String&gt; hotIds = hot.opsForZSet().range("product:hot", 0, -1);</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(hotIds == null) return;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 (String id : hotIds)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String key = "product:" + 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Long ttl = cache.getExpire(key, TimeUnit.SECONDS);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(ttl != null &amp;&amp; ttl &gt; 0 &amp;&amp; ttl &lt; REFRESH_BEFORE_S)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repo.findById(id).ifPresent(p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cache.opsForValue().set(key, p, TTL));   // refresh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518" name="Google Shape;2518;p22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Hot keys live in a Redis sorted set scored by last-access time. Refresh those with low TTL.</a:t>
            </a:r>
            <a:endParaRPr b="0" i="0" sz="1300" u="none" cap="none" strike="noStrike">
              <a:solidFill>
                <a:schemeClr val="dk1"/>
              </a:solidFill>
              <a:latin typeface="Calibri"/>
              <a:ea typeface="Calibri"/>
              <a:cs typeface="Calibri"/>
              <a:sym typeface="Calibri"/>
            </a:endParaRPr>
          </a:p>
        </p:txBody>
      </p:sp>
      <p:sp>
        <p:nvSpPr>
          <p:cNvPr id="2519" name="Google Shape;2519;p2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201</a:t>
            </a:r>
            <a:endParaRPr b="0" i="0" sz="1000" u="none" cap="none" strike="noStrike">
              <a:solidFill>
                <a:schemeClr val="dk1"/>
              </a:solidFill>
              <a:latin typeface="Calibri"/>
              <a:ea typeface="Calibri"/>
              <a:cs typeface="Calibri"/>
              <a:sym typeface="Calibri"/>
            </a:endParaRPr>
          </a:p>
        </p:txBody>
      </p:sp>
      <p:pic>
        <p:nvPicPr>
          <p:cNvPr descr="/home/claude/work/assets/rh-logo.png" id="2520" name="Google Shape;2520;p22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5" name="Shape 2525"/>
        <p:cNvGrpSpPr/>
        <p:nvPr/>
      </p:nvGrpSpPr>
      <p:grpSpPr>
        <a:xfrm>
          <a:off x="0" y="0"/>
          <a:ext cx="0" cy="0"/>
          <a:chOff x="0" y="0"/>
          <a:chExt cx="0" cy="0"/>
        </a:xfrm>
      </p:grpSpPr>
      <p:sp>
        <p:nvSpPr>
          <p:cNvPr id="2526" name="Google Shape;2526;p2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ANTI-PATTERNS</a:t>
            </a:r>
            <a:endParaRPr b="0" i="0" sz="1200" u="none" cap="none" strike="noStrike">
              <a:solidFill>
                <a:schemeClr val="dk1"/>
              </a:solidFill>
              <a:latin typeface="Calibri"/>
              <a:ea typeface="Calibri"/>
              <a:cs typeface="Calibri"/>
              <a:sym typeface="Calibri"/>
            </a:endParaRPr>
          </a:p>
        </p:txBody>
      </p:sp>
      <p:sp>
        <p:nvSpPr>
          <p:cNvPr id="2527" name="Google Shape;2527;p2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not to cache, and what to watch for</a:t>
            </a:r>
            <a:endParaRPr b="0" i="0" sz="3000" u="none" cap="none" strike="noStrike">
              <a:solidFill>
                <a:schemeClr val="dk1"/>
              </a:solidFill>
              <a:latin typeface="Calibri"/>
              <a:ea typeface="Calibri"/>
              <a:cs typeface="Calibri"/>
              <a:sym typeface="Calibri"/>
            </a:endParaRPr>
          </a:p>
        </p:txBody>
      </p:sp>
      <p:sp>
        <p:nvSpPr>
          <p:cNvPr id="2528" name="Google Shape;2528;p23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by default. Caching adds a consistency story, an invalidation story, and a failure-mode story. If reads are already fast, just don't add a cache — the cheapest cache is no cache.</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rarely-read data. Caching write-once-read-never data thrashes your cache and gains nothing. Profile your read patterns first — Micrometer + Spring Actuator's cache metrics give you hit/miss ratios per cache.</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without a TTL. Unbounded caches grow until they evict at random, which gives you the worst type of failure: unpredictable. Always set explicit entryTtl on RedisCacheConfiguration or maxmemory-policy on Redis (allkeys-lru typical).</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Avoid cache stampedes (thundering herd): when a hot key expires and many concurrent Spring Pods all miss at once, they all hit the DB. Mitigate with a Redisson distributed lock per key, or refresh-ahead, or jittered TTLs.</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Watch for cache aside + write-around without invalidation — the write goes to the DB, but a stale cached value can persist for the full TTL. Use @CacheEvict on writes, or short TTL.</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1" i="0" lang="en-US" sz="1600" u="none" cap="none" strike="noStrike">
                <a:solidFill>
                  <a:srgbClr val="151515"/>
                </a:solidFill>
                <a:latin typeface="Red Hat Text"/>
                <a:ea typeface="Red Hat Text"/>
                <a:cs typeface="Red Hat Text"/>
                <a:sym typeface="Red Hat Text"/>
              </a:rPr>
              <a:t>Treat the cache as a performance optimisation, never as the source of truth. A Redis outage must mean slower reads, not data loss — always have a JPA fallback path. Test this by stopping Redis in staging.</a:t>
            </a:r>
            <a:endParaRPr b="0" i="0" sz="1600" u="none" cap="none" strike="noStrike">
              <a:solidFill>
                <a:schemeClr val="dk1"/>
              </a:solidFill>
              <a:latin typeface="Calibri"/>
              <a:ea typeface="Calibri"/>
              <a:cs typeface="Calibri"/>
              <a:sym typeface="Calibri"/>
            </a:endParaRPr>
          </a:p>
        </p:txBody>
      </p:sp>
      <p:sp>
        <p:nvSpPr>
          <p:cNvPr id="2529" name="Google Shape;2529;p2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202</a:t>
            </a:r>
            <a:endParaRPr b="0" i="0" sz="1000" u="none" cap="none" strike="noStrike">
              <a:solidFill>
                <a:schemeClr val="dk1"/>
              </a:solidFill>
              <a:latin typeface="Calibri"/>
              <a:ea typeface="Calibri"/>
              <a:cs typeface="Calibri"/>
              <a:sym typeface="Calibri"/>
            </a:endParaRPr>
          </a:p>
        </p:txBody>
      </p:sp>
      <p:pic>
        <p:nvPicPr>
          <p:cNvPr descr="/home/claude/work/assets/rh-logo.png" id="2530" name="Google Shape;2530;p23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5" name="Shape 2535"/>
        <p:cNvGrpSpPr/>
        <p:nvPr/>
      </p:nvGrpSpPr>
      <p:grpSpPr>
        <a:xfrm>
          <a:off x="0" y="0"/>
          <a:ext cx="0" cy="0"/>
          <a:chOff x="0" y="0"/>
          <a:chExt cx="0" cy="0"/>
        </a:xfrm>
      </p:grpSpPr>
      <p:sp>
        <p:nvSpPr>
          <p:cNvPr id="2536" name="Google Shape;2536;p2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DECISIONS</a:t>
            </a:r>
            <a:endParaRPr b="0" i="0" sz="1200" u="none" cap="none" strike="noStrike">
              <a:solidFill>
                <a:schemeClr val="dk1"/>
              </a:solidFill>
              <a:latin typeface="Calibri"/>
              <a:ea typeface="Calibri"/>
              <a:cs typeface="Calibri"/>
              <a:sym typeface="Calibri"/>
            </a:endParaRPr>
          </a:p>
        </p:txBody>
      </p:sp>
      <p:sp>
        <p:nvSpPr>
          <p:cNvPr id="2537" name="Google Shape;2537;p2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caching pattern</a:t>
            </a:r>
            <a:endParaRPr b="0" i="0" sz="3000" u="none" cap="none" strike="noStrike">
              <a:solidFill>
                <a:schemeClr val="dk1"/>
              </a:solidFill>
              <a:latin typeface="Calibri"/>
              <a:ea typeface="Calibri"/>
              <a:cs typeface="Calibri"/>
              <a:sym typeface="Calibri"/>
            </a:endParaRPr>
          </a:p>
        </p:txBody>
      </p:sp>
      <p:sp>
        <p:nvSpPr>
          <p:cNvPr id="2538" name="Google Shape;2538;p23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Cache-aside — the default. Use when you want explicit control and reads dominate writes.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Read-through (@Cacheable) — use when the read path is repetitive across the codebase and you want declarative caching.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Write-through (@CachePut) — use when zero stale-read risk after a write matters more than write latency.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Write-around — use when writes far outnumber re-reads. Avoids cache pollution by write-once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Write-back — use only when extreme write throughput is the constraint and eventual durability is acceptable.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Refresh-ahead — use when a small set of hot keys serves most traffic and miss latency is unacceptable.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Most production Spring Boot systems use @Cacheable for 95% of cases, with refresh-ahead on identified hot keys and @CachePut where stale-read is forbidden. Mix patterns; don't pick one as the rule.</a:t>
            </a:r>
            <a:endParaRPr b="0" i="0" sz="1700" u="none" cap="none" strike="noStrike">
              <a:solidFill>
                <a:schemeClr val="dk1"/>
              </a:solidFill>
              <a:latin typeface="Calibri"/>
              <a:ea typeface="Calibri"/>
              <a:cs typeface="Calibri"/>
              <a:sym typeface="Calibri"/>
            </a:endParaRPr>
          </a:p>
        </p:txBody>
      </p:sp>
      <p:sp>
        <p:nvSpPr>
          <p:cNvPr id="2539" name="Google Shape;2539;p2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203</a:t>
            </a:r>
            <a:endParaRPr b="0" i="0" sz="1000" u="none" cap="none" strike="noStrike">
              <a:solidFill>
                <a:schemeClr val="dk1"/>
              </a:solidFill>
              <a:latin typeface="Calibri"/>
              <a:ea typeface="Calibri"/>
              <a:cs typeface="Calibri"/>
              <a:sym typeface="Calibri"/>
            </a:endParaRPr>
          </a:p>
        </p:txBody>
      </p:sp>
      <p:pic>
        <p:nvPicPr>
          <p:cNvPr descr="/home/claude/work/assets/rh-logo.png" id="2540" name="Google Shape;2540;p23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545" name="Shape 2545"/>
        <p:cNvGrpSpPr/>
        <p:nvPr/>
      </p:nvGrpSpPr>
      <p:grpSpPr>
        <a:xfrm>
          <a:off x="0" y="0"/>
          <a:ext cx="0" cy="0"/>
          <a:chOff x="0" y="0"/>
          <a:chExt cx="0" cy="0"/>
        </a:xfrm>
      </p:grpSpPr>
      <p:pic>
        <p:nvPicPr>
          <p:cNvPr descr="/home/claude/work/assets/rh-divider-bg.png" id="2546" name="Google Shape;2546;p23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547" name="Google Shape;2547;p23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M</a:t>
            </a:r>
            <a:endParaRPr b="0" i="0" sz="2200" u="none" cap="none" strike="noStrike">
              <a:solidFill>
                <a:schemeClr val="dk1"/>
              </a:solidFill>
              <a:latin typeface="Calibri"/>
              <a:ea typeface="Calibri"/>
              <a:cs typeface="Calibri"/>
              <a:sym typeface="Calibri"/>
            </a:endParaRPr>
          </a:p>
        </p:txBody>
      </p:sp>
      <p:sp>
        <p:nvSpPr>
          <p:cNvPr id="2548" name="Google Shape;2548;p23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M · Failure modes</a:t>
            </a:r>
            <a:endParaRPr b="0" i="0" sz="4000" u="none" cap="none" strike="noStrike">
              <a:solidFill>
                <a:schemeClr val="dk1"/>
              </a:solidFill>
              <a:latin typeface="Calibri"/>
              <a:ea typeface="Calibri"/>
              <a:cs typeface="Calibri"/>
              <a:sym typeface="Calibri"/>
            </a:endParaRPr>
          </a:p>
        </p:txBody>
      </p:sp>
      <p:sp>
        <p:nvSpPr>
          <p:cNvPr id="2549" name="Google Shape;2549;p23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it all breaks — and the patterns that hold.</a:t>
            </a:r>
            <a:endParaRPr b="0" i="0" sz="1500" u="none" cap="none" strike="noStrike">
              <a:solidFill>
                <a:schemeClr val="dk1"/>
              </a:solidFill>
              <a:latin typeface="Calibri"/>
              <a:ea typeface="Calibri"/>
              <a:cs typeface="Calibri"/>
              <a:sym typeface="Calibri"/>
            </a:endParaRPr>
          </a:p>
        </p:txBody>
      </p:sp>
      <p:pic>
        <p:nvPicPr>
          <p:cNvPr descr="/home/claude/work/assets/rh-logo-white.png" id="2550" name="Google Shape;2550;p2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5" name="Shape 2555"/>
        <p:cNvGrpSpPr/>
        <p:nvPr/>
      </p:nvGrpSpPr>
      <p:grpSpPr>
        <a:xfrm>
          <a:off x="0" y="0"/>
          <a:ext cx="0" cy="0"/>
          <a:chOff x="0" y="0"/>
          <a:chExt cx="0" cy="0"/>
        </a:xfrm>
      </p:grpSpPr>
      <p:sp>
        <p:nvSpPr>
          <p:cNvPr id="2556" name="Google Shape;2556;p2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57" name="Google Shape;2557;p2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Distributed systems fail differently</a:t>
            </a:r>
            <a:endParaRPr b="0" i="0" sz="3000" u="none" cap="none" strike="noStrike">
              <a:solidFill>
                <a:schemeClr val="dk1"/>
              </a:solidFill>
              <a:latin typeface="Calibri"/>
              <a:ea typeface="Calibri"/>
              <a:cs typeface="Calibri"/>
              <a:sym typeface="Calibri"/>
            </a:endParaRPr>
          </a:p>
        </p:txBody>
      </p:sp>
      <p:sp>
        <p:nvSpPr>
          <p:cNvPr id="2558" name="Google Shape;2558;p23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single process, an operation succeeds or it throws. Across a network, a call can succeed, fail, hang forever, succeed-but-the-response-is-lost, or succeed-slowly — and you often cannot tell which.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Partial failure is the defining trait: some dependencies are up, some down, some degraded, all at the same time. There is no global 'the system is up'.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Failures are not independent: one slow component can exhaust a caller's resources and take down healthy services around it. Failure spreads.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 failures lie: a node passes its own health check while failing real traffic (gray failure). What the system believes about itself and what users experience diverge.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goal is not zero failures; that is impossible. The goal is to bound the blast radius and recover automatically. All management is risk management.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This appendix: six failure modes, the defensive patterns that address them (with code), Istio's mesh-level role, graceful shutdown, how to observe failures, and a mapping matrix.</a:t>
            </a:r>
            <a:endParaRPr b="0" i="0" sz="1700" u="none" cap="none" strike="noStrike">
              <a:solidFill>
                <a:schemeClr val="dk1"/>
              </a:solidFill>
              <a:latin typeface="Calibri"/>
              <a:ea typeface="Calibri"/>
              <a:cs typeface="Calibri"/>
              <a:sym typeface="Calibri"/>
            </a:endParaRPr>
          </a:p>
        </p:txBody>
      </p:sp>
      <p:sp>
        <p:nvSpPr>
          <p:cNvPr id="2559" name="Google Shape;2559;p2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204</a:t>
            </a:r>
            <a:endParaRPr b="0" i="0" sz="1000" u="none" cap="none" strike="noStrike">
              <a:solidFill>
                <a:schemeClr val="dk1"/>
              </a:solidFill>
              <a:latin typeface="Calibri"/>
              <a:ea typeface="Calibri"/>
              <a:cs typeface="Calibri"/>
              <a:sym typeface="Calibri"/>
            </a:endParaRPr>
          </a:p>
        </p:txBody>
      </p:sp>
      <p:pic>
        <p:nvPicPr>
          <p:cNvPr descr="/home/claude/work/assets/rh-logo.png" id="2560" name="Google Shape;2560;p23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5" name="Shape 2565"/>
        <p:cNvGrpSpPr/>
        <p:nvPr/>
      </p:nvGrpSpPr>
      <p:grpSpPr>
        <a:xfrm>
          <a:off x="0" y="0"/>
          <a:ext cx="0" cy="0"/>
          <a:chOff x="0" y="0"/>
          <a:chExt cx="0" cy="0"/>
        </a:xfrm>
      </p:grpSpPr>
      <p:sp>
        <p:nvSpPr>
          <p:cNvPr id="2566" name="Google Shape;2566;p2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67" name="Google Shape;2567;p2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taxonomy of failure modes</a:t>
            </a:r>
            <a:endParaRPr b="0" i="0" sz="3000" u="none" cap="none" strike="noStrike">
              <a:solidFill>
                <a:schemeClr val="dk1"/>
              </a:solidFill>
              <a:latin typeface="Calibri"/>
              <a:ea typeface="Calibri"/>
              <a:cs typeface="Calibri"/>
              <a:sym typeface="Calibri"/>
            </a:endParaRPr>
          </a:p>
        </p:txBody>
      </p:sp>
      <p:pic>
        <p:nvPicPr>
          <p:cNvPr descr="/home/claude/work/png-sb/110-failure-taxonomy.png" id="2568" name="Google Shape;2568;p234"/>
          <p:cNvPicPr preferRelativeResize="0"/>
          <p:nvPr/>
        </p:nvPicPr>
        <p:blipFill rotWithShape="1">
          <a:blip r:embed="rId5">
            <a:alphaModFix/>
          </a:blip>
          <a:stretch/>
        </p:blipFill>
        <p:spPr>
          <a:xfrm>
            <a:off x="1643484" y="1923381"/>
            <a:ext cx="8904730" cy="3879918"/>
          </a:xfrm>
          <a:prstGeom prst="rect">
            <a:avLst/>
          </a:prstGeom>
          <a:noFill/>
          <a:ln>
            <a:noFill/>
          </a:ln>
        </p:spPr>
      </p:pic>
      <p:sp>
        <p:nvSpPr>
          <p:cNvPr id="2569" name="Google Shape;2569;p2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Network failures, component failures, load failures — and the defensive toolkit that addresses them.</a:t>
            </a:r>
            <a:endParaRPr b="0" i="0" sz="1200" u="none" cap="none" strike="noStrike">
              <a:solidFill>
                <a:schemeClr val="dk1"/>
              </a:solidFill>
              <a:latin typeface="Calibri"/>
              <a:ea typeface="Calibri"/>
              <a:cs typeface="Calibri"/>
              <a:sym typeface="Calibri"/>
            </a:endParaRPr>
          </a:p>
        </p:txBody>
      </p:sp>
      <p:sp>
        <p:nvSpPr>
          <p:cNvPr id="2570" name="Google Shape;2570;p2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205</a:t>
            </a:r>
            <a:endParaRPr b="0" i="0" sz="1000" u="none" cap="none" strike="noStrike">
              <a:solidFill>
                <a:schemeClr val="dk1"/>
              </a:solidFill>
              <a:latin typeface="Calibri"/>
              <a:ea typeface="Calibri"/>
              <a:cs typeface="Calibri"/>
              <a:sym typeface="Calibri"/>
            </a:endParaRPr>
          </a:p>
        </p:txBody>
      </p:sp>
      <p:pic>
        <p:nvPicPr>
          <p:cNvPr descr="/home/claude/work/assets/rh-logo.png" id="2571" name="Google Shape;2571;p2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6" name="Shape 2576"/>
        <p:cNvGrpSpPr/>
        <p:nvPr/>
      </p:nvGrpSpPr>
      <p:grpSpPr>
        <a:xfrm>
          <a:off x="0" y="0"/>
          <a:ext cx="0" cy="0"/>
          <a:chOff x="0" y="0"/>
          <a:chExt cx="0" cy="0"/>
        </a:xfrm>
      </p:grpSpPr>
      <p:sp>
        <p:nvSpPr>
          <p:cNvPr id="2577" name="Google Shape;2577;p2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78" name="Google Shape;2578;p2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Network partition</a:t>
            </a:r>
            <a:endParaRPr b="0" i="0" sz="3000" u="none" cap="none" strike="noStrike">
              <a:solidFill>
                <a:schemeClr val="dk1"/>
              </a:solidFill>
              <a:latin typeface="Calibri"/>
              <a:ea typeface="Calibri"/>
              <a:cs typeface="Calibri"/>
              <a:sym typeface="Calibri"/>
            </a:endParaRPr>
          </a:p>
        </p:txBody>
      </p:sp>
      <p:pic>
        <p:nvPicPr>
          <p:cNvPr descr="/home/claude/work/png-sb/111-failure-network-partition.png" id="2579" name="Google Shape;2579;p23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80" name="Google Shape;2580;p2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Nodes are alive and healthy; they cannot reach each other. CAP forces a choice: consistency or availability.</a:t>
            </a:r>
            <a:endParaRPr b="0" i="0" sz="1200" u="none" cap="none" strike="noStrike">
              <a:solidFill>
                <a:schemeClr val="dk1"/>
              </a:solidFill>
              <a:latin typeface="Calibri"/>
              <a:ea typeface="Calibri"/>
              <a:cs typeface="Calibri"/>
              <a:sym typeface="Calibri"/>
            </a:endParaRPr>
          </a:p>
        </p:txBody>
      </p:sp>
      <p:sp>
        <p:nvSpPr>
          <p:cNvPr id="2581" name="Google Shape;2581;p2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206</a:t>
            </a:r>
            <a:endParaRPr b="0" i="0" sz="1000" u="none" cap="none" strike="noStrike">
              <a:solidFill>
                <a:schemeClr val="dk1"/>
              </a:solidFill>
              <a:latin typeface="Calibri"/>
              <a:ea typeface="Calibri"/>
              <a:cs typeface="Calibri"/>
              <a:sym typeface="Calibri"/>
            </a:endParaRPr>
          </a:p>
        </p:txBody>
      </p:sp>
      <p:pic>
        <p:nvPicPr>
          <p:cNvPr descr="/home/claude/work/assets/rh-logo.png" id="2582" name="Google Shape;2582;p2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7" name="Shape 2587"/>
        <p:cNvGrpSpPr/>
        <p:nvPr/>
      </p:nvGrpSpPr>
      <p:grpSpPr>
        <a:xfrm>
          <a:off x="0" y="0"/>
          <a:ext cx="0" cy="0"/>
          <a:chOff x="0" y="0"/>
          <a:chExt cx="0" cy="0"/>
        </a:xfrm>
      </p:grpSpPr>
      <p:sp>
        <p:nvSpPr>
          <p:cNvPr id="2588" name="Google Shape;2588;p2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89" name="Google Shape;2589;p2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Split-brain</a:t>
            </a:r>
            <a:endParaRPr b="0" i="0" sz="3000" u="none" cap="none" strike="noStrike">
              <a:solidFill>
                <a:schemeClr val="dk1"/>
              </a:solidFill>
              <a:latin typeface="Calibri"/>
              <a:ea typeface="Calibri"/>
              <a:cs typeface="Calibri"/>
              <a:sym typeface="Calibri"/>
            </a:endParaRPr>
          </a:p>
        </p:txBody>
      </p:sp>
      <p:pic>
        <p:nvPicPr>
          <p:cNvPr descr="/home/claude/work/png-sb/112-failure-split-brain.png" id="2590" name="Google Shape;2590;p23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91" name="Google Shape;2591;p23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partition where both sides think they are the leader and both accept writes. State diverges; the worst partition outcome.</a:t>
            </a:r>
            <a:endParaRPr b="0" i="0" sz="1200" u="none" cap="none" strike="noStrike">
              <a:solidFill>
                <a:schemeClr val="dk1"/>
              </a:solidFill>
              <a:latin typeface="Calibri"/>
              <a:ea typeface="Calibri"/>
              <a:cs typeface="Calibri"/>
              <a:sym typeface="Calibri"/>
            </a:endParaRPr>
          </a:p>
        </p:txBody>
      </p:sp>
      <p:sp>
        <p:nvSpPr>
          <p:cNvPr id="2592" name="Google Shape;2592;p2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207</a:t>
            </a:r>
            <a:endParaRPr b="0" i="0" sz="1000" u="none" cap="none" strike="noStrike">
              <a:solidFill>
                <a:schemeClr val="dk1"/>
              </a:solidFill>
              <a:latin typeface="Calibri"/>
              <a:ea typeface="Calibri"/>
              <a:cs typeface="Calibri"/>
              <a:sym typeface="Calibri"/>
            </a:endParaRPr>
          </a:p>
        </p:txBody>
      </p:sp>
      <p:pic>
        <p:nvPicPr>
          <p:cNvPr descr="/home/claude/work/assets/rh-logo.png" id="2593" name="Google Shape;2593;p2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8" name="Shape 2598"/>
        <p:cNvGrpSpPr/>
        <p:nvPr/>
      </p:nvGrpSpPr>
      <p:grpSpPr>
        <a:xfrm>
          <a:off x="0" y="0"/>
          <a:ext cx="0" cy="0"/>
          <a:chOff x="0" y="0"/>
          <a:chExt cx="0" cy="0"/>
        </a:xfrm>
      </p:grpSpPr>
      <p:sp>
        <p:nvSpPr>
          <p:cNvPr id="2599" name="Google Shape;2599;p2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600" name="Google Shape;2600;p2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Partial failure</a:t>
            </a:r>
            <a:endParaRPr b="0" i="0" sz="3000" u="none" cap="none" strike="noStrike">
              <a:solidFill>
                <a:schemeClr val="dk1"/>
              </a:solidFill>
              <a:latin typeface="Calibri"/>
              <a:ea typeface="Calibri"/>
              <a:cs typeface="Calibri"/>
              <a:sym typeface="Calibri"/>
            </a:endParaRPr>
          </a:p>
        </p:txBody>
      </p:sp>
      <p:pic>
        <p:nvPicPr>
          <p:cNvPr descr="/home/claude/work/png-sb/113-failure-partial.png" id="2601" name="Google Shape;2601;p23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02" name="Google Shape;2602;p2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defining trait of distributed systems: some dependencies fail while others keep working. Handle each leg.</a:t>
            </a:r>
            <a:endParaRPr b="0" i="0" sz="1200" u="none" cap="none" strike="noStrike">
              <a:solidFill>
                <a:schemeClr val="dk1"/>
              </a:solidFill>
              <a:latin typeface="Calibri"/>
              <a:ea typeface="Calibri"/>
              <a:cs typeface="Calibri"/>
              <a:sym typeface="Calibri"/>
            </a:endParaRPr>
          </a:p>
        </p:txBody>
      </p:sp>
      <p:sp>
        <p:nvSpPr>
          <p:cNvPr id="2603" name="Google Shape;2603;p2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208</a:t>
            </a:r>
            <a:endParaRPr b="0" i="0" sz="1000" u="none" cap="none" strike="noStrike">
              <a:solidFill>
                <a:schemeClr val="dk1"/>
              </a:solidFill>
              <a:latin typeface="Calibri"/>
              <a:ea typeface="Calibri"/>
              <a:cs typeface="Calibri"/>
              <a:sym typeface="Calibri"/>
            </a:endParaRPr>
          </a:p>
        </p:txBody>
      </p:sp>
      <p:pic>
        <p:nvPicPr>
          <p:cNvPr descr="/home/claude/work/assets/rh-logo.png" id="2604" name="Google Shape;2604;p2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9" name="Shape 2609"/>
        <p:cNvGrpSpPr/>
        <p:nvPr/>
      </p:nvGrpSpPr>
      <p:grpSpPr>
        <a:xfrm>
          <a:off x="0" y="0"/>
          <a:ext cx="0" cy="0"/>
          <a:chOff x="0" y="0"/>
          <a:chExt cx="0" cy="0"/>
        </a:xfrm>
      </p:grpSpPr>
      <p:sp>
        <p:nvSpPr>
          <p:cNvPr id="2610" name="Google Shape;2610;p2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611" name="Google Shape;2611;p2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Gray failure</a:t>
            </a:r>
            <a:endParaRPr b="0" i="0" sz="3000" u="none" cap="none" strike="noStrike">
              <a:solidFill>
                <a:schemeClr val="dk1"/>
              </a:solidFill>
              <a:latin typeface="Calibri"/>
              <a:ea typeface="Calibri"/>
              <a:cs typeface="Calibri"/>
              <a:sym typeface="Calibri"/>
            </a:endParaRPr>
          </a:p>
        </p:txBody>
      </p:sp>
      <p:pic>
        <p:nvPicPr>
          <p:cNvPr descr="/home/claude/work/png-sb/114-failure-gray.png" id="2612" name="Google Shape;2612;p238"/>
          <p:cNvPicPr preferRelativeResize="0"/>
          <p:nvPr/>
        </p:nvPicPr>
        <p:blipFill rotWithShape="1">
          <a:blip r:embed="rId5">
            <a:alphaModFix/>
          </a:blip>
          <a:stretch/>
        </p:blipFill>
        <p:spPr>
          <a:xfrm>
            <a:off x="1327421" y="2347662"/>
            <a:ext cx="9536855" cy="3031357"/>
          </a:xfrm>
          <a:prstGeom prst="rect">
            <a:avLst/>
          </a:prstGeom>
          <a:noFill/>
          <a:ln>
            <a:noFill/>
          </a:ln>
        </p:spPr>
      </p:pic>
      <p:sp>
        <p:nvSpPr>
          <p:cNvPr id="2613" name="Google Shape;2613;p23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insidious one: a component is degraded and is perceived differently by different observers. Liveness is green; users suffer.</a:t>
            </a:r>
            <a:endParaRPr b="0" i="0" sz="1200" u="none" cap="none" strike="noStrike">
              <a:solidFill>
                <a:schemeClr val="dk1"/>
              </a:solidFill>
              <a:latin typeface="Calibri"/>
              <a:ea typeface="Calibri"/>
              <a:cs typeface="Calibri"/>
              <a:sym typeface="Calibri"/>
            </a:endParaRPr>
          </a:p>
        </p:txBody>
      </p:sp>
      <p:sp>
        <p:nvSpPr>
          <p:cNvPr id="2614" name="Google Shape;2614;p2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209</a:t>
            </a:r>
            <a:endParaRPr b="0" i="0" sz="1000" u="none" cap="none" strike="noStrike">
              <a:solidFill>
                <a:schemeClr val="dk1"/>
              </a:solidFill>
              <a:latin typeface="Calibri"/>
              <a:ea typeface="Calibri"/>
              <a:cs typeface="Calibri"/>
              <a:sym typeface="Calibri"/>
            </a:endParaRPr>
          </a:p>
        </p:txBody>
      </p:sp>
      <p:pic>
        <p:nvPicPr>
          <p:cNvPr descr="/home/claude/work/assets/rh-logo.png" id="2615" name="Google Shape;2615;p2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0" name="Shape 2620"/>
        <p:cNvGrpSpPr/>
        <p:nvPr/>
      </p:nvGrpSpPr>
      <p:grpSpPr>
        <a:xfrm>
          <a:off x="0" y="0"/>
          <a:ext cx="0" cy="0"/>
          <a:chOff x="0" y="0"/>
          <a:chExt cx="0" cy="0"/>
        </a:xfrm>
      </p:grpSpPr>
      <p:sp>
        <p:nvSpPr>
          <p:cNvPr id="2621" name="Google Shape;2621;p2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622" name="Google Shape;2622;p2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Amplification loops &amp; retry storms</a:t>
            </a:r>
            <a:endParaRPr b="0" i="0" sz="3000" u="none" cap="none" strike="noStrike">
              <a:solidFill>
                <a:schemeClr val="dk1"/>
              </a:solidFill>
              <a:latin typeface="Calibri"/>
              <a:ea typeface="Calibri"/>
              <a:cs typeface="Calibri"/>
              <a:sym typeface="Calibri"/>
            </a:endParaRPr>
          </a:p>
        </p:txBody>
      </p:sp>
      <p:pic>
        <p:nvPicPr>
          <p:cNvPr descr="/home/claude/work/png-sb/115-failure-amplification.png" id="2623" name="Google Shape;2623;p23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624" name="Google Shape;2624;p2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failure triggers retries, which add load, which cause more failures. Backoff, jitter and retry budgets break the loop.</a:t>
            </a:r>
            <a:endParaRPr b="0" i="0" sz="1200" u="none" cap="none" strike="noStrike">
              <a:solidFill>
                <a:schemeClr val="dk1"/>
              </a:solidFill>
              <a:latin typeface="Calibri"/>
              <a:ea typeface="Calibri"/>
              <a:cs typeface="Calibri"/>
              <a:sym typeface="Calibri"/>
            </a:endParaRPr>
          </a:p>
        </p:txBody>
      </p:sp>
      <p:sp>
        <p:nvSpPr>
          <p:cNvPr id="2625" name="Google Shape;2625;p2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210</a:t>
            </a:r>
            <a:endParaRPr b="0" i="0" sz="1000" u="none" cap="none" strike="noStrike">
              <a:solidFill>
                <a:schemeClr val="dk1"/>
              </a:solidFill>
              <a:latin typeface="Calibri"/>
              <a:ea typeface="Calibri"/>
              <a:cs typeface="Calibri"/>
              <a:sym typeface="Calibri"/>
            </a:endParaRPr>
          </a:p>
        </p:txBody>
      </p:sp>
      <p:pic>
        <p:nvPicPr>
          <p:cNvPr descr="/home/claude/work/assets/rh-logo.png" id="2626" name="Google Shape;2626;p2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1" name="Shape 2631"/>
        <p:cNvGrpSpPr/>
        <p:nvPr/>
      </p:nvGrpSpPr>
      <p:grpSpPr>
        <a:xfrm>
          <a:off x="0" y="0"/>
          <a:ext cx="0" cy="0"/>
          <a:chOff x="0" y="0"/>
          <a:chExt cx="0" cy="0"/>
        </a:xfrm>
      </p:grpSpPr>
      <p:sp>
        <p:nvSpPr>
          <p:cNvPr id="2632" name="Google Shape;2632;p2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633" name="Google Shape;2633;p2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Cascading failure</a:t>
            </a:r>
            <a:endParaRPr b="0" i="0" sz="3000" u="none" cap="none" strike="noStrike">
              <a:solidFill>
                <a:schemeClr val="dk1"/>
              </a:solidFill>
              <a:latin typeface="Calibri"/>
              <a:ea typeface="Calibri"/>
              <a:cs typeface="Calibri"/>
              <a:sym typeface="Calibri"/>
            </a:endParaRPr>
          </a:p>
        </p:txBody>
      </p:sp>
      <p:pic>
        <p:nvPicPr>
          <p:cNvPr descr="/home/claude/work/png-sb/116-failure-cascading.png" id="2634" name="Google Shape;2634;p24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35" name="Google Shape;2635;p24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component's failure overloads its neighbours, which fail in turn — the domino effect up the call graph.</a:t>
            </a:r>
            <a:endParaRPr b="0" i="0" sz="1200" u="none" cap="none" strike="noStrike">
              <a:solidFill>
                <a:schemeClr val="dk1"/>
              </a:solidFill>
              <a:latin typeface="Calibri"/>
              <a:ea typeface="Calibri"/>
              <a:cs typeface="Calibri"/>
              <a:sym typeface="Calibri"/>
            </a:endParaRPr>
          </a:p>
        </p:txBody>
      </p:sp>
      <p:sp>
        <p:nvSpPr>
          <p:cNvPr id="2636" name="Google Shape;2636;p2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211</a:t>
            </a:r>
            <a:endParaRPr b="0" i="0" sz="1000" u="none" cap="none" strike="noStrike">
              <a:solidFill>
                <a:schemeClr val="dk1"/>
              </a:solidFill>
              <a:latin typeface="Calibri"/>
              <a:ea typeface="Calibri"/>
              <a:cs typeface="Calibri"/>
              <a:sym typeface="Calibri"/>
            </a:endParaRPr>
          </a:p>
        </p:txBody>
      </p:sp>
      <p:pic>
        <p:nvPicPr>
          <p:cNvPr descr="/home/claude/work/assets/rh-logo.png" id="2637" name="Google Shape;2637;p24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2" name="Shape 2642"/>
        <p:cNvGrpSpPr/>
        <p:nvPr/>
      </p:nvGrpSpPr>
      <p:grpSpPr>
        <a:xfrm>
          <a:off x="0" y="0"/>
          <a:ext cx="0" cy="0"/>
          <a:chOff x="0" y="0"/>
          <a:chExt cx="0" cy="0"/>
        </a:xfrm>
      </p:grpSpPr>
      <p:sp>
        <p:nvSpPr>
          <p:cNvPr id="2643" name="Google Shape;2643;p2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644" name="Google Shape;2644;p2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defensive toolkit — patterns and what they buy</a:t>
            </a:r>
            <a:endParaRPr b="0" i="0" sz="3000" u="none" cap="none" strike="noStrike">
              <a:solidFill>
                <a:schemeClr val="dk1"/>
              </a:solidFill>
              <a:latin typeface="Calibri"/>
              <a:ea typeface="Calibri"/>
              <a:cs typeface="Calibri"/>
              <a:sym typeface="Calibri"/>
            </a:endParaRPr>
          </a:p>
        </p:txBody>
      </p:sp>
      <p:sp>
        <p:nvSpPr>
          <p:cNvPr id="2645" name="Google Shape;2645;p24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Timeout + deadline propagation — never wait forever; pass the remaining budget downstream so nobody does doomed work.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with backoff + jitter — ride out transient failures without building a storm; only for idempotent calls; use a retry budget. Defends: partial, amplification (if done right).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Circuit breaker — stop calling a failing dependency; fail fast; test for recovery. Defends: cascading, amplification,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Bulkhead (§12) — isolate resources by tenant/call/priority so one failure can't starve the rest.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overloaded, reject excess early (503) rather than collapsing. Defends: amplification,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 consensus — majority-required action; the only real answer to split-brain. Defends: partition, split-brain.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Fallback / graceful degradation — return a useful degraded response (cache, default, queue-for-later) instead of an error. Defends: partial,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Istio mesh policies + graceful shutdown + observability: the platform layer underneath all of these patterns. Each is covered with code; the final matrix maps patterns to modes.</a:t>
            </a:r>
            <a:endParaRPr b="0" i="0" sz="1400" u="none" cap="none" strike="noStrike">
              <a:solidFill>
                <a:schemeClr val="dk1"/>
              </a:solidFill>
              <a:latin typeface="Calibri"/>
              <a:ea typeface="Calibri"/>
              <a:cs typeface="Calibri"/>
              <a:sym typeface="Calibri"/>
            </a:endParaRPr>
          </a:p>
        </p:txBody>
      </p:sp>
      <p:sp>
        <p:nvSpPr>
          <p:cNvPr id="2646" name="Google Shape;2646;p2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212</a:t>
            </a:r>
            <a:endParaRPr b="0" i="0" sz="1000" u="none" cap="none" strike="noStrike">
              <a:solidFill>
                <a:schemeClr val="dk1"/>
              </a:solidFill>
              <a:latin typeface="Calibri"/>
              <a:ea typeface="Calibri"/>
              <a:cs typeface="Calibri"/>
              <a:sym typeface="Calibri"/>
            </a:endParaRPr>
          </a:p>
        </p:txBody>
      </p:sp>
      <p:pic>
        <p:nvPicPr>
          <p:cNvPr descr="/home/claude/work/assets/rh-logo.png" id="2647" name="Google Shape;2647;p24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2" name="Shape 2652"/>
        <p:cNvGrpSpPr/>
        <p:nvPr/>
      </p:nvGrpSpPr>
      <p:grpSpPr>
        <a:xfrm>
          <a:off x="0" y="0"/>
          <a:ext cx="0" cy="0"/>
          <a:chOff x="0" y="0"/>
          <a:chExt cx="0" cy="0"/>
        </a:xfrm>
      </p:grpSpPr>
      <p:sp>
        <p:nvSpPr>
          <p:cNvPr id="2653" name="Google Shape;2653;p2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54" name="Google Shape;2654;p2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 propagation</a:t>
            </a:r>
            <a:endParaRPr b="0" i="0" sz="3000" u="none" cap="none" strike="noStrike">
              <a:solidFill>
                <a:schemeClr val="dk1"/>
              </a:solidFill>
              <a:latin typeface="Calibri"/>
              <a:ea typeface="Calibri"/>
              <a:cs typeface="Calibri"/>
              <a:sym typeface="Calibri"/>
            </a:endParaRPr>
          </a:p>
        </p:txBody>
      </p:sp>
      <p:pic>
        <p:nvPicPr>
          <p:cNvPr descr="/home/claude/work/png-sb/119-failure-timeout-deadline.png" id="2655" name="Google Shape;2655;p242"/>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2656" name="Google Shape;2656;p2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remote call needs a timeout; the remaining budget should travel downstream so nobody does doomed work.</a:t>
            </a:r>
            <a:endParaRPr b="0" i="0" sz="1200" u="none" cap="none" strike="noStrike">
              <a:solidFill>
                <a:schemeClr val="dk1"/>
              </a:solidFill>
              <a:latin typeface="Calibri"/>
              <a:ea typeface="Calibri"/>
              <a:cs typeface="Calibri"/>
              <a:sym typeface="Calibri"/>
            </a:endParaRPr>
          </a:p>
        </p:txBody>
      </p:sp>
      <p:sp>
        <p:nvSpPr>
          <p:cNvPr id="2657" name="Google Shape;2657;p2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213</a:t>
            </a:r>
            <a:endParaRPr b="0" i="0" sz="1000" u="none" cap="none" strike="noStrike">
              <a:solidFill>
                <a:schemeClr val="dk1"/>
              </a:solidFill>
              <a:latin typeface="Calibri"/>
              <a:ea typeface="Calibri"/>
              <a:cs typeface="Calibri"/>
              <a:sym typeface="Calibri"/>
            </a:endParaRPr>
          </a:p>
        </p:txBody>
      </p:sp>
      <p:pic>
        <p:nvPicPr>
          <p:cNvPr descr="/home/claude/work/assets/rh-logo.png" id="2658" name="Google Shape;2658;p2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3" name="Shape 2663"/>
        <p:cNvGrpSpPr/>
        <p:nvPr/>
      </p:nvGrpSpPr>
      <p:grpSpPr>
        <a:xfrm>
          <a:off x="0" y="0"/>
          <a:ext cx="0" cy="0"/>
          <a:chOff x="0" y="0"/>
          <a:chExt cx="0" cy="0"/>
        </a:xfrm>
      </p:grpSpPr>
      <p:sp>
        <p:nvSpPr>
          <p:cNvPr id="2664" name="Google Shape;2664;p2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65" name="Google Shape;2665;p2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deadlines</a:t>
            </a:r>
            <a:endParaRPr b="0" i="0" sz="3000" u="none" cap="none" strike="noStrike">
              <a:solidFill>
                <a:schemeClr val="dk1"/>
              </a:solidFill>
              <a:latin typeface="Calibri"/>
              <a:ea typeface="Calibri"/>
              <a:cs typeface="Calibri"/>
              <a:sym typeface="Calibri"/>
            </a:endParaRPr>
          </a:p>
        </p:txBody>
      </p:sp>
      <p:sp>
        <p:nvSpPr>
          <p:cNvPr id="2666" name="Google Shape;2666;p243"/>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43"/>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RestClient</a:t>
            </a:r>
            <a:endParaRPr b="0" i="0" sz="1000" u="none" cap="none" strike="noStrike">
              <a:solidFill>
                <a:schemeClr val="dk1"/>
              </a:solidFill>
              <a:latin typeface="Calibri"/>
              <a:ea typeface="Calibri"/>
              <a:cs typeface="Calibri"/>
              <a:sym typeface="Calibri"/>
            </a:endParaRPr>
          </a:p>
        </p:txBody>
      </p:sp>
      <p:sp>
        <p:nvSpPr>
          <p:cNvPr id="2668" name="Google Shape;2668;p243"/>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examples/26-failure-modes/spring-boot/edge-service (condensed excerpts)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BackendClient: every call through the shared RestClient gives up after 2 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var factory = new SimpleClientHttpRequestFactory();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factory.setConnectTimeout(Duration.ofSeconds(2));</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factory.setReadTimeout(Duration.ofSeconds(2));</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this.rest = builder.baseUrl(backendUrl).requestFactory(factory).build();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EdgeController /with-deadline: pass on what is left of the caller's budget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int remaining = budgetMs - 50;                   // edge overhead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if (remaining &lt; 50) {                            // too little to finish: fail now</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result.put("reason", "insufficient budget at edge");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result;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var budgeted = new SimpleClientHttpRequestFactory();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budgeted.setReadTimeout(Duration.ofMillis(remaining));</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var response = RestClient.builder().requestFactory(budgeted).build().get()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.uri(backendUrl + "/process")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.header("X-Deadline-Ms", String.valueOf(remaining))   // propagate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.retrieve()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.toEntity(Map.class);</a:t>
            </a:r>
            <a:endParaRPr b="0" i="0" sz="950" u="none" cap="none" strike="noStrike">
              <a:solidFill>
                <a:schemeClr val="dk1"/>
              </a:solidFill>
              <a:latin typeface="Calibri"/>
              <a:ea typeface="Calibri"/>
              <a:cs typeface="Calibri"/>
              <a:sym typeface="Calibri"/>
            </a:endParaRPr>
          </a:p>
        </p:txBody>
      </p:sp>
      <p:sp>
        <p:nvSpPr>
          <p:cNvPr id="2669" name="Google Shape;2669;p2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214</a:t>
            </a:r>
            <a:endParaRPr b="0" i="0" sz="1000" u="none" cap="none" strike="noStrike">
              <a:solidFill>
                <a:schemeClr val="dk1"/>
              </a:solidFill>
              <a:latin typeface="Calibri"/>
              <a:ea typeface="Calibri"/>
              <a:cs typeface="Calibri"/>
              <a:sym typeface="Calibri"/>
            </a:endParaRPr>
          </a:p>
        </p:txBody>
      </p:sp>
      <p:pic>
        <p:nvPicPr>
          <p:cNvPr descr="/home/claude/work/assets/rh-logo.png" id="2670" name="Google Shape;2670;p24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5" name="Shape 2675"/>
        <p:cNvGrpSpPr/>
        <p:nvPr/>
      </p:nvGrpSpPr>
      <p:grpSpPr>
        <a:xfrm>
          <a:off x="0" y="0"/>
          <a:ext cx="0" cy="0"/>
          <a:chOff x="0" y="0"/>
          <a:chExt cx="0" cy="0"/>
        </a:xfrm>
      </p:grpSpPr>
      <p:sp>
        <p:nvSpPr>
          <p:cNvPr id="2676" name="Google Shape;2676;p2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77" name="Google Shape;2677;p2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exponential backoff + jitter</a:t>
            </a:r>
            <a:endParaRPr b="0" i="0" sz="3000" u="none" cap="none" strike="noStrike">
              <a:solidFill>
                <a:schemeClr val="dk1"/>
              </a:solidFill>
              <a:latin typeface="Calibri"/>
              <a:ea typeface="Calibri"/>
              <a:cs typeface="Calibri"/>
              <a:sym typeface="Calibri"/>
            </a:endParaRPr>
          </a:p>
        </p:txBody>
      </p:sp>
      <p:pic>
        <p:nvPicPr>
          <p:cNvPr descr="/home/claude/work/png-sb/118-failure-retry-backoff.png" id="2678" name="Google Shape;2678;p24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79" name="Google Shape;2679;p2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Retry transient failures — but spread retries with exponential backoff + jitter, cap them, and only for idempotent calls.</a:t>
            </a:r>
            <a:endParaRPr b="0" i="0" sz="1200" u="none" cap="none" strike="noStrike">
              <a:solidFill>
                <a:schemeClr val="dk1"/>
              </a:solidFill>
              <a:latin typeface="Calibri"/>
              <a:ea typeface="Calibri"/>
              <a:cs typeface="Calibri"/>
              <a:sym typeface="Calibri"/>
            </a:endParaRPr>
          </a:p>
        </p:txBody>
      </p:sp>
      <p:sp>
        <p:nvSpPr>
          <p:cNvPr id="2680" name="Google Shape;2680;p2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215</a:t>
            </a:r>
            <a:endParaRPr b="0" i="0" sz="1000" u="none" cap="none" strike="noStrike">
              <a:solidFill>
                <a:schemeClr val="dk1"/>
              </a:solidFill>
              <a:latin typeface="Calibri"/>
              <a:ea typeface="Calibri"/>
              <a:cs typeface="Calibri"/>
              <a:sym typeface="Calibri"/>
            </a:endParaRPr>
          </a:p>
        </p:txBody>
      </p:sp>
      <p:pic>
        <p:nvPicPr>
          <p:cNvPr descr="/home/claude/work/assets/rh-logo.png" id="2681" name="Google Shape;2681;p2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6" name="Shape 2686"/>
        <p:cNvGrpSpPr/>
        <p:nvPr/>
      </p:nvGrpSpPr>
      <p:grpSpPr>
        <a:xfrm>
          <a:off x="0" y="0"/>
          <a:ext cx="0" cy="0"/>
          <a:chOff x="0" y="0"/>
          <a:chExt cx="0" cy="0"/>
        </a:xfrm>
      </p:grpSpPr>
      <p:sp>
        <p:nvSpPr>
          <p:cNvPr id="2687" name="Google Shape;2687;p2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88" name="Google Shape;2688;p2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backoff + jitter</a:t>
            </a:r>
            <a:endParaRPr b="0" i="0" sz="3000" u="none" cap="none" strike="noStrike">
              <a:solidFill>
                <a:schemeClr val="dk1"/>
              </a:solidFill>
              <a:latin typeface="Calibri"/>
              <a:ea typeface="Calibri"/>
              <a:cs typeface="Calibri"/>
              <a:sym typeface="Calibri"/>
            </a:endParaRPr>
          </a:p>
        </p:txBody>
      </p:sp>
      <p:sp>
        <p:nvSpPr>
          <p:cNvPr id="2689" name="Google Shape;2689;p245"/>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45"/>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Resilience4j</a:t>
            </a:r>
            <a:endParaRPr b="0" i="0" sz="1000" u="none" cap="none" strike="noStrike">
              <a:solidFill>
                <a:schemeClr val="dk1"/>
              </a:solidFill>
              <a:latin typeface="Calibri"/>
              <a:ea typeface="Calibri"/>
              <a:cs typeface="Calibri"/>
              <a:sym typeface="Calibri"/>
            </a:endParaRPr>
          </a:p>
        </p:txBody>
      </p:sp>
      <p:sp>
        <p:nvSpPr>
          <p:cNvPr id="2691" name="Google Shape;2691;p245"/>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examples/26-failure-modes/spring-boot/edge-service (condensed excerpts)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BackendClient: the annotation needs a Spring proxy, so it sits on this bean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@Retry(name = "backend")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ResponseEntity&lt;Map&gt; processWithRetry(AtomicInteger attempts)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attempts.incrementAndGet();                  // reported by /with-retry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process();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application.properties: the policy lives in configuration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resilience4j.retry.instances.backend.max-attempts=3</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resilience4j.retry.instances.backend.wait-duration=100ms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resilience4j.retry.instances.backend.enable-exponential-backoff=true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resilience4j.retry.instances.backend.exponential-backoff-multiplier=2</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resilience4j.retry.instances.backend.exponential-max-wait-duration=2s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resilience4j.retry.instances.backend.enable-randomized-wait=true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resilience4j.retry.instances.backend.randomized-wait-factor=0.5</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resilience4j.retry.instances.backend.retry-exceptions=\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org.springframework.web.client.HttpServerErrorException,\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org.springframework.web.client.ResourceAccessException</a:t>
            </a:r>
            <a:endParaRPr b="0" i="0" sz="1000" u="none" cap="none" strike="noStrike">
              <a:solidFill>
                <a:schemeClr val="dk1"/>
              </a:solidFill>
              <a:latin typeface="Calibri"/>
              <a:ea typeface="Calibri"/>
              <a:cs typeface="Calibri"/>
              <a:sym typeface="Calibri"/>
            </a:endParaRPr>
          </a:p>
        </p:txBody>
      </p:sp>
      <p:sp>
        <p:nvSpPr>
          <p:cNvPr id="2692" name="Google Shape;2692;p2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216</a:t>
            </a:r>
            <a:endParaRPr b="0" i="0" sz="1000" u="none" cap="none" strike="noStrike">
              <a:solidFill>
                <a:schemeClr val="dk1"/>
              </a:solidFill>
              <a:latin typeface="Calibri"/>
              <a:ea typeface="Calibri"/>
              <a:cs typeface="Calibri"/>
              <a:sym typeface="Calibri"/>
            </a:endParaRPr>
          </a:p>
        </p:txBody>
      </p:sp>
      <p:pic>
        <p:nvPicPr>
          <p:cNvPr descr="/home/claude/work/assets/rh-logo.png" id="2693" name="Google Shape;2693;p24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8" name="Shape 2698"/>
        <p:cNvGrpSpPr/>
        <p:nvPr/>
      </p:nvGrpSpPr>
      <p:grpSpPr>
        <a:xfrm>
          <a:off x="0" y="0"/>
          <a:ext cx="0" cy="0"/>
          <a:chOff x="0" y="0"/>
          <a:chExt cx="0" cy="0"/>
        </a:xfrm>
      </p:grpSpPr>
      <p:sp>
        <p:nvSpPr>
          <p:cNvPr id="2699" name="Google Shape;2699;p2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700" name="Google Shape;2700;p2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the state machine</a:t>
            </a:r>
            <a:endParaRPr b="0" i="0" sz="3000" u="none" cap="none" strike="noStrike">
              <a:solidFill>
                <a:schemeClr val="dk1"/>
              </a:solidFill>
              <a:latin typeface="Calibri"/>
              <a:ea typeface="Calibri"/>
              <a:cs typeface="Calibri"/>
              <a:sym typeface="Calibri"/>
            </a:endParaRPr>
          </a:p>
        </p:txBody>
      </p:sp>
      <p:pic>
        <p:nvPicPr>
          <p:cNvPr descr="/home/claude/work/png-sb/117-failure-circuit-breaker.png" id="2701" name="Google Shape;2701;p24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702" name="Google Shape;2702;p2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Closed → Open (fail fast) → Half-Open (test) → Closed. Stops doomed calls; gives the dependency room to recover.</a:t>
            </a:r>
            <a:endParaRPr b="0" i="0" sz="1200" u="none" cap="none" strike="noStrike">
              <a:solidFill>
                <a:schemeClr val="dk1"/>
              </a:solidFill>
              <a:latin typeface="Calibri"/>
              <a:ea typeface="Calibri"/>
              <a:cs typeface="Calibri"/>
              <a:sym typeface="Calibri"/>
            </a:endParaRPr>
          </a:p>
        </p:txBody>
      </p:sp>
      <p:sp>
        <p:nvSpPr>
          <p:cNvPr id="2703" name="Google Shape;2703;p2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217</a:t>
            </a:r>
            <a:endParaRPr b="0" i="0" sz="1000" u="none" cap="none" strike="noStrike">
              <a:solidFill>
                <a:schemeClr val="dk1"/>
              </a:solidFill>
              <a:latin typeface="Calibri"/>
              <a:ea typeface="Calibri"/>
              <a:cs typeface="Calibri"/>
              <a:sym typeface="Calibri"/>
            </a:endParaRPr>
          </a:p>
        </p:txBody>
      </p:sp>
      <p:pic>
        <p:nvPicPr>
          <p:cNvPr descr="/home/claude/work/assets/rh-logo.png" id="2704" name="Google Shape;2704;p2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9" name="Shape 2709"/>
        <p:cNvGrpSpPr/>
        <p:nvPr/>
      </p:nvGrpSpPr>
      <p:grpSpPr>
        <a:xfrm>
          <a:off x="0" y="0"/>
          <a:ext cx="0" cy="0"/>
          <a:chOff x="0" y="0"/>
          <a:chExt cx="0" cy="0"/>
        </a:xfrm>
      </p:grpSpPr>
      <p:sp>
        <p:nvSpPr>
          <p:cNvPr id="2710" name="Google Shape;2710;p2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711" name="Google Shape;2711;p2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fallback</a:t>
            </a:r>
            <a:endParaRPr b="0" i="0" sz="3000" u="none" cap="none" strike="noStrike">
              <a:solidFill>
                <a:schemeClr val="dk1"/>
              </a:solidFill>
              <a:latin typeface="Calibri"/>
              <a:ea typeface="Calibri"/>
              <a:cs typeface="Calibri"/>
              <a:sym typeface="Calibri"/>
            </a:endParaRPr>
          </a:p>
        </p:txBody>
      </p:sp>
      <p:sp>
        <p:nvSpPr>
          <p:cNvPr id="2712" name="Google Shape;2712;p24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47"/>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 + Resilience4j</a:t>
            </a:r>
            <a:endParaRPr b="0" i="0" sz="1000" u="none" cap="none" strike="noStrike">
              <a:solidFill>
                <a:schemeClr val="dk1"/>
              </a:solidFill>
              <a:latin typeface="Calibri"/>
              <a:ea typeface="Calibri"/>
              <a:cs typeface="Calibri"/>
              <a:sym typeface="Calibri"/>
            </a:endParaRPr>
          </a:p>
        </p:txBody>
      </p:sp>
      <p:sp>
        <p:nvSpPr>
          <p:cNvPr id="2714" name="Google Shape;2714;p24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examples/26-failure-modes/spring-boot/edge-service (condensed excerpts)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@CircuitBreaker(name = "backend", fallbackMethod = "fallback")</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public Map&lt;String, Object&gt; processWithBreaker()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Map.of("source", "live", "body", process().getBody(),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"breaker", breakerState());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private Map&lt;String, Object&gt; fallback(Throwable cause) {   // open breaker or failed call</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String reason = switch (cause)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case CallNotPermittedException ignored -&gt; "circuit_open";</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case HttpServerErrorException e -&gt; "upstream_" + e.getStatusCode().value();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default -&gt; "upstream_unreachable";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Map.of("source", "fallback", "reason", reason, "breaker", breakerState());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application.properties: 5 of 5 calls failed -&gt; open for 10 s, then 2 trial calls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resilience4j.circuitbreaker.instances.backend.sliding-window-type=COUNT_BASED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resilience4j.circuitbreaker.instances.backend.sliding-window-size=5</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resilience4j.circuitbreaker.instances.backend.failure-rate-threshold=100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resilience4j.circuitbreaker.instances.backend.wait-duration-in-open-state=10s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...permitted-number-of-calls-in-half-open-state=2</a:t>
            </a:r>
            <a:endParaRPr b="0" i="0" sz="950" u="none" cap="none" strike="noStrike">
              <a:solidFill>
                <a:schemeClr val="dk1"/>
              </a:solidFill>
              <a:latin typeface="Calibri"/>
              <a:ea typeface="Calibri"/>
              <a:cs typeface="Calibri"/>
              <a:sym typeface="Calibri"/>
            </a:endParaRPr>
          </a:p>
        </p:txBody>
      </p:sp>
      <p:sp>
        <p:nvSpPr>
          <p:cNvPr id="2715" name="Google Shape;2715;p2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218</a:t>
            </a:r>
            <a:endParaRPr b="0" i="0" sz="1000" u="none" cap="none" strike="noStrike">
              <a:solidFill>
                <a:schemeClr val="dk1"/>
              </a:solidFill>
              <a:latin typeface="Calibri"/>
              <a:ea typeface="Calibri"/>
              <a:cs typeface="Calibri"/>
              <a:sym typeface="Calibri"/>
            </a:endParaRPr>
          </a:p>
        </p:txBody>
      </p:sp>
      <p:pic>
        <p:nvPicPr>
          <p:cNvPr descr="/home/claude/work/assets/rh-logo.png" id="2716" name="Google Shape;2716;p2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1" name="Shape 2721"/>
        <p:cNvGrpSpPr/>
        <p:nvPr/>
      </p:nvGrpSpPr>
      <p:grpSpPr>
        <a:xfrm>
          <a:off x="0" y="0"/>
          <a:ext cx="0" cy="0"/>
          <a:chOff x="0" y="0"/>
          <a:chExt cx="0" cy="0"/>
        </a:xfrm>
      </p:grpSpPr>
      <p:sp>
        <p:nvSpPr>
          <p:cNvPr id="2722" name="Google Shape;2722;p2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BULKHEAD</a:t>
            </a:r>
            <a:endParaRPr b="0" i="0" sz="1200" u="none" cap="none" strike="noStrike">
              <a:solidFill>
                <a:schemeClr val="dk1"/>
              </a:solidFill>
              <a:latin typeface="Calibri"/>
              <a:ea typeface="Calibri"/>
              <a:cs typeface="Calibri"/>
              <a:sym typeface="Calibri"/>
            </a:endParaRPr>
          </a:p>
        </p:txBody>
      </p:sp>
      <p:sp>
        <p:nvSpPr>
          <p:cNvPr id="2723" name="Google Shape;2723;p2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so one failure can't sink the rest</a:t>
            </a:r>
            <a:endParaRPr b="0" i="0" sz="3000" u="none" cap="none" strike="noStrike">
              <a:solidFill>
                <a:schemeClr val="dk1"/>
              </a:solidFill>
              <a:latin typeface="Calibri"/>
              <a:ea typeface="Calibri"/>
              <a:cs typeface="Calibri"/>
              <a:sym typeface="Calibri"/>
            </a:endParaRPr>
          </a:p>
        </p:txBody>
      </p:sp>
      <p:sp>
        <p:nvSpPr>
          <p:cNvPr id="2724" name="Google Shape;2724;p24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Covered in depth in section 12 (Security) as a blast-radius pattern; it is equally a resilience pattern, so it appears here in the failure-mode context.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Isolate resources (connection pools, thread pools, async semaphores, queues) by tenant, by call type, or by priority. A storm in one pool exhausts only that pool.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cascading failure: if database calls have their own bounded pool, a slow database exhausts that pool and returns errors for DB-backed calls — but the service's other endpoints keep serving from their own pools.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partial failure: a single misbehaving tenant or dependency is contained to its own compartment instead of consuming the shared resource.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Implementation (from §12): Resilience4j Bulkhead (semaphore or thread-pool flavour, via BulkheadRegistry), paired with @TimeLimiter. At the mesh: Istio DestinationRule connectionPool gives the same isolation at the network layer.</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Pair with timeouts: a bulkhead bounds how many calls run concurrently, but without a timeout those calls can still block forever and keep the bulkhead full. The two patterns need each other.</a:t>
            </a:r>
            <a:endParaRPr b="0" i="0" sz="1400" u="none" cap="none" strike="noStrike">
              <a:solidFill>
                <a:schemeClr val="dk1"/>
              </a:solidFill>
              <a:latin typeface="Calibri"/>
              <a:ea typeface="Calibri"/>
              <a:cs typeface="Calibri"/>
              <a:sym typeface="Calibri"/>
            </a:endParaRPr>
          </a:p>
        </p:txBody>
      </p:sp>
      <p:sp>
        <p:nvSpPr>
          <p:cNvPr id="2725" name="Google Shape;2725;p2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219</a:t>
            </a:r>
            <a:endParaRPr b="0" i="0" sz="1000" u="none" cap="none" strike="noStrike">
              <a:solidFill>
                <a:schemeClr val="dk1"/>
              </a:solidFill>
              <a:latin typeface="Calibri"/>
              <a:ea typeface="Calibri"/>
              <a:cs typeface="Calibri"/>
              <a:sym typeface="Calibri"/>
            </a:endParaRPr>
          </a:p>
        </p:txBody>
      </p:sp>
      <p:pic>
        <p:nvPicPr>
          <p:cNvPr descr="/home/claude/work/assets/rh-logo.png" id="2726" name="Google Shape;2726;p2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1" name="Shape 2731"/>
        <p:cNvGrpSpPr/>
        <p:nvPr/>
      </p:nvGrpSpPr>
      <p:grpSpPr>
        <a:xfrm>
          <a:off x="0" y="0"/>
          <a:ext cx="0" cy="0"/>
          <a:chOff x="0" y="0"/>
          <a:chExt cx="0" cy="0"/>
        </a:xfrm>
      </p:grpSpPr>
      <p:sp>
        <p:nvSpPr>
          <p:cNvPr id="2732" name="Google Shape;2732;p2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SHEDDING &amp; FALLBACK</a:t>
            </a:r>
            <a:endParaRPr b="0" i="0" sz="1200" u="none" cap="none" strike="noStrike">
              <a:solidFill>
                <a:schemeClr val="dk1"/>
              </a:solidFill>
              <a:latin typeface="Calibri"/>
              <a:ea typeface="Calibri"/>
              <a:cs typeface="Calibri"/>
              <a:sym typeface="Calibri"/>
            </a:endParaRPr>
          </a:p>
        </p:txBody>
      </p:sp>
      <p:sp>
        <p:nvSpPr>
          <p:cNvPr id="2733" name="Google Shape;2733;p2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Load shedding and graceful degradation</a:t>
            </a:r>
            <a:endParaRPr b="0" i="0" sz="3000" u="none" cap="none" strike="noStrike">
              <a:solidFill>
                <a:schemeClr val="dk1"/>
              </a:solidFill>
              <a:latin typeface="Calibri"/>
              <a:ea typeface="Calibri"/>
              <a:cs typeface="Calibri"/>
              <a:sym typeface="Calibri"/>
            </a:endParaRPr>
          </a:p>
        </p:txBody>
      </p:sp>
      <p:sp>
        <p:nvSpPr>
          <p:cNvPr id="2734" name="Google Shape;2734;p24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you are over capacity, reject excess work immediately (HTTP 503 + Retry-After) at the edge, before it consumes resources. A system that sheds 20% of load stays up for the other 80%; a system that accepts everything collapses for 100%.</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Shed by priority: drop health-check-style or low-value traffic first, protect revenue-critical paths. Adaptive concurrency limits (e.g. Netflix's, or Envoy's) shed automatically based on observed latency.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Graceful degradation — when a dependency is unavailable, return a useful reduced response instead of an error: serve stale cache, omit the personalised section, queue the write for later, show a default recommendation.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Degradation turns a hard failure into a soft one the user may barely notice. A product page that can't reach the reviews service should still show the product — just without reviews.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Both are the application-level complement to the circuit breaker: the breaker decides to stop calling; the fallback decides what to return instead; load shedding decides what not to accept in the first place.</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 §11: you cannot shed or degrade intelligently without observability — you shed based on measured saturation, and you alert when degradation rates climb.</a:t>
            </a:r>
            <a:endParaRPr b="0" i="0" sz="1400" u="none" cap="none" strike="noStrike">
              <a:solidFill>
                <a:schemeClr val="dk1"/>
              </a:solidFill>
              <a:latin typeface="Calibri"/>
              <a:ea typeface="Calibri"/>
              <a:cs typeface="Calibri"/>
              <a:sym typeface="Calibri"/>
            </a:endParaRPr>
          </a:p>
        </p:txBody>
      </p:sp>
      <p:sp>
        <p:nvSpPr>
          <p:cNvPr id="2735" name="Google Shape;2735;p2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220</a:t>
            </a:r>
            <a:endParaRPr b="0" i="0" sz="1000" u="none" cap="none" strike="noStrike">
              <a:solidFill>
                <a:schemeClr val="dk1"/>
              </a:solidFill>
              <a:latin typeface="Calibri"/>
              <a:ea typeface="Calibri"/>
              <a:cs typeface="Calibri"/>
              <a:sym typeface="Calibri"/>
            </a:endParaRPr>
          </a:p>
        </p:txBody>
      </p:sp>
      <p:pic>
        <p:nvPicPr>
          <p:cNvPr descr="/home/claude/work/assets/rh-logo.png" id="2736" name="Google Shape;2736;p24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1" name="Shape 2741"/>
        <p:cNvGrpSpPr/>
        <p:nvPr/>
      </p:nvGrpSpPr>
      <p:grpSpPr>
        <a:xfrm>
          <a:off x="0" y="0"/>
          <a:ext cx="0" cy="0"/>
          <a:chOff x="0" y="0"/>
          <a:chExt cx="0" cy="0"/>
        </a:xfrm>
      </p:grpSpPr>
      <p:sp>
        <p:nvSpPr>
          <p:cNvPr id="2742" name="Google Shape;2742;p2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ISTIO</a:t>
            </a:r>
            <a:endParaRPr b="0" i="0" sz="1200" u="none" cap="none" strike="noStrike">
              <a:solidFill>
                <a:schemeClr val="dk1"/>
              </a:solidFill>
              <a:latin typeface="Calibri"/>
              <a:ea typeface="Calibri"/>
              <a:cs typeface="Calibri"/>
              <a:sym typeface="Calibri"/>
            </a:endParaRPr>
          </a:p>
        </p:txBody>
      </p:sp>
      <p:sp>
        <p:nvSpPr>
          <p:cNvPr id="2743" name="Google Shape;2743;p2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 resilience at the mesh layer</a:t>
            </a:r>
            <a:endParaRPr b="0" i="0" sz="3000" u="none" cap="none" strike="noStrike">
              <a:solidFill>
                <a:schemeClr val="dk1"/>
              </a:solidFill>
              <a:latin typeface="Calibri"/>
              <a:ea typeface="Calibri"/>
              <a:cs typeface="Calibri"/>
              <a:sym typeface="Calibri"/>
            </a:endParaRPr>
          </a:p>
        </p:txBody>
      </p:sp>
      <p:pic>
        <p:nvPicPr>
          <p:cNvPr descr="/home/claude/work/png-sb/120-failure-istio-resilience.png" id="2744" name="Google Shape;2744;p25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745" name="Google Shape;2745;p25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Timeouts, retries, outlier detection (gray-failure ejection) and circuit breaking — uniform, config-driven, no app code.</a:t>
            </a:r>
            <a:endParaRPr b="0" i="0" sz="1200" u="none" cap="none" strike="noStrike">
              <a:solidFill>
                <a:schemeClr val="dk1"/>
              </a:solidFill>
              <a:latin typeface="Calibri"/>
              <a:ea typeface="Calibri"/>
              <a:cs typeface="Calibri"/>
              <a:sym typeface="Calibri"/>
            </a:endParaRPr>
          </a:p>
        </p:txBody>
      </p:sp>
      <p:sp>
        <p:nvSpPr>
          <p:cNvPr id="2746" name="Google Shape;2746;p2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221</a:t>
            </a:r>
            <a:endParaRPr b="0" i="0" sz="1000" u="none" cap="none" strike="noStrike">
              <a:solidFill>
                <a:schemeClr val="dk1"/>
              </a:solidFill>
              <a:latin typeface="Calibri"/>
              <a:ea typeface="Calibri"/>
              <a:cs typeface="Calibri"/>
              <a:sym typeface="Calibri"/>
            </a:endParaRPr>
          </a:p>
        </p:txBody>
      </p:sp>
      <p:pic>
        <p:nvPicPr>
          <p:cNvPr descr="/home/claude/work/assets/rh-logo.png" id="2747" name="Google Shape;2747;p25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2" name="Shape 2752"/>
        <p:cNvGrpSpPr/>
        <p:nvPr/>
      </p:nvGrpSpPr>
      <p:grpSpPr>
        <a:xfrm>
          <a:off x="0" y="0"/>
          <a:ext cx="0" cy="0"/>
          <a:chOff x="0" y="0"/>
          <a:chExt cx="0" cy="0"/>
        </a:xfrm>
      </p:grpSpPr>
      <p:sp>
        <p:nvSpPr>
          <p:cNvPr id="2753" name="Google Shape;2753;p2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SHUTDOWN</a:t>
            </a:r>
            <a:endParaRPr b="0" i="0" sz="1200" u="none" cap="none" strike="noStrike">
              <a:solidFill>
                <a:schemeClr val="dk1"/>
              </a:solidFill>
              <a:latin typeface="Calibri"/>
              <a:ea typeface="Calibri"/>
              <a:cs typeface="Calibri"/>
              <a:sym typeface="Calibri"/>
            </a:endParaRPr>
          </a:p>
        </p:txBody>
      </p:sp>
      <p:sp>
        <p:nvSpPr>
          <p:cNvPr id="2754" name="Google Shape;2754;p2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(see App. H)</a:t>
            </a:r>
            <a:endParaRPr b="0" i="0" sz="3000" u="none" cap="none" strike="noStrike">
              <a:solidFill>
                <a:schemeClr val="dk1"/>
              </a:solidFill>
              <a:latin typeface="Calibri"/>
              <a:ea typeface="Calibri"/>
              <a:cs typeface="Calibri"/>
              <a:sym typeface="Calibri"/>
            </a:endParaRPr>
          </a:p>
        </p:txBody>
      </p:sp>
      <p:sp>
        <p:nvSpPr>
          <p:cNvPr id="2755" name="Google Shape;2755;p25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51"/>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java · Spring Boot 4</a:t>
            </a:r>
            <a:endParaRPr b="0" i="0" sz="1000" u="none" cap="none" strike="noStrike">
              <a:solidFill>
                <a:schemeClr val="dk1"/>
              </a:solidFill>
              <a:latin typeface="Calibri"/>
              <a:ea typeface="Calibri"/>
              <a:cs typeface="Calibri"/>
              <a:sym typeface="Calibri"/>
            </a:endParaRPr>
          </a:p>
        </p:txBody>
      </p:sp>
      <p:sp>
        <p:nvSpPr>
          <p:cNvPr id="2757" name="Google Shape;2757;p25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DrainLifecycle.java (excerpt), examples/21-graceful-shutdown/spring-boot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application.properties: server.shutdown=graceful, timeout-per-shutdown-phase=20s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@Component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class DrainLifecycle implements SmartLifecycle {      // stops before the web server</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public void stop()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if (!state.markShuttingDown()) return;        // 1. readiness flips: /readyz is 503</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AvailabilityChangeEvent.publish(events, this, ReadinessState.REFUSING_TRAFFIC);</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Thread.sleep(drainDelayMillis);               // 2. the LB stops routing (5 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                      // 3. graceful shutdown drains in-flight HTTP (20 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public int getPhase() { return DEFAULT_PHASE - 512; }  // 4. the context closes the pool</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@Component("drain")                                  // part of the readiness group</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class DrainHealthIndicator implements HealthIndicator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public Health health()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state.isShuttingDown()</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 Health.down().withDetail("reason", "shutting down").build()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 Health.up().build();                    // /healthz (liveness) stays 200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758" name="Google Shape;2758;p2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222</a:t>
            </a:r>
            <a:endParaRPr b="0" i="0" sz="1000" u="none" cap="none" strike="noStrike">
              <a:solidFill>
                <a:schemeClr val="dk1"/>
              </a:solidFill>
              <a:latin typeface="Calibri"/>
              <a:ea typeface="Calibri"/>
              <a:cs typeface="Calibri"/>
              <a:sym typeface="Calibri"/>
            </a:endParaRPr>
          </a:p>
        </p:txBody>
      </p:sp>
      <p:pic>
        <p:nvPicPr>
          <p:cNvPr descr="/home/claude/work/assets/rh-logo.png" id="2759" name="Google Shape;2759;p25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4" name="Shape 2764"/>
        <p:cNvGrpSpPr/>
        <p:nvPr/>
      </p:nvGrpSpPr>
      <p:grpSpPr>
        <a:xfrm>
          <a:off x="0" y="0"/>
          <a:ext cx="0" cy="0"/>
          <a:chOff x="0" y="0"/>
          <a:chExt cx="0" cy="0"/>
        </a:xfrm>
      </p:grpSpPr>
      <p:sp>
        <p:nvSpPr>
          <p:cNvPr id="2765" name="Google Shape;2765;p2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OBSERVE</a:t>
            </a:r>
            <a:endParaRPr b="0" i="0" sz="1200" u="none" cap="none" strike="noStrike">
              <a:solidFill>
                <a:schemeClr val="dk1"/>
              </a:solidFill>
              <a:latin typeface="Calibri"/>
              <a:ea typeface="Calibri"/>
              <a:cs typeface="Calibri"/>
              <a:sym typeface="Calibri"/>
            </a:endParaRPr>
          </a:p>
        </p:txBody>
      </p:sp>
      <p:sp>
        <p:nvSpPr>
          <p:cNvPr id="2766" name="Google Shape;2766;p2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Observing failure modes (see §11)</a:t>
            </a:r>
            <a:endParaRPr b="0" i="0" sz="3000" u="none" cap="none" strike="noStrike">
              <a:solidFill>
                <a:schemeClr val="dk1"/>
              </a:solidFill>
              <a:latin typeface="Calibri"/>
              <a:ea typeface="Calibri"/>
              <a:cs typeface="Calibri"/>
              <a:sym typeface="Calibri"/>
            </a:endParaRPr>
          </a:p>
        </p:txBody>
      </p:sp>
      <p:sp>
        <p:nvSpPr>
          <p:cNvPr id="2767" name="Google Shape;2767;p25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Network partition — watch peer-connectivity and cross-zone error metrics; alert on quorum-loss events from etcd / your datastore.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Split-brain — alert on more-than-one-leader conditions, divergent-replica metrics, and fencing-token rejections in logs.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Partial failure — RED metrics per dependency (rate, errors, duration), not just per service. A spike in errors to one downstream is the early signal.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Gray failure — the hard one: compare health-check status against real-traffic SLOs. Latency percentiles (p99) diverging from the average, and Istio outlier-ejection counts, are your tells.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Amplification — watch request-rate against user-action-rate (if requests &gt;&gt; actions, retries are multiplying), retry-count metrics, and goodput falling while load rises.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Cascading — a distributed trace shows the error spreading service-to-service; saturation metrics (thread pools, queue depth, connection pools) climb together across services.</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The unifying tool is the trace_id from §11: when an alert fires, pivot from the metric to an exemplar trace to its logs to find which leg failed first and how it spread.</a:t>
            </a:r>
            <a:endParaRPr b="0" i="0" sz="1400" u="none" cap="none" strike="noStrike">
              <a:solidFill>
                <a:schemeClr val="dk1"/>
              </a:solidFill>
              <a:latin typeface="Calibri"/>
              <a:ea typeface="Calibri"/>
              <a:cs typeface="Calibri"/>
              <a:sym typeface="Calibri"/>
            </a:endParaRPr>
          </a:p>
        </p:txBody>
      </p:sp>
      <p:sp>
        <p:nvSpPr>
          <p:cNvPr id="2768" name="Google Shape;2768;p2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223</a:t>
            </a:r>
            <a:endParaRPr b="0" i="0" sz="1000" u="none" cap="none" strike="noStrike">
              <a:solidFill>
                <a:schemeClr val="dk1"/>
              </a:solidFill>
              <a:latin typeface="Calibri"/>
              <a:ea typeface="Calibri"/>
              <a:cs typeface="Calibri"/>
              <a:sym typeface="Calibri"/>
            </a:endParaRPr>
          </a:p>
        </p:txBody>
      </p:sp>
      <p:pic>
        <p:nvPicPr>
          <p:cNvPr descr="/home/claude/work/assets/rh-logo.png" id="2769" name="Google Shape;2769;p2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4" name="Shape 2774"/>
        <p:cNvGrpSpPr/>
        <p:nvPr/>
      </p:nvGrpSpPr>
      <p:grpSpPr>
        <a:xfrm>
          <a:off x="0" y="0"/>
          <a:ext cx="0" cy="0"/>
          <a:chOff x="0" y="0"/>
          <a:chExt cx="0" cy="0"/>
        </a:xfrm>
      </p:grpSpPr>
      <p:sp>
        <p:nvSpPr>
          <p:cNvPr id="2775" name="Google Shape;2775;p2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76" name="Google Shape;2776;p2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Which pattern addresses which failure mode</a:t>
            </a:r>
            <a:endParaRPr b="0" i="0" sz="3000" u="none" cap="none" strike="noStrike">
              <a:solidFill>
                <a:schemeClr val="dk1"/>
              </a:solidFill>
              <a:latin typeface="Calibri"/>
              <a:ea typeface="Calibri"/>
              <a:cs typeface="Calibri"/>
              <a:sym typeface="Calibri"/>
            </a:endParaRPr>
          </a:p>
        </p:txBody>
      </p:sp>
      <p:pic>
        <p:nvPicPr>
          <p:cNvPr descr="/home/claude/work/png-sb/121-failure-matrix.png" id="2777" name="Google Shape;2777;p25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778" name="Google Shape;2778;p2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Read a row to defend a failure mode; read a column to see what a pattern buys you. Production layers several.</a:t>
            </a:r>
            <a:endParaRPr b="0" i="0" sz="1200" u="none" cap="none" strike="noStrike">
              <a:solidFill>
                <a:schemeClr val="dk1"/>
              </a:solidFill>
              <a:latin typeface="Calibri"/>
              <a:ea typeface="Calibri"/>
              <a:cs typeface="Calibri"/>
              <a:sym typeface="Calibri"/>
            </a:endParaRPr>
          </a:p>
        </p:txBody>
      </p:sp>
      <p:sp>
        <p:nvSpPr>
          <p:cNvPr id="2779" name="Google Shape;2779;p2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224</a:t>
            </a:r>
            <a:endParaRPr b="0" i="0" sz="1000" u="none" cap="none" strike="noStrike">
              <a:solidFill>
                <a:schemeClr val="dk1"/>
              </a:solidFill>
              <a:latin typeface="Calibri"/>
              <a:ea typeface="Calibri"/>
              <a:cs typeface="Calibri"/>
              <a:sym typeface="Calibri"/>
            </a:endParaRPr>
          </a:p>
        </p:txBody>
      </p:sp>
      <p:pic>
        <p:nvPicPr>
          <p:cNvPr descr="/home/claude/work/assets/rh-logo.png" id="2780" name="Google Shape;2780;p2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5" name="Shape 2785"/>
        <p:cNvGrpSpPr/>
        <p:nvPr/>
      </p:nvGrpSpPr>
      <p:grpSpPr>
        <a:xfrm>
          <a:off x="0" y="0"/>
          <a:ext cx="0" cy="0"/>
          <a:chOff x="0" y="0"/>
          <a:chExt cx="0" cy="0"/>
        </a:xfrm>
      </p:grpSpPr>
      <p:sp>
        <p:nvSpPr>
          <p:cNvPr id="2786" name="Google Shape;2786;p2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87" name="Google Shape;2787;p2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2788" name="Google Shape;2788;p2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 for partial failure from the start: every remote call can succeed, fail, hang, or lie. Timeout everything; the default is often infinite.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only idempotent calls, with backoff + jitter + a budget, at one layer, always paired with a circuit breaker. Naive retries cause the outages they were meant to prevent.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Bound the blast radius: bulkheads isolate, circuit breakers stop the bleeding, load shedding protects capacity, fallbacks keep the user served.</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is the only cure for split-brain. Let etcd / Raft / your datastore handle consensus; don't invent your own.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Push uniform concerns (timeouts, outlier detection, mesh bulkheads) to Istio; keep business-aware concerns (fallbacks, idempotency) in the app. Don't double-retry.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Observe from the client's vantage point (RED per dependency, SLOs, outlier ejections) — gray failures are invisible to naive health checks. Drain on shutdown (App. H).</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References: Google SRE Book (chapters on Addressing Cascading Failures, Handling Overload); 'Release It!' (Nygard — circuit breaker, bulkhead origin); the gRPC retry design, gRFC A6 (retry policy, backoff with jitter, retry throttling); Istio traffic-management docs; the metastable-failures research (Bronson et al., 2021).</a:t>
            </a:r>
            <a:endParaRPr b="0" i="0" sz="1400" u="none" cap="none" strike="noStrike">
              <a:solidFill>
                <a:schemeClr val="dk1"/>
              </a:solidFill>
              <a:latin typeface="Calibri"/>
              <a:ea typeface="Calibri"/>
              <a:cs typeface="Calibri"/>
              <a:sym typeface="Calibri"/>
            </a:endParaRPr>
          </a:p>
        </p:txBody>
      </p:sp>
      <p:sp>
        <p:nvSpPr>
          <p:cNvPr id="2789" name="Google Shape;2789;p2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225</a:t>
            </a:r>
            <a:endParaRPr b="0" i="0" sz="1000" u="none" cap="none" strike="noStrike">
              <a:solidFill>
                <a:schemeClr val="dk1"/>
              </a:solidFill>
              <a:latin typeface="Calibri"/>
              <a:ea typeface="Calibri"/>
              <a:cs typeface="Calibri"/>
              <a:sym typeface="Calibri"/>
            </a:endParaRPr>
          </a:p>
        </p:txBody>
      </p:sp>
      <p:pic>
        <p:nvPicPr>
          <p:cNvPr descr="/home/claude/work/assets/rh-logo.png" id="2790" name="Google Shape;2790;p2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N</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Feature Flags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Progressive delivery, decoupled from deploy — OpenFeature + flagd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is not release</a:t>
            </a:r>
            <a:endParaRPr lang="en-US" sz="3000" dirty="0"/>
          </a:p>
        </p:txBody>
      </p:sp>
      <p:pic>
        <p:nvPicPr>
          <p:cNvPr id="6" name="Image 1" descr="./png/apxn-deploy-releas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artifact ships dark; releasing is a runtime flag flip — and so is rollback</a:t>
            </a:r>
            <a:endParaRPr lang="en-US" sz="13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kinds of flag</a:t>
            </a:r>
            <a:endParaRPr lang="en-US" sz="3000" dirty="0"/>
          </a:p>
        </p:txBody>
      </p:sp>
      <p:pic>
        <p:nvPicPr>
          <p:cNvPr id="6" name="Image 1" descr="./png/apxn-flag-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by lifetime and owner — each wants different defaults and lifecycle</a:t>
            </a:r>
            <a:endParaRPr lang="en-US" sz="13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 OpenFeature + flagd</a:t>
            </a:r>
            <a:endParaRPr lang="en-US" sz="3000" dirty="0"/>
          </a:p>
        </p:txBody>
      </p:sp>
      <p:pic>
        <p:nvPicPr>
          <p:cNvPr id="6" name="Image 1" descr="./png/apxn-eval-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local evaluation, vendor-neutral SDK, fail-safe to the default</a:t>
            </a:r>
            <a:endParaRPr lang="en-US" sz="13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Spring Boot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configure the OpenFeature provider once, at startup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FeatureFlags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@Bean Client flags()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api = OpenFeatureAPI.getInstance();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api.setProviderAndWait(new FlagdProvider(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FlagdOptions.builder().host("flagd").port(8013).build()));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api.getClient();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@PostMapping("/checkout")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Receipt checkout(@RequestBody Cart cart, @RequestHeader("X-User") String user)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ctx = new MutableContext(user)            // targeting 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.add("plan", cart.plan()).add("region", cart.region());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useNew = flags.getBooleanValue("new-checkout", false, ctx);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useNew ? newCheckout(cart) : legacyCheckout(cart);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one line of code serves an on/off, a per-plan entitlement, or a 25% rollout.</a:t>
            </a:r>
            <a:endParaRPr lang="en-US" sz="13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Targeting and rollout live in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"$schema": "https://flagd.dev/schema/v0/flags.json",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"flags":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"new-checkout":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"state": "ENABLED",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"variants": { "on": true, "off": false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"defaultVariant": "off",</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"targeting":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 [ {"var": "plan"}, "enterprise" ] }, "on",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"fractional": [ {"var":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["on", 25], ["off", 75]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Enterprise plans always on (entitlement); everyone else split 25/75 (sticky rollout) — no code change.</a:t>
            </a:r>
            <a:endParaRPr lang="en-US" sz="13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Percentage rollout via sticky bucketing</a:t>
            </a:r>
            <a:endParaRPr lang="en-US" sz="3000" dirty="0"/>
          </a:p>
        </p:txBody>
      </p:sp>
      <p:pic>
        <p:nvPicPr>
          <p:cNvPr id="6" name="Image 1" descr="./png/apxn-roll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consistent per-user assignment; instant ramp and rollback</a:t>
            </a:r>
            <a:endParaRPr lang="en-US" sz="13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kill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Spring Boot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ops kill-switch - default true (fail open): on until an operator kills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Recommendations recommend(String user)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(!flags.getBooleanValue("recommendations-enabled", true, ctx(user)))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Recommendations.empty();        // degrade - still serve the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recsClient.fetch(user);           // pairs with a circuit breaker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Default true = fail open: only an operator flipping the flag disables it. The default flips with the flag type.</a:t>
            </a:r>
            <a:endParaRPr lang="en-US" sz="13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Flags over the patterns you already have</a:t>
            </a:r>
            <a:endParaRPr lang="en-US" sz="3000" dirty="0"/>
          </a:p>
        </p:txBody>
      </p:sp>
      <p:pic>
        <p:nvPicPr>
          <p:cNvPr id="6" name="Image 1" descr="./png/apxn-control-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flag is a runtime control surface</a:t>
            </a:r>
            <a:endParaRPr lang="en-US" sz="13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flag lifecycle</a:t>
            </a:r>
            <a:endParaRPr lang="en-US" sz="3000" dirty="0"/>
          </a:p>
        </p:txBody>
      </p:sp>
      <p:pic>
        <p:nvPicPr>
          <p:cNvPr id="6" name="Image 1" descr="./png/apx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release flag is born with a removal ticket</a:t>
            </a:r>
            <a:endParaRPr lang="en-US" sz="13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observing, and anti-patterns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both sides of every flag you depend on - a suite that only hits the default path misses the bug behind the flag.</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 the resolved variant on your telemetry - a span attribute and a metric label - so a latency or error change attributes to a specific flag and cohort.</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Anti-patterns: flags as a config store; release flags that never die; stacks of flags whose combinations no one reasons about; experiments without sticky assignment; business logic buried in flag rules.</a:t>
            </a:r>
            <a:endParaRPr lang="en-US" sz="16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Decouple deploy from release: ship dark, release gradually, roll back by narrowing a flag.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Distinguish the four flag types - they want different owners, defaults, and lifecycles.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Evaluate through a vendor-neutral SDK (OpenFeature) against an OSS backend (flagd), always with a safe default.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Keep targeting and rollout in configuration, not code, and make percentage rollouts sticky.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release flags as debt with a removal ticket; put the resolved variant on your telemetry.</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OpenFeature spec &amp; flagd docs (CNCF) · Hodgson, “Feature Toggles” · Accelerate / DORA · Unleash (OSS alternative).</a:t>
            </a:r>
            <a:endParaRPr lang="en-US" sz="13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API Testing with Newman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Postman collections as an automated gate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Newman</a:t>
            </a:r>
            <a:endParaRPr lang="en-US" sz="3000" dirty="0"/>
          </a:p>
        </p:txBody>
      </p:sp>
      <p:pic>
        <p:nvPicPr>
          <p:cNvPr id="6" name="Image 1" descr="./png/apxo-newman-ru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runner turns a Postman collection into CI-readable results</a:t>
            </a:r>
            <a:endParaRPr lang="en-US" sz="13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collection</a:t>
            </a:r>
            <a:endParaRPr lang="en-US" sz="3000" dirty="0"/>
          </a:p>
        </p:txBody>
      </p:sp>
      <p:pic>
        <p:nvPicPr>
          <p:cNvPr id="6" name="Image 1" descr="./png/apxo-collection-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folders of requests, each with assertions; the environment supplies the variables</a:t>
            </a:r>
            <a:endParaRPr lang="en-US" sz="13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Tests live in the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"Create order",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"method": "POST",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"header": [{ "key": "Idempotency-Key", "value": "{{$guid}}"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"url": "{{base_url}}/orders",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"body": { "mode": "raw", "raw": "{\"sku\":\"A-1\",\"qty\":2}"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"event":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"listen": "test",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"script": { "exec":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"pm.test('201 Created', () =&gt; pm.response.to.have.status(201));",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"pm.test('under 300ms', () =&gt; pm.expect(pm.response.responseTime).to.be.below(300));",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body = pm.response.json();",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"pm.test('returns an id', () =&gt; pm.expect(body).to.have.property('id'));",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"pm.collectionVariables.set('order_id', body.id);"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Assertions run after the response; the saved order_id chains into later requests.</a:t>
            </a:r>
            <a:endParaRPr lang="en-US" sz="13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collection, six backends</a:t>
            </a:r>
            <a:endParaRPr lang="en-US" sz="3000" dirty="0"/>
          </a:p>
        </p:txBody>
      </p:sp>
      <p:pic>
        <p:nvPicPr>
          <p:cNvPr id="6" name="Image 1" descr="./png/apxo-black-box.png">    </p:cNvPr>
          <p:cNvPicPr>
            <a:picLocks noChangeAspect="1"/>
          </p:cNvPicPr>
          <p:nvPr/>
        </p:nvPicPr>
        <p:blipFill>
          <a:blip r:embed="rId5"/>
          <a:stretch/>
        </p:blipFill>
        <p:spPr>
          <a:xfrm>
            <a:off x="1645920" y="1612133"/>
            <a:ext cx="8906256" cy="4319534"/>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Newman tests over HTTP, so one collection validates every implementation</a:t>
            </a:r>
            <a:endParaRPr lang="en-US" sz="13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Launch the service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Spring Boot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Spring Boot — start the service under test, then run the same collection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./mvnw spring-boot:run &amp;           # http://localhost:8080</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this step is language-specific; the Newman command is identical for all six.</a:t>
            </a:r>
            <a:endParaRPr lang="en-US" sz="13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Newman &amp; shaping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install once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npm install -g --prefix ~/.local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--environment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cli,junit,htmlextra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--timeout-request 5000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--bail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--timeout-request: per-request ceiling (ms); --bail: stop at the first failure</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data-driven: one iteration per CSV row; the columns become {{variables}}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--iteration-data cases.csv</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Reporters target the audience; --bail gates fast; --iteration-data drives edge cases.</a:t>
            </a:r>
            <a:endParaRPr lang="en-US" sz="13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Data-driven tests</a:t>
            </a:r>
            <a:endParaRPr lang="en-US" sz="3000" dirty="0"/>
          </a:p>
        </p:txBody>
      </p:sp>
      <p:pic>
        <p:nvPicPr>
          <p:cNvPr id="6" name="Image 1" descr="./png/apxo-data-drive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request set, many inputs — boundary values and negative cases from a table</a:t>
            </a:r>
            <a:endParaRPr lang="en-US" sz="13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Newman in CI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GitHub Actions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.github/workflows/api-tests.yml (any runner with Docker Engine and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jobs: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api-tests: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runs-on: ubuntu-latest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steps: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actions/checkout@v7</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docker compose up -d --build --wait   # order, payment, inventory,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./scripts/wait-for-ready.sh           # poll /readyz before testing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npm i -g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 ci.postman_environment.json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actions/upload-artifact@v7          # keep the report even on failure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always()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with: { name: newman-results, path: results/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Bring the stack up with docker compose, wait for readiness, run the collection: a failed assertion fails the build.</a:t>
            </a:r>
            <a:endParaRPr lang="en-US" sz="13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on Docker Engine</a:t>
            </a:r>
            <a:endParaRPr lang="en-US" sz="3000" dirty="0"/>
          </a:p>
        </p:txBody>
      </p:sp>
      <p:pic>
        <p:nvPicPr>
          <p:cNvPr id="6" name="Image 1" descr="./png/apxo-ci-gate.png">    </p:cNvPr>
          <p:cNvPicPr>
            <a:picLocks noChangeAspect="1"/>
          </p:cNvPicPr>
          <p:nvPr/>
        </p:nvPicPr>
        <p:blipFill>
          <a:blip r:embed="rId5"/>
          <a:stretch/>
        </p:blipFill>
        <p:spPr>
          <a:xfrm>
            <a:off x="1645920" y="2416877"/>
            <a:ext cx="8906256"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stack you run locally, gating every pull request</a:t>
            </a:r>
            <a:endParaRPr lang="en-US" sz="13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Newman fits</a:t>
            </a:r>
            <a:endParaRPr lang="en-US" sz="3000" dirty="0"/>
          </a:p>
        </p:txBody>
      </p:sp>
      <p:pic>
        <p:nvPicPr>
          <p:cNvPr id="6" name="Image 1" descr="./png/apxo-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API/contract tier: on top of unit tests, under a thin end-to-end layer</a:t>
            </a:r>
            <a:endParaRPr lang="en-US" sz="13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the Postman collection as the executable specification - Newman runs it headlessly to guard every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collection is the conformance suite for all six implementations: Newman tests over HTTP, as a black box.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response shape against a schema, not just status codes; drive edge cases from data, not duplicated requests.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 the failure paths - 401, 403, 409/422, 429, idempotency - as carefully as the happy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Gate CI on plain Docker Engine so the build fails on a broken contract; keep Newman in the API/contract tier.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Postman docs &amp; Newman CLI docs (reporters, --iteration-data, --bail) · Postman Learning Center (pm API, JSON-schema validation).</a:t>
            </a:r>
            <a:endParaRPr lang="en-US" sz="1300" dirty="0"/>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R</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Example 05 on minikube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services and the same verify.sh on a single-node Kubernetes cluster</a:t>
            </a:r>
            <a:endParaRPr lang="en-US" sz="1600" dirty="0"/>
          </a:p>
        </p:txBody>
      </p:sp>
      <p:pic>
        <p:nvPicPr>
          <p:cNvPr id="6" name="Image 1" descr="./assets/redhat-logo-white.png">    </p:cNvPr>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248</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compose to a cluster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Compose proves the code; a cluster adds configuration, credentials, discovery, restarts and ingress.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Scope: Example 05 (event-driven fan-out), three services, all six languages, one node.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Kafka broker, one Postgres instance, no service mesh: a local topology, not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contract carries over: Service names, the Secret, environment variables, the health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same verify.sh runs against compose and the cluster: ten checks per language.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Appendix R · Code: examples/05-event-driven/k8s/</a:t>
            </a:r>
            <a:endParaRPr lang="en-US" sz="1300" dirty="0"/>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249</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minikube runtime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cndp-k8s: Docker driver on Docker Engine, containerd, Kubernetes v1.36.5.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8 GB memory, 4 CPUs, 40 GB disk for Kafka, Postgres, LGTM and three services.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NodePorts 30080 (order-service) and 30300 (Grafana), published on 127.0.0.1 at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kubectl port-forward, minikube tunnel or minikube service: forwarded connections drop.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command passes --context cndp-k8s; setup-profile.sh restores the prior context.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v1.39.0 · kubectl v1.36.5 · Helm v4.3.0 · Strimzi 1.2.0</a:t>
            </a:r>
            <a:endParaRPr lang="en-US" sz="1300" dirty="0"/>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250</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node, two namespaces</a:t>
            </a:r>
            <a:endParaRPr lang="en-US" sz="3000" dirty="0"/>
          </a:p>
        </p:txBody>
      </p:sp>
      <p:pic>
        <p:nvPicPr>
          <p:cNvPr id="6" name="Image 1" descr="./png/apxo-ci-gate.png">    </p:cNvPr>
          <p:cNvPicPr>
            <a:picLocks noChangeAspect="1"/>
          </p:cNvPicPr>
          <p:nvPr/>
        </p:nvPicPr>
        <p:blipFill>
          <a:blip r:embed="rId5"/>
          <a:stretch/>
        </p:blipFill>
        <p:spPr>
          <a:xfrm>
            <a:off x="1975104" y="1783080"/>
            <a:ext cx="8238744" cy="39319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node container holds two namespaces; the host reaches two loopback NodePorts and uses kubectl exec</a:t>
            </a:r>
            <a:endParaRPr lang="en-US" sz="1300" dirty="0"/>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251</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to Kubernetes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 Strimzi Kafka + KafkaNodePool, bootstrap cndp-kafka-bootstrap:9092 (Kafka 4.3.1).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 StatefulSet cndp-postgres, schema ConfigMap, Service cndp-postgres-rw.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Credential → Secret cndp-postgres-app, read through secretKeyRef.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 docker build, then minikube image load; imagePullPolicy: Never.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healthcheck → startup and readiness probes on the order-service /healthz.</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ports: 8080:8080 → NodePort 30080.</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schema file and the OTLP endpoint http://lgtm:4318 are the same ones compose uses.</a:t>
            </a:r>
            <a:endParaRPr lang="en-US" sz="1300" dirty="0"/>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252</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overlay per language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kustomize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k8s/overlays/spring-boot/kustomization.yaml (excerpt)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images: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name: 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newName: localhost/cndp-05/spring-boot-order-service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newTag: v1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 shipping-consumer and notification-consumer map the same way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appended to each Deployment's environment by a JSON patch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SPRING_DATASOURCE_URL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"jdbc:postgresql://cndp-postgres-rw:5432/appdb"</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SPRING_DATASOURCE_USERNAME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"$(PG_USER)"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SPRING_DATASOURCE_PASSWORD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"$(PG_PASSWORD)"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SPRING_KAFKA_BOOTSTRAP_SERVERS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"cndp-kafka-bootstrap:9092"</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 is language-neutral; each overlay maps the images and appends the variables its language reads.</a:t>
            </a:r>
            <a:endParaRPr lang="en-US" sz="1300" dirty="0"/>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253</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Images built on the host</a:t>
            </a:r>
            <a:endParaRPr lang="en-US" sz="3000" dirty="0"/>
          </a:p>
        </p:txBody>
      </p:sp>
      <p:pic>
        <p:nvPicPr>
          <p:cNvPr id="6" name="Image 1" descr="./png/apxo-ci-gate.png">    </p:cNvPr>
          <p:cNvPicPr>
            <a:picLocks noChangeAspect="1"/>
          </p:cNvPicPr>
          <p:nvPr/>
        </p:nvPicPr>
        <p:blipFill>
          <a:blip r:embed="rId5"/>
          <a:stretch/>
        </p:blipFill>
        <p:spPr>
          <a:xfrm>
            <a:off x="2122041" y="2416877"/>
            <a:ext cx="7954013"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build on the host, minikube image load into the node; pods never pull</a:t>
            </a:r>
            <a:endParaRPr lang="en-US" sz="1300" dirty="0"/>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254</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 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minikube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 examples/05-event-driven/, with no other profile or container running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k8s/setup-profile.sh        # create cndp-k8s; check the published ports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k8s/build-images.sh spring-boot  # docker build, then minikube image load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k8s/deploy.sh spring-boot   # Strimzi, Kafka, Postgres, LGTM, then the overlay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RUNTIME=kubernetes BASE=http://127.0.0.1:30080 ./verify.sh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all six languages, a fresh namespace for each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OUT=/tmp/cndp-k8s-matrix k8s/verify-matrix.sh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clean up: the namespace, the Strimzi release and its CRDs; then stop the profile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k8s/teardown.sh --operator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minikube stop -p cndp-k8s</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RUNTIME=kubernetes, verify.sh runs its container checks through kubectl exec; the ten checks are unchanged.</a:t>
            </a:r>
            <a:endParaRPr lang="en-US" sz="1300" dirty="0"/>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255</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Recorded results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10 passed, 0 failed in all six languages (Fedora 44, Docker Engine 29.8.2, minikube v1.39.0).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361 s · Quarkus 135 s · .NET 134 s · Python 116 s · C++ 103 s · Go 104 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Tempo received traces from order-service, shipping-consumer and notification-consumer in every language.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shipping-consumer scaled to 0: no shipment; back to 1: the group resumes from its committed offset.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Stop the profile before starting compose or another cluster; the scripts refuse to run alongside them.</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 cover the image build and load, the deploy, the checks and the namespace teardown.</a:t>
            </a:r>
            <a:endParaRPr lang="en-US" sz="13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