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 id="495" r:id="rId245"/>
    <p:sldId id="496" r:id="rId246"/>
    <p:sldId id="497" r:id="rId247"/>
    <p:sldId id="498" r:id="rId248"/>
    <p:sldId id="499" r:id="rId249"/>
    <p:sldId id="500" r:id="rId250"/>
    <p:sldId id="501" r:id="rId251"/>
    <p:sldId id="502" r:id="rId252"/>
    <p:sldId id="503" r:id="rId253"/>
    <p:sldId id="504" r:id="rId266"/>
    <p:sldId id="505" r:id="rId267"/>
    <p:sldId id="506" r:id="rId268"/>
    <p:sldId id="507" r:id="rId269"/>
    <p:sldId id="508" r:id="rId270"/>
    <p:sldId id="509" r:id="rId271"/>
    <p:sldId id="510" r:id="rId272"/>
    <p:sldId id="511" r:id="rId273"/>
    <p:sldId id="512" r:id="rId274"/>
    <p:sldId id="513" r:id="rId275"/>
    <p:sldId id="514" r:id="rId276"/>
    <p:sldId id="515" r:id="rId277"/>
    <p:sldId id="516" r:id="rId278"/>
    <p:sldId id="517" r:id="rId279"/>
    <p:sldId id="518" r:id="rId280"/>
    <p:sldId id="519" r:id="rId281"/>
    <p:sldId id="520" r:id="rId282"/>
    <p:sldId id="521" r:id="rId283"/>
    <p:sldId id="522" r:id="rId284"/>
    <p:sldId id="523" r:id="rId285"/>
    <p:sldId id="524" r:id="rId286"/>
    <p:sldId id="525" r:id="rId287"/>
    <p:sldId id="526" r:id="rId288"/>
    <p:sldId id="527" r:id="rId289"/>
    <p:sldId id="528" r:id="rId290"/>
    <p:sldId id="529" r:id="rId291"/>
    <p:sldId id="530" r:id="rId292"/>
    <p:sldId id="531" r:id="rId293"/>
    <p:sldId id="532" r:id="rId294"/>
    <p:sldId id="533" r:id="rId295"/>
    <p:sldId id="534" r:id="rId296"/>
    <p:sldId id="535" r:id="rId297"/>
    <p:sldId id="536" r:id="rId298"/>
  </p:sldIdLst>
  <p:sldSz cy="6858000" cx="12191675"/>
  <p:notesSz cx="6858000" cy="12191675"/>
  <p:embeddedFontLst>
    <p:embeddedFont>
      <p:font typeface="Overpass SemiBold"/>
      <p:regular r:id="rId254"/>
      <p:bold r:id="rId255"/>
      <p:italic r:id="rId256"/>
      <p:boldItalic r:id="rId257"/>
    </p:embeddedFont>
    <p:embeddedFont>
      <p:font typeface="Red Hat Text"/>
      <p:regular r:id="rId258"/>
      <p:bold r:id="rId259"/>
      <p:italic r:id="rId260"/>
      <p:boldItalic r:id="rId261"/>
    </p:embeddedFont>
    <p:embeddedFont>
      <p:font typeface="Red Hat Mono"/>
      <p:regular r:id="rId262"/>
      <p:bold r:id="rId263"/>
      <p:italic r:id="rId264"/>
      <p:boldItalic r:id="rId26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Eric Deandrea"/>
  <p:cmAuthor clrIdx="1" id="1" initials="" lastIdx="2" name="Robert Sedor"/>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 Id="rId245" Type="http://schemas.openxmlformats.org/officeDocument/2006/relationships/slide" Target="slides/slide240.xml"/><Relationship Id="rId246" Type="http://schemas.openxmlformats.org/officeDocument/2006/relationships/slide" Target="slides/slide241.xml"/><Relationship Id="rId247" Type="http://schemas.openxmlformats.org/officeDocument/2006/relationships/slide" Target="slides/slide242.xml"/><Relationship Id="rId248" Type="http://schemas.openxmlformats.org/officeDocument/2006/relationships/slide" Target="slides/slide243.xml"/><Relationship Id="rId249" Type="http://schemas.openxmlformats.org/officeDocument/2006/relationships/slide" Target="slides/slide244.xml"/><Relationship Id="rId250" Type="http://schemas.openxmlformats.org/officeDocument/2006/relationships/slide" Target="slides/slide245.xml"/><Relationship Id="rId251" Type="http://schemas.openxmlformats.org/officeDocument/2006/relationships/slide" Target="slides/slide246.xml"/><Relationship Id="rId252" Type="http://schemas.openxmlformats.org/officeDocument/2006/relationships/slide" Target="slides/slide247.xml"/><Relationship Id="rId253" Type="http://schemas.openxmlformats.org/officeDocument/2006/relationships/slide" Target="slides/slide248.xml"/><Relationship Id="rId254" Type="http://schemas.openxmlformats.org/officeDocument/2006/relationships/font" Target="fonts/OverpassSemiBold-regular.fntdata"/><Relationship Id="rId255" Type="http://schemas.openxmlformats.org/officeDocument/2006/relationships/font" Target="fonts/OverpassSemiBold-bold.fntdata"/><Relationship Id="rId256" Type="http://schemas.openxmlformats.org/officeDocument/2006/relationships/font" Target="fonts/OverpassSemiBold-italic.fntdata"/><Relationship Id="rId257" Type="http://schemas.openxmlformats.org/officeDocument/2006/relationships/font" Target="fonts/OverpassSemiBold-boldItalic.fntdata"/><Relationship Id="rId258" Type="http://schemas.openxmlformats.org/officeDocument/2006/relationships/font" Target="fonts/RedHatText-regular.fntdata"/><Relationship Id="rId259" Type="http://schemas.openxmlformats.org/officeDocument/2006/relationships/font" Target="fonts/RedHatText-bold.fntdata"/><Relationship Id="rId260" Type="http://schemas.openxmlformats.org/officeDocument/2006/relationships/font" Target="fonts/RedHatText-italic.fntdata"/><Relationship Id="rId261" Type="http://schemas.openxmlformats.org/officeDocument/2006/relationships/font" Target="fonts/RedHatText-boldItalic.fntdata"/><Relationship Id="rId262" Type="http://schemas.openxmlformats.org/officeDocument/2006/relationships/font" Target="fonts/RedHatMono-regular.fntdata"/><Relationship Id="rId263" Type="http://schemas.openxmlformats.org/officeDocument/2006/relationships/font" Target="fonts/RedHatMono-bold.fntdata"/><Relationship Id="rId264" Type="http://schemas.openxmlformats.org/officeDocument/2006/relationships/font" Target="fonts/RedHatMono-italic.fntdata"/><Relationship Id="rId265" Type="http://schemas.openxmlformats.org/officeDocument/2006/relationships/font" Target="fonts/RedHatMono-boldItalic.fntdata"/><Relationship Id="rId266" Type="http://schemas.openxmlformats.org/officeDocument/2006/relationships/slide" Target="slides/slide249.xml"/><Relationship Id="rId267" Type="http://schemas.openxmlformats.org/officeDocument/2006/relationships/slide" Target="slides/slide250.xml"/><Relationship Id="rId268" Type="http://schemas.openxmlformats.org/officeDocument/2006/relationships/slide" Target="slides/slide251.xml"/><Relationship Id="rId269" Type="http://schemas.openxmlformats.org/officeDocument/2006/relationships/slide" Target="slides/slide252.xml"/><Relationship Id="rId270" Type="http://schemas.openxmlformats.org/officeDocument/2006/relationships/slide" Target="slides/slide253.xml"/><Relationship Id="rId271" Type="http://schemas.openxmlformats.org/officeDocument/2006/relationships/slide" Target="slides/slide254.xml"/><Relationship Id="rId272" Type="http://schemas.openxmlformats.org/officeDocument/2006/relationships/slide" Target="slides/slide255.xml"/><Relationship Id="rId273" Type="http://schemas.openxmlformats.org/officeDocument/2006/relationships/slide" Target="slides/slide256.xml"/><Relationship Id="rId274" Type="http://schemas.openxmlformats.org/officeDocument/2006/relationships/slide" Target="slides/slide257.xml"/><Relationship Id="rId275" Type="http://schemas.openxmlformats.org/officeDocument/2006/relationships/slide" Target="slides/slide258.xml"/><Relationship Id="rId276" Type="http://schemas.openxmlformats.org/officeDocument/2006/relationships/slide" Target="slides/slide259.xml"/><Relationship Id="rId277" Type="http://schemas.openxmlformats.org/officeDocument/2006/relationships/slide" Target="slides/slide260.xml"/><Relationship Id="rId278" Type="http://schemas.openxmlformats.org/officeDocument/2006/relationships/slide" Target="slides/slide261.xml"/><Relationship Id="rId279" Type="http://schemas.openxmlformats.org/officeDocument/2006/relationships/slide" Target="slides/slide262.xml"/><Relationship Id="rId280" Type="http://schemas.openxmlformats.org/officeDocument/2006/relationships/slide" Target="slides/slide263.xml"/><Relationship Id="rId281" Type="http://schemas.openxmlformats.org/officeDocument/2006/relationships/slide" Target="slides/slide264.xml"/><Relationship Id="rId282" Type="http://schemas.openxmlformats.org/officeDocument/2006/relationships/slide" Target="slides/slide265.xml"/><Relationship Id="rId283" Type="http://schemas.openxmlformats.org/officeDocument/2006/relationships/slide" Target="slides/slide266.xml"/><Relationship Id="rId284" Type="http://schemas.openxmlformats.org/officeDocument/2006/relationships/slide" Target="slides/slide267.xml"/><Relationship Id="rId285" Type="http://schemas.openxmlformats.org/officeDocument/2006/relationships/slide" Target="slides/slide268.xml"/><Relationship Id="rId286" Type="http://schemas.openxmlformats.org/officeDocument/2006/relationships/slide" Target="slides/slide269.xml"/><Relationship Id="rId287" Type="http://schemas.openxmlformats.org/officeDocument/2006/relationships/slide" Target="slides/slide270.xml"/><Relationship Id="rId288" Type="http://schemas.openxmlformats.org/officeDocument/2006/relationships/slide" Target="slides/slide271.xml"/><Relationship Id="rId289" Type="http://schemas.openxmlformats.org/officeDocument/2006/relationships/slide" Target="slides/slide272.xml"/><Relationship Id="rId290" Type="http://schemas.openxmlformats.org/officeDocument/2006/relationships/slide" Target="slides/slide273.xml"/><Relationship Id="rId291" Type="http://schemas.openxmlformats.org/officeDocument/2006/relationships/slide" Target="slides/slide274.xml"/><Relationship Id="rId292" Type="http://schemas.openxmlformats.org/officeDocument/2006/relationships/slide" Target="slides/slide275.xml"/><Relationship Id="rId293" Type="http://schemas.openxmlformats.org/officeDocument/2006/relationships/slide" Target="slides/slide276.xml"/><Relationship Id="rId294" Type="http://schemas.openxmlformats.org/officeDocument/2006/relationships/slide" Target="slides/slide277.xml"/><Relationship Id="rId295" Type="http://schemas.openxmlformats.org/officeDocument/2006/relationships/slide" Target="slides/slide278.xml"/><Relationship Id="rId296" Type="http://schemas.openxmlformats.org/officeDocument/2006/relationships/slide" Target="slides/slide279.xml"/><Relationship Id="rId297" Type="http://schemas.openxmlformats.org/officeDocument/2006/relationships/slide" Target="slides/slide280.xml"/><Relationship Id="rId298" Type="http://schemas.openxmlformats.org/officeDocument/2006/relationships/slide" Target="slides/slide281.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9T02:31:01.795">
    <p:pos x="357" y="1008"/>
    <p:text>So are you implying that cloud native = kubernetes?</p:text>
  </p:cm>
  <p:cm authorId="1" idx="1" dt="2026-06-09T02:31:01.795">
    <p:pos x="357" y="1008"/>
    <p:text>haha - no - kubernetes realizes attributes of cloud native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9T02:28:46.563">
    <p:pos x="6000" y="0"/>
    <p:text>I'd be careful with baggage. Don't put sensitive stuff since it'll propagate everywhere</p:text>
  </p:cm>
  <p:cm authorId="1" idx="2" dt="2026-06-09T02:28:46.563">
    <p:pos x="6000" y="0"/>
    <p:text>👍</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on Quarkus 3.40.1 (LTS, Java 25)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Java with Quarkus (Quarkus REST, gRPC, SmallRye GraphQL, Reactive Messaging, Kafka Streams, WebSockets Next, Quarkus Flow), on Kubernetes with Kafka, Istio and KEDA. The platform around the code (Strimzi, Apicurio, OpenMetadata, the LGTM stack) is the same for every language; Quarkus is how we write the services.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820193c_0_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820193c_0_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820193c_0_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1f6cd2d6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1f6cd2d6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1f6cd2d6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1f6cd2d6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1f6cd2d6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1f6cd2d6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1f6cd2d6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1f6cd2d6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1f6cd2d6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1f6cd2d6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1f6cd2d6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1f6cd2d6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1f6cd2d6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1f6cd2d6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1f6cd2d6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1f6cd2d6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1f6cd2d6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1f6cd2d6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1f6cd2d6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1f6cd2d6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1f6cd2d6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1f6cd2d6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1f6cd2d6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 In the Quarkus world the contract artifacts come naturally: SmallRye OpenAPI emits the REST spec, protoc/buf compile the .proto, and SmallRye GraphQL exports the SDL — all checked into the registry.</a:t>
            </a:r>
            <a:endParaRPr/>
          </a:p>
        </p:txBody>
      </p:sp>
      <p:sp>
        <p:nvSpPr>
          <p:cNvPr id="108" name="Google Shape;108;g3e51f6cd2d6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1f6cd2d6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1f6cd2d6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1f6cd2d6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1f6cd2d6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1f6cd2d6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1f6cd2d6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1f6cd2d6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1f6cd2d6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1f6cd2d6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1f6cd2d6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1f6cd2d6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via MicroProfile Config (factor III): QUARKUS_DATASOURCE_JDBC_URL, the username and password and SERVICE_VERSION override application.properties, never a baked-in file. The two probes come from SmallRye Health (quarkus-smallrye-health), mapped to /healthz and /readyz in application.properties. /healthz is liveness (am I alive? if not, restart me) and never checks a dependency. /readyz is readiness (can I serve?) and includes the datasource check, so when the database is unreachable it answers 503 with status DOWN, which takes the pod out of rotation without killing it. The probe reads the status code, not the body: Kubernetes treats any answer from 200 to 399 as ready. Custom checks are @Liveness and @Readiness beans; Example 21 adds one for the drain.</a:t>
            </a:r>
            <a:endParaRPr/>
          </a:p>
          <a:p>
            <a:pPr indent="0" lvl="0" marL="0" rtl="0" algn="l">
              <a:spcBef>
                <a:spcPts val="0"/>
              </a:spcBef>
              <a:spcAft>
                <a:spcPts val="0"/>
              </a:spcAft>
              <a:buNone/>
            </a:pPr>
            <a:r>
              <a:rPr lang="en-US"/>
              <a:t>Persistence is Hibernate ORM with Panache. The Order entity maps the table that db/init creates, and quarkus.hibernate-orm.schema-management.strategy=validate makes Hibernate check the mapping instead of owning the schema. The resource returns a DTO record, never the entity. Getting liveness vs readiness wrong is a top cause of cascading restarts, so stress the distinction. Maven with the quarkus-bom (platform 3.40.1) pins every dependency reproducibly.</a:t>
            </a:r>
            <a:endParaRPr/>
          </a:p>
        </p:txBody>
      </p:sp>
      <p:sp>
        <p:nvSpPr>
          <p:cNvPr id="150" name="Google Shape;150;g3e51f6cd2d6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1f6cd2d6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1f6cd2d6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1f6cd2d6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1f6cd2d6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1f6cd2d6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1f6cd2d6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1f6cd2d6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1f6cd2d6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contracts validated declaratively: here a Java record with Bean Validation annotations (@NotBlank, @Positive, @Valid), the Quarkus equivalent of Pydantic models, so bad input never reaches your logic; (3) correct status codes — 201 on create, not 200; (4) cursor pagination, not offset, because offset breaks under concurrent writes and gets slow at depth. The method is blocking and Quarkus REST runs it on a worker thread; return Mutiny's Uni, Quarkus's reactive type, when the endpoint should be non-blocking. SmallRye OpenAPI generates the spec from the resource, and that spec is what we register and gate. Test this surface with curl and Postman.</a:t>
            </a:r>
            <a:endParaRPr/>
          </a:p>
        </p:txBody>
      </p:sp>
      <p:sp>
        <p:nvSpPr>
          <p:cNvPr id="184" name="Google Shape;184;g3e51f6cd2d6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1f6cd2d6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1f6cd2d6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Quarkus gRPC compiles the .proto with protoc at build time and you implement the generated Mutiny interface, annotated @GrpcService so Quarkus wires it up — no manual server bootstrap. Highlight that the field numbers (=1, =2) are the wire contract — we return to exactly why in Appendix B. It's binary and multiplexed over HTTP/2, so it's fast and supports streaming, and the reactive Uni keeps it non-blocking. The right default for chatty service-to-service calls where you control both ends. Load-test it with ghz.</a:t>
            </a:r>
            <a:endParaRPr/>
          </a:p>
        </p:txBody>
      </p:sp>
      <p:sp>
        <p:nvSpPr>
          <p:cNvPr id="197" name="Google Shape;197;g3e51f6cd2d6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1f6cd2d6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1f6cd2d6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1f6cd2d6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1f6cd2d6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1f6cd2d6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1f6cd2d6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1f6cd2d6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1f6cd2d6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1f6cd2d6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1f6cd2d6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1f6cd2d6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1f6cd2d6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1f6cd2d6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1f6cd2d6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1f6cd2d6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1f6cd2d6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1f6cd2d6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top-level order query calls order-service over REST; the stock method, annotated with @Source Order, adds a stock field to the Order type that resolves on demand by calling inventory-service over gRPC. Each field resolves against its owning service — the gateway is just the composition layer. Mention the N+1 risk: naive per-field resolution can explode into many back-end calls, so production gateways batch (SmallRye GraphQL supports a BatchSource for exactly this). SmallRye GraphQL is the JVM-standard, MicroProfile GraphQL implementation Quarkus ships; it exports the SDL to the registry automatically.</a:t>
            </a:r>
            <a:endParaRPr/>
          </a:p>
        </p:txBody>
      </p:sp>
      <p:sp>
        <p:nvSpPr>
          <p:cNvPr id="266" name="Google Shape;266;g3e51f6cd2d6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1f6cd2d6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1f6cd2d6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1f6cd2d6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1f6cd2d6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1f6cd2d6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1f6cd2d6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1f6cd2d6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1f6cd2d6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1f6cd2d6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1f6cd2d6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1f6cd2d6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1f6cd2d6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1f6cd2d6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1f6cd2d6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Two separate JAX-RS resources: OrderWriteResource handles commands, OrderReadResource handles queries. They could even be in different services/processes. The write side uses an Emitter&lt;OrderEvent&gt; bound to an outgoing Reactive Messaging channel — the SmallRye runtime publishes to Kafka. The projection is a separate @ApplicationScoped bean with an @Incoming("order-placed") method (topic order.placed) that consumes the stream and updates the read store via a separate ReadOrderSummaryRepository (different Panache datasource). The read model can be a wide denormalised table, an Elasticsearch index, or a Mongo document — chosen by query shape. Different scaling for the read side and write side; different team ownership possible.</a:t>
            </a:r>
            <a:endParaRPr/>
          </a:p>
        </p:txBody>
      </p:sp>
      <p:sp>
        <p:nvSpPr>
          <p:cNvPr id="322" name="Google Shape;322;g3e51f6cd2d6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1f6cd2d6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1f6cd2d6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1f6cd2d6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1f6cd2d6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1f6cd2d6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1f6cd2d6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1f6cd2d6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1f6cd2d6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@Transactional method: the insert of the order row and the insert of the outbox row run in one JTA transaction, so they commit or roll back together. Both rows are Panache entities over tables that db/init creates, and the outbox payload is a record stored in a jsonb column with @JdbcTypeCode(SqlTypes.JSON). There is no Kafka call inside the request path: if the broker is down, the order still commits and the event ships later when Debezium tails the write-ahead log and relays the outbox row in commit order. This decouples request latency and availability from Kafka's.</a:t>
            </a:r>
            <a:endParaRPr/>
          </a:p>
          <a:p>
            <a:pPr indent="0" lvl="0" marL="0" rtl="0" algn="l">
              <a:spcBef>
                <a:spcPts val="0"/>
              </a:spcBef>
              <a:spcAft>
                <a:spcPts val="0"/>
              </a:spcAft>
              <a:buNone/>
            </a:pPr>
            <a:r>
              <a:rPr lang="en-US"/>
              <a:t>Example 04 needs no outbox extension: the outbox is a small table (aggregate id, event type, JSON payload, created_at) mapped by a plain OutboxEvent entity, and a standard Debezium Postgres connector handles the CDC. The Debezium Outbox Event Router single-message transform unwraps the row into the event envelope on the connector side. The Debezium Quarkus outbox extension is not used: it brings its own table layout, and one table and one connector serve every language. The same commit-together discipline reappears in the saga appendix.</a:t>
            </a:r>
            <a:endParaRPr/>
          </a:p>
        </p:txBody>
      </p:sp>
      <p:sp>
        <p:nvSpPr>
          <p:cNvPr id="356" name="Google Shape;356;g3e51f6cd2d6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1f6cd2d6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1f6cd2d6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1f6cd2d6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1f6cd2d6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1f6cd2d6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1f6cd2d6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1f6cd2d6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1f6cd2d6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1f6cd2d6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1f6cd2d6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1f6cd2d6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SmallRye Reactive Messaging is the Quarkus equivalent of aiokafka, but declarative. The producer injects an Emitter on a named @Channel mapped to a Kafka topic in application.properties; sending a KafkaRecord keys the message by order id. The consumer is a method annotated @Incoming. Two points: the channel is configured for manual ack, and we ack only once the side-effect (sendEmail) has succeeded. Ack first and then crash, and the work is lost. Because we ack after, a crash mid-handler means redelivery, so delivery is at-least-once and your handlers must be idempotent (dedupe by message key or an idempotency key). Exactly-once is mostly at-least-once plus idempotency. The serde is wired to Apicurio, the schema registry.</a:t>
            </a:r>
            <a:endParaRPr/>
          </a:p>
        </p:txBody>
      </p:sp>
      <p:sp>
        <p:nvSpPr>
          <p:cNvPr id="401" name="Google Shape;401;g3e51f6cd2d6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1f6cd2d6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1f6cd2d6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1f6cd2d6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1f6cd2d6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1f6cd2d6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1f6cd2d6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1f6cd2d6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1f6cd2d6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1f6cd2d6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1f6cd2d6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1f6cd2d6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1f6cd2d6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1f6cd2d6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1f6cd2d6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1f6cd2d6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1f6cd2d6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1f6cd2d6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1f6cd2d6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1f6cd2d6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1f6cd2d6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Streams is the JVM-native stream processor and the natural Quarkus counterpart to faust-streaming in the Python deck. The Topology is just a CDI-produced bean — Quarkus manages its lifecycle. The key idea is the Materialized state store: the per-merchant running total is local state, but it's backed by a Kafka changelog topic, so if the pod dies the state rebuilds by replaying the changelog — fault-tolerant local state with no external database in the hot path. The tumbling window (window.seconds, 10 seconds by default) buckets the aggregation by time; the accumulator, a count and a BigDecimal total, is serialized with ObjectMapperSerde, as are the input event (OrderEvent) and the output row (RevenueWindow), so nothing is parsed by hand, and each update is written to the output topic as a JSON row (window, merchant_id, order_count, revenue). The output revenue.by-merchant topic is itself a stream other services consume. If you'd rather express this as routing/EIP than a topology, Quarkus + Camel is the alternative; Flink is the heavyweight option.</a:t>
            </a:r>
            <a:endParaRPr/>
          </a:p>
        </p:txBody>
      </p:sp>
      <p:sp>
        <p:nvSpPr>
          <p:cNvPr id="479" name="Google Shape;479;g3e51f6cd2d6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1f6cd2d6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1f6cd2d6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1f6cd2d6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1f6cd2d6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1f6cd2d6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1f6cd2d6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1f6cd2d6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1f6cd2d6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 For orchestration in this stack, Quarkus Flow (a CNCF Serverless Workflow engine that runs inside your Quarkus app) is the natural choice; Appendix D uses it for the saga orchestrator.</a:t>
            </a:r>
            <a:endParaRPr/>
          </a:p>
        </p:txBody>
      </p:sp>
      <p:sp>
        <p:nvSpPr>
          <p:cNvPr id="516" name="Google Shape;516;g3e51f6cd2d6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1f6cd2d6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1f6cd2d6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1f6cd2d6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1f6cd2d6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1f6cd2d6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1f6cd2d6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1f6cd2d6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1f6cd2d6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the Quarkus Scheduler (@Scheduled) and quarkus-flow-scheduler cover recurring work without leaving the JVM, while Kubernetes Jobs/CronJobs own the heavier or isolated batch runs.</a:t>
            </a:r>
            <a:endParaRPr/>
          </a:p>
        </p:txBody>
      </p:sp>
      <p:sp>
        <p:nvSpPr>
          <p:cNvPr id="552" name="Google Shape;552;g3e51f6cd2d6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1f6cd2d6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1f6cd2d6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1f6cd2d6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1f6cd2d6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1f6cd2d6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1f6cd2d6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1f6cd2d6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1f6cd2d6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1f6cd2d6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1f6cd2d6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1f6cd2d6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1f6cd2d6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1f6cd2d6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1f6cd2d6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1f6cd2d6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1f6cd2d6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1f6cd2d6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done the Maven way. The apicurio-registry-maven-plugin's register goal with dryRun set checks the new schema against the artifact's compatibility rule in the registry without storing it, and fails the build (and the merge) if it is incompatible. The older test-update goal still exists in 3.3.3 but is deprecated in favour of dryRun. The point to make: the contract is enforced before code ships, not discovered broken in production by a downstream team. The rule (e.g. BACKWARD — new consumers can read old data) is set once per artifact and enforced automatically forever; a separate register goal publishes on the main branch after merge. Tie it back: this is design-first from section 1, now mechanized in the build.</a:t>
            </a:r>
            <a:endParaRPr/>
          </a:p>
        </p:txBody>
      </p:sp>
      <p:sp>
        <p:nvSpPr>
          <p:cNvPr id="615" name="Google Shape;615;g3e51f6cd2d6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1f6cd2d6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1f6cd2d6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1f6cd2d6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1f6cd2d6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1f6cd2d6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1f6cd2d6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1f6cd2d6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1f6cd2d6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1f6cd2d6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1f6cd2d6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1f6cd2d6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1f6cd2d6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1f6cd2d6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1f6cd2d6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1f6cd2d6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1f6cd2d6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1f6cd2d6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1f6cd2d6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1f6cd2d6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1f6cd2d6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1f6cd2d6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1f6cd2d6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1f6cd2d6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1f6cd2d6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1f6cd2d6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1f6cd2d6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Adding the quarkus-opentelemetry extension auto-instruments every REST endpoint, gRPC call and Reactive Messaging hop — spans are created and context is propagated onto events with zero code. You only hand-write spans for custom business operations worth measuring, and even that is declarative: @WithSpan on a method. The crucial behaviour is the last comment: the trace_id flows REST → gRPC → Kafka → consumer with no manual plumbing, because the Quarkus instrumentation injects and extracts context at each hop. The OTLP exporter ships everything to the Collector keyed by that trace_id. Instrument once, correlate everything.</a:t>
            </a:r>
            <a:endParaRPr/>
          </a:p>
        </p:txBody>
      </p:sp>
      <p:sp>
        <p:nvSpPr>
          <p:cNvPr id="711" name="Google Shape;711;g3e51f6cd2d6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1f6cd2d6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1f6cd2d6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1f6cd2d6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1f6cd2d6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1f6cd2d6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uses the OpenTelemetry Java API directly for baggage. A JAX-RS ContainerRequestFilter sets tenant_id and user_tier at the edge; .makeCurrent() puts them in the active context, and the Quarkus OTel extension propagates them on every downstream call (REST Client, gRPC, Reactive Messaging to Kafka) via the W3C baggage header. A downstream @Incoming consumer reads Baggage.current().getEntryValue('tenant_id') with no explicit plumbing. Pin it to the span with Span.current().setAttribute(...) so it's queryable in Jaeger/Tempo. Caution: baggage is on the wire to every downstream hop — never put secrets or PII in it.</a:t>
            </a:r>
            <a:endParaRPr/>
          </a:p>
        </p:txBody>
      </p:sp>
      <p:sp>
        <p:nvSpPr>
          <p:cNvPr id="735" name="Google Shape;735;g3e51f6cd2d6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1f6cd2d6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1f6cd2d6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1f6cd2d6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1f6cd2d6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1f6cd2d6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1f6cd2d6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1f6cd2d6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1f6cd2d6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1f6cd2d6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1f6cd2d6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1f6cd2d6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The GraphQL UI (GraphiQL, which Quarkus serves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1f6cd2d6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1f6cd2d6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1f6cd2d6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1f6cd2d6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1f6cd2d6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1f6cd2d6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1f6cd2d6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1f6cd2d6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1f6cd2d6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1f6cd2d6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1f6cd2d6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1f6cd2d6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1f6cd2d6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1f6cd2d6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1f6cd2d6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1f6cd2d6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1f6cd2d6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1f6cd2d6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1f6cd2d6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1f6cd2d6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1f6cd2d6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1f6cd2d6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1f6cd2d6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1f6cd2d6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(javax.crypto.Mac with HmacSHA256).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MessageDigest.isEqual,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1f6cd2d6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1f6cd2d6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1f6cd2d6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1f6cd2d6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1f6cd2d6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1f6cd2d6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1f6cd2d6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1f6cd2d6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1f6cd2d6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1f6cd2d6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1f6cd2d6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1f6cd2d6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1f6cd2d6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1f6cd2d6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1f6cd2d6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1f6cd2d6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1f6cd2d6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1f6cd2d6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1f6cd2d6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1f6cd2d6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1f6cd2d6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ships SmallRye Fault Tolerance, the MicroProfile Fault Tolerance implementation. @Bulkhead(value = 50, waitingTaskQueue = 100) admits at most 50 concurrent invocations, queues up to 100 and rejects the rest; @Timeout fails the call after three seconds. @AsynchronousNonBlocking guards a method that returns a Mutiny Uni without moving it to a worker thread, which is what lets the waiting queue apply.</a:t>
            </a:r>
            <a:endParaRPr/>
          </a:p>
          <a:p>
            <a:pPr indent="0" lvl="0" marL="0" rtl="0" algn="l">
              <a:spcBef>
                <a:spcPts val="0"/>
              </a:spcBef>
              <a:spcAft>
                <a:spcPts val="0"/>
              </a:spcAft>
              <a:buNone/>
            </a:pPr>
            <a:r>
              <a:rPr lang="en-US"/>
              <a:t>Per-tenant bulkheads need one limit per tenant, so the example keeps a semaphore per tenant: a tenant that fills its 5 slots gets a BulkheadException while every other tenant keeps its capacity. Fault-tolerance metrics are exported through Micrometer, so dashboards can show saturation. At the network layer, Istio's DestinationRule connectionPool adds mesh-level bulkheading on top of these in-process limits.</a:t>
            </a:r>
            <a:endParaRPr/>
          </a:p>
        </p:txBody>
      </p:sp>
      <p:sp>
        <p:nvSpPr>
          <p:cNvPr id="940" name="Google Shape;940;g3e51f6cd2d6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1f6cd2d6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1f6cd2d6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1f6cd2d6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1f6cd2d6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1f6cd2d6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ValetKeyService.mint (300 seconds), and publishes only a small claim (order id, URI and the ticket) to order.documents with a Reactive Messaging Emitter.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1f6cd2d6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1f6cd2d6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1f6cd2d6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1f6cd2d6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1f6cd2d6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1f6cd2d6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1f6cd2d6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1f6cd2d6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1f6cd2d6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1f6cd2d6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1f6cd2d6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1f6cd2d6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1f6cd2d6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1f6cd2d6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1f6cd2d6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1f6cd2d6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1f6cd2d6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1f6cd2d6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1f6cd2d6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1f6cd2d6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1f6cd2d6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Quarkus, Spring or anything else. The Quarkus guides plus the Quarkus Flow and Debezium docs are the practical references for the runtime specifics shown in the code.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1f6cd2d6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1f6cd2d6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1f6cd2d6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1f6cd2d6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1f6cd2d6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1f6cd2d6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1f6cd2d6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1f6cd2d6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1f6cd2d6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1f6cd2d6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1f6cd2d6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1f6cd2d6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1f6cd2d6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1f6cd2d6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1f6cd2d6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1f6cd2d6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1f6cd2d6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1f6cd2d6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1f6cd2d6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1f6cd2d6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1f6cd2d6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1f6cd2d6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1f6cd2d6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1f6cd2d6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1f6cd2d6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1f6cd2d6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1f6cd2d6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1f6cd2d6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1f6cd2d6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1f6cd2d6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1f6cd2d6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1f6cd2d6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1f6cd2d6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1f6cd2d6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1f6cd2d6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1f6cd2d6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in Quarkus. There's one URL for the order resource — it never changes. Two methods share the path but declare different @Produces media types; JAX-RS content negotiation picks the method matching the client's Accept header and sets the Content-Type. New clients ask for the v2 media type and get the currency field; old clients send the default and get v1, completely unaffected. Contrast with /v2/orders, where you've now got two URLs for the same underlying thing. The OrderV1/OrderV2 records are explicit representation DTOs — exactly the pattern that keeps your wire contract decoupled from your entity.</a:t>
            </a:r>
            <a:endParaRPr/>
          </a:p>
        </p:txBody>
      </p:sp>
      <p:sp>
        <p:nvSpPr>
          <p:cNvPr id="1159" name="Google Shape;1159;g3e51f6cd2d6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1f6cd2d6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1f6cd2d6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1f6cd2d6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1f6cd2d6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1f6cd2d6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1f6cd2d6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1f6cd2d6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1f6cd2d6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1f6cd2d6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1f6cd2d6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1f6cd2d6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SmallRye GraphQL. We add totalMinor additively and mark the old total field with Java's @Deprecated plus a @Description carrying the reason; SmallRye maps these onto GraphQL's @deprecated schema directive. The field keeps working and nothing breaks, but the deprecation shows up in introspection and in GraphiQL, nudging client developers. The crucial operational piece is the comment: you instrument field-level usage, and you only remove total when its usage drops to zero. That's the whole GraphQL philosophy — evolution governed by data, with the breaking removal deferred until provably safe. Each protocol answers the same problem differently.</a:t>
            </a:r>
            <a:endParaRPr/>
          </a:p>
        </p:txBody>
      </p:sp>
      <p:sp>
        <p:nvSpPr>
          <p:cNvPr id="1207" name="Google Shape;1207;g3e51f6cd2d6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1f6cd2d6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1f6cd2d6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1f6cd2d6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1f6cd2d6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1f6cd2d6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with Quarkus WebSockets Next, see why it fights scaling, fix it with a backplane, make it fast and versioned with protobuf, and make it survivable with reconnection.</a:t>
            </a:r>
            <a:endParaRPr/>
          </a:p>
        </p:txBody>
      </p:sp>
      <p:sp>
        <p:nvSpPr>
          <p:cNvPr id="1230" name="Google Shape;1230;g3e51f6cd2d6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1f6cd2d6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1f6cd2d6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WebSockets Next makes the endpoint declarative: @WebSocket with a path, @OnOpen, @OnTextMessage (with automatic JSON binding to a record), and automatic @OnClose cleanup — far cleaner than the old Jakarta WebSocket API. But point hard at OpenConnections — the registry of who's connected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1f6cd2d6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1f6cd2d6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1f6cd2d6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1f6cd2d6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1f6cd2d6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1f6cd2d6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1f6cd2d6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1f6cd2d6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1f6cd2d6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1f6cd2d6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1f6cd2d6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1f6cd2d6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via @OnBinaryMessage and connection.sendBinary are markedly smaller and cheaper to parse than JSON text — meaningful when pushing high-frequency updates to many sockets. With a BinaryMessageCodec registered for Envelope, WebSockets Next binds the incoming bytes to the generated type. Versioning: because WebSocket messages have no URL to hang a version on, you version the envelope. A version field lets the client detect an incompatible payload format and renegotiate; the type field dispatches to the right protobuf message; and a monotonic seq number per connection is what makes reconnection and replay possible, the subject of the failure-handling slide. So the envelope solves both 'make it fast' and 'how do I version a socket message' at once.</a:t>
            </a:r>
            <a:endParaRPr/>
          </a:p>
        </p:txBody>
      </p:sp>
      <p:sp>
        <p:nvSpPr>
          <p:cNvPr id="1285" name="Google Shape;1285;g3e51f6cd2d6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1f6cd2d6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1f6cd2d6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1f6cd2d6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1f6cd2d6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1f6cd2d6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1f6cd2d6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1f6cd2d6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1f6cd2d6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1f6cd2d6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1f6cd2d6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1f6cd2d6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1f6cd2d6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1f6cd2d6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1f6cd2d6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with Panache, and the default choice when the team wants to own the transitions. Key ideas: one saga row, loaded with a PESSIMISTIC_WRITE lock (findById with a LockModeType) so two workers cannot advance the same saga concurrently. advanceOneStep runs in its own transaction, one step per transaction: the new context, the new step index and the saga_log row commit together, so a crash leaves either the old state or the new one. The context is a JSON column (@JdbcTypeCode(SqlTypes.JSON)) that accumulates each step's result, which the data-dependency slide builds on. A failed step logs the failure, marks the saga COMPENSATING and returns, and the caller runs the unwinder.</a:t>
            </a:r>
            <a:endParaRPr/>
          </a:p>
          <a:p>
            <a:pPr indent="0" lvl="0" marL="0" rtl="0" algn="l">
              <a:spcBef>
                <a:spcPts val="0"/>
              </a:spcBef>
              <a:spcAft>
                <a:spcPts val="0"/>
              </a:spcAft>
              <a:buNone/>
            </a:pPr>
            <a:r>
              <a:rPr lang="en-US"/>
              <a:t>Recovery needs no special path: on startup the service loads the RUNNING sagas and calls advance() again, and the loop resumes from the stored step index. The managed alternative is Quarkus Flow, which provides this state machine, retries and timers out of the box; the data-dependency slide shows it.</a:t>
            </a:r>
            <a:endParaRPr/>
          </a:p>
        </p:txBody>
      </p:sp>
      <p:sp>
        <p:nvSpPr>
          <p:cNvPr id="1340" name="Google Shape;1340;g3e51f6cd2d6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1f6cd2d6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1f6cd2d6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1f6cd2d6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1f6cd2d6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1f6cd2d6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Each forward step names its inverse (SagaStep holds both), and the saga's step index says how many steps completed. We walk those steps in reverse, newest first, and run each compensation through the same step executor. Every attempt is written to saga_log in its own transaction, as compensate or failed, so a compensation that fails is recorded rather than skipped, and the saga ends COMPENSATED.</a:t>
            </a:r>
            <a:endParaRPr/>
          </a:p>
          <a:p>
            <a:pPr indent="0" lvl="0" marL="0" rtl="0" algn="l">
              <a:spcBef>
                <a:spcPts val="0"/>
              </a:spcBef>
              <a:spcAft>
                <a:spcPts val="0"/>
              </a:spcAft>
              <a:buNone/>
            </a:pPr>
            <a:r>
              <a:rPr lang="en-US"/>
              <a:t>In production you would also make each compensating call idempotent on the receiving service, for example with a key built from the saga id and the step, so a retry can never double-refund a customer, and track per-step compensation status so a crash halfway resumes from the right place. This is why compensations are designed up front, as part of each step, not bolted on after. If you use Quarkus Flow instead, you model these as the workflow's try/catch compensation tasks and the engine drives the unwind.</a:t>
            </a:r>
            <a:endParaRPr/>
          </a:p>
        </p:txBody>
      </p:sp>
      <p:sp>
        <p:nvSpPr>
          <p:cNvPr id="1364" name="Google Shape;1364;g3e51f6cd2d6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1f6cd2d6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1f6cd2d6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's.context.put(step, result)' line is exactly this, and Quarkus Flow does it for you via the workflow data document.</a:t>
            </a:r>
            <a:endParaRPr/>
          </a:p>
        </p:txBody>
      </p:sp>
      <p:sp>
        <p:nvSpPr>
          <p:cNvPr id="1377" name="Google Shape;1377;g3e51f6cd2d6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1f6cd2d6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1f6cd2d6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your question directly, using Quarkus Flow (the managed option from the state-options slide). In the CNCF Serverless Workflow model that Flow implements, each task's output becomes the next task's input: the workflow data document is the saga context, carried forward automatically. So bookShipping (B) receives reserveStock's (A's) output as its input; B never calls A, avoiding the hidden synchronous coupling. Quarkus Flow persists the data document and the current position after every task, so the crash scenario you raised resolves cleanly: the engine reloads the workflow, sees A is done and its result is in the data document, and resumes at B — A is never re-invoked, nothing is lost. The fluent task API here is illustrative; the point is the data-flow-plus-durable-state semantics. If you hand-roll it instead, that's the Panache 's.context.put(step, result)' line in the persisted-state code — same idea, you just own the plumbing.</a:t>
            </a:r>
            <a:endParaRPr/>
          </a:p>
        </p:txBody>
      </p:sp>
      <p:sp>
        <p:nvSpPr>
          <p:cNvPr id="1388" name="Google Shape;1388;g3e51f6cd2d6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1f6cd2d6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1f6cd2d6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1f6cd2d6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1f6cd2d6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1f6cd2d6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1f6cd2d6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1f6cd2d6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1f6cd2d6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1f6cd2d6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1f6cd2d6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1f6cd2d6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@ServerExceptionMapper is the Quarkus REST pattern: domain code throws a typed exception, and one method maps it to the wire format, so you never scatter ad-hoc error JSON across resources. Note the media type is application/problem+json (RFC 9457), the status matches the category (409 here — a conflict the client can act on), and the body carries the stable code and the OpenTelemetry traceId for correlation. What's absent: any stack trace, exception class name, or SQL; those leak internals and are an attack surface. Register one mapper per error family, or a base-class mapper that switches on a code.</a:t>
            </a:r>
            <a:endParaRPr/>
          </a:p>
        </p:txBody>
      </p:sp>
      <p:sp>
        <p:nvSpPr>
          <p:cNvPr id="1433" name="Google Shape;1433;g3e51f6cd2d6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1f6cd2d6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1f6cd2d6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1f6cd2d6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1f6cd2d6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1f6cd2d6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grpc-java's rich-error model via StatusProto. The canonical code UNAVAILABLE tells the client and the mesh this is transient and retryable; the google.rpc.Status carries structured details — ErrorInfo with a machine reason and domain, and RetryInfo telling the client exactly how long to wait. StatusProto.toStatusRuntimeException packs it into the trailers, and we fail the Mutiny Uni with it. The key discipline: don't overload a generic INTERNAL code for everything — the code is how automated clients and Istio decide whether and when to retry, so getting it right is what prevents both lost work and retry storms.</a:t>
            </a:r>
            <a:endParaRPr/>
          </a:p>
        </p:txBody>
      </p:sp>
      <p:sp>
        <p:nvSpPr>
          <p:cNvPr id="1457" name="Google Shape;1457;g3e51f6cd2d6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1f6cd2d6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1f6cd2d6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With SmallRye Reactive Messaging this is configuration, not hand-rolled plumbing.</a:t>
            </a:r>
            <a:endParaRPr/>
          </a:p>
        </p:txBody>
      </p:sp>
      <p:sp>
        <p:nvSpPr>
          <p:cNvPr id="1470" name="Google Shape;1470;g3e51f6cd2d6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1f6cd2d6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1f6cd2d6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makes this declarative. @Retry from SmallRye Fault Tolerance gives bounded in-place retries with jitter; when those are exhausted the method nacks, and the connector's failure-strategy takes over. dead-letter-queue commits the offset and writes the record to orders.DLQ; delayed-retry-topic instead forwards it through a series of delay topics (5s, 30s) for later reprocessing without blocking the live stream, DLQ-ing only after those are exhausted. Either way the offset advances, so one poison record never causes head-of-line blocking. Make handle() idempotent — at-least-once delivery means retried records may have partially applied. This is the framework version of the manual retry/DLQ loop.</a:t>
            </a:r>
            <a:endParaRPr/>
          </a:p>
        </p:txBody>
      </p:sp>
      <p:sp>
        <p:nvSpPr>
          <p:cNvPr id="1481" name="Google Shape;1481;g3e51f6cd2d6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1f6cd2d6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1f6cd2d6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1f6cd2d6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1f6cd2d6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1f6cd2d6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Throwing from a single field's resolver is exactly right: SmallRye GraphQL catches it, sets that field to null, and appends an entry to errors[] with the message and path — while every other field resolves and returns normally. The @ErrorCode annotation on the exception maps straight to extensions.code, and quarkus.smallrye-graphql.error-extension-fields controls which fields (code, retryable, traceId) appear in the extensions object. Resist letting the exception bubble to the top and fail the whole operation — that's the blanket-failure anti-pattern. The client sees the order and total, sees stock is null, reads extensions.code, and decides whether to retry just stock.</a:t>
            </a:r>
            <a:endParaRPr/>
          </a:p>
        </p:txBody>
      </p:sp>
      <p:sp>
        <p:nvSpPr>
          <p:cNvPr id="1505" name="Google Shape;1505;g3e51f6cd2d6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1f6cd2d6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1f6cd2d6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Quarkus, SmallRye Fault Tolerance (@Timeout, @Retry with jitter, @CircuitBreaker, @Bulkhead) plus the Istio config from section 2 give you these at both the code and mesh layers.</a:t>
            </a:r>
            <a:endParaRPr/>
          </a:p>
        </p:txBody>
      </p:sp>
      <p:sp>
        <p:nvSpPr>
          <p:cNvPr id="1518" name="Google Shape;1518;g3e51f6cd2d6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1f6cd2d6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1f6cd2d6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(SmallRye Fault Tolerance gives you @Timeout, @Retry with jitter and @CircuitBreaker declaratively), protected by a retry budget, and every handler idempotent so a redelivered or retried request is safe. Get these right and your failure paths become as boring as your happy paths.</a:t>
            </a:r>
            <a:endParaRPr/>
          </a:p>
        </p:txBody>
      </p:sp>
      <p:sp>
        <p:nvSpPr>
          <p:cNvPr id="1529" name="Google Shape;1529;g3e51f6cd2d6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1f6cd2d6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1f6cd2d6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1f6cd2d6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1f6cd2d6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1f6cd2d6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1f6cd2d6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1f6cd2d6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1f6cd2d6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1f6cd2d6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1f6cd2d6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1f6cd2d6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1f6cd2d6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1f6cd2d6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1f6cd2d6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1f6cd2d6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1f6cd2d6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1f6cd2d6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1f6cd2d6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1f6cd2d6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1f6cd2d6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1f6cd2d6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1f6cd2d6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1f6cd2d6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blocks. Ports: the domain declares plain Java interfaces, a repository and an event publisher, and depends on nothing else. The use case, PlaceOrderUseCase, is a plain class with no jakarta or Quarkus import: it creates the aggregate, saves it through the port and publishes a domain event through the port. One CDI producer method is the only place the framework meets it. The outbound ports are implemented by adapters: a Panache-backed repository over an OrderEntity (the domain Order stays free of JPA) and a publisher that logs the event.</a:t>
            </a:r>
            <a:endParaRPr/>
          </a:p>
          <a:p>
            <a:pPr indent="0" lvl="0" marL="0" rtl="0" algn="l">
              <a:spcBef>
                <a:spcPts val="0"/>
              </a:spcBef>
              <a:spcAft>
                <a:spcPts val="0"/>
              </a:spcAft>
              <a:buNone/>
            </a:pPr>
            <a:r>
              <a:rPr lang="en-US"/>
              <a:t>The driving adapters are thin. The REST resource turns the HTTP body into a command and calls the use case. The command-line adapter is a QuarkusApplication started under a profile that turns the HTTP server off, and it calls the same use case and the same repository. That's dependency inversion serving the boundary: protocols are replaceable, the domain stays stable.</a:t>
            </a:r>
            <a:endParaRPr/>
          </a:p>
        </p:txBody>
      </p:sp>
      <p:sp>
        <p:nvSpPr>
          <p:cNvPr id="1612" name="Google Shape;1612;g3e51f6cd2d6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1f6cd2d6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1f6cd2d6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1f6cd2d6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1f6cd2d6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1f6cd2d6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1f6cd2d6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1f6cd2d6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1f6cd2d6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1f6cd2d6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1f6cd2d6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1f6cd2d6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1f6cd2d6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1f6cd2d6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1f6cd2d6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1f6cd2d6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1f6cd2d6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1f6cd2d6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1f6cd2d6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1f6cd2d6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1f6cd2d6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1f6cd2d6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1f6cd2d6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1f6cd2d6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1f6cd2d6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1f6cd2d6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1f6cd2d6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1f6cd2d6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1f6cd2d6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1f6cd2d6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1f6cd2d6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1f6cd2d6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1f6cd2d6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1f6cd2d6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1f6cd2d6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1f6cd2d6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1f6cd2d6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1f6cd2d6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1f6cd2d6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1f6cd2d6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1f6cd2d6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1f6cd2d6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1f6cd2d6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1f6cd2d6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1f6cd2d6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1f6cd2d6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1f6cd2d6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1f6cd2d6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1f6cd2d6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1f6cd2d6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1f6cd2d6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1f6cd2d6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1f6cd2d6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1f6cd2d6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With quarkus.shutdown.delay-enabled=true, one SIGTERM, the only signal Kubernetes sends before SIGKILL, makes Quarkus fire ShutdownDelayInitiatedEvent and keep serving for quarkus.shutdown.delay (DRAIN_DELAY_SECONDS, 5 s; it plays the part of a preStop sleep) while the endpoint removal propagates. The ShutdownState bean observes the event and flips its flag, so the DrainReadinessCheck, a SmallRye Health @Readiness check, reports DOWN and /readyz answers 503 beside the datasource check, while /healthz keeps answering 200.</a:t>
            </a:r>
            <a:endParaRPr/>
          </a:p>
          <a:p>
            <a:pPr indent="0" lvl="0" marL="0" rtl="0" algn="l">
              <a:spcBef>
                <a:spcPts val="0"/>
              </a:spcBef>
              <a:spcAft>
                <a:spcPts val="0"/>
              </a:spcAft>
              <a:buNone/>
            </a:pPr>
            <a:r>
              <a:rPr lang="en-US"/>
              <a:t>When the delay ends Quarkus stops accepting connections, fires ShutdownEvent, waits for in-flight requests up to quarkus.shutdown.timeout (20 s), closes the datasource and exits, inside the 30-second grace period. A ShutdownEvent observer is also the hook for what Quarkus leaves to you: Kafka consumers, the scheduler, WebSockets. Pair it with the Kubernetes side: probes, preStop and the grace period.</a:t>
            </a:r>
            <a:endParaRPr/>
          </a:p>
        </p:txBody>
      </p:sp>
      <p:sp>
        <p:nvSpPr>
          <p:cNvPr id="1800" name="Google Shape;1800;g3e51f6cd2d6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1f6cd2d6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1f6cd2d6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1f6cd2d6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1f6cd2d6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1f6cd2d6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1f6cd2d6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1f6cd2d6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1f6cd2d6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1f6cd2d6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1f6cd2d6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1f6cd2d6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Quarkus + Apache Camel + Drools, then circle back to east/west, where most routing decisions happen.</a:t>
            </a:r>
            <a:endParaRPr/>
          </a:p>
        </p:txBody>
      </p:sp>
      <p:sp>
        <p:nvSpPr>
          <p:cNvPr id="1846" name="Google Shape;1846;g3e51f6cd2d6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1f6cd2d6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1f6cd2d6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1f6cd2d6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1f6cd2d6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1f6cd2d6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1f6cd2d6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1f6cd2d6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1f6cd2d6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1f6cd2d6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1f6cd2d6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1f6cd2d6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(Quarkus + Apache Camel + Drools + Kogito DMN). Each layer is the right place for a different type of decision; every topic in this appendix maps to one of them.</a:t>
            </a:r>
            <a:endParaRPr/>
          </a:p>
        </p:txBody>
      </p:sp>
      <p:sp>
        <p:nvSpPr>
          <p:cNvPr id="1887" name="Google Shape;1887;g3e51f6cd2d6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1f6cd2d6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1f6cd2d6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1f6cd2d6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1f6cd2d6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1f6cd2d6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1f6cd2d6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1f6cd2d6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1f6cd2d6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1f6cd2d6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1f6cd2d6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1f6cd2d6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1f6cd2d6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1f6cd2d6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1f6cd2d6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1f6cd2d6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1f6cd2d6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1f6cd2d6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1f6cd2d6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1f6cd2d6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1f6cd2d6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1f6cd2d6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1f6cd2d6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1f6cd2d6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1f6cd2d6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1f6cd2d6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1f6cd2d6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1f6cd2d6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1f6cd2d6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1f6cd2d6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1f6cd2d6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1f6cd2d6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1f6cd2d6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1f6cd2d6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1f6cd2d6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1f6cd2d6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1f6cd2d6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1f6cd2d6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1f6cd2d6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1f6cd2d6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1f6cd2d6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1f6cd2d6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1f6cd2d6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1f6cd2d6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1f6cd2d6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canonical Java pattern (verified from the Apache Camel and KIE community examples). Inputs arrive over REST, gRPC or Kafka. They land in an Apache Camel route, which is a fluent DSL for Enterprise Integration Patterns: from(...) declares the source, .enrich() gathers any context needed for the decision, .process(rulesEvaluator) calls into Drools (rules) or Kogito DMN (decision tables), which sets a 'whereTo' header on the message. Then .routingSlip(header("whereTo")) dynamically dispatches to one or more destinations based on that header. The Drools rule unit is a separate, version-controlled artefact — .drl rules or DMN decision tables that domain experts can edit independently of the Camel route. The result: the routing logic is data, not code; reroutes don't need redeploys; and the heavy network plumbing stays in the mesh.</a:t>
            </a:r>
            <a:endParaRPr/>
          </a:p>
        </p:txBody>
      </p:sp>
      <p:sp>
        <p:nvSpPr>
          <p:cNvPr id="2059" name="Google Shape;2059;g3e51f6cd2d6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1f6cd2d6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1f6cd2d6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structure used in the official Camel + Quarkus + Drools content-based-routing example (from Red Hat's iDaaS-style use case). from() picks up Kafka messages. enrich() makes an HTTP call to a customer service to gather additional context and aggregates it onto the exchange. process(rules::evaluate) hands the enriched message to the rule engine, which fires .drl rules against the facts and sets a 'whereTo' header listing one or more destination URIs. routingSlip then dispatches the message to each of those destinations in sequence. The whole pattern is 15 lines of fluent Java; the routing logic lives in the .drl rules, owned by domain experts and editable without a Quarkus rebuild.</a:t>
            </a:r>
            <a:endParaRPr/>
          </a:p>
        </p:txBody>
      </p:sp>
      <p:sp>
        <p:nvSpPr>
          <p:cNvPr id="2070" name="Google Shape;2070;g3e51f6cd2d6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1f6cd2d6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1f6cd2d6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Drools rules are 'when ... then ...' statements. The 'when' is a pattern match against facts in the working memory (here, OrderFact). The 'then' is the action — in our case, setting the whereTo header that the Camel routingSlip will consume. Two real rules and a default with low salience (so it fires last if nothing else matched). This file is owned by domain experts, the people who decide what 'VIP' or 'high-value' mean, and can be redeployed without a developer touching Camel or Quarkus code. When the rules get complex, Drools/Kogito has a DMN (Decision Model and Notation) flavour with decision tables in a spreadsheet form that non-developers find easier still.</a:t>
            </a:r>
            <a:endParaRPr/>
          </a:p>
        </p:txBody>
      </p:sp>
      <p:sp>
        <p:nvSpPr>
          <p:cNvPr id="2083" name="Google Shape;2083;g3e51f6cd2d6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1f6cd2d6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1f6cd2d6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1f6cd2d6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1f6cd2d6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1f6cd2d6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1f6cd2d6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1f6cd2d6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1f6cd2d6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1f6cd2d6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1f6cd2d6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1f6cd2d6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1f6cd2d6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1f6cd2d6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1f6cd2d6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1f6cd2d6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1f6cd2d6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1f6cd2d6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1f6cd2d6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1f6cd2d6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1f6cd2d6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1f6cd2d6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1f6cd2d6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1f6cd2d6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and the Camel/KIE content-based routing example (the canonical demo for the Quarkus + Apache Camel + Drools pattern shown).</a:t>
            </a:r>
            <a:endParaRPr/>
          </a:p>
        </p:txBody>
      </p:sp>
      <p:sp>
        <p:nvSpPr>
          <p:cNvPr id="2171" name="Google Shape;2171;g3e51f6cd2d6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1f6cd2d6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1f6cd2d6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uses Quarkus REST + REST Client Reactive + Mutiny, but the patterns are language-neutral.</a:t>
            </a:r>
            <a:endParaRPr/>
          </a:p>
        </p:txBody>
      </p:sp>
      <p:sp>
        <p:nvSpPr>
          <p:cNvPr id="2181" name="Google Shape;2181;g3e51f6cd2d6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1f6cd2d6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1f6cd2d6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1f6cd2d6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1f6cd2d6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1f6cd2d6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Quarkus you can split the codebase into multi-module Maven/Gradle builds with explicit dependency declarations — ArchUnit or jdeps in CI fails the build if Orders.internals is imported outside the orders module. Modules can share a database, but each owns a schema and no cross-schema joins are allowed. Why this is often the destination: you get most of the benefits of microservices (clear boundaries, replaceable modules, independent reasoning) at a fraction of the operational cost — one Pod, one deployment, one log stream, one debugger session. If you do need to split later, you have a small refactor, not a rewrite. The cost of being wrong about boundaries is also lower.</a:t>
            </a:r>
            <a:endParaRPr/>
          </a:p>
        </p:txBody>
      </p:sp>
      <p:sp>
        <p:nvSpPr>
          <p:cNvPr id="2202" name="Google Shape;2202;g3e51f6cd2d6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1f6cd2d6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1f6cd2d6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The insight of this pattern: do that work while you're still one process. Each module gets its own Postgres / Mongo / whatever, its own connection pool, its own Liquibase or Flyway migration history. Quarkus makes this natural — multiple datasources are first-class via 'quarkus.datasource.&lt;named&gt;.*' configuration, and each Panache repository binds to its named datasource. Cross-module data is now async or event-driven — you replace a JOIN with a service call or an event subscription (typically via SmallRye Reactive Messaging). Same discipline microservices require, but with one operational target instead of N. Once this is done, promoting a module to a separate service is a refactor of the deployment topology, not a data-migration project.</a:t>
            </a:r>
            <a:endParaRPr/>
          </a:p>
        </p:txBody>
      </p:sp>
      <p:sp>
        <p:nvSpPr>
          <p:cNvPr id="2213" name="Google Shape;2213;g3e51f6cd2d6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1f6cd2d6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1f6cd2d6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The three steps are the unit of work you repeat. Identify: pick a bounded asset — 'order creation' or 'order status query' specifically. The smaller and more bounded, the safer the move. Move: build the new Quarkus service alongside the monolith, replicate the behaviour, test it in parallel without production traffic. REDIRECT: switch callers to the new service. Each cycle is independently reversible. There are three ways to do the redirect: via a proxy, via a proxy plus partial routing, or via a shared database. The proxy is the foundation for everything else.</a:t>
            </a:r>
            <a:endParaRPr/>
          </a:p>
        </p:txBody>
      </p:sp>
      <p:sp>
        <p:nvSpPr>
          <p:cNvPr id="2224" name="Google Shape;2224;g3e51f6cd2d6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1f6cd2d6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1f6cd2d6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Quarkus service, then 5%, then 100%. Without this step, every cutover requires coordinated client releases. With it, every cutover is a proxy config change. For Quarkus deployments this is typically nginx, Envoy, or Istio gateway as a Kubernetes Service ahead of your application Pods. The proxy is also the right place for TLS termination, auth, rate-limiting, and observability — the strangler-fig literature calls this 'event interception.'</a:t>
            </a:r>
            <a:endParaRPr/>
          </a:p>
        </p:txBody>
      </p:sp>
      <p:sp>
        <p:nvSpPr>
          <p:cNvPr id="2235" name="Google Shape;2235;g3e51f6cd2d6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1f6cd2d6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1f6cd2d6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routes: by path (/orders/* → new Quarkus service), by header (X-Tenant: acme → new service), by percentage (1% → new), or by feature flag (beta users → new). The new service handles its slice; the monolith handles everything else. Clients still see one URL. Roll forward by widening the new-service route in proxy config; roll back by narrowing. The new service can fail completely and the monolith picks up — the bounded blast radius is the entire point. Instrument both paths so you can verify the new service produces the same outcomes as the monolith before widening. For Quarkus, this typically lives in Istio VirtualService rules or nginx server blocks — same patterns from Appendix I, used for migration instead of canary release.</a:t>
            </a:r>
            <a:endParaRPr/>
          </a:p>
        </p:txBody>
      </p:sp>
      <p:sp>
        <p:nvSpPr>
          <p:cNvPr id="2246" name="Google Shape;2246;g3e51f6cd2d6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1f6cd2d6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1f6cd2d6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the new Quarkus service and the monolith share a database for a while. Both apps read and write the same tables; the new service owns the API but not the data. Useful for extracting reads first (the new service is a read API over the shared store), or as a stepping stone when the data migration is a separate project. A stage, not a destination: every schema change now needs both apps to agree, and the coordination tax grows. The next step is to give the new service its own store: CDC out of the monolith's DB into the new service's via Debezium, or dual-writing during a brief sync window, or event-sourcing the data into the new service. Plan that step before starting the shared-DB phase.</a:t>
            </a:r>
            <a:endParaRPr/>
          </a:p>
        </p:txBody>
      </p:sp>
      <p:sp>
        <p:nvSpPr>
          <p:cNvPr id="2257" name="Google Shape;2257;g3e51f6cd2d6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1f6cd2d6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1f6cd2d6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shape. The proxy is a Quarkus REST resource that reads the body and decides which downstream to call. The MicroProfile REST Client (@RegisterRestClient) gives typed outbound calls; declare Uni&lt;T&gt; on the client interface when the proxy should not block a worker thread.</a:t>
            </a:r>
            <a:endParaRPr/>
          </a:p>
          <a:p>
            <a:pPr indent="0" lvl="0" marL="0" rtl="0" algn="l">
              <a:spcBef>
                <a:spcPts val="0"/>
              </a:spcBef>
              <a:spcAft>
                <a:spcPts val="0"/>
              </a:spcAft>
              <a:buNone/>
            </a:pPr>
            <a:r>
              <a:rPr lang="en-US"/>
              <a:t>The decision is by payload content (tenant, region, feature flag), not by URL pattern. That makes the pattern more flexible than path-based proxying: you can roll the new service out to one tenant at a time, watch it under production traffic, then widen. Behind a proxy (nginx, Envoy, Istio) the same logic becomes a Lua or WASM filter or an EnvoyFilter at the mesh layer; the resource version shows the shape.</a:t>
            </a:r>
            <a:endParaRPr/>
          </a:p>
          <a:p>
            <a:pPr indent="0" lvl="0" marL="0" rtl="0" algn="l">
              <a:spcBef>
                <a:spcPts val="0"/>
              </a:spcBef>
              <a:spcAft>
                <a:spcPts val="0"/>
              </a:spcAft>
              <a:buNone/>
            </a:pPr>
            <a:r>
              <a:rPr lang="en-US"/>
              <a:t>Parsing the body costs CPU. Over a migration of months that cost adds up; over a migration of days it is small next to the risk control it buys.</a:t>
            </a:r>
            <a:endParaRPr/>
          </a:p>
        </p:txBody>
      </p:sp>
      <p:sp>
        <p:nvSpPr>
          <p:cNvPr id="2268" name="Google Shape;2268;g3e51f6cd2d6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1f6cd2d6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1f6cd2d6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Quarkus service sits in front of the legacy API and adds cross-cutting capability: caching, audit, validation, enrichment, fan-out to Kafka, rate-limiting, metrics. The legacy service is unaware. Clients now talk to the decorator's API, which delegates for the underlying work but contributes everything else. Over time, the decorator can take ownership of more behaviour. Particularly useful when the legacy system is a 3rd-party product, a vendor system, or a piece of code so fragile that touching it is forbidden. The decorator is a real Quarkus microservice (its own deploy, its own scaling, its own data) — not just a router. Common implementation: Quarkus + REST Client Reactive + Redis client + Reactive Messaging emitter.</a:t>
            </a:r>
            <a:endParaRPr/>
          </a:p>
        </p:txBody>
      </p:sp>
      <p:sp>
        <p:nvSpPr>
          <p:cNvPr id="2281" name="Google Shape;2281;g3e51f6cd2d6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1f6cd2d6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1f6cd2d6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Quarkus decorator. LegacyClient is a typed MicroProfile REST Client (quarkus.rest-client.legacy.url), so the call to the legacy service is a method call. The POST path delegates the write to the legacy service, which stays the source of truth, reads the new order id from its answer and emits an order.placed event through a Reactive Messaging Emitter on the order-events-out channel. The event is a map written by the Jackson serializer, so the field order stays event, order_id, then the request fields. The GET path looks in Redis through the Quarkus Redis client (RedisDataSource, quarkus-redis-client), falls back to the legacy service on a miss and populates the cache with a 60-second TTL; the log lines CACHE_HIT and CACHE_MISS show which way it went.</a:t>
            </a:r>
            <a:endParaRPr/>
          </a:p>
          <a:p>
            <a:pPr indent="0" lvl="0" marL="0" rtl="0" algn="l">
              <a:spcBef>
                <a:spcPts val="0"/>
              </a:spcBef>
              <a:spcAft>
                <a:spcPts val="0"/>
              </a:spcAft>
              <a:buNone/>
            </a:pPr>
            <a:r>
              <a:rPr lang="en-US"/>
              <a:t>The legacy service does not know it is wrapped, and clients do not know they talk to a decorator.</a:t>
            </a:r>
            <a:endParaRPr/>
          </a:p>
          <a:p>
            <a:pPr indent="0" lvl="0" marL="0" rtl="0" algn="l">
              <a:spcBef>
                <a:spcPts val="0"/>
              </a:spcBef>
              <a:spcAft>
                <a:spcPts val="0"/>
              </a:spcAft>
              <a:buNone/>
            </a:pPr>
            <a:r>
              <a:rPr lang="en-US"/>
              <a:t>Over time more behaviour moves into the decorator: validation rules, idempotency keys, deduplication, multi-source reads. To retire the legacy service, implement the order storage inside the decorator (or in a new service it calls) and stop forwarding; the API stays the same for clients.</a:t>
            </a:r>
            <a:endParaRPr/>
          </a:p>
        </p:txBody>
      </p:sp>
      <p:sp>
        <p:nvSpPr>
          <p:cNvPr id="2292" name="Google Shape;2292;g3e51f6cd2d6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1f6cd2d6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1f6cd2d6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Quarkus process, when it's cheaper to redo. The third point is the platform discipline: no proxy, no incremental migration. The fourth point is the schedule discipline: shared-database strangler is OK as a means but never as an end. The fifth and sixth are about choosing the right pattern.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1f6cd2d6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1f6cd2d6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1f6cd2d6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same patterns apply to in-memory caches or any KV store. CDN and HTTP-layer caching is mentioned in passing but isn't this appendix's focus. Code uses quarkus-redis-client (Mutiny reactive API) throughout.</a:t>
            </a:r>
            <a:endParaRPr/>
          </a:p>
        </p:txBody>
      </p:sp>
      <p:sp>
        <p:nvSpPr>
          <p:cNvPr id="2315" name="Google Shape;2315;g3e51f6cd2d6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1f6cd2d6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1f6cd2d6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Predictable performance is the operational win that is hard to measure: a cache layer flattens p99. Database cost is the financial win that often pays for the entire caching infrastructure. The sub-bullet at the end is what trips teams up: every cache adds complexity; pick the pattern that matches the consistency you need.</a:t>
            </a:r>
            <a:endParaRPr/>
          </a:p>
        </p:txBody>
      </p:sp>
      <p:sp>
        <p:nvSpPr>
          <p:cNvPr id="2325" name="Google Shape;2325;g3e51f6cd2d6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1f6cd2d6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1f6cd2d6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Quarkus application is in charge: try the cache first, on a miss query Postgres via Panache, populate the cache on the way back, return. Every other pattern in this appendix differs from this one in who does the work — cache-aside is the baseline. Pros: explicit, debuggable, no magic. Cons: every read has the if/else; cache miss costs two round trips; cache logic is repeated across services if you don't extract it. The TTL is the consistency knob — longer = fewer DB hits, more stale-read risk. Use this when you want explicit control and reads dominate writes.</a:t>
            </a:r>
            <a:endParaRPr/>
          </a:p>
        </p:txBody>
      </p:sp>
      <p:sp>
        <p:nvSpPr>
          <p:cNvPr id="2335" name="Google Shape;2335;g3e51f6cd2d6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1f6cd2d6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1f6cd2d6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cache-aside, as Example 25 runs it. SafeRedis wraps the Quarkus Redis client so every call is best effort: a Redis failure is logged and the read falls through to the database. The GET path looks in Redis for ca:product:&lt;id&gt;, falls back to Store.findProduct, a Panache lookup in its own transaction, on a miss and populates the cache with a 60-second TTL; the response says whether the value came from the cache or the db. The PUT path updates the row in a transaction and then deletes the cache key; setting the new value instead is write-through.</a:t>
            </a:r>
            <a:endParaRPr/>
          </a:p>
          <a:p>
            <a:pPr indent="0" lvl="0" marL="0" rtl="0" algn="l">
              <a:spcBef>
                <a:spcPts val="0"/>
              </a:spcBef>
              <a:spcAft>
                <a:spcPts val="0"/>
              </a:spcAft>
              <a:buNone/>
            </a:pPr>
            <a:r>
              <a:rPr lang="en-US"/>
              <a:t>For high-cardinality keys, set a maxmemory-policy on Redis (allkeys-lru is typical) so the cache cannot grow without bound.</a:t>
            </a:r>
            <a:endParaRPr/>
          </a:p>
        </p:txBody>
      </p:sp>
      <p:sp>
        <p:nvSpPr>
          <p:cNvPr id="2346" name="Google Shape;2346;g3e51f6cd2d6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1f6cd2d6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1f6cd2d6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layer, not the application, calls the database on a miss. The app calls cache.get() and gets the value back — doesn't know or care whether the cache had it or had to fetch. For Quarkus, the cleanest expression is via Quarkus Cache annotations (@CacheResult / @CacheInvalidate from quarkus-cache, which can be backed by Caffeine or Redis). The cache library handles miss-time loading; you write the loader as a normal method, annotated. Pros: cleaner application code, single read interface. Cons: less control over what triggers a DB hit. Use when read paths are repetitive across the codebase and you want to eliminate the if/else from every caller.</a:t>
            </a:r>
            <a:endParaRPr/>
          </a:p>
        </p:txBody>
      </p:sp>
      <p:sp>
        <p:nvSpPr>
          <p:cNvPr id="2359" name="Google Shape;2359;g3e51f6cd2d6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1f6cd2d6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1f6cd2d6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Read-through in Quarkus uses the Cache API from quarkus-cache with quarkus-redis-cache behind it. Cache.get(key, loader) looks in Redis first and runs the loader only on a miss, then stores the result for the TTL (quarkus.cache.redis.read-through.expire-after-write) under the configured prefix, so the application holds no if/else around the cache. The cache needs the value type (quarkus.cache.redis.read-through.value-type) to read entries back. A flag set inside the loader tells the response whether the value came from the cache or the database.</a:t>
            </a:r>
            <a:endParaRPr/>
          </a:p>
          <a:p>
            <a:pPr indent="0" lvl="0" marL="0" rtl="0" algn="l">
              <a:spcBef>
                <a:spcPts val="0"/>
              </a:spcBef>
              <a:spcAft>
                <a:spcPts val="0"/>
              </a:spcAft>
              <a:buNone/>
            </a:pPr>
            <a:r>
              <a:rPr lang="en-US"/>
              <a:t>A loader that throws, for a missing product, caches nothing, and when Redis is unreachable Cache.get runs the loader and returns its value, so a Redis outage costs hits, not availability. The annotation form, @CacheResult on a service method, expresses the same pattern declaratively; the explicit call is used here because the response reports the source of the value.</a:t>
            </a:r>
            <a:endParaRPr/>
          </a:p>
        </p:txBody>
      </p:sp>
      <p:sp>
        <p:nvSpPr>
          <p:cNvPr id="2370" name="Google Shape;2370;g3e51f6cd2d6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1f6cd2d6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1f6cd2d6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The Quarkus app calls cache.set(...) and Panache 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The usual discipline: write the DB first inside a @Transactional boundary, then write the cache. Accept that a failure between them means the cache may briefly hold a stale value. Pair with a short TTL so any inconsistency self-heals.</a:t>
            </a:r>
            <a:endParaRPr/>
          </a:p>
        </p:txBody>
      </p:sp>
      <p:sp>
        <p:nvSpPr>
          <p:cNvPr id="2383" name="Google Shape;2383;g3e51f6cd2d6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1f6cd2d6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1f6cd2d6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Write-through in Quarkus. The update writes the row first, then reads it back through Store.findProduct and caches that value: the canonical row, including server-side defaults. The DB write comes first because the DB is the source of truth; if the cache write fails, you lose cache freshness, not data.</a:t>
            </a:r>
            <a:endParaRPr/>
          </a:p>
          <a:p>
            <a:pPr indent="0" lvl="0" marL="0" rtl="0" algn="l">
              <a:spcBef>
                <a:spcPts val="0"/>
              </a:spcBef>
              <a:spcAft>
                <a:spcPts val="0"/>
              </a:spcAft>
              <a:buNone/>
            </a:pPr>
            <a:r>
              <a:rPr lang="en-US"/>
              <a:t>Writing the request body straight to the cache would save a read but can diverge from the row when the database applies defaults, triggers or computed columns. The TTL is the safety net: if cache and DB drift briefly, they converge when the entry expires and the next read repopulates it.</a:t>
            </a:r>
            <a:endParaRPr/>
          </a:p>
        </p:txBody>
      </p:sp>
      <p:sp>
        <p:nvSpPr>
          <p:cNvPr id="2394" name="Google Shape;2394;g3e51f6cd2d6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1f6cd2d6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1f6cd2d6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1f6cd2d6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1f6cd2d6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1f6cd2d6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Write-around: the write goes to the database through Panache and the cache is not touched; the read side is plain cache-aside, so the first read populates the entry. If a concurrent reader may have cached a stale sibling entry, delete that key after the insert; it is cheap insurance on high-contention paths.</a:t>
            </a:r>
            <a:endParaRPr/>
          </a:p>
          <a:p>
            <a:pPr indent="0" lvl="0" marL="0" rtl="0" algn="l">
              <a:spcBef>
                <a:spcPts val="0"/>
              </a:spcBef>
              <a:spcAft>
                <a:spcPts val="0"/>
              </a:spcAft>
              <a:buNone/>
            </a:pPr>
            <a:r>
              <a:rPr lang="en-US"/>
              <a:t>The pattern fits workloads where most writes are never read back. A security event log might take 10,000 writes a minute and 100 reads a day for active alerts; caching every write would churn entries. A product catalog is the opposite: every read is a probable hit, so write-through makes the writer's update visible to the next reader.</a:t>
            </a:r>
            <a:endParaRPr/>
          </a:p>
        </p:txBody>
      </p:sp>
      <p:sp>
        <p:nvSpPr>
          <p:cNvPr id="2418" name="Google Shape;2418;g3e51f6cd2d6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1f6cd2d6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1f6cd2d6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Quarkus app writes to the cache and returns an immediate ack — the cache is the source of truth for that window. A background @Scheduled drains the cache to the DB, batching writes for efficiency. Pros: write latency equals cache latency — microseconds, not milliseconds; massive throughput. Cons: a cache crash before the flusher catches up loses unflushed writes; the cache must be configured for persistence (Redis AOF or RDB), and even then you might lose seconds of data. Use this pattern only when (a) write throughput is the constraint, (b) eventual durability is acceptable, and (c) you've worked out what 'lost the last 5 seconds of writes' means for your business.</a:t>
            </a:r>
            <a:endParaRPr/>
          </a:p>
        </p:txBody>
      </p:sp>
      <p:sp>
        <p:nvSpPr>
          <p:cNvPr id="2431" name="Google Shape;2431;g3e51f6cd2d6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1f6cd2d6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1f6cd2d6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Quarkus write-back, as Example 25 runs it. (1) PUT /write-back/metrics/{mid} writes the metric to a Redis hash, adds the id to a dirty set, which tells the flusher what still has to reach the database, and answers 202 Accepted: the value is queued, not yet durable. (2) A @Scheduled method runs every second (a run is skipped while one is in flight), pops up to FLUSH_BATCH dirty ids with SPOP (atomic, so two flusher instances get distinct subsets and the flusher scales out) and upserts each one through Hibernate's StatelessSession.upsert, which issues INSERT ... ON CONFLICT (id) DO UPDATE, so an id flushed twice stays one row. (3) An id whose upsert fails is re-queued: its count in the metric:attempts hash goes up and it goes back on the dirty set, or, after five attempts, onto metric:failed with its value still in the cache and the failure in the log. After a failed run the flusher waits two seconds, then four, then eight before it tries again.</a:t>
            </a:r>
            <a:endParaRPr/>
          </a:p>
          <a:p>
            <a:pPr indent="0" lvl="0" marL="0" rtl="0" algn="l">
              <a:spcBef>
                <a:spcPts val="0"/>
              </a:spcBef>
              <a:spcAft>
                <a:spcPts val="0"/>
              </a:spcAft>
              <a:buNone/>
            </a:pPr>
            <a:r>
              <a:rPr lang="en-US"/>
              <a:t>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1f6cd2d6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1f6cd2d6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1f6cd2d6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you need a way to identify which keys are hot.</a:t>
            </a:r>
            <a:endParaRPr/>
          </a:p>
        </p:txBody>
      </p:sp>
      <p:sp>
        <p:nvSpPr>
          <p:cNvPr id="2455" name="Google Shape;2455;g3e51f6cd2d6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1f6cd2d6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1f6cd2d6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Refresh-ahead in Quarkus. A Redis sorted set tracks which keys are hot, scored by the last access time; every read touches it. A @Scheduled task runs every 5 seconds: it drops keys not read in the last 5 minutes (ZREMRANGEBYSCORE), then for each remaining key checks the TTL and, when it is under refresh-before-seconds (10 by default), re-reads the row and resets the entry.</a:t>
            </a:r>
            <a:endParaRPr/>
          </a:p>
          <a:p>
            <a:pPr indent="0" lvl="0" marL="0" rtl="0" algn="l">
              <a:spcBef>
                <a:spcPts val="0"/>
              </a:spcBef>
              <a:spcAft>
                <a:spcPts val="0"/>
              </a:spcAft>
              <a:buNone/>
            </a:pPr>
            <a:r>
              <a:rPr lang="en-US"/>
              <a:t>A variant subscribes to Redis keyspace notifications for expiry events and refreshes on the event; it is cleaner but needs more setup. The pattern fits read-heavy workloads where a small set of keys serves most traffic and miss latency is visible to users.</a:t>
            </a:r>
            <a:endParaRPr/>
          </a:p>
        </p:txBody>
      </p:sp>
      <p:sp>
        <p:nvSpPr>
          <p:cNvPr id="2466" name="Google Shape;2466;g3e51f6cd2d6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1f6cd2d6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1f6cd2d6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profile first. The third is operational — an unbounded Redis with no eviction policy will OOM-kill itself. The fourth is the cache stampede problem: hot key expires → 100 concurrent Quarkus Pods all miss → 100 simultaneous DB reads → DB tips over. Mitigations: distributed lock per key (only one fetches, the rest wait); refresh-ahead; TTL jitter (add random ms to TTL so similar keys don't expire together). The fifth is the most common stale-data bug.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1f6cd2d6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1f6cd2d6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1f6cd2d6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(or Quarkus @CacheResult read-through) is the default and the right pattern for most reads.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1f6cd2d6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820193c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820193c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820193c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820193c_0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820193c_0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820193c_0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820193c_0_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820193c_0_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820193c_0_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820193c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820193c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820193c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820193c_0_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820193c_0_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820193c_0_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820193c_0_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820193c_0_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820193c_0_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820193c_0_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820193c_0_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820193c_0_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820193c_0_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820193c_0_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820193c_0_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820193c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820193c_0_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820193c_0_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820193c_0_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820193c_0_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820193c_0_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820193c_0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820193c_0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820193c_0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820193c_0_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820193c_0_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@Timeout from MicroProfile Fault Tolerance puts a hard ceiling on the method. The more important defence is the REST client's own connect/read timeouts in application.properties — without those, the @Timeout fires but a socket can still hang a thread underneath. The method also honours an inbound deadline and propagates the remaining budget to the downstream client call. Quarkus REST Client propagates OpenTelemetry context automatically; the deadline is an explicit business parameter here.</a:t>
            </a:r>
            <a:endParaRPr/>
          </a:p>
        </p:txBody>
      </p:sp>
      <p:sp>
        <p:nvSpPr>
          <p:cNvPr id="2617" name="Google Shape;2617;g3e54820193c_0_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820193c_0_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820193c_0_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820193c_0_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820193c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820193c_0_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MicroProfile @Retry declares max attempts, base delay, jitter, and which exceptions to retry on — the four correct properties declaratively. Stacking @CircuitBreaker on the same method is the canonical pairing: the breaker wraps the retry, so once the dependency trips the breaker, retries stop entirely. SmallRye adds @ExponentialBackoff for true exponential growth (the base @Retry is linear delay + jitter). As always: idempotent operations only.</a:t>
            </a:r>
            <a:endParaRPr/>
          </a:p>
        </p:txBody>
      </p:sp>
      <p:sp>
        <p:nvSpPr>
          <p:cNvPr id="2640" name="Google Shape;2640;g3e54820193c_0_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820193c_0_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820193c_0_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820193c_0_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820193c_0_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820193c_0_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MicroProfile @CircuitBreaker declares the rolling window, failure ratio to trip, the open-state delay, and how many half-open successes are needed to close. @Fallback names the method that runs when the breaker is open (or the call fails) — here it enqueues to an outbox and returns a pending receipt, turning a hard failure into graceful degradation. This is the canonical breaker+fallback pairing: the breaker decides to stop calling, the fallback decides what to return instead.</a:t>
            </a:r>
            <a:endParaRPr/>
          </a:p>
        </p:txBody>
      </p:sp>
      <p:sp>
        <p:nvSpPr>
          <p:cNvPr id="2663" name="Google Shape;2663;g3e54820193c_0_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820193c_0_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820193c_0_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820193c_0_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820193c_0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820193c_0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820193c_0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820193c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820193c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820193c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820193c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820193c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Example 21 lets Quarkus run the drain: quarkus.shutdown.delay-enabled, quarkus.shutdown.delay and quarkus.shutdown.timeout. On the single SIGTERM: (1) Quarkus fires ShutdownDelayInitiatedEvent and an observer flips the ShutdownState flag, so the SmallRye Health readiness check reports DOWN, /readyz answers 503 and Kubernetes stops routing new traffic, while /healthz stays 200; (2) the delay keeps the service serving, so the load balancer's removal propagates; (3) when it ends, Quarkus stops HTTP and drains in-flight requests within quarkus.shutdown.timeout (20 s); (4) Quarkus closes the datasource and the process exits. Appendix H covers the Kubernetes-side preStop and terminationGracePeriodSeconds.</a:t>
            </a:r>
            <a:endParaRPr/>
          </a:p>
        </p:txBody>
      </p:sp>
      <p:sp>
        <p:nvSpPr>
          <p:cNvPr id="2706" name="Google Shape;2706;g3e54820193c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820193c_0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820193c_0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820193c_0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820193c_0_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820193c_0_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820193c_0_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820193c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820193c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820193c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Quarkus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Quarkus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9.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7.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5.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comments" Target="../comments/comment1.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15.pn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4.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9.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15.pn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3.png"/><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4.pn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5.png"/><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5.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3.png"/><Relationship Id="rId5"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3.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3.png"/><Relationship Id="rId4"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60.png"/><Relationship Id="rId4" Type="http://schemas.openxmlformats.org/officeDocument/2006/relationships/image" Target="../media/image1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15.png"/><Relationship Id="rId4"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62.png"/><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7.png"/><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3.png"/><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3.png"/><Relationship Id="rId5" Type="http://schemas.openxmlformats.org/officeDocument/2006/relationships/image" Target="../media/image2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80.png"/><Relationship Id="rId4" Type="http://schemas.openxmlformats.org/officeDocument/2006/relationships/image" Target="../media/image1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15.png"/><Relationship Id="rId4"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68.png"/><Relationship Id="rId4"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86.png"/><Relationship Id="rId4" Type="http://schemas.openxmlformats.org/officeDocument/2006/relationships/image" Target="../media/image1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15.png"/><Relationship Id="rId4"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4.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73.png"/><Relationship Id="rId4"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15.png"/><Relationship Id="rId4" Type="http://schemas.openxmlformats.org/officeDocument/2006/relationships/image" Target="../media/image1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93.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15.png"/><Relationship Id="rId4" Type="http://schemas.openxmlformats.org/officeDocument/2006/relationships/image" Target="../media/image1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8.png"/><Relationship Id="rId4" Type="http://schemas.openxmlformats.org/officeDocument/2006/relationships/image" Target="../media/image13.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15.png"/><Relationship Id="rId4" Type="http://schemas.openxmlformats.org/officeDocument/2006/relationships/image" Target="../media/image15.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99.png"/><Relationship Id="rId4" Type="http://schemas.openxmlformats.org/officeDocument/2006/relationships/image" Target="../media/image1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15.png"/><Relationship Id="rId4" Type="http://schemas.openxmlformats.org/officeDocument/2006/relationships/image" Target="../media/image1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02.png"/><Relationship Id="rId4" Type="http://schemas.openxmlformats.org/officeDocument/2006/relationships/image" Target="../media/image1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89.png"/><Relationship Id="rId4"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1.png"/><Relationship Id="rId4" Type="http://schemas.openxmlformats.org/officeDocument/2006/relationships/image" Target="../media/image1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comments" Target="../comments/comment2.xml"/><Relationship Id="rId4" Type="http://schemas.openxmlformats.org/officeDocument/2006/relationships/image" Target="../media/image1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24.png"/><Relationship Id="rId4" Type="http://schemas.openxmlformats.org/officeDocument/2006/relationships/image" Target="../media/image1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7.png"/><Relationship Id="rId4" Type="http://schemas.openxmlformats.org/officeDocument/2006/relationships/image" Target="../media/image1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15.png"/><Relationship Id="rId4" Type="http://schemas.openxmlformats.org/officeDocument/2006/relationships/image" Target="../media/image1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6.png"/><Relationship Id="rId4" Type="http://schemas.openxmlformats.org/officeDocument/2006/relationships/image" Target="../media/image1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3.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3.png"/><Relationship Id="rId5" Type="http://schemas.openxmlformats.org/officeDocument/2006/relationships/image" Target="../media/image17.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3.png"/><Relationship Id="rId5" Type="http://schemas.openxmlformats.org/officeDocument/2006/relationships/image" Target="../media/image1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20.png"/><Relationship Id="rId4" Type="http://schemas.openxmlformats.org/officeDocument/2006/relationships/image" Target="../media/image1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2.png"/><Relationship Id="rId4" Type="http://schemas.openxmlformats.org/officeDocument/2006/relationships/image" Target="../media/image13.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8.png"/><Relationship Id="rId4" Type="http://schemas.openxmlformats.org/officeDocument/2006/relationships/image" Target="../media/image1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3.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3.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15.png"/><Relationship Id="rId4" Type="http://schemas.openxmlformats.org/officeDocument/2006/relationships/image" Target="../media/image1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3.png"/><Relationship Id="rId5" Type="http://schemas.openxmlformats.org/officeDocument/2006/relationships/image" Target="../media/image7.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3.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3.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15.png"/><Relationship Id="rId4" Type="http://schemas.openxmlformats.org/officeDocument/2006/relationships/image" Target="../media/image1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15.png"/><Relationship Id="rId4" Type="http://schemas.openxmlformats.org/officeDocument/2006/relationships/image" Target="../media/image15.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64.png"/><Relationship Id="rId4" Type="http://schemas.openxmlformats.org/officeDocument/2006/relationships/image" Target="../media/image1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65.png"/><Relationship Id="rId4" Type="http://schemas.openxmlformats.org/officeDocument/2006/relationships/image" Target="../media/image1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48.png"/><Relationship Id="rId4" Type="http://schemas.openxmlformats.org/officeDocument/2006/relationships/image" Target="../media/image13.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3.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15.png"/><Relationship Id="rId4" Type="http://schemas.openxmlformats.org/officeDocument/2006/relationships/image" Target="../media/image15.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62.png"/><Relationship Id="rId4" Type="http://schemas.openxmlformats.org/officeDocument/2006/relationships/image" Target="../media/image1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75.png"/><Relationship Id="rId4" Type="http://schemas.openxmlformats.org/officeDocument/2006/relationships/image" Target="../media/image13.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3.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85.png"/><Relationship Id="rId4" Type="http://schemas.openxmlformats.org/officeDocument/2006/relationships/image" Target="../media/image13.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3.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3.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15.png"/><Relationship Id="rId4" Type="http://schemas.openxmlformats.org/officeDocument/2006/relationships/image" Target="../media/image15.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91.png"/><Relationship Id="rId4" Type="http://schemas.openxmlformats.org/officeDocument/2006/relationships/image" Target="../media/image1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211.png"/><Relationship Id="rId4" Type="http://schemas.openxmlformats.org/officeDocument/2006/relationships/image" Target="../media/image1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7.png"/><Relationship Id="rId4" Type="http://schemas.openxmlformats.org/officeDocument/2006/relationships/image" Target="../media/image13.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3.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15.png"/><Relationship Id="rId4" Type="http://schemas.openxmlformats.org/officeDocument/2006/relationships/image" Target="../media/image15.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6.png"/><Relationship Id="rId4" Type="http://schemas.openxmlformats.org/officeDocument/2006/relationships/image" Target="../media/image1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87.png"/><Relationship Id="rId4" Type="http://schemas.openxmlformats.org/officeDocument/2006/relationships/image" Target="../media/image1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209.png"/><Relationship Id="rId4" Type="http://schemas.openxmlformats.org/officeDocument/2006/relationships/image" Target="../media/image13.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3.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15.png"/><Relationship Id="rId4" Type="http://schemas.openxmlformats.org/officeDocument/2006/relationships/image" Target="../media/image15.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92.png"/><Relationship Id="rId4" Type="http://schemas.openxmlformats.org/officeDocument/2006/relationships/image" Target="../media/image1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213.png"/><Relationship Id="rId4" Type="http://schemas.openxmlformats.org/officeDocument/2006/relationships/image" Target="../media/image1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8.png"/><Relationship Id="rId4" Type="http://schemas.openxmlformats.org/officeDocument/2006/relationships/image" Target="../media/image13.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3.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205.png"/><Relationship Id="rId4" Type="http://schemas.openxmlformats.org/officeDocument/2006/relationships/image" Target="../media/image13.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3.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6.png"/><Relationship Id="rId4" Type="http://schemas.openxmlformats.org/officeDocument/2006/relationships/image" Target="../media/image13.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4.png"/><Relationship Id="rId4" Type="http://schemas.openxmlformats.org/officeDocument/2006/relationships/image" Target="../media/image1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15.png"/><Relationship Id="rId4" Type="http://schemas.openxmlformats.org/officeDocument/2006/relationships/image" Target="../media/image15.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3.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9.png"/><Relationship Id="rId4" Type="http://schemas.openxmlformats.org/officeDocument/2006/relationships/image" Target="../media/image1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20.png"/><Relationship Id="rId4" Type="http://schemas.openxmlformats.org/officeDocument/2006/relationships/image" Target="../media/image1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3.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8.png"/><Relationship Id="rId4" Type="http://schemas.openxmlformats.org/officeDocument/2006/relationships/image" Target="../media/image13.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3.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3.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15.png"/><Relationship Id="rId4" Type="http://schemas.openxmlformats.org/officeDocument/2006/relationships/image" Target="../media/image15.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3.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33.png"/><Relationship Id="rId4" Type="http://schemas.openxmlformats.org/officeDocument/2006/relationships/image" Target="../media/image1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3.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5.png"/><Relationship Id="rId4" Type="http://schemas.openxmlformats.org/officeDocument/2006/relationships/image" Target="../media/image13.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3.png"/><Relationship Id="rId5" Type="http://schemas.openxmlformats.org/officeDocument/2006/relationships/image" Target="../media/image26.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3.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3.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15.png"/><Relationship Id="rId4" Type="http://schemas.openxmlformats.org/officeDocument/2006/relationships/image" Target="../media/image15.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3.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3.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54.png"/><Relationship Id="rId4" Type="http://schemas.openxmlformats.org/officeDocument/2006/relationships/image" Target="../media/image13.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3.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3.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3.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3.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15.png"/><Relationship Id="rId4" Type="http://schemas.openxmlformats.org/officeDocument/2006/relationships/image" Target="../media/image15.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3.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47.png"/><Relationship Id="rId4" Type="http://schemas.openxmlformats.org/officeDocument/2006/relationships/image" Target="../media/image13.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3.png"/><Relationship Id="rId5" Type="http://schemas.openxmlformats.org/officeDocument/2006/relationships/image" Target="../media/image19.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3.png"/><Relationship Id="rId5" Type="http://schemas.openxmlformats.org/officeDocument/2006/relationships/image" Target="../media/image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3.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3.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3.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3.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1.png"/><Relationship Id="rId4" Type="http://schemas.openxmlformats.org/officeDocument/2006/relationships/image" Target="../media/image13.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3.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3.png"/><Relationship Id="rId4" Type="http://schemas.openxmlformats.org/officeDocument/2006/relationships/image" Target="../media/image13.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3.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3.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3.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3.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3.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5.png"/><Relationship Id="rId4" Type="http://schemas.openxmlformats.org/officeDocument/2006/relationships/image" Target="../media/image1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3.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3.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7.png"/><Relationship Id="rId4" Type="http://schemas.openxmlformats.org/officeDocument/2006/relationships/image" Target="../media/image13.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3.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3.png"/><Relationship Id="rId5" Type="http://schemas.openxmlformats.org/officeDocument/2006/relationships/image" Target="../media/image1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3.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3.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3.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3.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15.png"/><Relationship Id="rId4" Type="http://schemas.openxmlformats.org/officeDocument/2006/relationships/image" Target="../media/image15.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8.png"/><Relationship Id="rId4" Type="http://schemas.openxmlformats.org/officeDocument/2006/relationships/image" Target="../media/image13.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2.png"/><Relationship Id="rId4" Type="http://schemas.openxmlformats.org/officeDocument/2006/relationships/image" Target="../media/image13.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303.png"/><Relationship Id="rId4" Type="http://schemas.openxmlformats.org/officeDocument/2006/relationships/image" Target="../media/image13.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300.png"/><Relationship Id="rId4" Type="http://schemas.openxmlformats.org/officeDocument/2006/relationships/image" Target="../media/image13.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6.png"/><Relationship Id="rId4" Type="http://schemas.openxmlformats.org/officeDocument/2006/relationships/image" Target="../media/image13.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04.png"/><Relationship Id="rId4" Type="http://schemas.openxmlformats.org/officeDocument/2006/relationships/image" Target="../media/image13.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3.png"/><Relationship Id="rId5" Type="http://schemas.openxmlformats.org/officeDocument/2006/relationships/image" Target="../media/image12.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5.png"/><Relationship Id="rId4" Type="http://schemas.openxmlformats.org/officeDocument/2006/relationships/image" Target="../media/image13.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3.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3.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15.png"/><Relationship Id="rId4" Type="http://schemas.openxmlformats.org/officeDocument/2006/relationships/image" Target="../media/image15.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3.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1.png"/><Relationship Id="rId4" Type="http://schemas.openxmlformats.org/officeDocument/2006/relationships/image" Target="../media/image13.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8.png"/><Relationship Id="rId4" Type="http://schemas.openxmlformats.org/officeDocument/2006/relationships/image" Target="../media/image13.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3.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23.png"/><Relationship Id="rId4" Type="http://schemas.openxmlformats.org/officeDocument/2006/relationships/image" Target="../media/image13.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3.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7.png"/><Relationship Id="rId4" Type="http://schemas.openxmlformats.org/officeDocument/2006/relationships/image" Target="../media/image13.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3.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4.png"/><Relationship Id="rId4" Type="http://schemas.openxmlformats.org/officeDocument/2006/relationships/image" Target="../media/image13.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29.png"/><Relationship Id="rId4" Type="http://schemas.openxmlformats.org/officeDocument/2006/relationships/image" Target="../media/image13.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3.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3.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3.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15.png"/><Relationship Id="rId4" Type="http://schemas.openxmlformats.org/officeDocument/2006/relationships/image" Target="../media/image15.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3.png"/><Relationship Id="rId5" Type="http://schemas.openxmlformats.org/officeDocument/2006/relationships/image" Target="../media/image16.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39.png"/><Relationship Id="rId4" Type="http://schemas.openxmlformats.org/officeDocument/2006/relationships/image" Target="../media/image13.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8.png"/><Relationship Id="rId4" Type="http://schemas.openxmlformats.org/officeDocument/2006/relationships/image" Target="../media/image13.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4.png"/><Relationship Id="rId4" Type="http://schemas.openxmlformats.org/officeDocument/2006/relationships/image" Target="../media/image13.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3.png"/><Relationship Id="rId5" Type="http://schemas.openxmlformats.org/officeDocument/2006/relationships/image" Target="../media/image2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7.png"/><Relationship Id="rId4" Type="http://schemas.openxmlformats.org/officeDocument/2006/relationships/image" Target="../media/image13.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69.png"/><Relationship Id="rId4" Type="http://schemas.openxmlformats.org/officeDocument/2006/relationships/image" Target="../media/image13.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3.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0.png"/><Relationship Id="rId4" Type="http://schemas.openxmlformats.org/officeDocument/2006/relationships/image" Target="../media/image13.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3.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9.png"/><Relationship Id="rId4" Type="http://schemas.openxmlformats.org/officeDocument/2006/relationships/image" Target="../media/image13.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3.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6.png"/><Relationship Id="rId4" Type="http://schemas.openxmlformats.org/officeDocument/2006/relationships/image" Target="../media/image13.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3.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3.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3.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3.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3.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3.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7.png"/><Relationship Id="rId4" Type="http://schemas.openxmlformats.org/officeDocument/2006/relationships/image" Target="../media/image13.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3.png"/></Relationships>
</file>

<file path=ppt/slides/_rels/slide249.xml.rels><?xml version='1.0' encoding='UTF-8' standalone='yes'?>
<Relationships xmlns="http://schemas.openxmlformats.org/package/2006/relationships"><Relationship Id="rId1" Type="http://schemas.openxmlformats.org/officeDocument/2006/relationships/image" Target="../media/image370.png"/><Relationship Id="rId2" Type="http://schemas.openxmlformats.org/officeDocument/2006/relationships/image" Target="../media/image371.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72.png"/><Relationship Id="rId2" Type="http://schemas.openxmlformats.org/officeDocument/2006/relationships/image" Target="../media/image373.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4.png"/><Relationship Id="rId2" Type="http://schemas.openxmlformats.org/officeDocument/2006/relationships/image" Target="../media/image375.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image" Target="../media/image377.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8.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3.png"/><Relationship Id="rId2" Type="http://schemas.openxmlformats.org/officeDocument/2006/relationships/image" Target="../media/image384.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image" Target="../media/image386.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7.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9.png"/><Relationship Id="rId2" Type="http://schemas.openxmlformats.org/officeDocument/2006/relationships/image" Target="../media/image390.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3.png"/><Relationship Id="rId2" Type="http://schemas.openxmlformats.org/officeDocument/2006/relationships/image" Target="../media/image394.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6.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8.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400.png"/><Relationship Id="rId2" Type="http://schemas.openxmlformats.org/officeDocument/2006/relationships/image" Target="../media/image401.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2.png"/></Relationships>
</file>

<file path=ppt/slides/_rels/slide271.xml.rels><?xml version='1.0' encoding='UTF-8' standalone='yes'?>
<Relationships xmlns="http://schemas.openxmlformats.org/package/2006/relationships"><Relationship Id="rId1" Type="http://schemas.openxmlformats.org/officeDocument/2006/relationships/image" Target="../media/image405.png"/><Relationship Id="rId2" Type="http://schemas.openxmlformats.org/officeDocument/2006/relationships/image" Target="../media/image40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7.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9.png"/><Relationship Id="rId3" Type="http://schemas.openxmlformats.org/officeDocument/2006/relationships/image" Target="../media/image390.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6.xml"/><Relationship Id="rId5" Type="http://schemas.openxmlformats.org/officeDocument/2006/relationships/image" Target="../media/image20.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3.png"/><Relationship Id="rId4" Type="http://schemas.openxmlformats.org/officeDocument/2006/relationships/notesSlide" Target="../notesSlides/notesSlide279.xml"/><Relationship Id="rId5" Type="http://schemas.openxmlformats.org/officeDocument/2006/relationships/image" Target="../media/image2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8.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7.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solidFill>
                <a:srgbClr val="000000"/>
              </a:solidFill>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500">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qk/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qk/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qk/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a:t>
            </a:r>
            <a:r>
              <a:rPr b="0" i="0" lang="en-US" sz="1700" u="none" cap="none" strike="noStrike">
                <a:solidFill>
                  <a:srgbClr val="151515"/>
                </a:solidFill>
                <a:latin typeface="Red Hat Text"/>
                <a:ea typeface="Red Hat Text"/>
                <a:cs typeface="Red Hat Text"/>
                <a:sym typeface="Red Hat Text"/>
              </a:rPr>
              <a:t>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Maven with the quarkus-bom for reproducible builds; Quarkus REST emits OpenAPI (SmallRye); buf / protoc for gRPC; SmallRye GraphQL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qk/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qk/43-twelve-factor-map-qk.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Quarkus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(excerpt), examples/01-cloud-native-principles/quarkus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SmallRye Health: readiness includes the datasource check (503 when the database is 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quarkus.smallrye-health.liveness-path=/healthz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quarkus.smallrye-health.readiness-path=/readyz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db/init owns the schema: Hibernate only validates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quarkus.hibernate-orm.schema-management.strategy=validate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Order.java: active record over the existing table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 extends PanacheEntityBase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Integer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public String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@Column(nullable = false, precision = 10, scale = 2) public BigDecimal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OrderResource.java (excerpt)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@ConfigProperty(name = "service.version") String serviceVersion;      // env, factor III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OrderDto createOrder(@RestQuery String customer, @RestQuery BigDecimal total)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 order.customer = customer;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order.total = total.setScale(2, RoundingMode.HALF_UP);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                         // INSERT in the request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OrderDto.of(order);               // the DTO, never the 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qk/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Quarkus REST</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@Produces(MediaType.APPLICATION_JSON)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                  // Quarkus REST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record OrderIn(@NotBlank String sku, @Positive int quantity) {}  // validated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@Transactional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RestResponse&lt;Order&gt; place(@Valid OrderIn body)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 o = orders.create(body);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events.publish("order.placed", o);    // emit the fact (the outbox makes it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RestResponse.status(Response.Status.CREATED, o);   // 201, not 200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 cursor pagination, not offset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Page&lt;Order&gt; list(@RestQuery String after,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@RestQuery @DefaultValue("50") int limit)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orders.page(after, limit);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Bean-Validation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 · Quarkus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inventory.proto — the contract, registered in Apicurio</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syntax = "proto3";</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service Inventory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rpc ReserveStock (ReserveRequest) returns (ReserveReply);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ReserveRequest { string sku = 1; int32 quantity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message ReserveReply   { bool reserved = 1; int32 remaining = 2;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Quarkus gRPC generates the Mutiny service interface from the .proto at build time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@GrpcService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InventoryService implements Inventory {   // generated interface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@Override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reserveStock(ReserveRequest req)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stock.reserve(req.getSku(), req.getQuantity())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.map(r -&gt; ReserveReply.newBuilder()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.setReserved(r.ok()).setRemaining(r.remaining()).build());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qk/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qk/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qk/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SmallRye GraphQL</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@GraphQLApi                                  // the gateway's schema (SmallRye GraphQL)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OrderApi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@Query                                   // REST call to order-service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Order order(String 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orderClient.get(id);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@Source adds a 'stock' field to Order, fetched only when queried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Integer stock(@Source Order order) {           // via gRPC</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inventory.reserveStockView(order.sku()).getRemaining();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SmallRye GraphQL exports the SDL to the registry automatically.</a:t>
            </a:r>
            <a:endParaRPr b="0" i="0" sz="115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@Source attaches a field fetched from elsewhere.</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qk/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qk/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qk/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6803817" y="1700784"/>
            <a:ext cx="4729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SmallRye Reactive Messaging</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write side: command handler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OrderWriteResource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WriteOrderRepository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@Channel("order-placed") Emitter&lt;OrderEvent&gt; events;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@Transactional                                    // blocking: worker thread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 create(OrderIn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order = new Order(body);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writes.persist(order);                              // write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events.send(new OrderCreatedEvent(order));          // → projection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@Path("/orders")                        // read side: query handler, denormalised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OrderReadResource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               // hits read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@GET @Path("/{id}/summary")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OrderSummary summary(@RestPath String 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reads.findByIdOptional(id)                   // never the write store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.orElseThrow(() -&gt; new WebApplicationException(404));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                      // projection: events upsert the read model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OrderSummaryProjection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ReadOrderSummaryRepository reads;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@Incoming("order-placed") @Transactional               // topic order.placed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on(OrderCreatedEvent ev) { reads.upsert(OrderSummary.from(ev));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qk/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qk/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8632617" y="1700784"/>
            <a:ext cx="2900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OutboxEvent.java + OrderResource.java (excerpt), examples/04-data/quarkus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@Entity @Table(name =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OutboxEvent extends PanacheEntityBase {       // the table Debezium tails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@Id @GeneratedValue(strategy = GenerationType.IDENTITY) public Long 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"aggregate_id") public String aggregateId;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@Column(name = "event_type") public String eventType;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@JdbcTypeCode(SqlTypes.JSON) public OrderPlacedPayload payload;   // jsonb column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@Transactional                          // one JTA transaction around both rows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createOrder(CreateOrderRequest 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new OrderEntity();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order.id = UUID.randomUUID().toString();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 ... sku and quantity from the request; status = "confirmed"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order.persistAndFlush();                   // the state change; created_at read back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event = new OutboxEvent();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event.aggregateId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event.eventType =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event.payload = new OrderPlacedPayload(order.id, order.sku, order.quantity, order.status);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event.persist();                           // same transaction: the outbox 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Response.status(Response.Status.CREATED).entity(order.toView()).build();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No Kafka call on the request path: Debezium tails the WAL and publishes order.placed.</a:t>
            </a:r>
            <a:endParaRPr b="0" i="0" sz="100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qk/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qk/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Reactive Messaging</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producer — order-service emits the fact; channel order-placed → topic order.placed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OrderEvents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@Channel("order-placed") Emitter&lt;Order&gt; emitter;   // Reactive Messaging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publish(Order o)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emitter.send(KafkaRecord.of(o.id(), o));   // keyed; schema-aware serde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consumer — notification-service, Kafka-only by design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Notifier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@Incoming("order-placed")                       // offset tracked per group</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onOrder(Message&lt;Order&gt;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sendEmail(msg.getPayload())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.chain(msg::ack);          // ack after the side-effect — at-least-once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Ack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qk/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qk/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qk/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qk/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qk/14-stream-topolog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Kafka Streams</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Kafka Streams</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stream-processor RevenueTopology.java (excerpt), quarkus-kafka-streams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RevenueTopology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Topology topology()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new StreamsBuilder();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orderSerde = new ObjectMapperSerde&lt;&gt;(OrderEvent.class);    // typed JSON in and 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accSerde = new ObjectMapperSerde&lt;&gt;(Acc.class);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outSerde = new ObjectMapperSerde&lt;&gt;(RevenueWindow.class);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builder.stream(ORDERS, Consumed.with(Serdes.String(),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.filter((key, order) -&gt; order != null &amp;&amp; order.merchantId() != null)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.groupBy((k, o) -&gt; o.merchantId(), Grouped.with(Serdes.String(), orderSerde))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.windowedBy(TimeWindows.ofSizeWithNoGrace(Duration.ofSeconds(windowSeconds)))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.aggregate(() -&gt; new Acc(0, BigDecimal.ZERO),             // local 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(merchant, order, acc) -&gt; acc.add(order.total()),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Materialized.with(Serdes.String(), accSerde))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.toStream().map((window, acc) -&gt; KeyValue.pair(window.key(),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new RevenueWindow(/* start, end, merchant, count, revenue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.to(REVENUE, Produced.with(Serdes.String(), outSerde));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builder.build();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qk/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Quarkus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qk/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qk/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qk/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qk/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 with Maven</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xml · Maven + Apicurio</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 pom.xml: the apicurio-registry-maven-plugin checks the rule in CI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&lt;groupId&gt;io.apicurio&lt;/groupId&gt;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&lt;artifactId&gt;apicurio-registry-maven-plugin&lt;/artifactId&gt;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&lt;version&gt;3.3.3&lt;/version&gt;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&lt;executions&gt;&lt;execution&gt;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&lt;goals&gt;&lt;goal&gt;register&lt;/goal&gt;&lt;/goals&gt;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&lt;registryUrl&gt;http://apicurio.registry.svc/apis/registry/v3&lt;/registryUrl&gt;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&lt;dryRun&gt;true&lt;/dryRun&gt;   &lt;!-- check the rule, store nothing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&lt;artifacts&gt;&lt;artifact&gt;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&lt;groupId&gt;orders&lt;/groupId&gt;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&lt;artifactId&gt;order-placed&lt;/artifactId&gt;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&lt;artifactType&gt;AVRO&lt;/artifactType&gt;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&lt;ifExists&gt;CREATE_VERSION&lt;/ifExists&gt;   &lt;!-- a new version --&gt;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&lt;file&gt;src/main/avro/order-placed.avsc&lt;/file&gt;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&lt;/artifact&gt;&lt;/artifacts&gt;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&lt;/configuration&gt;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&lt;/execution&gt;&lt;/executions&gt;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&lt;/plugin&gt;</a:t>
            </a:r>
            <a:endParaRPr b="0" i="0" sz="11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register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qk/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qk/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qk/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tracer.spanBuilder(...).startSpan(), span.setAttribute(...), span.addEvent(...).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Quarkus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166017" y="1700784"/>
            <a:ext cx="2367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application.properties — add quarkus-opentelemetry; REST, gRPC and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Reactive Messaging are instrumented automatically. Just point it at the Collector: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quarkus.otel.exporter.otlp.endpoint=http://otel-collector:4317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Only custom business spans need code — @WithSpan does it declaratively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@ApplicationScoped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OrderService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@GrpcClient("inventory") Inventory inventory;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@WithSpan("reserve_stock")               // custom span on this method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Uni&lt;ReserveReply&gt; reserve(String sku, int qty)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inventory.reserveStock(req(sku, qty));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trace_id flows REST -&gt; gRPC -&gt; Kafka -&gt; consumer, automatically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exporter sends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qk/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io.opentelemetry.api.baggage.Baggage;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io.opentelemetry.api.trace.Span;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Set baggage at the edge (a JAX-RS request filter)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@Provider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BaggageFilter implements ContainerRequestFilter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void filter(ContainerRequestContext ctx)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Baggage.current().toBuilder()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.put("tenant_id", ctx.getHeaderString("X-Tenant"))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.put("user_tier",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.makeCurrent();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Read baggage anywhere downstream  —  even in a Reactive Messaging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@Incoming("order-placed")                // topic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void handle(OrderEvent ev)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String tenant = Baggage.current().getEntryValue("tenant_id");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Span.current().setAttribute("tenant_id",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qk/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qk/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qk/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qk/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qk/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7718217" y="1700784"/>
            <a:ext cx="3815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javax.crypto (HmacSHA256)</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ValetKeyService.java (excerpt), examples/12-security/quarkus: HMAC-SHA256 valet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ValetKeyService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static final int TTL_SECONDS = 300;                       // time-bound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byte[] secret;          // VALET_SECRET, injected through @ConfigProperty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Map&lt;String, Object&gt; mint(String resource, String operation)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long expires = System.currentTimeMillis() / 1000 + TTL_SECONDS;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payload = resource + ":" + operation + ":" + expires;  // one object, one 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result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result.put("resource", resource);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result.put("operation", operation);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result.put("expires",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result.put("token", hmac(payload));               // HmacSHA256, hex-encoded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boolean verify(String resource, String operation, long expires, String token)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(System.currentTimeMillis() / 1000 &gt; expires) return false;   // expired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expected = hmac(resource + ":" + operation + ":" + expires);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MessageDigest.isEqual(token.getBytes(), expected.getBytes()); // constant time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OrderResource maps POST /valet-key to mint() and GET /verify-valet to verify()</a:t>
            </a:r>
            <a:endParaRPr b="0" i="0" sz="10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qk/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qk/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qk/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SmallRye Fault Tolerance bulkheads</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7032417" y="1700784"/>
            <a:ext cx="4500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Fault Tolerance (MicroProfile)</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OrderService.java — declarative bulkhead (SmallRye Fault Tolerance)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@RestClient PaymentClient payments;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@Bulkhead(value = 50, waitingTaskQueue = 100)        // 50 concurrent, 100 waiting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@Timeout(3000)                                        // fail fast after 3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@AsynchronousNonBlocking                              // Uni return, no worker thread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Uni&lt;Order&gt; place(OrderRequest req)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payments.charge(req).map(p -&gt; Order.from(req, 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TenantBulkhead.java — one semaphore per tenant (as examples/12-security)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TenantBulkhead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ConcurrentMap&lt;String, Semaphore&gt; sems = new ConcurrentHashMap&lt;&gt;();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&lt;T&gt; T handle(String tenant, Callable&lt;T&gt; work) throws Exception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Semaphore sem = sems.computeIfAbsent(tenant, t -&gt; new Semaphore(5));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(!sem.tryAcquire()) throw new BulkheadException(tenant);   // this tenant only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try { return work.call(); } finally { sem.release();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qk/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Reactive Messaging</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ClaimPublisher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                                 // any encrypted object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ValetKeyService valet;                             // examples/12-security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@Channel("documents-out") Emitter&lt;JsonObject&gt; claims;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publish(String orderId, byte[] body)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key = "payloads/" +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store.put(key, body, true);                            // encrypted at rest, ACL'd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JsonObject claim = new JsonObject(valet.mint(key, "GET"))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.put("order_id", orderId)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.put("uri", "https://objects.internal/" + 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claims.send(claim);                                    // only the claim on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@ApplicationScoped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ClaimConsumer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@Inject ObjectStore store;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@Incoming("documents-in")                                  // topic order.documents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onClaim(JsonObject claim)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byte[] body = store.get(claim.getString("uri"), claim.getString("token"));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handle(body);                                          // PII never touched the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qk/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Quarkus guides (quarkus.io/guides), Quarkus Flow &amp; Debezium docs — for the runtime specifics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JPA (Jakarta Persistence API); Panache (Quarkus's ORM-simplification layer over Hibernate,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JVM (Java Virtual Machine); JIT (Just-In-Time compilation); AOT (Ahead-Of-Time compilation, as in a GraalVM or Mandrel native image); GC (Garbage Collection); CDI (Contexts &amp; Dependency Injection); DI (Dependency Injection); DTO (Data Transfer Object); POJO (Plain Old Java Object).</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qk/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qk/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qk/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qk/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Quarkus REST</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@Path("/orders")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OrderResource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V1 = "application/vnd.acme.order+json";      // legacy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static final String V2 = "application/vnd.acme.order.v2+json";   // adds currency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@Produces(V2)        // one stable URL — the resource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Uni&lt;OrderV2&gt; getV2(String id) {   // chosen by Accept: …v2+json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orders.get(id).map(OrderV2::from);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 @Path("/{id}") @Produces(V1)        // same path, different representation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Uni&lt;OrderV1&gt; getV1(String id) {   // default for old clients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orders.get(id).map(OrderV1::from);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JAX-RS content negotiation routes on Accept; the URL never changes.</a:t>
            </a:r>
            <a:endParaRPr b="0" i="0" sz="110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qk/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qk/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SmallRye GraphQL</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public record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@Deprecated(since = "2026-05")                 // shows in the schema + UI</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@Description("Use totalMinor (integer cents) instead.")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double total,                                  // still served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int totalMinor                                 // replacement, added additively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@Deprecated surfaces in introspection and GraphiQL with the reason.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Field-level usage metrics tell you when 'total' has zero callers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only then do you remove it. No /v2 endpoint ever exists.</a:t>
            </a:r>
            <a:endParaRPr b="0" i="0" sz="120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WebSockets Next,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WebSockets Next</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013617" y="1700784"/>
            <a:ext cx="2519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WebSockets Next</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@WebSocket(path = "/ws/{userId}")            // quarkus-websockets-next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class OrderSocket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WebSocketConnection connection;  // this pod owns this connection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@Inject OpenConnections connections;     // per-pod registry — not shared!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@OnOpen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void onOpen(@PathParam String userId)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connection.userData().put(KEY_USER, userId);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@OnTextMessage                           // full-duplex, long-lived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public Uni&lt;Void&gt; onMessage(ClientMsg msg)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handle(msg);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 @OnClose cleanup is automatic; OpenConnections tracks live sockets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but OpenConnections is per-pod. That single fact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qk/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qk/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java</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envelope.proto — version the message, not the URL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Envelope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uint32 version = 1;        // bump for incompatible payload changes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type    = 2;        // "order.updated", "ping",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bytes  payload = 3;        // the protobuf-encoded body for `type`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uint64 seq     = 4;        // monotonic per-connection — drives resume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server: send compact binary frames instead of JSON 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@OnBinaryMessage                                  // Envelope bound by a BinaryMessageCodec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onFrame(Envelope env) { return dispatch(env);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Envelope frame = Envelope.newBuilder().setVersion(2)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.setType("order.updated").setSeq(n)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.setPayload(order.toByteString()).build();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connection.sendBinaryAndAwait(Buffer.buffer(frame.toByteArray()));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1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qk/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(WebSockets Next auto-ping-interval);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Quarkus saga keeps its state</a:t>
            </a:r>
            <a:endParaRPr b="0" i="0" sz="3000" u="none" cap="none" strike="noStrike">
              <a:solidFill>
                <a:schemeClr val="dk1"/>
              </a:solidFill>
              <a:latin typeface="Calibri"/>
              <a:ea typeface="Calibri"/>
              <a:cs typeface="Calibri"/>
              <a:sym typeface="Calibri"/>
            </a:endParaRPr>
          </a:p>
        </p:txBody>
      </p:sp>
      <p:pic>
        <p:nvPicPr>
          <p:cNvPr descr="/home/claude/work/png-qk/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(Panache)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SagaService.java (excerpt), examples/17-sagas/quarkus: one transaction per step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STEPS = charge_payment, reserve_stock, book_shipping; each SagaStep also names its inverse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private Outcome advanceOneStep(String sagaId) {      // QuarkusTransaction.requiringNew()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SagaEntity saga = SagaEntity.findById(sagaId, LockModeType.PESSIMISTIC_WRITE);  // row lock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(saga.stepIndex &gt;= STEPS.size()) { saga.status = "COMPLETED"; return Outcome.DONE;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 step = STEPS.get(saga.stepIndex);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Map&lt;String, Object&gt; context = new HashMap&lt;&gt;(saga.context);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stepExecutor.execute(step.name(), context);    // call the owning 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"execute", result).persist();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context.put(step.name(), result);              // accumulate output into the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saga.context =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saga.stepIndex++;                              // one commit: state + log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Outcome.CONTINUE;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catch (Exception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SagaLogEntity.of(sagaId, step.name(), "failed", Map.of("error", e.getMessage()))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.persist();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saga.status = "COMPENSATING";                  // hand off to the unwinder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Outcome.COMPENSATE;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qk/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Hibernate Panache</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SagaService.java (excerpt), examples/17-sagas/quarkus: compensate in 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void compensate(String sagaId)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 saga = getSaga(sagaId);                   // stepIndex = completed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 (int i = saga.stepIndex() - 1; i &gt;= 0; i--) {         //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SagaStep step = STEPS.get(i);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result = stepExecutor.execute(step.compensate(), saga.context());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"compensate", result);   // own transaction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catch (Exception 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logStep(sagaId, step.compensate(), "failed", Map.of("error", e.getMessage()));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QuarkusTransaction.requiringNew().run(() -&gt;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SagaEntity entity = SagaEntity.findById(sagaId);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entity.status = "COMPENSATED";             // Hibernate flushes the change at commit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and log every attempt; make each compensation idempotent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qk/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with Quarkus Flow</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Flow</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io.quarkiverse.flow.Flow;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static io.serverlessworkflow.fluent.func.dsl.FuncDSL.*;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FulfillmentFlow extends Flow {     // CNCF Serverless Workflow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Workflow descriptor()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FuncWorkflowBuilder.workflow("fulfillment")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each task's output becomes the next task's input (the data document)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.tasks(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callFn("reserveStock", inventory::reserve),  // A -&gt; {reservationId,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callFn("bookShipping", shipping::book))      // B reads A's output as input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engine persists the data document + position after every task, so 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crash between A and B resumes at B with A's result intact — A is never re-run.</a:t>
            </a:r>
            <a:endParaRPr b="0" i="0" sz="110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Flow's data document carries A's output into B; durable state means a crash resumes at B with A's data intact.</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qk/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qk/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Quarkus REST</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record Problem(String type, String title, int status,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String detail, String code, String traceId)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@ServerExceptionMapper                       //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RestResponse&lt;Problem&gt; mapStock(StockException e)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var body = new Problem(</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"https://errors.acme.io/stock", "Insufficient stock",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e.getMessage(),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Span.current().getSpanContext().getTraceId());  // correlate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RestResponse.ResponseBuilder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.create(Response.Status.CONFLICT, body)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@ServerExceptionMapper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qk/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gRPC</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io.grpc.protobuf.StatusProto;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com.google.rpc.*;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Uni&lt;ReserveReply&gt; reserveStock(ReserveRequest req)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(inventoryDown)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com.google.rpc.Status.newBuilder()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.setCode(Code.UNAVAILABLE_VALUE)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.setMessage("inventory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.addDetails(Any.pack(ErrorInfo.newBuilder()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.setReason("STOCK_DOWN").setDomain("inventory").build()))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.addDetails(Any.pack(RetryInfo.newBuilder().setRetryDelay(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Duration.newBuilder().setSeconds(2)).build()))  // back off 2s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.build();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Uni.createFrom().failure(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StatusProto.toStatusRuntimeException(status));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stock.reserve(req).map(this::toReply);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qk/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SmallRye Messaging</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Reactive Messaging</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SmallRye Reactive Messaging failure handling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mp.messaging.incoming.orders.failure-strategy=dead-letter-queue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mp.messaging.incoming.orders.dead-letter-queue.topic=orders.DLQ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 retry with delay first, DLQ only after the retry topics are exhausted: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...orders.failure-strategy=delayed-retry-topic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...orders.delayed-retry-topic.topics=orders.retry.5s,orders.retry.30s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@Incoming("orders")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@Retry(maxRetries = 3, delay = 200, jitter = 100)   // in-place retries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Uni&lt;Void&gt; consume(Order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handle(order);   // exhausted retries -&gt; nack -&gt; failure-strategy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the offset is committed by the strategy, so head-of-line is never blocked</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@Retry first, then a dead-letter-queue or delayed-retry-topic strategy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qk/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SmallRye GraphQL</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SmallRye GraphQL</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io.smallrye.graphql.api.ErrorCode;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@ErrorCode("UNAVAILABLE")                    // -&gt; errors[].extensions.code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InventoryUnavailable extends RuntimeException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InventoryUnavailable(String m) { super(m);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@GraphQLApi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OrderApi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Integer stock(@Source Order order) {     // one field's resolver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try { return inventory.remaining(order.sku());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catch (Unavailable 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new InventoryUnavailable("inventory unavailable"); // nulls field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config: surface the code (and more) in errors[].extensions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quarkus.smallrye-graphql.error-extension-fields=code,retryable,traceId</a:t>
            </a:r>
            <a:endParaRPr b="0" i="0" sz="105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SmallRye nulls just that field and adds it to errors[] with @ErrorCode in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qk/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@Retry + jitter, @CircuitBreaker,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qk/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qk/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qk/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547017" y="1700784"/>
            <a:ext cx="1986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domain: ports and the use case, no framework (examples/19-ddd-hexagonal/quarkus)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OrderRepository { void save(Order o); Optional&lt;Order&gt; findById(String 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EventPublisher  { void publish(OrderPlaced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PlaceOrderUseCase {                // plain Java: no jakarta.* import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final OrderRepository repo;  private final 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 execute(PlaceOrderCmd cmd)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repo.save(order);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events.publish(new OrderPlaced(order.id(), order.sku(), order.quantity()));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wiring: the one place CDI meets the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@Produces @ApplicationScoped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PlaceOrderUseCase useCase(OrderRepository repo, EventPublisher events)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new PlaceOrderUseCase(repo,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driven adapter: Panache behind the port; the REST resource and a CLI call the same use case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 @Transactional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PostgresOrderRepository implements OrderRepository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void save(Order order) { OrderEntity.from(order).persist();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CDI injects the adapters (Panache repo, log publisher). Swap or add one without touching the domain.</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qk/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qk/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qk/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qk/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qk/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Quarkus</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ShutdownState + DrainReadinessCheck (excerpt), examples/21-graceful-shutdown/quarkus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quarkus.shutdown.delay-enabled=true, delay=5S, 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ShutdownState {          // one SIGTERM starts the delay, then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onDelayInitiated(@Observes ShutdownDelayInitiatedEvent event) {   // SIGTERM received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reports DOWN; the pod keeps serving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Log.info("SIGTERM received — readiness flipped to 503,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void onShutdown(@Observes ShutdownEvent event) {      // delay over: HTTP stops, drains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/readyz = this check + the datasource check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ShutdownState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quarkus.shutdown.delay (5 s) Quarkus stops HTTP and drains in-flight requests within quarkus.shutdown.timeout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Apache Camel, Kogito DMN, Drools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qk/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qk/54-appI-stack-qk.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qk/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Apache Camel + Drools / Kogito DMN: when the routing logic is a business rule, push it into the app — EIP DSL + a rule engine.</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qk/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qk/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(Apache Camel, Spring Integration, a custom dispatcher) calls a rule engine (Drools, Kogito DMN)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Quarkus + Camel + Drools: rule-based routing</a:t>
            </a:r>
            <a:endParaRPr b="0" i="0" sz="3000" u="none" cap="none" strike="noStrike">
              <a:solidFill>
                <a:schemeClr val="dk1"/>
              </a:solidFill>
              <a:latin typeface="Calibri"/>
              <a:ea typeface="Calibri"/>
              <a:cs typeface="Calibri"/>
              <a:sym typeface="Calibri"/>
            </a:endParaRPr>
          </a:p>
        </p:txBody>
      </p:sp>
      <p:pic>
        <p:nvPicPr>
          <p:cNvPr descr="/home/claude/work/png-qk/58-appI-camel-drools.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Camel is the EIP DSL; Drools is the decision engine; Quarkus glues them together.</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Camel route in Quarkus, calling Drools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Camel</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pom.xml: camel-quarkus-platform-http, camel-quarkus-kafka, drools-quarkus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OrderRoutes extends RouteBuilder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RulesEvaluator rules;                    // wraps a Drools KieSession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@Override public void configure()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from("kafka:orders.inbound")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.enrich("direct:lookupCustomer", aggregateStrategy)  //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.process(rules::evaluate)                // sets "whereTo" header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.log("routing ${header.whereTo}")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.routingSlip(header("whereTo"))          // dynamic dispatch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from("direct:lookupCustomer")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.to("http:customer-svc/lookup")          // enrich w/ HTTP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.unmarshal().json();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from → enrich → rules.evaluate → routingSlip — the canonical content-based-router EIP, with the decision externalised to Drools.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Drools rule: the decision, externalised</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drl · Drools rules</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orders.drl  —  edited by domain experts, not developers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package com.acme.orders;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com.acme.orders.OrderFact;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amountCents &gt; 50_000, customer.tier == "VIP"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 : OrderFact( customer.region == "EU"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$o.setWhereTo("kafka:orders.eu");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rule "Default route"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salience -100                                  // last resort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   $o : OrderFact( whereTo == null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   $o.setWhereTo("kafka:orders.default");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end</a:t>
            </a:r>
            <a:endParaRPr b="0" i="0" sz="9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Edited and reviewed by domain experts.</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qk/59-appI-latency-qk.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qk/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(Apache Camel + Drools):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Apache Camel EIP guide; Drools / Kogito DMN docs; the tarilabs/quarkus-content-based-routing example.</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qk/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qk/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qk/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qk/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qk/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qk/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qk/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8785017" y="1700784"/>
            <a:ext cx="2748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RouterResource.java (excerpt), examples/24-monolith-to-microservices/quarkus/router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@Path("/")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RouterResource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MonolithClient monolith;           // quarkus.rest-client.monolith.url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@RestClient NewServiceClient newService;       // quarkus.rest-client.new-service.url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ConcurrentHashMap&lt;String, String&gt; tenantRoutes = new ConcurrentHashMap&lt;&gt;();  // acme -&gt; new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volatile String defaultRoute = "monolith";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 @Path("orders")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Response createOrder(Map&lt;String, Object&gt;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tenant = (String) body.get("tenant");            // decide by content, not URL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upstreamBody = routesToNewService(tenant == null ? "" : tenant)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newService.createOrder(body)                   // cut the tenant over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monolith.createOrder(body);                    // default: legacy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Response.status(201).entity(upstreamBody).build();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boolean routesToNewService(String tenant)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"new-service".equals(tenantRoutes.getOrDefault(tenant, defaultRoute));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@RegisterRestClient(configKey = "monolith") @Path("/orders")     // one client per upstream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interface MonolithClient { @POST String createOrder(Map&lt;String, Object&gt; body); }</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through a typed REST Client.</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qk/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Quarkus</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6575218" y="1700784"/>
            <a:ext cx="49580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REST Client + Redis + Reactive Messaging</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DecoratorResource.java (excerpt), examples/24-monolith-to-microservices/quarkus/decorator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@RestClient LegacyClient legacy;                   // quarkus.rest-client.legacy.url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@Channel("order-events-out") Emitter&lt;Map&lt;String, Object&gt;&gt; kafkaEmitter;   // Jackson serializer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@POST @Path("orders")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createOrder(Map&lt;String, Object&gt; body)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legacyResponse = legacy.createOrder(body);     // 1. legacy first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Map&lt;String, Object&gt; event = new LinkedHashMap&lt;&gt;();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event.put("event",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event.put("order_id", legacyResponse.get("id"));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event.putAll(body);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kafkaEmitter.send(event);                                          // 2. emit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Response.status(201).entity(legacyResponse).build();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@GET @Path("orders/{orderId}")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Response getOrder(@RestPath String orderId)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cacheKey = "order:" + orderId;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cached = commands.get(cacheKey);                            // 1. Redis lookup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(cached != null) return Response.ok(cached).build();            //    CACHE_HIT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String body = legacy.getOrder(orderId);                            // 2. legacy on a miss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commands.setex(cacheKey, 60, body);                                // 3. populate, 60 s TTL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Response.ok(body).build();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Quarkus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with multiple Quarkus datasources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qk/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Quarkus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cacheAsideGet(@RestPath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cachedProduct("ca:product:" + pid,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private ProductView cachedProduct(String key, String pid)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cached = cache.get(key);                       // 1. Redis lookup (best effort)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null)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ProductView.of(fromJson(cached, Product.class), "cache");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store.findProduct(pid);                 // 2. database on a miss (Panache)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cache.setex(key, toJson(row), ttl);                   //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ProductView.of(row,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@PUT @Path("cache-aside/products/{pid}")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Response cacheAsideUpdate(@RestPath String pid, ProductUpdate body)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store.updateProduct(pid, body.name(), body.priceCents());     // write the database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cache.delete("ca:product:" + 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Response.ok(Map.of("ok", true, "action", "invalidated")).build();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Panache query and populate. Invalidate on write. Three operations; the rest is naming conventions and TTL choices.</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qk/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Quarkus with Cache.get</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8099217" y="1700784"/>
            <a:ext cx="3434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Cache + quarkus-redis-cache</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CacheResource.java (excerpt), examples/25-caching/quarkus: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application.properties: quarkus.cache.redis.read-through.value-type=com.cndp.cache.Product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quarkus.cache.redis.read-through.expire-after-write=60s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@CacheName("read-through") Cache readThroughCache;       // quarkus-redis-cache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@GET @Path("read-through/products/{pid}")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ProductView readThroughGet(@RestPath String pid)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loaded = new AtomicBoolean(false);               // did the loader run?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product = readThroughCache.&lt;String, Product&gt;get(pid, key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loaded.set(true);                                // miss: the cache calls the loader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row = store.findProduct(key);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 null) throw new NotFoundException();  // nothing is cached for a missing 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}).await().indefinitely();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ProductView.of(product, loaded.get() ? "db" :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Cache.get stores the loader's result under rt:product:&lt;id&gt; with the TTL, and falls back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to the loader when Redis is unreachable.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Cache.get turns the lookup into a loader call: the cache owns the miss path, and a flag in the loader reports where the value came from.</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qk/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Quarkus</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CacheResource.java (excerpt), examples/25-caching/quarkus: write-through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@PUT @Path("write-through/products/{pid}")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public Response writeThroughUpdate(@RestPath String pid, ProductUpdate body)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store.updateProduct(pid, body.name(), body.priceCents());  // 1. DB first (source of truth)</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Product row = store.findProduct(pid);                      //    read back the stored row</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(row != null)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cache.setex("wt:product:" + pid, toJson(row), ttl);    // 2. cache second: SET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Response.ok(Map.of("ok", true, "action", "set")).build();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t>
            </a:r>
            <a:endParaRPr b="0" i="0" sz="115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the managed entity is what gets cached.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qk/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Quarkus</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REST + Panache + Redis</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8FB98F"/>
                </a:solidFill>
                <a:latin typeface="Red Hat Mono"/>
                <a:ea typeface="Red Hat Mono"/>
                <a:cs typeface="Red Hat Mono"/>
                <a:sym typeface="Red Hat Mono"/>
              </a:rPr>
              <a:t>// CacheResource.java (excerpt), examples/25-caching/quarkus: write-around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@POST @Path("write-around/events")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writeAroundCreate(EventRequest body)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store.insertEvent(body.id(), body.type(), body.payload());    // DB only: cache untouched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Response.ok(Map.of("ok", true, "action", "db-only")).build();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@GET @Path("write-around/events/{eid}")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Response writeAroundGet(@RestPath String eid)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key = "wa:event:" + 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cached = cache.get(key);                               // standard cache-aside read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(cached != null) { /* ... parse the JSON, add "source": "cache"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EventEntity event = store.findEvent(eid);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(event == null) return Response.status(404).build();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Map&lt;String, Object&gt; data = new LinkedHashMap&lt;&gt;();             // id, type, payload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cache.setex(key, toJson(data), ttl);                          // the first read populates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data.put("source",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Response.ok(data).build();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qk/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@Scheduled in Quarkus</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 Panache</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 BackgroundTasks + Store (excerpt), examples/25-caching/quarkus: write-back</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CacheResource: PUT write-back/metrics/{mid} does HSET metric:&lt;mid&gt; {value, tags} and SADD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metric:dirty &lt;mid&gt;, then answers 202 (queued, not yet durable); 503 when Redis is down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@Scheduled(every = "${cache-service.flush-period:1s}")  // concurrent runs are skipped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void flusher() {                                       // BackgroundTasks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(System.currentTimeMillis() &lt; nextFlushAt) return;   // backing off after a failure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Set&lt;String&gt; ids = cache.spop("metric:dirty", FLUSH_BATCH);    // atomic: no id twice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(ids == null || ids.isEmpty()) return;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List&lt;String&gt; failed = new ArrayList&lt;&gt;();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(String mid : ids)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Map&lt;String, String&gt; data = cache.hgetall("metric:" +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(!data.isEmpty()) store.upsertMetric(mid, data);   // one upsert per 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cache.hdel("metric:attempts", 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catch (Exception e) { failed.add(mid); }       // Log.errorf: flush failed for &lt;mid&gt;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(failed.isEmpty()) { failures = 0; return;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nextFlushAt = System.currentTimeMillis() + Math.min(FLUSH_PERIOD_MS &lt;&lt; ++failures, 8000);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requeue(failed);   // HINCRBY metric:attempts; SADD metric:dirty, or metric:failed at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Store.upsertMetric: statelessSession.upsert(metric), an INSERT ... ON CONFLICT DO UPDATE</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qk/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Quarkus</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@Scheduled +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BackgroundTasks.java (excerpt), examples/25-caching/quarkus: refresh-ahead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8FB98F"/>
                </a:solidFill>
                <a:latin typeface="Red Hat Mono"/>
                <a:ea typeface="Red Hat Mono"/>
                <a:cs typeface="Red Hat Mono"/>
                <a:sym typeface="Red Hat Mono"/>
              </a:rPr>
              <a:t>// CacheResource.refreshAheadGet: zadd("product:hot", now, pid), then the cache-aside read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@Scheduled(every = "${cache-service.refresh-period:5s}")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void refresher()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double cutoff = (System.currentTimeMillis() / 1000.0) - 300;      // 5-minute hot window</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cache.zremrangebyscore("product:hot", 0, cutoff);</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for (String pid : cache.zrange("product:hot", 0, -1))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long ttlVal = cache.ttl("ra:product:" +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(ttlVal &gt; 0 &amp;&amp; ttlVal &lt; refreshBefore) {                   // danger zone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Product row = findProduct(pid);                           // store.findProduct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if (row != null)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cache.setex("ra:product:" + pid, toJson(row), ttl);   // refresh</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Log.infof("refresher: pre-warmed %s", pid);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Refresh those with low TTL.</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explicit expire-after-write or maxmemory-policy on Redis (allkeys-lru typical).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Avoid cache stampedes (thundering herd): when a hot key expires and many concurrent Quarkus Pods all miss at once, they all hit the DB. Mitigate with a Redis lock per key (only one fetches, rest wait), or refresh-ahead, or jittered TTLs.</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0" i="0" lang="en-US" sz="16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persists for the full TTL. Invalidate on every write, or use a short TTL.</a:t>
            </a:r>
            <a:endParaRPr b="0" i="0" sz="16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600"/>
              <a:buFont typeface="Red Hat Text"/>
              <a:buChar char="•"/>
            </a:pPr>
            <a:r>
              <a:rPr b="1" i="0" lang="en-US" sz="16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 DB fallback path. Test this by stopping Redis in staging.</a:t>
            </a:r>
            <a:endParaRPr b="0" i="0" sz="16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(Quarkus Cache annotations) — use when the read path is repetitive across the codebase and you want declarative caching.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Redis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Quarkus systems use cache-aside (or @CacheResult)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qk/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qk/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qk/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qk/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qk/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qk/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qk/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qk/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@ApplicationScoped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PaymentService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@Inject @RestClient PaymentClient client;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@Timeout(value = 2000)                       // MicroProfile: hard 2s ceiling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Uni&lt;Receipt&gt; charge(Order o, long deadlineMs)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long remaining = deadlineMs - elapsedMs();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 too little budget to start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Uni.createFrom().failure(new DeadlineExceeded());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client.charge(o, remaining);       // propagate remaining budget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application.properties  —  client-level timeouts (the real defence)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quarkus.rest-client.payment.connect-timeout=500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8FB98F"/>
                </a:solidFill>
                <a:latin typeface="Red Hat Mono"/>
                <a:ea typeface="Red Hat Mono"/>
                <a:cs typeface="Red Hat Mono"/>
                <a:sym typeface="Red Hat Mono"/>
              </a:rPr>
              <a:t>//   quarkus.rest-client.payment.read-timeout=2000</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qk/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@ApplicationScoped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QuoteService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@Inject @RestClient QuoteClient client;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@Retry(maxRetries = 3,                       // hard cap on attempts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delay = 100, delayUnit = MILLIS,      // base backoff</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jitter = 50, jitterUnit = MILLIS,     // de-synchronise clients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retryOn = TransientException.class)   // transient failures only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@CircuitBreaker(requestVolumeThreshold = 10, // always pair with a breaker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failureRatio = 0.5, delay = 5000)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Quote quote(String symbol) {           // idempotent GET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client.getQuote(symbol);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Retry wraps the breaker; an open breaker fails each retry fast.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8FB98F"/>
                </a:solidFill>
                <a:latin typeface="Red Hat Mono"/>
                <a:ea typeface="Red Hat Mono"/>
                <a:cs typeface="Red Hat Mono"/>
                <a:sym typeface="Red Hat Mono"/>
              </a:rPr>
              <a:t>// Exponential backoff: add @ExponentialBackoff (SmallRye extension).</a:t>
            </a:r>
            <a:endParaRPr b="0" i="0" sz="105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qk/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7870617" y="1700784"/>
            <a:ext cx="3662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MicroProfile Fault Tolerance</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@ApplicationScoped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@RestClient PaymentClient 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@Inject Outbox outbox;</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@CircuitBreaker(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requestVolumeThreshold = 10,   // rolling window of 10 calls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failureRatio = 0.5,            // open at 50% failures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delay = 5000,                  // stay open 5s, then half-open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successThreshold = 2)          // 2 trial successes → close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@Fallback(fallbackMethod = "queueForLater")   // degrade gracefully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Receipt charge(Order 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client.charge(o);       // while OPEN: skipped, fallback runs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Receipt queueForLater(Order o) {   // graceful degradation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outbox.enqueue(o);</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Receipt.pending(o.id());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SmallRye Fault Tolerance @Bulkhead — declarative concurrency + waitingTaskQueue caps, paired with @Timeout.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qk/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java · Quarkus + SmallRye Health</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application.properties + ShutdownState + DrainReadinessCheck, examples/21-graceful-shutdown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quarkus.shutdown.delay-enabled=true, quarkus.shutdown.delay=5S, quarkus.shutdown.timeout=20s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1. SIGTERM: Quarkus fires ShutdownDelayInitiatedEvent and keeps serving for the delay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onDelayInitiated(@Observes ShutdownDelayInitiatedEvent event) {     // ShutdownState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shuttingDown.set(true);       // readiness flips: /readyz answers 503,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2. the delay keeps serving while the load balancer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3. delay over: HTTP stops, in-flight requests drain, ShutdownEvent fires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void onShutdown(@Observes ShutdownEvent event)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Log.infof("shutting down HTTP server (in_flight=%d)", inFlight.get());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4. Quarkus closes the pools and the process exits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@Readiness @ApplicationScoped              // DrainReadinessCheck: /readyz = this + datasource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DrainReadinessCheck implements HealthCheck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HealthCheckResponse call()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builder = HealthCheckResponse.named("drain");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shutdownState.isShuttingDown()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builder.down().withData("reason", "shutting down").build()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builder.up().build();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qk/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OpenFeature SDK 1.23.0 + flagd provider 0.14.2 (as examples/27-feature-flags)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startup: register the provider once (flagd.host / flagd.port from config)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void onStart(@Observes StartupEvent ev)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OpenFeatureAPI.getInstance().setProvider(new FlagdProvider(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FlagdOptions.builder().host(flagdHost).port(flagdPort).build()));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@Path("/checkout")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public class CheckoutResource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@POST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public Receipt checkout(Cart cart, @RestHeader("X-User") String user)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Client flags = OpenFeatureAPI.getInstance().getClient();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 ctx = new MutableContext(user)           // targeting key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.add("plan", cart.plan()).add("region", cart.region());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boolean useNew = flags.getBooleanValue("new-checkout", false, ctx);</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java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Recommendations recommend(String user)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(!flags.getBooleanValue("recommendations-enabled",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recsClient.fetch(user);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Quarkus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Quarkus — dev mode,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./mvnw quarkus:dev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k8s/overlays/quarkus/kustomization.yaml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localhost/cndp-05/quarkus-order-service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QUARKUS_DATASOURCE_JDBC_URL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"jdbc:postgresql://cndp-postgres-rw:5432/appdb"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QUARKUS_DATASOURCE_USERNAME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"$(PG_USER)"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QUARKUS_DATASOURCE_PASSWORD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"$(PG_PASSWORD)"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KAFKA_BOOTSTRAP_SERVERS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quarkus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quarkus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